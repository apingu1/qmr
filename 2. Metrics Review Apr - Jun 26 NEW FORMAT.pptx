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8.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2.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11.xml" ContentType="application/vnd.openxmlformats-officedocument.drawingml.chart+xml"/>
  <Override PartName="/ppt/theme/themeOverride3.xml" ContentType="application/vnd.openxmlformats-officedocument.themeOverride+xml"/>
  <Override PartName="/ppt/charts/chart12.xml" ContentType="application/vnd.openxmlformats-officedocument.drawingml.chart+xml"/>
  <Override PartName="/ppt/notesSlides/notesSlide2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80" r:id="rId1"/>
    <p:sldMasterId id="2147483792" r:id="rId2"/>
  </p:sldMasterIdLst>
  <p:notesMasterIdLst>
    <p:notesMasterId r:id="rId35"/>
  </p:notesMasterIdLst>
  <p:sldIdLst>
    <p:sldId id="256" r:id="rId3"/>
    <p:sldId id="507" r:id="rId4"/>
    <p:sldId id="509" r:id="rId5"/>
    <p:sldId id="510" r:id="rId6"/>
    <p:sldId id="517" r:id="rId7"/>
    <p:sldId id="518" r:id="rId8"/>
    <p:sldId id="515" r:id="rId9"/>
    <p:sldId id="519" r:id="rId10"/>
    <p:sldId id="520" r:id="rId11"/>
    <p:sldId id="521" r:id="rId12"/>
    <p:sldId id="522" r:id="rId13"/>
    <p:sldId id="523" r:id="rId14"/>
    <p:sldId id="524" r:id="rId15"/>
    <p:sldId id="526" r:id="rId16"/>
    <p:sldId id="527" r:id="rId17"/>
    <p:sldId id="528" r:id="rId18"/>
    <p:sldId id="529" r:id="rId19"/>
    <p:sldId id="530" r:id="rId20"/>
    <p:sldId id="531" r:id="rId21"/>
    <p:sldId id="532" r:id="rId22"/>
    <p:sldId id="533" r:id="rId23"/>
    <p:sldId id="534" r:id="rId24"/>
    <p:sldId id="538" r:id="rId25"/>
    <p:sldId id="539" r:id="rId26"/>
    <p:sldId id="535" r:id="rId27"/>
    <p:sldId id="536" r:id="rId28"/>
    <p:sldId id="503" r:id="rId29"/>
    <p:sldId id="537" r:id="rId30"/>
    <p:sldId id="467" r:id="rId31"/>
    <p:sldId id="487" r:id="rId32"/>
    <p:sldId id="506" r:id="rId33"/>
    <p:sldId id="269" r:id="rId34"/>
  </p:sldIdLst>
  <p:sldSz cx="12192000" cy="6858000"/>
  <p:notesSz cx="6808788" cy="99409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26EFD1E-BEFA-25F3-8C92-F76C7E890F36}" name="Qa Team" initials="QT" userId="S::qateam@eaststone.co.uk::461634b0-7484-40e6-94f2-e5604fb14977" providerId="AD"/>
  <p188:author id="{2EB1C168-4C81-F534-44C7-4343BC46B5F3}" name="Omair Sattar" initials="OS" userId="S::omair.sattar@eaststone.co.uk::d1441e05-6098-477b-84d5-d73ede4669c6" providerId="AD"/>
  <p188:author id="{42EF017E-557C-A437-5BEB-AC7713D27984}" name="Minhaz Raja" initials="MR" userId="S::minhaz.raja@eaststone.co.uk::9b9b79dc-57cd-441c-bf87-4ef9ab70bd92" providerId="AD"/>
  <p188:author id="{2A1E54E0-F363-349E-9069-961246019DCE}" name="Ahmed Manubariya" initials="AM" userId="S::Ahmed.Manubariya@eaststone.co.uk::ed051997-0452-4c64-a6ea-61a50525cbf0" providerId="AD"/>
  <p188:author id="{6E692CFA-E1E0-6D5A-67A0-7CC3606EE5BB}" name="Nasrin Elamin" initials="NE" userId="S::nasrin.elamin@eaststone.co.uk::2cd6df10-80be-4767-9b4f-8964e05cb44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Omair Sattar" initials="OS" lastIdx="6" clrIdx="0">
    <p:extLst>
      <p:ext uri="{19B8F6BF-5375-455C-9EA6-DF929625EA0E}">
        <p15:presenceInfo xmlns:p15="http://schemas.microsoft.com/office/powerpoint/2012/main" userId="S::omair.sattar@eaststone.co.uk::d1441e05-6098-477b-84d5-d73ede4669c6" providerId="AD"/>
      </p:ext>
    </p:extLst>
  </p:cmAuthor>
  <p:cmAuthor id="2" name="Minhaz Raja" initials="MR" lastIdx="2" clrIdx="1">
    <p:extLst>
      <p:ext uri="{19B8F6BF-5375-455C-9EA6-DF929625EA0E}">
        <p15:presenceInfo xmlns:p15="http://schemas.microsoft.com/office/powerpoint/2012/main" userId="S::minhaz.raja@eaststone.co.uk::9b9b79dc-57cd-441c-bf87-4ef9ab70bd9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a:srgbClr val="DDEBF7"/>
    <a:srgbClr val="FFFF66"/>
    <a:srgbClr val="00FF00"/>
    <a:srgbClr val="FA6060"/>
    <a:srgbClr val="E6B8B7"/>
    <a:srgbClr val="FCD5B4"/>
    <a:srgbClr val="D9D9D9"/>
    <a:srgbClr val="E8CAFE"/>
    <a:srgbClr val="EDED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94" autoAdjust="0"/>
    <p:restoredTop sz="86667" autoAdjust="0"/>
  </p:normalViewPr>
  <p:slideViewPr>
    <p:cSldViewPr snapToGrid="0">
      <p:cViewPr varScale="1">
        <p:scale>
          <a:sx n="96" d="100"/>
          <a:sy n="96" d="100"/>
        </p:scale>
        <p:origin x="155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oleObject" Target="file:///\\svr-east-fp22\eaststone\eaststone%20work\Quality\QA\Quality%20Metrics\Quality%20Metrics%202026.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svr-east-fp22\eaststone\eaststone%20work\Quality\QA\Quality%20Metrics\Quality%20Metrics%202026.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svr-east-fp22\eaststone\eaststone%20work\Quality\QA\Quality%20Metrics\Quality%20Metrics%202026.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svr-east-fp22\eaststone\eaststone%20work\Quality\QA\Quality%20Metrics\Quality%20Metrics%202026.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package" Target="../embeddings/Microsoft_Excel_Worksheet2.xlsx"/></Relationships>
</file>

<file path=ppt/charts/_rels/chart8.xml.rels><?xml version="1.0" encoding="UTF-8" standalone="yes"?>
<Relationships xmlns="http://schemas.openxmlformats.org/package/2006/relationships"><Relationship Id="rId3" Type="http://schemas.openxmlformats.org/officeDocument/2006/relationships/oleObject" Target="file:///\\svr-east-fp22\eaststone\eaststone%20work\Quality\QA\Quality%20Metrics\Quality%20Metrics%202026.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svr-east-fp22\eaststone\eaststone%20work\Quality\QA\Quality%20Metrics\Quality%20Metrics%202026.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svr-east-fp22\eaststone\eaststone%20work\Quality\QA\Quality%20Metrics\Quality%20Metrics%202026.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2" Type="http://schemas.openxmlformats.org/officeDocument/2006/relationships/package" Target="../embeddings/Microsoft_Excel_Worksheet3.xlsx"/><Relationship Id="rId1" Type="http://schemas.openxmlformats.org/officeDocument/2006/relationships/themeOverride" Target="../theme/themeOverride3.xml"/></Relationships>
</file>

<file path=ppt/charts/_rels/chart12.xml.rels><?xml version="1.0" encoding="UTF-8" standalone="yes"?>
<Relationships xmlns="http://schemas.openxmlformats.org/package/2006/relationships"><Relationship Id="rId1" Type="http://schemas.openxmlformats.org/officeDocument/2006/relationships/oleObject" Target="file:///C:\Users\nadeem.ahmed\Downloads\eaststone_event_log_chart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baseline="0">
                <a:solidFill>
                  <a:schemeClr val="bg1">
                    <a:lumMod val="75000"/>
                  </a:schemeClr>
                </a:solidFill>
                <a:latin typeface="+mn-lt"/>
                <a:ea typeface="+mn-ea"/>
                <a:cs typeface="+mn-cs"/>
              </a:defRPr>
            </a:pPr>
            <a:r>
              <a:rPr lang="en-GB">
                <a:solidFill>
                  <a:schemeClr val="bg1">
                    <a:lumMod val="75000"/>
                  </a:schemeClr>
                </a:solidFill>
              </a:rPr>
              <a:t>Deviations</a:t>
            </a:r>
            <a:r>
              <a:rPr lang="en-GB" baseline="0">
                <a:solidFill>
                  <a:schemeClr val="bg1">
                    <a:lumMod val="75000"/>
                  </a:schemeClr>
                </a:solidFill>
              </a:rPr>
              <a:t> vs Total Orders</a:t>
            </a:r>
            <a:endParaRPr lang="en-GB">
              <a:solidFill>
                <a:schemeClr val="bg1">
                  <a:lumMod val="75000"/>
                </a:schemeClr>
              </a:solidFill>
            </a:endParaRPr>
          </a:p>
        </c:rich>
      </c:tx>
      <c:overlay val="0"/>
      <c:spPr>
        <a:noFill/>
        <a:ln>
          <a:noFill/>
        </a:ln>
        <a:effectLst/>
      </c:spPr>
      <c:txPr>
        <a:bodyPr rot="0" spcFirstLastPara="1" vertOverflow="ellipsis" vert="horz" wrap="square" anchor="ctr" anchorCtr="1"/>
        <a:lstStyle/>
        <a:p>
          <a:pPr>
            <a:defRPr sz="1600" b="1" i="0" u="none" strike="noStrike" kern="1200" baseline="0">
              <a:solidFill>
                <a:schemeClr val="bg1">
                  <a:lumMod val="75000"/>
                </a:schemeClr>
              </a:solidFill>
              <a:latin typeface="+mn-lt"/>
              <a:ea typeface="+mn-ea"/>
              <a:cs typeface="+mn-cs"/>
            </a:defRPr>
          </a:pPr>
          <a:endParaRPr lang="en-GB"/>
        </a:p>
      </c:txPr>
    </c:title>
    <c:autoTitleDeleted val="0"/>
    <c:plotArea>
      <c:layout>
        <c:manualLayout>
          <c:layoutTarget val="inner"/>
          <c:xMode val="edge"/>
          <c:yMode val="edge"/>
          <c:x val="4.4487026870336392E-2"/>
          <c:y val="0.13316352054119407"/>
          <c:w val="0.92538031730569736"/>
          <c:h val="0.71163045213915843"/>
        </c:manualLayout>
      </c:layout>
      <c:barChart>
        <c:barDir val="col"/>
        <c:grouping val="clustered"/>
        <c:varyColors val="0"/>
        <c:ser>
          <c:idx val="6"/>
          <c:order val="0"/>
          <c:tx>
            <c:strRef>
              <c:f>Deviations!$B$1</c:f>
              <c:strCache>
                <c:ptCount val="1"/>
                <c:pt idx="0">
                  <c:v>Total Manufactured + 3rd party +SO Orders</c:v>
                </c:pt>
              </c:strCache>
            </c:strRef>
          </c:tx>
          <c:spPr>
            <a:solidFill>
              <a:schemeClr val="bg1">
                <a:lumMod val="85000"/>
              </a:schemeClr>
            </a:solidFill>
            <a:ln>
              <a:noFill/>
            </a:ln>
            <a:effectLst>
              <a:outerShdw blurRad="40000" dist="23000" dir="5400000" rotWithShape="0">
                <a:srgbClr val="000000">
                  <a:alpha val="35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lumMod val="7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numRef>
              <c:f>Deviations!$A$7:$A$19</c:f>
              <c:numCache>
                <c:formatCode>mmm\-yy</c:formatCode>
                <c:ptCount val="13"/>
                <c:pt idx="0">
                  <c:v>45809</c:v>
                </c:pt>
                <c:pt idx="1">
                  <c:v>45839</c:v>
                </c:pt>
                <c:pt idx="2">
                  <c:v>45870</c:v>
                </c:pt>
                <c:pt idx="3">
                  <c:v>45901</c:v>
                </c:pt>
                <c:pt idx="4">
                  <c:v>45931</c:v>
                </c:pt>
                <c:pt idx="5">
                  <c:v>45962</c:v>
                </c:pt>
                <c:pt idx="6">
                  <c:v>45992</c:v>
                </c:pt>
                <c:pt idx="7">
                  <c:v>46023</c:v>
                </c:pt>
                <c:pt idx="8">
                  <c:v>46054</c:v>
                </c:pt>
                <c:pt idx="9">
                  <c:v>46082</c:v>
                </c:pt>
                <c:pt idx="10">
                  <c:v>46113</c:v>
                </c:pt>
                <c:pt idx="11">
                  <c:v>46143</c:v>
                </c:pt>
                <c:pt idx="12">
                  <c:v>46174</c:v>
                </c:pt>
              </c:numCache>
            </c:numRef>
          </c:cat>
          <c:val>
            <c:numRef>
              <c:f>Deviations!$B$7:$B$19</c:f>
              <c:numCache>
                <c:formatCode>General</c:formatCode>
                <c:ptCount val="13"/>
                <c:pt idx="0">
                  <c:v>2964</c:v>
                </c:pt>
                <c:pt idx="1">
                  <c:v>3128</c:v>
                </c:pt>
                <c:pt idx="2">
                  <c:v>2784</c:v>
                </c:pt>
                <c:pt idx="3">
                  <c:v>3250</c:v>
                </c:pt>
                <c:pt idx="4">
                  <c:v>3299</c:v>
                </c:pt>
                <c:pt idx="5">
                  <c:v>2983</c:v>
                </c:pt>
                <c:pt idx="6">
                  <c:v>3272</c:v>
                </c:pt>
                <c:pt idx="7">
                  <c:v>3590</c:v>
                </c:pt>
                <c:pt idx="8">
                  <c:v>3438</c:v>
                </c:pt>
                <c:pt idx="9">
                  <c:v>3866</c:v>
                </c:pt>
                <c:pt idx="10">
                  <c:v>4118</c:v>
                </c:pt>
                <c:pt idx="11">
                  <c:v>3767</c:v>
                </c:pt>
                <c:pt idx="12">
                  <c:v>4346</c:v>
                </c:pt>
              </c:numCache>
            </c:numRef>
          </c:val>
          <c:extLst>
            <c:ext xmlns:c16="http://schemas.microsoft.com/office/drawing/2014/chart" uri="{C3380CC4-5D6E-409C-BE32-E72D297353CC}">
              <c16:uniqueId val="{00000000-CEF5-4875-B6B7-170A9007455F}"/>
            </c:ext>
          </c:extLst>
        </c:ser>
        <c:dLbls>
          <c:showLegendKey val="0"/>
          <c:showVal val="1"/>
          <c:showCatName val="0"/>
          <c:showSerName val="0"/>
          <c:showPercent val="0"/>
          <c:showBubbleSize val="0"/>
        </c:dLbls>
        <c:gapWidth val="75"/>
        <c:axId val="246676536"/>
        <c:axId val="246675224"/>
      </c:barChart>
      <c:lineChart>
        <c:grouping val="standard"/>
        <c:varyColors val="0"/>
        <c:ser>
          <c:idx val="0"/>
          <c:order val="1"/>
          <c:tx>
            <c:strRef>
              <c:f>Deviations!$D$1</c:f>
              <c:strCache>
                <c:ptCount val="1"/>
                <c:pt idx="0">
                  <c:v>Deviation Percentage (All)</c:v>
                </c:pt>
              </c:strCache>
            </c:strRef>
          </c:tx>
          <c:spPr>
            <a:ln w="31750" cap="rnd">
              <a:solidFill>
                <a:srgbClr val="FFC000"/>
              </a:solidFill>
              <a:round/>
            </a:ln>
            <a:effectLst>
              <a:outerShdw blurRad="40000" dist="23000" dir="5400000" rotWithShape="0">
                <a:srgbClr val="000000">
                  <a:alpha val="35000"/>
                </a:srgbClr>
              </a:outerShdw>
            </a:effectLst>
          </c:spPr>
          <c:marker>
            <c:symbol val="none"/>
          </c:marker>
          <c:val>
            <c:numRef>
              <c:f>Deviations!$D$7:$D$19</c:f>
              <c:numCache>
                <c:formatCode>0.00</c:formatCode>
                <c:ptCount val="13"/>
                <c:pt idx="0">
                  <c:v>0.1349527665317139</c:v>
                </c:pt>
                <c:pt idx="1">
                  <c:v>9.5907928388746802E-2</c:v>
                </c:pt>
                <c:pt idx="2">
                  <c:v>7.183908045977011E-2</c:v>
                </c:pt>
                <c:pt idx="3">
                  <c:v>9.2307692307692299E-2</c:v>
                </c:pt>
                <c:pt idx="4">
                  <c:v>6.0624431645953318E-2</c:v>
                </c:pt>
                <c:pt idx="5">
                  <c:v>0.10056989607777406</c:v>
                </c:pt>
                <c:pt idx="6">
                  <c:v>0.1528117359413203</c:v>
                </c:pt>
                <c:pt idx="7">
                  <c:v>0.1392757660167131</c:v>
                </c:pt>
                <c:pt idx="8">
                  <c:v>0</c:v>
                </c:pt>
                <c:pt idx="9">
                  <c:v>7.7599586135540605E-2</c:v>
                </c:pt>
                <c:pt idx="10">
                  <c:v>0.2185526954832443</c:v>
                </c:pt>
                <c:pt idx="11">
                  <c:v>5.3092646668436425E-2</c:v>
                </c:pt>
                <c:pt idx="12">
                  <c:v>4.6019328117809483E-2</c:v>
                </c:pt>
              </c:numCache>
            </c:numRef>
          </c:val>
          <c:smooth val="0"/>
          <c:extLst>
            <c:ext xmlns:c16="http://schemas.microsoft.com/office/drawing/2014/chart" uri="{C3380CC4-5D6E-409C-BE32-E72D297353CC}">
              <c16:uniqueId val="{00000001-CEF5-4875-B6B7-170A9007455F}"/>
            </c:ext>
          </c:extLst>
        </c:ser>
        <c:ser>
          <c:idx val="1"/>
          <c:order val="2"/>
          <c:tx>
            <c:strRef>
              <c:f>Deviations!$F$1</c:f>
              <c:strCache>
                <c:ptCount val="1"/>
                <c:pt idx="0">
                  <c:v>Deviations affecting daily orders percentage </c:v>
                </c:pt>
              </c:strCache>
            </c:strRef>
          </c:tx>
          <c:spPr>
            <a:ln w="31750" cap="rnd">
              <a:solidFill>
                <a:srgbClr val="C00000"/>
              </a:solidFill>
              <a:round/>
            </a:ln>
            <a:effectLst>
              <a:outerShdw blurRad="40000" dist="23000" dir="5400000" rotWithShape="0">
                <a:srgbClr val="000000">
                  <a:alpha val="35000"/>
                </a:srgbClr>
              </a:outerShdw>
            </a:effectLst>
          </c:spPr>
          <c:marker>
            <c:symbol val="none"/>
          </c:marker>
          <c:val>
            <c:numRef>
              <c:f>Deviations!$F$7:$F$19</c:f>
              <c:numCache>
                <c:formatCode>0.00</c:formatCode>
                <c:ptCount val="13"/>
                <c:pt idx="0">
                  <c:v>3.3738191632928474E-2</c:v>
                </c:pt>
                <c:pt idx="1">
                  <c:v>0</c:v>
                </c:pt>
                <c:pt idx="2">
                  <c:v>0</c:v>
                </c:pt>
                <c:pt idx="3">
                  <c:v>6.1538461538461542E-2</c:v>
                </c:pt>
                <c:pt idx="4">
                  <c:v>0</c:v>
                </c:pt>
                <c:pt idx="5" formatCode="General">
                  <c:v>0</c:v>
                </c:pt>
                <c:pt idx="6">
                  <c:v>6.1124694376528114E-2</c:v>
                </c:pt>
                <c:pt idx="7">
                  <c:v>5.5710306406685242E-2</c:v>
                </c:pt>
                <c:pt idx="8">
                  <c:v>0</c:v>
                </c:pt>
                <c:pt idx="9">
                  <c:v>5.1733057423693739E-2</c:v>
                </c:pt>
                <c:pt idx="10">
                  <c:v>0.1699854298203011</c:v>
                </c:pt>
                <c:pt idx="11">
                  <c:v>0</c:v>
                </c:pt>
                <c:pt idx="12">
                  <c:v>2.3009664058904741E-2</c:v>
                </c:pt>
              </c:numCache>
            </c:numRef>
          </c:val>
          <c:smooth val="0"/>
          <c:extLst>
            <c:ext xmlns:c16="http://schemas.microsoft.com/office/drawing/2014/chart" uri="{C3380CC4-5D6E-409C-BE32-E72D297353CC}">
              <c16:uniqueId val="{00000002-CEF5-4875-B6B7-170A9007455F}"/>
            </c:ext>
          </c:extLst>
        </c:ser>
        <c:dLbls>
          <c:showLegendKey val="0"/>
          <c:showVal val="0"/>
          <c:showCatName val="0"/>
          <c:showSerName val="0"/>
          <c:showPercent val="0"/>
          <c:showBubbleSize val="0"/>
        </c:dLbls>
        <c:marker val="1"/>
        <c:smooth val="0"/>
        <c:axId val="1737132639"/>
        <c:axId val="1737132159"/>
      </c:lineChart>
      <c:dateAx>
        <c:axId val="246676536"/>
        <c:scaling>
          <c:orientation val="minMax"/>
        </c:scaling>
        <c:delete val="0"/>
        <c:axPos val="b"/>
        <c:numFmt formatCode="mmm\-yy"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lumMod val="75000"/>
                  </a:schemeClr>
                </a:solidFill>
                <a:latin typeface="+mn-lt"/>
                <a:ea typeface="+mn-ea"/>
                <a:cs typeface="+mn-cs"/>
              </a:defRPr>
            </a:pPr>
            <a:endParaRPr lang="en-US"/>
          </a:p>
        </c:txPr>
        <c:crossAx val="246675224"/>
        <c:crosses val="autoZero"/>
        <c:auto val="1"/>
        <c:lblOffset val="100"/>
        <c:baseTimeUnit val="months"/>
      </c:dateAx>
      <c:valAx>
        <c:axId val="246675224"/>
        <c:scaling>
          <c:orientation val="minMax"/>
          <c:max val="4000"/>
          <c:min val="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lumMod val="75000"/>
                  </a:schemeClr>
                </a:solidFill>
                <a:latin typeface="+mn-lt"/>
                <a:ea typeface="+mn-ea"/>
                <a:cs typeface="+mn-cs"/>
              </a:defRPr>
            </a:pPr>
            <a:endParaRPr lang="en-US"/>
          </a:p>
        </c:txPr>
        <c:crossAx val="246676536"/>
        <c:crosses val="autoZero"/>
        <c:crossBetween val="between"/>
      </c:valAx>
      <c:valAx>
        <c:axId val="1737132159"/>
        <c:scaling>
          <c:orientation val="minMax"/>
          <c:max val="0.5"/>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lumMod val="75000"/>
                  </a:schemeClr>
                </a:solidFill>
                <a:latin typeface="+mn-lt"/>
                <a:ea typeface="+mn-ea"/>
                <a:cs typeface="+mn-cs"/>
              </a:defRPr>
            </a:pPr>
            <a:endParaRPr lang="en-US"/>
          </a:p>
        </c:txPr>
        <c:crossAx val="1737132639"/>
        <c:crosses val="max"/>
        <c:crossBetween val="between"/>
      </c:valAx>
      <c:catAx>
        <c:axId val="1737132639"/>
        <c:scaling>
          <c:orientation val="minMax"/>
        </c:scaling>
        <c:delete val="1"/>
        <c:axPos val="b"/>
        <c:majorTickMark val="out"/>
        <c:minorTickMark val="none"/>
        <c:tickLblPos val="nextTo"/>
        <c:crossAx val="1737132159"/>
        <c:crosses val="autoZero"/>
        <c:auto val="1"/>
        <c:lblAlgn val="ctr"/>
        <c:lblOffset val="100"/>
        <c:tickLblSkip val="1"/>
        <c:tickMarkSkip val="1"/>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bg1">
                  <a:lumMod val="75000"/>
                </a:schemeClr>
              </a:solidFill>
              <a:latin typeface="+mn-lt"/>
              <a:ea typeface="+mn-ea"/>
              <a:cs typeface="+mn-cs"/>
            </a:defRPr>
          </a:pPr>
          <a:endParaRPr lang="en-US"/>
        </a:p>
      </c:txPr>
    </c:legend>
    <c:plotVisOnly val="1"/>
    <c:dispBlanksAs val="span"/>
    <c:showDLblsOverMax val="0"/>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Deviations (Last 12 Months)</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lineChart>
        <c:grouping val="standard"/>
        <c:varyColors val="0"/>
        <c:ser>
          <c:idx val="0"/>
          <c:order val="0"/>
          <c:tx>
            <c:strRef>
              <c:f>Deviations!$G$2</c:f>
              <c:strCache>
                <c:ptCount val="1"/>
                <c:pt idx="0">
                  <c:v>New Deviations</c:v>
                </c:pt>
              </c:strCache>
            </c:strRef>
          </c:tx>
          <c:spPr>
            <a:ln w="31750" cap="rnd">
              <a:solidFill>
                <a:srgbClr val="C00000"/>
              </a:solidFill>
              <a:round/>
            </a:ln>
            <a:effectLst/>
          </c:spPr>
          <c:marker>
            <c:symbol val="circle"/>
            <c:size val="17"/>
            <c:spPr>
              <a:solidFill>
                <a:srgbClr val="C00000"/>
              </a:solidFill>
              <a:ln>
                <a:solidFill>
                  <a:srgbClr val="C0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Deviations!$M$1:$Y$1</c:f>
              <c:numCache>
                <c:formatCode>mmm\-yy</c:formatCode>
                <c:ptCount val="13"/>
                <c:pt idx="0">
                  <c:v>45809</c:v>
                </c:pt>
                <c:pt idx="1">
                  <c:v>45839</c:v>
                </c:pt>
                <c:pt idx="2">
                  <c:v>45870</c:v>
                </c:pt>
                <c:pt idx="3">
                  <c:v>45901</c:v>
                </c:pt>
                <c:pt idx="4">
                  <c:v>45931</c:v>
                </c:pt>
                <c:pt idx="5">
                  <c:v>45962</c:v>
                </c:pt>
                <c:pt idx="6">
                  <c:v>45992</c:v>
                </c:pt>
                <c:pt idx="7">
                  <c:v>46023</c:v>
                </c:pt>
                <c:pt idx="8">
                  <c:v>46054</c:v>
                </c:pt>
                <c:pt idx="9">
                  <c:v>46082</c:v>
                </c:pt>
                <c:pt idx="10">
                  <c:v>46113</c:v>
                </c:pt>
                <c:pt idx="11">
                  <c:v>46143</c:v>
                </c:pt>
                <c:pt idx="12">
                  <c:v>46174</c:v>
                </c:pt>
              </c:numCache>
            </c:numRef>
          </c:cat>
          <c:val>
            <c:numRef>
              <c:f>Deviations!$M$2:$Y$2</c:f>
              <c:numCache>
                <c:formatCode>General</c:formatCode>
                <c:ptCount val="13"/>
                <c:pt idx="0">
                  <c:v>4</c:v>
                </c:pt>
                <c:pt idx="1">
                  <c:v>3</c:v>
                </c:pt>
                <c:pt idx="2">
                  <c:v>2</c:v>
                </c:pt>
                <c:pt idx="3">
                  <c:v>3</c:v>
                </c:pt>
                <c:pt idx="4">
                  <c:v>2</c:v>
                </c:pt>
                <c:pt idx="5">
                  <c:v>3</c:v>
                </c:pt>
                <c:pt idx="6">
                  <c:v>5</c:v>
                </c:pt>
                <c:pt idx="7">
                  <c:v>5</c:v>
                </c:pt>
                <c:pt idx="8">
                  <c:v>0</c:v>
                </c:pt>
                <c:pt idx="9">
                  <c:v>3</c:v>
                </c:pt>
                <c:pt idx="10">
                  <c:v>9</c:v>
                </c:pt>
                <c:pt idx="11">
                  <c:v>2</c:v>
                </c:pt>
                <c:pt idx="12">
                  <c:v>2</c:v>
                </c:pt>
              </c:numCache>
            </c:numRef>
          </c:val>
          <c:smooth val="0"/>
          <c:extLst>
            <c:ext xmlns:c16="http://schemas.microsoft.com/office/drawing/2014/chart" uri="{C3380CC4-5D6E-409C-BE32-E72D297353CC}">
              <c16:uniqueId val="{00000000-98A7-4A8E-B18B-1A0346318B51}"/>
            </c:ext>
          </c:extLst>
        </c:ser>
        <c:ser>
          <c:idx val="2"/>
          <c:order val="1"/>
          <c:tx>
            <c:strRef>
              <c:f>Deviations!$G$3</c:f>
              <c:strCache>
                <c:ptCount val="1"/>
                <c:pt idx="0">
                  <c:v>Closed Deviations</c:v>
                </c:pt>
              </c:strCache>
            </c:strRef>
          </c:tx>
          <c:spPr>
            <a:ln w="31750" cap="rnd">
              <a:solidFill>
                <a:srgbClr val="00B050"/>
              </a:solidFill>
              <a:round/>
            </a:ln>
            <a:effectLst/>
          </c:spPr>
          <c:marker>
            <c:symbol val="circle"/>
            <c:size val="17"/>
            <c:spPr>
              <a:solidFill>
                <a:srgbClr val="00B050"/>
              </a:solidFill>
              <a:ln>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Deviations!$M$1:$Y$1</c:f>
              <c:numCache>
                <c:formatCode>mmm\-yy</c:formatCode>
                <c:ptCount val="13"/>
                <c:pt idx="0">
                  <c:v>45809</c:v>
                </c:pt>
                <c:pt idx="1">
                  <c:v>45839</c:v>
                </c:pt>
                <c:pt idx="2">
                  <c:v>45870</c:v>
                </c:pt>
                <c:pt idx="3">
                  <c:v>45901</c:v>
                </c:pt>
                <c:pt idx="4">
                  <c:v>45931</c:v>
                </c:pt>
                <c:pt idx="5">
                  <c:v>45962</c:v>
                </c:pt>
                <c:pt idx="6">
                  <c:v>45992</c:v>
                </c:pt>
                <c:pt idx="7">
                  <c:v>46023</c:v>
                </c:pt>
                <c:pt idx="8">
                  <c:v>46054</c:v>
                </c:pt>
                <c:pt idx="9">
                  <c:v>46082</c:v>
                </c:pt>
                <c:pt idx="10">
                  <c:v>46113</c:v>
                </c:pt>
                <c:pt idx="11">
                  <c:v>46143</c:v>
                </c:pt>
                <c:pt idx="12">
                  <c:v>46174</c:v>
                </c:pt>
              </c:numCache>
            </c:numRef>
          </c:cat>
          <c:val>
            <c:numRef>
              <c:f>Deviations!$M$3:$Y$3</c:f>
              <c:numCache>
                <c:formatCode>General</c:formatCode>
                <c:ptCount val="13"/>
                <c:pt idx="0">
                  <c:v>4</c:v>
                </c:pt>
                <c:pt idx="1">
                  <c:v>6</c:v>
                </c:pt>
                <c:pt idx="2">
                  <c:v>1</c:v>
                </c:pt>
                <c:pt idx="3">
                  <c:v>2</c:v>
                </c:pt>
                <c:pt idx="4">
                  <c:v>2</c:v>
                </c:pt>
                <c:pt idx="5">
                  <c:v>1</c:v>
                </c:pt>
                <c:pt idx="6">
                  <c:v>1</c:v>
                </c:pt>
                <c:pt idx="7">
                  <c:v>6</c:v>
                </c:pt>
                <c:pt idx="8">
                  <c:v>3</c:v>
                </c:pt>
                <c:pt idx="9">
                  <c:v>3</c:v>
                </c:pt>
                <c:pt idx="10">
                  <c:v>3</c:v>
                </c:pt>
                <c:pt idx="11">
                  <c:v>5</c:v>
                </c:pt>
                <c:pt idx="12">
                  <c:v>6</c:v>
                </c:pt>
              </c:numCache>
            </c:numRef>
          </c:val>
          <c:smooth val="0"/>
          <c:extLst>
            <c:ext xmlns:c16="http://schemas.microsoft.com/office/drawing/2014/chart" uri="{C3380CC4-5D6E-409C-BE32-E72D297353CC}">
              <c16:uniqueId val="{00000001-98A7-4A8E-B18B-1A0346318B51}"/>
            </c:ext>
          </c:extLst>
        </c:ser>
        <c:dLbls>
          <c:dLblPos val="ctr"/>
          <c:showLegendKey val="0"/>
          <c:showVal val="1"/>
          <c:showCatName val="0"/>
          <c:showSerName val="0"/>
          <c:showPercent val="0"/>
          <c:showBubbleSize val="0"/>
        </c:dLbls>
        <c:marker val="1"/>
        <c:smooth val="0"/>
        <c:axId val="620824064"/>
        <c:axId val="620824392"/>
      </c:lineChart>
      <c:dateAx>
        <c:axId val="620824064"/>
        <c:scaling>
          <c:orientation val="minMax"/>
        </c:scaling>
        <c:delete val="0"/>
        <c:axPos val="b"/>
        <c:numFmt formatCode="mmm\-yy" sourceLinked="1"/>
        <c:majorTickMark val="out"/>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620824392"/>
        <c:crosses val="autoZero"/>
        <c:auto val="1"/>
        <c:lblOffset val="100"/>
        <c:baseTimeUnit val="months"/>
      </c:dateAx>
      <c:valAx>
        <c:axId val="620824392"/>
        <c:scaling>
          <c:orientation val="minMax"/>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620824064"/>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GB"/>
              <a:t>GMP Complaints (Last 12 Months)</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lineChart>
        <c:grouping val="standard"/>
        <c:varyColors val="0"/>
        <c:ser>
          <c:idx val="0"/>
          <c:order val="0"/>
          <c:tx>
            <c:strRef>
              <c:f>Complaints!$A$9</c:f>
              <c:strCache>
                <c:ptCount val="1"/>
                <c:pt idx="0">
                  <c:v>New Complaints</c:v>
                </c:pt>
              </c:strCache>
            </c:strRef>
          </c:tx>
          <c:spPr>
            <a:ln w="31750" cap="rnd">
              <a:solidFill>
                <a:srgbClr val="C00000"/>
              </a:solidFill>
              <a:round/>
            </a:ln>
            <a:effectLst/>
          </c:spPr>
          <c:marker>
            <c:symbol val="circle"/>
            <c:size val="17"/>
            <c:spPr>
              <a:solidFill>
                <a:srgbClr val="C00000"/>
              </a:solidFill>
              <a:ln>
                <a:solidFill>
                  <a:srgbClr val="C0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Complaints!$AE$8:$AQ$8</c:f>
              <c:numCache>
                <c:formatCode>mmm\-yy</c:formatCode>
                <c:ptCount val="13"/>
                <c:pt idx="0">
                  <c:v>45809</c:v>
                </c:pt>
                <c:pt idx="1">
                  <c:v>45839</c:v>
                </c:pt>
                <c:pt idx="2">
                  <c:v>45870</c:v>
                </c:pt>
                <c:pt idx="3">
                  <c:v>45901</c:v>
                </c:pt>
                <c:pt idx="4">
                  <c:v>45931</c:v>
                </c:pt>
                <c:pt idx="5">
                  <c:v>45962</c:v>
                </c:pt>
                <c:pt idx="6">
                  <c:v>45992</c:v>
                </c:pt>
                <c:pt idx="7">
                  <c:v>46023</c:v>
                </c:pt>
                <c:pt idx="8">
                  <c:v>46054</c:v>
                </c:pt>
                <c:pt idx="9">
                  <c:v>46082</c:v>
                </c:pt>
                <c:pt idx="10">
                  <c:v>46113</c:v>
                </c:pt>
                <c:pt idx="11">
                  <c:v>46143</c:v>
                </c:pt>
                <c:pt idx="12">
                  <c:v>46174</c:v>
                </c:pt>
              </c:numCache>
            </c:numRef>
          </c:cat>
          <c:val>
            <c:numRef>
              <c:f>Complaints!$AE$9:$AQ$9</c:f>
              <c:numCache>
                <c:formatCode>General</c:formatCode>
                <c:ptCount val="13"/>
                <c:pt idx="0">
                  <c:v>0</c:v>
                </c:pt>
                <c:pt idx="1">
                  <c:v>1</c:v>
                </c:pt>
                <c:pt idx="2">
                  <c:v>0</c:v>
                </c:pt>
                <c:pt idx="3">
                  <c:v>0</c:v>
                </c:pt>
                <c:pt idx="4">
                  <c:v>0</c:v>
                </c:pt>
                <c:pt idx="5">
                  <c:v>2</c:v>
                </c:pt>
                <c:pt idx="6">
                  <c:v>0</c:v>
                </c:pt>
                <c:pt idx="7">
                  <c:v>2</c:v>
                </c:pt>
                <c:pt idx="8">
                  <c:v>3</c:v>
                </c:pt>
                <c:pt idx="9">
                  <c:v>0</c:v>
                </c:pt>
                <c:pt idx="10">
                  <c:v>0</c:v>
                </c:pt>
                <c:pt idx="11">
                  <c:v>0</c:v>
                </c:pt>
                <c:pt idx="12">
                  <c:v>1</c:v>
                </c:pt>
              </c:numCache>
            </c:numRef>
          </c:val>
          <c:smooth val="0"/>
          <c:extLst>
            <c:ext xmlns:c16="http://schemas.microsoft.com/office/drawing/2014/chart" uri="{C3380CC4-5D6E-409C-BE32-E72D297353CC}">
              <c16:uniqueId val="{00000000-3BED-4134-8AB7-AA9D695AE850}"/>
            </c:ext>
          </c:extLst>
        </c:ser>
        <c:ser>
          <c:idx val="1"/>
          <c:order val="1"/>
          <c:tx>
            <c:strRef>
              <c:f>Complaints!$A$10</c:f>
              <c:strCache>
                <c:ptCount val="1"/>
                <c:pt idx="0">
                  <c:v>Completed Complaints</c:v>
                </c:pt>
              </c:strCache>
            </c:strRef>
          </c:tx>
          <c:spPr>
            <a:ln w="31750" cap="rnd">
              <a:solidFill>
                <a:srgbClr val="00B050"/>
              </a:solidFill>
              <a:round/>
            </a:ln>
            <a:effectLst/>
          </c:spPr>
          <c:marker>
            <c:symbol val="circle"/>
            <c:size val="17"/>
            <c:spPr>
              <a:solidFill>
                <a:srgbClr val="00B050"/>
              </a:solidFill>
              <a:ln>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Complaints!$AE$8:$AQ$8</c:f>
              <c:numCache>
                <c:formatCode>mmm\-yy</c:formatCode>
                <c:ptCount val="13"/>
                <c:pt idx="0">
                  <c:v>45809</c:v>
                </c:pt>
                <c:pt idx="1">
                  <c:v>45839</c:v>
                </c:pt>
                <c:pt idx="2">
                  <c:v>45870</c:v>
                </c:pt>
                <c:pt idx="3">
                  <c:v>45901</c:v>
                </c:pt>
                <c:pt idx="4">
                  <c:v>45931</c:v>
                </c:pt>
                <c:pt idx="5">
                  <c:v>45962</c:v>
                </c:pt>
                <c:pt idx="6">
                  <c:v>45992</c:v>
                </c:pt>
                <c:pt idx="7">
                  <c:v>46023</c:v>
                </c:pt>
                <c:pt idx="8">
                  <c:v>46054</c:v>
                </c:pt>
                <c:pt idx="9">
                  <c:v>46082</c:v>
                </c:pt>
                <c:pt idx="10">
                  <c:v>46113</c:v>
                </c:pt>
                <c:pt idx="11">
                  <c:v>46143</c:v>
                </c:pt>
                <c:pt idx="12">
                  <c:v>46174</c:v>
                </c:pt>
              </c:numCache>
            </c:numRef>
          </c:cat>
          <c:val>
            <c:numRef>
              <c:f>Complaints!$AE$10:$AQ$10</c:f>
              <c:numCache>
                <c:formatCode>General</c:formatCode>
                <c:ptCount val="13"/>
                <c:pt idx="0">
                  <c:v>1</c:v>
                </c:pt>
                <c:pt idx="1">
                  <c:v>0</c:v>
                </c:pt>
                <c:pt idx="2">
                  <c:v>0</c:v>
                </c:pt>
                <c:pt idx="3">
                  <c:v>1</c:v>
                </c:pt>
                <c:pt idx="4">
                  <c:v>0</c:v>
                </c:pt>
                <c:pt idx="5">
                  <c:v>0</c:v>
                </c:pt>
                <c:pt idx="6">
                  <c:v>0</c:v>
                </c:pt>
                <c:pt idx="7">
                  <c:v>3</c:v>
                </c:pt>
                <c:pt idx="8">
                  <c:v>1</c:v>
                </c:pt>
                <c:pt idx="9">
                  <c:v>0</c:v>
                </c:pt>
                <c:pt idx="10">
                  <c:v>3</c:v>
                </c:pt>
                <c:pt idx="11">
                  <c:v>0</c:v>
                </c:pt>
                <c:pt idx="12">
                  <c:v>0</c:v>
                </c:pt>
              </c:numCache>
            </c:numRef>
          </c:val>
          <c:smooth val="0"/>
          <c:extLst>
            <c:ext xmlns:c16="http://schemas.microsoft.com/office/drawing/2014/chart" uri="{C3380CC4-5D6E-409C-BE32-E72D297353CC}">
              <c16:uniqueId val="{00000001-3BED-4134-8AB7-AA9D695AE850}"/>
            </c:ext>
          </c:extLst>
        </c:ser>
        <c:dLbls>
          <c:dLblPos val="ctr"/>
          <c:showLegendKey val="0"/>
          <c:showVal val="1"/>
          <c:showCatName val="0"/>
          <c:showSerName val="0"/>
          <c:showPercent val="0"/>
          <c:showBubbleSize val="0"/>
        </c:dLbls>
        <c:marker val="1"/>
        <c:smooth val="0"/>
        <c:axId val="625280936"/>
        <c:axId val="625278312"/>
      </c:lineChart>
      <c:dateAx>
        <c:axId val="625280936"/>
        <c:scaling>
          <c:orientation val="minMax"/>
        </c:scaling>
        <c:delete val="0"/>
        <c:axPos val="b"/>
        <c:numFmt formatCode="mmm\-yy"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625278312"/>
        <c:crosses val="autoZero"/>
        <c:auto val="1"/>
        <c:lblOffset val="100"/>
        <c:baseTimeUnit val="months"/>
      </c:dateAx>
      <c:valAx>
        <c:axId val="625278312"/>
        <c:scaling>
          <c:orientation val="minMax"/>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625280936"/>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r>
              <a:rPr lang="en-GB"/>
              <a:t>Risk Classification</a:t>
            </a:r>
            <a:r>
              <a:rPr lang="en-GB" baseline="0"/>
              <a:t> Chart</a:t>
            </a:r>
            <a:endParaRPr lang="en-GB"/>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endParaRPr lang="en-GB"/>
        </a:p>
      </c:txPr>
    </c:title>
    <c:autoTitleDeleted val="0"/>
    <c:plotArea>
      <c:layout/>
      <c:barChart>
        <c:barDir val="col"/>
        <c:grouping val="clustered"/>
        <c:varyColors val="0"/>
        <c:ser>
          <c:idx val="0"/>
          <c:order val="0"/>
          <c:tx>
            <c:strRef>
              <c:f>Complaints!$A$3</c:f>
              <c:strCache>
                <c:ptCount val="1"/>
                <c:pt idx="0">
                  <c:v>Minor</c:v>
                </c:pt>
              </c:strCache>
            </c:strRef>
          </c:tx>
          <c:spPr>
            <a:solidFill>
              <a:srgbClr val="00FF00"/>
            </a:solidFill>
            <a:ln>
              <a:noFill/>
            </a:ln>
            <a:effectLst>
              <a:outerShdw blurRad="40000" dist="23000" dir="5400000" rotWithShape="0">
                <a:srgbClr val="000000">
                  <a:alpha val="35000"/>
                </a:srgbClr>
              </a:outerShdw>
            </a:effectLst>
          </c:spPr>
          <c:invertIfNegative val="0"/>
          <c:cat>
            <c:numRef>
              <c:f>Complaints!$AE$2:$AQ$2</c:f>
              <c:numCache>
                <c:formatCode>mmm\-yy</c:formatCode>
                <c:ptCount val="13"/>
                <c:pt idx="0">
                  <c:v>45809</c:v>
                </c:pt>
                <c:pt idx="1">
                  <c:v>45839</c:v>
                </c:pt>
                <c:pt idx="2">
                  <c:v>45870</c:v>
                </c:pt>
                <c:pt idx="3">
                  <c:v>45901</c:v>
                </c:pt>
                <c:pt idx="4">
                  <c:v>45931</c:v>
                </c:pt>
                <c:pt idx="5">
                  <c:v>45962</c:v>
                </c:pt>
                <c:pt idx="6">
                  <c:v>45992</c:v>
                </c:pt>
                <c:pt idx="7">
                  <c:v>46023</c:v>
                </c:pt>
                <c:pt idx="8">
                  <c:v>46054</c:v>
                </c:pt>
                <c:pt idx="9">
                  <c:v>46082</c:v>
                </c:pt>
                <c:pt idx="10">
                  <c:v>46113</c:v>
                </c:pt>
                <c:pt idx="11">
                  <c:v>46143</c:v>
                </c:pt>
                <c:pt idx="12">
                  <c:v>46174</c:v>
                </c:pt>
              </c:numCache>
            </c:numRef>
          </c:cat>
          <c:val>
            <c:numRef>
              <c:f>Complaints!$AE$3:$AQ$3</c:f>
              <c:numCache>
                <c:formatCode>General</c:formatCode>
                <c:ptCount val="13"/>
                <c:pt idx="0">
                  <c:v>0</c:v>
                </c:pt>
                <c:pt idx="1">
                  <c:v>1</c:v>
                </c:pt>
                <c:pt idx="2">
                  <c:v>0</c:v>
                </c:pt>
                <c:pt idx="3">
                  <c:v>0</c:v>
                </c:pt>
                <c:pt idx="4">
                  <c:v>0</c:v>
                </c:pt>
                <c:pt idx="5">
                  <c:v>0</c:v>
                </c:pt>
                <c:pt idx="6">
                  <c:v>0</c:v>
                </c:pt>
                <c:pt idx="7">
                  <c:v>1</c:v>
                </c:pt>
                <c:pt idx="8">
                  <c:v>3</c:v>
                </c:pt>
                <c:pt idx="9">
                  <c:v>0</c:v>
                </c:pt>
                <c:pt idx="10">
                  <c:v>0</c:v>
                </c:pt>
                <c:pt idx="11">
                  <c:v>0</c:v>
                </c:pt>
                <c:pt idx="12">
                  <c:v>1</c:v>
                </c:pt>
              </c:numCache>
            </c:numRef>
          </c:val>
          <c:extLst>
            <c:ext xmlns:c16="http://schemas.microsoft.com/office/drawing/2014/chart" uri="{C3380CC4-5D6E-409C-BE32-E72D297353CC}">
              <c16:uniqueId val="{00000000-6F9B-48E1-802D-CC0F43062ED1}"/>
            </c:ext>
          </c:extLst>
        </c:ser>
        <c:ser>
          <c:idx val="1"/>
          <c:order val="1"/>
          <c:tx>
            <c:strRef>
              <c:f>Complaints!$A$4</c:f>
              <c:strCache>
                <c:ptCount val="1"/>
                <c:pt idx="0">
                  <c:v>Major</c:v>
                </c:pt>
              </c:strCache>
            </c:strRef>
          </c:tx>
          <c:spPr>
            <a:solidFill>
              <a:srgbClr val="FFFF00"/>
            </a:solidFill>
            <a:ln>
              <a:noFill/>
            </a:ln>
            <a:effectLst>
              <a:outerShdw blurRad="40000" dist="23000" dir="5400000" rotWithShape="0">
                <a:srgbClr val="000000">
                  <a:alpha val="35000"/>
                </a:srgbClr>
              </a:outerShdw>
            </a:effectLst>
          </c:spPr>
          <c:invertIfNegative val="0"/>
          <c:cat>
            <c:numRef>
              <c:f>Complaints!$AE$2:$AQ$2</c:f>
              <c:numCache>
                <c:formatCode>mmm\-yy</c:formatCode>
                <c:ptCount val="13"/>
                <c:pt idx="0">
                  <c:v>45809</c:v>
                </c:pt>
                <c:pt idx="1">
                  <c:v>45839</c:v>
                </c:pt>
                <c:pt idx="2">
                  <c:v>45870</c:v>
                </c:pt>
                <c:pt idx="3">
                  <c:v>45901</c:v>
                </c:pt>
                <c:pt idx="4">
                  <c:v>45931</c:v>
                </c:pt>
                <c:pt idx="5">
                  <c:v>45962</c:v>
                </c:pt>
                <c:pt idx="6">
                  <c:v>45992</c:v>
                </c:pt>
                <c:pt idx="7">
                  <c:v>46023</c:v>
                </c:pt>
                <c:pt idx="8">
                  <c:v>46054</c:v>
                </c:pt>
                <c:pt idx="9">
                  <c:v>46082</c:v>
                </c:pt>
                <c:pt idx="10">
                  <c:v>46113</c:v>
                </c:pt>
                <c:pt idx="11">
                  <c:v>46143</c:v>
                </c:pt>
                <c:pt idx="12">
                  <c:v>46174</c:v>
                </c:pt>
              </c:numCache>
            </c:numRef>
          </c:cat>
          <c:val>
            <c:numRef>
              <c:f>Complaints!$AE$4:$AQ$4</c:f>
              <c:numCache>
                <c:formatCode>General</c:formatCode>
                <c:ptCount val="13"/>
                <c:pt idx="0">
                  <c:v>0</c:v>
                </c:pt>
                <c:pt idx="1">
                  <c:v>0</c:v>
                </c:pt>
                <c:pt idx="2">
                  <c:v>0</c:v>
                </c:pt>
                <c:pt idx="3">
                  <c:v>0</c:v>
                </c:pt>
                <c:pt idx="4">
                  <c:v>0</c:v>
                </c:pt>
                <c:pt idx="5">
                  <c:v>2</c:v>
                </c:pt>
                <c:pt idx="6">
                  <c:v>0</c:v>
                </c:pt>
                <c:pt idx="7">
                  <c:v>1</c:v>
                </c:pt>
                <c:pt idx="8">
                  <c:v>0</c:v>
                </c:pt>
                <c:pt idx="9">
                  <c:v>0</c:v>
                </c:pt>
                <c:pt idx="10">
                  <c:v>0</c:v>
                </c:pt>
                <c:pt idx="11">
                  <c:v>0</c:v>
                </c:pt>
                <c:pt idx="12">
                  <c:v>0</c:v>
                </c:pt>
              </c:numCache>
            </c:numRef>
          </c:val>
          <c:extLst>
            <c:ext xmlns:c16="http://schemas.microsoft.com/office/drawing/2014/chart" uri="{C3380CC4-5D6E-409C-BE32-E72D297353CC}">
              <c16:uniqueId val="{00000001-6F9B-48E1-802D-CC0F43062ED1}"/>
            </c:ext>
          </c:extLst>
        </c:ser>
        <c:ser>
          <c:idx val="2"/>
          <c:order val="2"/>
          <c:tx>
            <c:strRef>
              <c:f>Complaints!$A$5</c:f>
              <c:strCache>
                <c:ptCount val="1"/>
                <c:pt idx="0">
                  <c:v>Critical</c:v>
                </c:pt>
              </c:strCache>
            </c:strRef>
          </c:tx>
          <c:spPr>
            <a:solidFill>
              <a:srgbClr val="FF0000"/>
            </a:solidFill>
            <a:ln>
              <a:noFill/>
            </a:ln>
            <a:effectLst>
              <a:outerShdw blurRad="40000" dist="23000" dir="5400000" rotWithShape="0">
                <a:srgbClr val="000000">
                  <a:alpha val="35000"/>
                </a:srgbClr>
              </a:outerShdw>
            </a:effectLst>
          </c:spPr>
          <c:invertIfNegative val="0"/>
          <c:cat>
            <c:numRef>
              <c:f>Complaints!$AE$2:$AQ$2</c:f>
              <c:numCache>
                <c:formatCode>mmm\-yy</c:formatCode>
                <c:ptCount val="13"/>
                <c:pt idx="0">
                  <c:v>45809</c:v>
                </c:pt>
                <c:pt idx="1">
                  <c:v>45839</c:v>
                </c:pt>
                <c:pt idx="2">
                  <c:v>45870</c:v>
                </c:pt>
                <c:pt idx="3">
                  <c:v>45901</c:v>
                </c:pt>
                <c:pt idx="4">
                  <c:v>45931</c:v>
                </c:pt>
                <c:pt idx="5">
                  <c:v>45962</c:v>
                </c:pt>
                <c:pt idx="6">
                  <c:v>45992</c:v>
                </c:pt>
                <c:pt idx="7">
                  <c:v>46023</c:v>
                </c:pt>
                <c:pt idx="8">
                  <c:v>46054</c:v>
                </c:pt>
                <c:pt idx="9">
                  <c:v>46082</c:v>
                </c:pt>
                <c:pt idx="10">
                  <c:v>46113</c:v>
                </c:pt>
                <c:pt idx="11">
                  <c:v>46143</c:v>
                </c:pt>
                <c:pt idx="12">
                  <c:v>46174</c:v>
                </c:pt>
              </c:numCache>
            </c:numRef>
          </c:cat>
          <c:val>
            <c:numRef>
              <c:f>Complaints!$AE$5:$AQ$5</c:f>
              <c:numCache>
                <c:formatCode>General</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numRef>
          </c:val>
          <c:extLst>
            <c:ext xmlns:c16="http://schemas.microsoft.com/office/drawing/2014/chart" uri="{C3380CC4-5D6E-409C-BE32-E72D297353CC}">
              <c16:uniqueId val="{00000002-6F9B-48E1-802D-CC0F43062ED1}"/>
            </c:ext>
          </c:extLst>
        </c:ser>
        <c:dLbls>
          <c:showLegendKey val="0"/>
          <c:showVal val="0"/>
          <c:showCatName val="0"/>
          <c:showSerName val="0"/>
          <c:showPercent val="0"/>
          <c:showBubbleSize val="0"/>
        </c:dLbls>
        <c:gapWidth val="100"/>
        <c:overlap val="-24"/>
        <c:axId val="1715481488"/>
        <c:axId val="1715481008"/>
      </c:barChart>
      <c:dateAx>
        <c:axId val="1715481488"/>
        <c:scaling>
          <c:orientation val="minMax"/>
        </c:scaling>
        <c:delete val="0"/>
        <c:axPos val="b"/>
        <c:numFmt formatCode="mmm\-yy"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715481008"/>
        <c:crosses val="autoZero"/>
        <c:auto val="1"/>
        <c:lblOffset val="100"/>
        <c:baseTimeUnit val="months"/>
      </c:dateAx>
      <c:valAx>
        <c:axId val="1715481008"/>
        <c:scaling>
          <c:orientation val="minMax"/>
          <c:max val="4"/>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715481488"/>
        <c:crosses val="autoZero"/>
        <c:crossBetween val="between"/>
        <c:majorUnit val="1"/>
        <c:min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GB"/>
              <a:t>Suppliers Complaints </a:t>
            </a:r>
          </a:p>
          <a:p>
            <a:pPr>
              <a:defRPr/>
            </a:pPr>
            <a:r>
              <a:rPr lang="en-GB"/>
              <a:t>(Last 12 Months)</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lineChart>
        <c:grouping val="standard"/>
        <c:varyColors val="0"/>
        <c:ser>
          <c:idx val="0"/>
          <c:order val="0"/>
          <c:tx>
            <c:strRef>
              <c:f>Suppliers_Complaints!$A$9</c:f>
              <c:strCache>
                <c:ptCount val="1"/>
                <c:pt idx="0">
                  <c:v>New Complaints</c:v>
                </c:pt>
              </c:strCache>
            </c:strRef>
          </c:tx>
          <c:spPr>
            <a:ln w="31750" cap="rnd">
              <a:solidFill>
                <a:srgbClr val="C00000"/>
              </a:solidFill>
              <a:round/>
            </a:ln>
            <a:effectLst/>
          </c:spPr>
          <c:marker>
            <c:symbol val="circle"/>
            <c:size val="17"/>
            <c:spPr>
              <a:solidFill>
                <a:srgbClr val="C00000"/>
              </a:solidFill>
              <a:ln>
                <a:solidFill>
                  <a:srgbClr val="C0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Suppliers_Complaints!$H$8:$T$8</c:f>
              <c:numCache>
                <c:formatCode>mmm\-yy</c:formatCode>
                <c:ptCount val="13"/>
                <c:pt idx="0">
                  <c:v>45839</c:v>
                </c:pt>
                <c:pt idx="1">
                  <c:v>45870</c:v>
                </c:pt>
                <c:pt idx="2">
                  <c:v>45901</c:v>
                </c:pt>
                <c:pt idx="3">
                  <c:v>45931</c:v>
                </c:pt>
                <c:pt idx="4">
                  <c:v>45962</c:v>
                </c:pt>
                <c:pt idx="5">
                  <c:v>45992</c:v>
                </c:pt>
                <c:pt idx="6">
                  <c:v>46023</c:v>
                </c:pt>
                <c:pt idx="7">
                  <c:v>46054</c:v>
                </c:pt>
                <c:pt idx="8">
                  <c:v>46082</c:v>
                </c:pt>
                <c:pt idx="9">
                  <c:v>46113</c:v>
                </c:pt>
                <c:pt idx="10">
                  <c:v>46143</c:v>
                </c:pt>
                <c:pt idx="11">
                  <c:v>46174</c:v>
                </c:pt>
                <c:pt idx="12">
                  <c:v>46204</c:v>
                </c:pt>
              </c:numCache>
            </c:numRef>
          </c:cat>
          <c:val>
            <c:numRef>
              <c:f>Suppliers_Complaints!$H$9:$T$9</c:f>
              <c:numCache>
                <c:formatCode>General</c:formatCode>
                <c:ptCount val="13"/>
                <c:pt idx="0">
                  <c:v>0</c:v>
                </c:pt>
                <c:pt idx="1">
                  <c:v>0</c:v>
                </c:pt>
                <c:pt idx="2">
                  <c:v>0</c:v>
                </c:pt>
                <c:pt idx="3">
                  <c:v>0</c:v>
                </c:pt>
                <c:pt idx="4">
                  <c:v>0</c:v>
                </c:pt>
                <c:pt idx="5">
                  <c:v>0</c:v>
                </c:pt>
                <c:pt idx="6">
                  <c:v>0</c:v>
                </c:pt>
                <c:pt idx="7">
                  <c:v>0</c:v>
                </c:pt>
                <c:pt idx="8">
                  <c:v>0</c:v>
                </c:pt>
                <c:pt idx="9">
                  <c:v>0</c:v>
                </c:pt>
                <c:pt idx="10">
                  <c:v>1</c:v>
                </c:pt>
                <c:pt idx="11">
                  <c:v>0</c:v>
                </c:pt>
                <c:pt idx="12">
                  <c:v>0</c:v>
                </c:pt>
              </c:numCache>
            </c:numRef>
          </c:val>
          <c:smooth val="0"/>
          <c:extLst>
            <c:ext xmlns:c16="http://schemas.microsoft.com/office/drawing/2014/chart" uri="{C3380CC4-5D6E-409C-BE32-E72D297353CC}">
              <c16:uniqueId val="{00000000-6A50-4279-921E-184EFF570ED5}"/>
            </c:ext>
          </c:extLst>
        </c:ser>
        <c:ser>
          <c:idx val="1"/>
          <c:order val="1"/>
          <c:tx>
            <c:strRef>
              <c:f>Suppliers_Complaints!$A$10</c:f>
              <c:strCache>
                <c:ptCount val="1"/>
                <c:pt idx="0">
                  <c:v>Completed Complaints</c:v>
                </c:pt>
              </c:strCache>
            </c:strRef>
          </c:tx>
          <c:spPr>
            <a:ln w="31750" cap="rnd">
              <a:solidFill>
                <a:srgbClr val="00B050"/>
              </a:solidFill>
              <a:round/>
            </a:ln>
            <a:effectLst/>
          </c:spPr>
          <c:marker>
            <c:symbol val="circle"/>
            <c:size val="17"/>
            <c:spPr>
              <a:solidFill>
                <a:srgbClr val="00B050"/>
              </a:solidFill>
              <a:ln>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Suppliers_Complaints!$H$8:$T$8</c:f>
              <c:numCache>
                <c:formatCode>mmm\-yy</c:formatCode>
                <c:ptCount val="13"/>
                <c:pt idx="0">
                  <c:v>45839</c:v>
                </c:pt>
                <c:pt idx="1">
                  <c:v>45870</c:v>
                </c:pt>
                <c:pt idx="2">
                  <c:v>45901</c:v>
                </c:pt>
                <c:pt idx="3">
                  <c:v>45931</c:v>
                </c:pt>
                <c:pt idx="4">
                  <c:v>45962</c:v>
                </c:pt>
                <c:pt idx="5">
                  <c:v>45992</c:v>
                </c:pt>
                <c:pt idx="6">
                  <c:v>46023</c:v>
                </c:pt>
                <c:pt idx="7">
                  <c:v>46054</c:v>
                </c:pt>
                <c:pt idx="8">
                  <c:v>46082</c:v>
                </c:pt>
                <c:pt idx="9">
                  <c:v>46113</c:v>
                </c:pt>
                <c:pt idx="10">
                  <c:v>46143</c:v>
                </c:pt>
                <c:pt idx="11">
                  <c:v>46174</c:v>
                </c:pt>
                <c:pt idx="12">
                  <c:v>46204</c:v>
                </c:pt>
              </c:numCache>
            </c:numRef>
          </c:cat>
          <c:val>
            <c:numRef>
              <c:f>Suppliers_Complaints!$H$10:$T$10</c:f>
              <c:numCache>
                <c:formatCode>General</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numRef>
          </c:val>
          <c:smooth val="0"/>
          <c:extLst>
            <c:ext xmlns:c16="http://schemas.microsoft.com/office/drawing/2014/chart" uri="{C3380CC4-5D6E-409C-BE32-E72D297353CC}">
              <c16:uniqueId val="{00000001-6A50-4279-921E-184EFF570ED5}"/>
            </c:ext>
          </c:extLst>
        </c:ser>
        <c:dLbls>
          <c:dLblPos val="ctr"/>
          <c:showLegendKey val="0"/>
          <c:showVal val="1"/>
          <c:showCatName val="0"/>
          <c:showSerName val="0"/>
          <c:showPercent val="0"/>
          <c:showBubbleSize val="0"/>
        </c:dLbls>
        <c:marker val="1"/>
        <c:smooth val="0"/>
        <c:axId val="625280936"/>
        <c:axId val="625278312"/>
      </c:lineChart>
      <c:dateAx>
        <c:axId val="625280936"/>
        <c:scaling>
          <c:orientation val="minMax"/>
        </c:scaling>
        <c:delete val="0"/>
        <c:axPos val="b"/>
        <c:numFmt formatCode="mmm\-yy"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625278312"/>
        <c:crosses val="autoZero"/>
        <c:auto val="1"/>
        <c:lblOffset val="100"/>
        <c:baseTimeUnit val="months"/>
      </c:dateAx>
      <c:valAx>
        <c:axId val="625278312"/>
        <c:scaling>
          <c:orientation val="minMax"/>
          <c:max val="3"/>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625280936"/>
        <c:crosses val="autoZero"/>
        <c:crossBetween val="between"/>
        <c:majorUnit val="1"/>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r>
              <a:rPr lang="en-GB"/>
              <a:t>Risk Classification</a:t>
            </a:r>
            <a:r>
              <a:rPr lang="en-GB" baseline="0"/>
              <a:t> Chart</a:t>
            </a:r>
            <a:endParaRPr lang="en-GB"/>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endParaRPr lang="en-GB"/>
        </a:p>
      </c:txPr>
    </c:title>
    <c:autoTitleDeleted val="0"/>
    <c:plotArea>
      <c:layout/>
      <c:barChart>
        <c:barDir val="col"/>
        <c:grouping val="clustered"/>
        <c:varyColors val="0"/>
        <c:ser>
          <c:idx val="0"/>
          <c:order val="0"/>
          <c:tx>
            <c:strRef>
              <c:f>Suppliers_Complaints!$A$3</c:f>
              <c:strCache>
                <c:ptCount val="1"/>
                <c:pt idx="0">
                  <c:v>Minor</c:v>
                </c:pt>
              </c:strCache>
            </c:strRef>
          </c:tx>
          <c:spPr>
            <a:solidFill>
              <a:srgbClr val="00FF00"/>
            </a:solidFill>
            <a:ln>
              <a:noFill/>
            </a:ln>
            <a:effectLst>
              <a:outerShdw blurRad="40000" dist="23000" dir="5400000" rotWithShape="0">
                <a:srgbClr val="000000">
                  <a:alpha val="35000"/>
                </a:srgbClr>
              </a:outerShdw>
            </a:effectLst>
          </c:spPr>
          <c:invertIfNegative val="0"/>
          <c:cat>
            <c:numRef>
              <c:f>Suppliers_Complaints!$G$2:$S$2</c:f>
              <c:numCache>
                <c:formatCode>mmm\-yy</c:formatCode>
                <c:ptCount val="13"/>
                <c:pt idx="0">
                  <c:v>45809</c:v>
                </c:pt>
                <c:pt idx="1">
                  <c:v>45839</c:v>
                </c:pt>
                <c:pt idx="2">
                  <c:v>45870</c:v>
                </c:pt>
                <c:pt idx="3">
                  <c:v>45901</c:v>
                </c:pt>
                <c:pt idx="4">
                  <c:v>45931</c:v>
                </c:pt>
                <c:pt idx="5">
                  <c:v>45962</c:v>
                </c:pt>
                <c:pt idx="6">
                  <c:v>45992</c:v>
                </c:pt>
                <c:pt idx="7">
                  <c:v>46023</c:v>
                </c:pt>
                <c:pt idx="8">
                  <c:v>46054</c:v>
                </c:pt>
                <c:pt idx="9">
                  <c:v>46082</c:v>
                </c:pt>
                <c:pt idx="10">
                  <c:v>46113</c:v>
                </c:pt>
                <c:pt idx="11">
                  <c:v>46143</c:v>
                </c:pt>
                <c:pt idx="12">
                  <c:v>46174</c:v>
                </c:pt>
              </c:numCache>
            </c:numRef>
          </c:cat>
          <c:val>
            <c:numRef>
              <c:f>Suppliers_Complaints!$G$3:$S$3</c:f>
              <c:numCache>
                <c:formatCode>General</c:formatCode>
                <c:ptCount val="13"/>
                <c:pt idx="0">
                  <c:v>0</c:v>
                </c:pt>
                <c:pt idx="1">
                  <c:v>0</c:v>
                </c:pt>
                <c:pt idx="2">
                  <c:v>0</c:v>
                </c:pt>
                <c:pt idx="3">
                  <c:v>0</c:v>
                </c:pt>
                <c:pt idx="4">
                  <c:v>0</c:v>
                </c:pt>
                <c:pt idx="5">
                  <c:v>0</c:v>
                </c:pt>
                <c:pt idx="6">
                  <c:v>0</c:v>
                </c:pt>
                <c:pt idx="7">
                  <c:v>0</c:v>
                </c:pt>
                <c:pt idx="8">
                  <c:v>0</c:v>
                </c:pt>
                <c:pt idx="9">
                  <c:v>0</c:v>
                </c:pt>
                <c:pt idx="10">
                  <c:v>0</c:v>
                </c:pt>
                <c:pt idx="11">
                  <c:v>1</c:v>
                </c:pt>
                <c:pt idx="12">
                  <c:v>0</c:v>
                </c:pt>
              </c:numCache>
            </c:numRef>
          </c:val>
          <c:extLst>
            <c:ext xmlns:c16="http://schemas.microsoft.com/office/drawing/2014/chart" uri="{C3380CC4-5D6E-409C-BE32-E72D297353CC}">
              <c16:uniqueId val="{00000000-CC39-4A24-8768-572DF8B5B847}"/>
            </c:ext>
          </c:extLst>
        </c:ser>
        <c:ser>
          <c:idx val="1"/>
          <c:order val="1"/>
          <c:tx>
            <c:strRef>
              <c:f>Suppliers_Complaints!$A$4</c:f>
              <c:strCache>
                <c:ptCount val="1"/>
                <c:pt idx="0">
                  <c:v>Major</c:v>
                </c:pt>
              </c:strCache>
            </c:strRef>
          </c:tx>
          <c:spPr>
            <a:solidFill>
              <a:srgbClr val="FFFF00"/>
            </a:solidFill>
            <a:ln>
              <a:noFill/>
            </a:ln>
            <a:effectLst>
              <a:outerShdw blurRad="40000" dist="23000" dir="5400000" rotWithShape="0">
                <a:srgbClr val="000000">
                  <a:alpha val="35000"/>
                </a:srgbClr>
              </a:outerShdw>
            </a:effectLst>
          </c:spPr>
          <c:invertIfNegative val="0"/>
          <c:cat>
            <c:numRef>
              <c:f>Suppliers_Complaints!$G$2:$S$2</c:f>
              <c:numCache>
                <c:formatCode>mmm\-yy</c:formatCode>
                <c:ptCount val="13"/>
                <c:pt idx="0">
                  <c:v>45809</c:v>
                </c:pt>
                <c:pt idx="1">
                  <c:v>45839</c:v>
                </c:pt>
                <c:pt idx="2">
                  <c:v>45870</c:v>
                </c:pt>
                <c:pt idx="3">
                  <c:v>45901</c:v>
                </c:pt>
                <c:pt idx="4">
                  <c:v>45931</c:v>
                </c:pt>
                <c:pt idx="5">
                  <c:v>45962</c:v>
                </c:pt>
                <c:pt idx="6">
                  <c:v>45992</c:v>
                </c:pt>
                <c:pt idx="7">
                  <c:v>46023</c:v>
                </c:pt>
                <c:pt idx="8">
                  <c:v>46054</c:v>
                </c:pt>
                <c:pt idx="9">
                  <c:v>46082</c:v>
                </c:pt>
                <c:pt idx="10">
                  <c:v>46113</c:v>
                </c:pt>
                <c:pt idx="11">
                  <c:v>46143</c:v>
                </c:pt>
                <c:pt idx="12">
                  <c:v>46174</c:v>
                </c:pt>
              </c:numCache>
            </c:numRef>
          </c:cat>
          <c:val>
            <c:numRef>
              <c:f>Suppliers_Complaints!$G$4:$S$4</c:f>
              <c:numCache>
                <c:formatCode>General</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numRef>
          </c:val>
          <c:extLst>
            <c:ext xmlns:c16="http://schemas.microsoft.com/office/drawing/2014/chart" uri="{C3380CC4-5D6E-409C-BE32-E72D297353CC}">
              <c16:uniqueId val="{00000001-CC39-4A24-8768-572DF8B5B847}"/>
            </c:ext>
          </c:extLst>
        </c:ser>
        <c:ser>
          <c:idx val="2"/>
          <c:order val="2"/>
          <c:tx>
            <c:strRef>
              <c:f>Suppliers_Complaints!$A$5</c:f>
              <c:strCache>
                <c:ptCount val="1"/>
                <c:pt idx="0">
                  <c:v>Critical</c:v>
                </c:pt>
              </c:strCache>
            </c:strRef>
          </c:tx>
          <c:spPr>
            <a:solidFill>
              <a:srgbClr val="FF0000"/>
            </a:solidFill>
            <a:ln>
              <a:noFill/>
            </a:ln>
            <a:effectLst>
              <a:outerShdw blurRad="40000" dist="23000" dir="5400000" rotWithShape="0">
                <a:srgbClr val="000000">
                  <a:alpha val="35000"/>
                </a:srgbClr>
              </a:outerShdw>
            </a:effectLst>
          </c:spPr>
          <c:invertIfNegative val="0"/>
          <c:cat>
            <c:numRef>
              <c:f>Suppliers_Complaints!$G$2:$S$2</c:f>
              <c:numCache>
                <c:formatCode>mmm\-yy</c:formatCode>
                <c:ptCount val="13"/>
                <c:pt idx="0">
                  <c:v>45809</c:v>
                </c:pt>
                <c:pt idx="1">
                  <c:v>45839</c:v>
                </c:pt>
                <c:pt idx="2">
                  <c:v>45870</c:v>
                </c:pt>
                <c:pt idx="3">
                  <c:v>45901</c:v>
                </c:pt>
                <c:pt idx="4">
                  <c:v>45931</c:v>
                </c:pt>
                <c:pt idx="5">
                  <c:v>45962</c:v>
                </c:pt>
                <c:pt idx="6">
                  <c:v>45992</c:v>
                </c:pt>
                <c:pt idx="7">
                  <c:v>46023</c:v>
                </c:pt>
                <c:pt idx="8">
                  <c:v>46054</c:v>
                </c:pt>
                <c:pt idx="9">
                  <c:v>46082</c:v>
                </c:pt>
                <c:pt idx="10">
                  <c:v>46113</c:v>
                </c:pt>
                <c:pt idx="11">
                  <c:v>46143</c:v>
                </c:pt>
                <c:pt idx="12">
                  <c:v>46174</c:v>
                </c:pt>
              </c:numCache>
            </c:numRef>
          </c:cat>
          <c:val>
            <c:numRef>
              <c:f>Suppliers_Complaints!$G$5:$S$5</c:f>
              <c:numCache>
                <c:formatCode>General</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numRef>
          </c:val>
          <c:extLst>
            <c:ext xmlns:c16="http://schemas.microsoft.com/office/drawing/2014/chart" uri="{C3380CC4-5D6E-409C-BE32-E72D297353CC}">
              <c16:uniqueId val="{00000002-CC39-4A24-8768-572DF8B5B847}"/>
            </c:ext>
          </c:extLst>
        </c:ser>
        <c:dLbls>
          <c:showLegendKey val="0"/>
          <c:showVal val="0"/>
          <c:showCatName val="0"/>
          <c:showSerName val="0"/>
          <c:showPercent val="0"/>
          <c:showBubbleSize val="0"/>
        </c:dLbls>
        <c:gapWidth val="100"/>
        <c:overlap val="-24"/>
        <c:axId val="1715481488"/>
        <c:axId val="1715481008"/>
      </c:barChart>
      <c:dateAx>
        <c:axId val="1715481488"/>
        <c:scaling>
          <c:orientation val="minMax"/>
          <c:max val="46174"/>
          <c:min val="45839"/>
        </c:scaling>
        <c:delete val="0"/>
        <c:axPos val="b"/>
        <c:numFmt formatCode="mmm\-yy"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715481008"/>
        <c:crosses val="autoZero"/>
        <c:auto val="1"/>
        <c:lblOffset val="100"/>
        <c:baseTimeUnit val="months"/>
      </c:dateAx>
      <c:valAx>
        <c:axId val="1715481008"/>
        <c:scaling>
          <c:orientation val="minMax"/>
          <c:max val="3"/>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715481488"/>
        <c:crosses val="autoZero"/>
        <c:crossBetween val="between"/>
        <c:majorUnit val="1"/>
        <c:min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2">
        <a:lumMod val="75000"/>
      </a:schemeClr>
    </a:solid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OOS/OOT (Last 12 Months)</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lineChart>
        <c:grouping val="standard"/>
        <c:varyColors val="0"/>
        <c:ser>
          <c:idx val="0"/>
          <c:order val="0"/>
          <c:tx>
            <c:strRef>
              <c:f>OOS!$A$2</c:f>
              <c:strCache>
                <c:ptCount val="1"/>
                <c:pt idx="0">
                  <c:v>New OOS</c:v>
                </c:pt>
              </c:strCache>
            </c:strRef>
          </c:tx>
          <c:spPr>
            <a:ln w="31750" cap="rnd">
              <a:solidFill>
                <a:srgbClr val="C00000"/>
              </a:solidFill>
              <a:round/>
            </a:ln>
            <a:effectLst/>
          </c:spPr>
          <c:marker>
            <c:symbol val="circle"/>
            <c:size val="17"/>
            <c:spPr>
              <a:solidFill>
                <a:srgbClr val="C00000"/>
              </a:solidFill>
              <a:ln>
                <a:solidFill>
                  <a:srgbClr val="C00000"/>
                </a:solidFill>
              </a:ln>
              <a:effectLst/>
            </c:spPr>
          </c:marker>
          <c:dLbls>
            <c:spPr>
              <a:solidFill>
                <a:srgbClr val="C00000"/>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OOS!$G$1:$S$1</c:f>
              <c:numCache>
                <c:formatCode>mmm\-yy</c:formatCode>
                <c:ptCount val="13"/>
                <c:pt idx="0">
                  <c:v>45809</c:v>
                </c:pt>
                <c:pt idx="1">
                  <c:v>45839</c:v>
                </c:pt>
                <c:pt idx="2">
                  <c:v>45870</c:v>
                </c:pt>
                <c:pt idx="3">
                  <c:v>45901</c:v>
                </c:pt>
                <c:pt idx="4">
                  <c:v>45931</c:v>
                </c:pt>
                <c:pt idx="5">
                  <c:v>45962</c:v>
                </c:pt>
                <c:pt idx="6">
                  <c:v>45992</c:v>
                </c:pt>
                <c:pt idx="7">
                  <c:v>46023</c:v>
                </c:pt>
                <c:pt idx="8">
                  <c:v>46054</c:v>
                </c:pt>
                <c:pt idx="9">
                  <c:v>46082</c:v>
                </c:pt>
                <c:pt idx="10">
                  <c:v>46113</c:v>
                </c:pt>
                <c:pt idx="11">
                  <c:v>46143</c:v>
                </c:pt>
                <c:pt idx="12">
                  <c:v>46174</c:v>
                </c:pt>
              </c:numCache>
            </c:numRef>
          </c:cat>
          <c:val>
            <c:numRef>
              <c:f>OOS!$G$2:$S$2</c:f>
              <c:numCache>
                <c:formatCode>General</c:formatCode>
                <c:ptCount val="13"/>
                <c:pt idx="0">
                  <c:v>1</c:v>
                </c:pt>
                <c:pt idx="1">
                  <c:v>1</c:v>
                </c:pt>
                <c:pt idx="2">
                  <c:v>1</c:v>
                </c:pt>
                <c:pt idx="3">
                  <c:v>0</c:v>
                </c:pt>
                <c:pt idx="4">
                  <c:v>1</c:v>
                </c:pt>
                <c:pt idx="5">
                  <c:v>0</c:v>
                </c:pt>
                <c:pt idx="6">
                  <c:v>0</c:v>
                </c:pt>
                <c:pt idx="7">
                  <c:v>2</c:v>
                </c:pt>
                <c:pt idx="8">
                  <c:v>0</c:v>
                </c:pt>
                <c:pt idx="9">
                  <c:v>0</c:v>
                </c:pt>
                <c:pt idx="10">
                  <c:v>1</c:v>
                </c:pt>
                <c:pt idx="11">
                  <c:v>1</c:v>
                </c:pt>
                <c:pt idx="12">
                  <c:v>0</c:v>
                </c:pt>
              </c:numCache>
            </c:numRef>
          </c:val>
          <c:smooth val="0"/>
          <c:extLst>
            <c:ext xmlns:c16="http://schemas.microsoft.com/office/drawing/2014/chart" uri="{C3380CC4-5D6E-409C-BE32-E72D297353CC}">
              <c16:uniqueId val="{00000000-B9A6-466F-8512-C3673B64F3F5}"/>
            </c:ext>
          </c:extLst>
        </c:ser>
        <c:ser>
          <c:idx val="1"/>
          <c:order val="1"/>
          <c:tx>
            <c:strRef>
              <c:f>OOS!$A$3</c:f>
              <c:strCache>
                <c:ptCount val="1"/>
                <c:pt idx="0">
                  <c:v>Completed OOS</c:v>
                </c:pt>
              </c:strCache>
            </c:strRef>
          </c:tx>
          <c:spPr>
            <a:ln w="31750" cap="rnd">
              <a:solidFill>
                <a:srgbClr val="00B050"/>
              </a:solidFill>
              <a:round/>
            </a:ln>
            <a:effectLst/>
          </c:spPr>
          <c:marker>
            <c:symbol val="circle"/>
            <c:size val="17"/>
            <c:spPr>
              <a:solidFill>
                <a:srgbClr val="00B050"/>
              </a:solidFill>
              <a:ln>
                <a:solidFill>
                  <a:srgbClr val="00B050"/>
                </a:solidFill>
              </a:ln>
              <a:effectLst/>
            </c:spPr>
          </c:marker>
          <c:dLbls>
            <c:spPr>
              <a:solidFill>
                <a:srgbClr val="00B050"/>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OOS!$G$1:$S$1</c:f>
              <c:numCache>
                <c:formatCode>mmm\-yy</c:formatCode>
                <c:ptCount val="13"/>
                <c:pt idx="0">
                  <c:v>45809</c:v>
                </c:pt>
                <c:pt idx="1">
                  <c:v>45839</c:v>
                </c:pt>
                <c:pt idx="2">
                  <c:v>45870</c:v>
                </c:pt>
                <c:pt idx="3">
                  <c:v>45901</c:v>
                </c:pt>
                <c:pt idx="4">
                  <c:v>45931</c:v>
                </c:pt>
                <c:pt idx="5">
                  <c:v>45962</c:v>
                </c:pt>
                <c:pt idx="6">
                  <c:v>45992</c:v>
                </c:pt>
                <c:pt idx="7">
                  <c:v>46023</c:v>
                </c:pt>
                <c:pt idx="8">
                  <c:v>46054</c:v>
                </c:pt>
                <c:pt idx="9">
                  <c:v>46082</c:v>
                </c:pt>
                <c:pt idx="10">
                  <c:v>46113</c:v>
                </c:pt>
                <c:pt idx="11">
                  <c:v>46143</c:v>
                </c:pt>
                <c:pt idx="12">
                  <c:v>46174</c:v>
                </c:pt>
              </c:numCache>
            </c:numRef>
          </c:cat>
          <c:val>
            <c:numRef>
              <c:f>OOS!$G$3:$S$3</c:f>
              <c:numCache>
                <c:formatCode>General</c:formatCode>
                <c:ptCount val="13"/>
                <c:pt idx="0">
                  <c:v>1</c:v>
                </c:pt>
                <c:pt idx="1">
                  <c:v>2</c:v>
                </c:pt>
                <c:pt idx="2">
                  <c:v>0</c:v>
                </c:pt>
                <c:pt idx="3">
                  <c:v>0</c:v>
                </c:pt>
                <c:pt idx="4">
                  <c:v>0</c:v>
                </c:pt>
                <c:pt idx="5">
                  <c:v>1</c:v>
                </c:pt>
                <c:pt idx="6">
                  <c:v>0</c:v>
                </c:pt>
                <c:pt idx="7">
                  <c:v>1</c:v>
                </c:pt>
                <c:pt idx="8">
                  <c:v>1</c:v>
                </c:pt>
                <c:pt idx="9">
                  <c:v>0</c:v>
                </c:pt>
                <c:pt idx="10">
                  <c:v>1</c:v>
                </c:pt>
                <c:pt idx="11">
                  <c:v>0</c:v>
                </c:pt>
                <c:pt idx="12">
                  <c:v>0</c:v>
                </c:pt>
              </c:numCache>
            </c:numRef>
          </c:val>
          <c:smooth val="0"/>
          <c:extLst>
            <c:ext xmlns:c16="http://schemas.microsoft.com/office/drawing/2014/chart" uri="{C3380CC4-5D6E-409C-BE32-E72D297353CC}">
              <c16:uniqueId val="{00000001-B9A6-466F-8512-C3673B64F3F5}"/>
            </c:ext>
          </c:extLst>
        </c:ser>
        <c:dLbls>
          <c:dLblPos val="ctr"/>
          <c:showLegendKey val="0"/>
          <c:showVal val="1"/>
          <c:showCatName val="0"/>
          <c:showSerName val="0"/>
          <c:showPercent val="0"/>
          <c:showBubbleSize val="0"/>
        </c:dLbls>
        <c:marker val="1"/>
        <c:smooth val="0"/>
        <c:axId val="785777728"/>
        <c:axId val="785772808"/>
      </c:lineChart>
      <c:dateAx>
        <c:axId val="785777728"/>
        <c:scaling>
          <c:orientation val="minMax"/>
        </c:scaling>
        <c:delete val="0"/>
        <c:axPos val="b"/>
        <c:numFmt formatCode="mmm\-yy" sourceLinked="1"/>
        <c:majorTickMark val="out"/>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785772808"/>
        <c:crosses val="autoZero"/>
        <c:auto val="1"/>
        <c:lblOffset val="100"/>
        <c:baseTimeUnit val="months"/>
      </c:dateAx>
      <c:valAx>
        <c:axId val="785772808"/>
        <c:scaling>
          <c:orientation val="minMax"/>
          <c:max val="3"/>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785777728"/>
        <c:crosses val="autoZero"/>
        <c:crossBetween val="between"/>
        <c:majorUnit val="1"/>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GB"/>
              <a:t>CAPAs (Last 12 Months)</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lineChart>
        <c:grouping val="standard"/>
        <c:varyColors val="0"/>
        <c:ser>
          <c:idx val="0"/>
          <c:order val="0"/>
          <c:tx>
            <c:strRef>
              <c:f>CAPAs!$A$2</c:f>
              <c:strCache>
                <c:ptCount val="1"/>
                <c:pt idx="0">
                  <c:v>New CAPAs</c:v>
                </c:pt>
              </c:strCache>
            </c:strRef>
          </c:tx>
          <c:spPr>
            <a:ln w="31750" cap="rnd">
              <a:solidFill>
                <a:srgbClr val="C00000"/>
              </a:solidFill>
              <a:round/>
            </a:ln>
            <a:effectLst/>
          </c:spPr>
          <c:marker>
            <c:symbol val="circle"/>
            <c:size val="17"/>
            <c:spPr>
              <a:solidFill>
                <a:srgbClr val="C00000"/>
              </a:solidFill>
              <a:ln>
                <a:solidFill>
                  <a:srgbClr val="C0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CAPAs!$D$1:$P$1</c:f>
              <c:numCache>
                <c:formatCode>mmm\-yy</c:formatCode>
                <c:ptCount val="13"/>
                <c:pt idx="0">
                  <c:v>45717</c:v>
                </c:pt>
                <c:pt idx="1">
                  <c:v>45748</c:v>
                </c:pt>
                <c:pt idx="2">
                  <c:v>45778</c:v>
                </c:pt>
                <c:pt idx="3">
                  <c:v>45809</c:v>
                </c:pt>
                <c:pt idx="4">
                  <c:v>45839</c:v>
                </c:pt>
                <c:pt idx="5">
                  <c:v>45870</c:v>
                </c:pt>
                <c:pt idx="6">
                  <c:v>45901</c:v>
                </c:pt>
                <c:pt idx="7">
                  <c:v>45931</c:v>
                </c:pt>
                <c:pt idx="8">
                  <c:v>45962</c:v>
                </c:pt>
                <c:pt idx="9">
                  <c:v>45992</c:v>
                </c:pt>
                <c:pt idx="10">
                  <c:v>46023</c:v>
                </c:pt>
                <c:pt idx="11">
                  <c:v>46054</c:v>
                </c:pt>
                <c:pt idx="12">
                  <c:v>46082</c:v>
                </c:pt>
              </c:numCache>
            </c:numRef>
          </c:cat>
          <c:val>
            <c:numRef>
              <c:f>CAPAs!$D$2:$P$2</c:f>
              <c:numCache>
                <c:formatCode>General</c:formatCode>
                <c:ptCount val="13"/>
                <c:pt idx="0">
                  <c:v>5</c:v>
                </c:pt>
                <c:pt idx="1">
                  <c:v>2</c:v>
                </c:pt>
                <c:pt idx="2">
                  <c:v>7</c:v>
                </c:pt>
                <c:pt idx="3">
                  <c:v>10</c:v>
                </c:pt>
                <c:pt idx="4">
                  <c:v>7</c:v>
                </c:pt>
                <c:pt idx="5">
                  <c:v>0</c:v>
                </c:pt>
                <c:pt idx="6">
                  <c:v>2</c:v>
                </c:pt>
                <c:pt idx="7">
                  <c:v>3</c:v>
                </c:pt>
                <c:pt idx="8">
                  <c:v>2</c:v>
                </c:pt>
                <c:pt idx="9">
                  <c:v>2</c:v>
                </c:pt>
                <c:pt idx="10">
                  <c:v>7</c:v>
                </c:pt>
                <c:pt idx="11">
                  <c:v>1</c:v>
                </c:pt>
                <c:pt idx="12">
                  <c:v>2</c:v>
                </c:pt>
              </c:numCache>
            </c:numRef>
          </c:val>
          <c:smooth val="0"/>
          <c:extLst>
            <c:ext xmlns:c16="http://schemas.microsoft.com/office/drawing/2014/chart" uri="{C3380CC4-5D6E-409C-BE32-E72D297353CC}">
              <c16:uniqueId val="{00000000-340B-4CBC-83CA-5FD059F07D73}"/>
            </c:ext>
          </c:extLst>
        </c:ser>
        <c:ser>
          <c:idx val="1"/>
          <c:order val="1"/>
          <c:tx>
            <c:strRef>
              <c:f>CAPAs!$A$3</c:f>
              <c:strCache>
                <c:ptCount val="1"/>
                <c:pt idx="0">
                  <c:v>Completed CAPAs</c:v>
                </c:pt>
              </c:strCache>
            </c:strRef>
          </c:tx>
          <c:spPr>
            <a:ln w="31750" cap="rnd">
              <a:solidFill>
                <a:srgbClr val="00B050"/>
              </a:solidFill>
              <a:round/>
            </a:ln>
            <a:effectLst/>
          </c:spPr>
          <c:marker>
            <c:symbol val="circle"/>
            <c:size val="17"/>
            <c:spPr>
              <a:solidFill>
                <a:srgbClr val="00B050"/>
              </a:solidFill>
              <a:ln>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CAPAs!$D$1:$P$1</c:f>
              <c:numCache>
                <c:formatCode>mmm\-yy</c:formatCode>
                <c:ptCount val="13"/>
                <c:pt idx="0">
                  <c:v>45717</c:v>
                </c:pt>
                <c:pt idx="1">
                  <c:v>45748</c:v>
                </c:pt>
                <c:pt idx="2">
                  <c:v>45778</c:v>
                </c:pt>
                <c:pt idx="3">
                  <c:v>45809</c:v>
                </c:pt>
                <c:pt idx="4">
                  <c:v>45839</c:v>
                </c:pt>
                <c:pt idx="5">
                  <c:v>45870</c:v>
                </c:pt>
                <c:pt idx="6">
                  <c:v>45901</c:v>
                </c:pt>
                <c:pt idx="7">
                  <c:v>45931</c:v>
                </c:pt>
                <c:pt idx="8">
                  <c:v>45962</c:v>
                </c:pt>
                <c:pt idx="9">
                  <c:v>45992</c:v>
                </c:pt>
                <c:pt idx="10">
                  <c:v>46023</c:v>
                </c:pt>
                <c:pt idx="11">
                  <c:v>46054</c:v>
                </c:pt>
                <c:pt idx="12">
                  <c:v>46082</c:v>
                </c:pt>
              </c:numCache>
            </c:numRef>
          </c:cat>
          <c:val>
            <c:numRef>
              <c:f>CAPAs!$D$3:$P$3</c:f>
              <c:numCache>
                <c:formatCode>General</c:formatCode>
                <c:ptCount val="13"/>
                <c:pt idx="0">
                  <c:v>1</c:v>
                </c:pt>
                <c:pt idx="1">
                  <c:v>2</c:v>
                </c:pt>
                <c:pt idx="2">
                  <c:v>2</c:v>
                </c:pt>
                <c:pt idx="3">
                  <c:v>3</c:v>
                </c:pt>
                <c:pt idx="4">
                  <c:v>3</c:v>
                </c:pt>
                <c:pt idx="5">
                  <c:v>5</c:v>
                </c:pt>
                <c:pt idx="6">
                  <c:v>6</c:v>
                </c:pt>
                <c:pt idx="7">
                  <c:v>4</c:v>
                </c:pt>
                <c:pt idx="8">
                  <c:v>3</c:v>
                </c:pt>
                <c:pt idx="9">
                  <c:v>3</c:v>
                </c:pt>
                <c:pt idx="10">
                  <c:v>1</c:v>
                </c:pt>
                <c:pt idx="11">
                  <c:v>6</c:v>
                </c:pt>
                <c:pt idx="12">
                  <c:v>2</c:v>
                </c:pt>
              </c:numCache>
            </c:numRef>
          </c:val>
          <c:smooth val="0"/>
          <c:extLst>
            <c:ext xmlns:c16="http://schemas.microsoft.com/office/drawing/2014/chart" uri="{C3380CC4-5D6E-409C-BE32-E72D297353CC}">
              <c16:uniqueId val="{00000001-340B-4CBC-83CA-5FD059F07D73}"/>
            </c:ext>
          </c:extLst>
        </c:ser>
        <c:dLbls>
          <c:dLblPos val="ctr"/>
          <c:showLegendKey val="0"/>
          <c:showVal val="1"/>
          <c:showCatName val="0"/>
          <c:showSerName val="0"/>
          <c:showPercent val="0"/>
          <c:showBubbleSize val="0"/>
        </c:dLbls>
        <c:marker val="1"/>
        <c:smooth val="0"/>
        <c:axId val="808309968"/>
        <c:axId val="808304720"/>
      </c:lineChart>
      <c:dateAx>
        <c:axId val="808309968"/>
        <c:scaling>
          <c:orientation val="minMax"/>
        </c:scaling>
        <c:delete val="0"/>
        <c:axPos val="b"/>
        <c:numFmt formatCode="mmm\-yy" sourceLinked="1"/>
        <c:majorTickMark val="out"/>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808304720"/>
        <c:crosses val="autoZero"/>
        <c:auto val="1"/>
        <c:lblOffset val="100"/>
        <c:baseTimeUnit val="months"/>
      </c:dateAx>
      <c:valAx>
        <c:axId val="808304720"/>
        <c:scaling>
          <c:orientation val="minMax"/>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808309968"/>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Change Controls (Last 12 Months)</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lineChart>
        <c:grouping val="standard"/>
        <c:varyColors val="0"/>
        <c:ser>
          <c:idx val="0"/>
          <c:order val="0"/>
          <c:tx>
            <c:strRef>
              <c:f>'Change Controls'!$A$2</c:f>
              <c:strCache>
                <c:ptCount val="1"/>
                <c:pt idx="0">
                  <c:v>New Change Controls</c:v>
                </c:pt>
              </c:strCache>
            </c:strRef>
          </c:tx>
          <c:spPr>
            <a:ln w="31750" cap="rnd">
              <a:solidFill>
                <a:srgbClr val="C00000"/>
              </a:solidFill>
              <a:round/>
            </a:ln>
            <a:effectLst/>
          </c:spPr>
          <c:marker>
            <c:symbol val="circle"/>
            <c:size val="17"/>
            <c:spPr>
              <a:solidFill>
                <a:srgbClr val="C00000"/>
              </a:solidFill>
              <a:ln>
                <a:no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'Change Controls'!$D$1:$P$1</c:f>
              <c:numCache>
                <c:formatCode>mmm\-yy</c:formatCode>
                <c:ptCount val="13"/>
                <c:pt idx="0">
                  <c:v>45717</c:v>
                </c:pt>
                <c:pt idx="1">
                  <c:v>45748</c:v>
                </c:pt>
                <c:pt idx="2">
                  <c:v>45778</c:v>
                </c:pt>
                <c:pt idx="3">
                  <c:v>45809</c:v>
                </c:pt>
                <c:pt idx="4">
                  <c:v>45839</c:v>
                </c:pt>
                <c:pt idx="5">
                  <c:v>45870</c:v>
                </c:pt>
                <c:pt idx="6">
                  <c:v>45901</c:v>
                </c:pt>
                <c:pt idx="7">
                  <c:v>45931</c:v>
                </c:pt>
                <c:pt idx="8">
                  <c:v>45962</c:v>
                </c:pt>
                <c:pt idx="9">
                  <c:v>45992</c:v>
                </c:pt>
                <c:pt idx="10">
                  <c:v>46023</c:v>
                </c:pt>
                <c:pt idx="11">
                  <c:v>46054</c:v>
                </c:pt>
                <c:pt idx="12">
                  <c:v>46082</c:v>
                </c:pt>
              </c:numCache>
            </c:numRef>
          </c:cat>
          <c:val>
            <c:numRef>
              <c:f>'Change Controls'!$D$2:$P$2</c:f>
              <c:numCache>
                <c:formatCode>General</c:formatCode>
                <c:ptCount val="13"/>
                <c:pt idx="0">
                  <c:v>3</c:v>
                </c:pt>
                <c:pt idx="1">
                  <c:v>8</c:v>
                </c:pt>
                <c:pt idx="2">
                  <c:v>7</c:v>
                </c:pt>
                <c:pt idx="3">
                  <c:v>12</c:v>
                </c:pt>
                <c:pt idx="4">
                  <c:v>4</c:v>
                </c:pt>
                <c:pt idx="5">
                  <c:v>7</c:v>
                </c:pt>
                <c:pt idx="6">
                  <c:v>7</c:v>
                </c:pt>
                <c:pt idx="7">
                  <c:v>16</c:v>
                </c:pt>
                <c:pt idx="8">
                  <c:v>8</c:v>
                </c:pt>
                <c:pt idx="9">
                  <c:v>12</c:v>
                </c:pt>
                <c:pt idx="10">
                  <c:v>11</c:v>
                </c:pt>
                <c:pt idx="11">
                  <c:v>14</c:v>
                </c:pt>
                <c:pt idx="12">
                  <c:v>10</c:v>
                </c:pt>
              </c:numCache>
            </c:numRef>
          </c:val>
          <c:smooth val="0"/>
          <c:extLst>
            <c:ext xmlns:c16="http://schemas.microsoft.com/office/drawing/2014/chart" uri="{C3380CC4-5D6E-409C-BE32-E72D297353CC}">
              <c16:uniqueId val="{00000000-DB91-49AE-A792-50D46508562A}"/>
            </c:ext>
          </c:extLst>
        </c:ser>
        <c:ser>
          <c:idx val="1"/>
          <c:order val="1"/>
          <c:tx>
            <c:strRef>
              <c:f>'Change Controls'!$A$3</c:f>
              <c:strCache>
                <c:ptCount val="1"/>
                <c:pt idx="0">
                  <c:v>Completed Change Controls</c:v>
                </c:pt>
              </c:strCache>
            </c:strRef>
          </c:tx>
          <c:spPr>
            <a:ln w="31750" cap="rnd">
              <a:solidFill>
                <a:srgbClr val="00B050"/>
              </a:solidFill>
              <a:round/>
            </a:ln>
            <a:effectLst/>
          </c:spPr>
          <c:marker>
            <c:symbol val="circle"/>
            <c:size val="17"/>
            <c:spPr>
              <a:solidFill>
                <a:srgbClr val="00B050"/>
              </a:solidFill>
              <a:ln>
                <a:no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'Change Controls'!$D$1:$P$1</c:f>
              <c:numCache>
                <c:formatCode>mmm\-yy</c:formatCode>
                <c:ptCount val="13"/>
                <c:pt idx="0">
                  <c:v>45717</c:v>
                </c:pt>
                <c:pt idx="1">
                  <c:v>45748</c:v>
                </c:pt>
                <c:pt idx="2">
                  <c:v>45778</c:v>
                </c:pt>
                <c:pt idx="3">
                  <c:v>45809</c:v>
                </c:pt>
                <c:pt idx="4">
                  <c:v>45839</c:v>
                </c:pt>
                <c:pt idx="5">
                  <c:v>45870</c:v>
                </c:pt>
                <c:pt idx="6">
                  <c:v>45901</c:v>
                </c:pt>
                <c:pt idx="7">
                  <c:v>45931</c:v>
                </c:pt>
                <c:pt idx="8">
                  <c:v>45962</c:v>
                </c:pt>
                <c:pt idx="9">
                  <c:v>45992</c:v>
                </c:pt>
                <c:pt idx="10">
                  <c:v>46023</c:v>
                </c:pt>
                <c:pt idx="11">
                  <c:v>46054</c:v>
                </c:pt>
                <c:pt idx="12">
                  <c:v>46082</c:v>
                </c:pt>
              </c:numCache>
            </c:numRef>
          </c:cat>
          <c:val>
            <c:numRef>
              <c:f>'Change Controls'!$D$3:$P$3</c:f>
              <c:numCache>
                <c:formatCode>General</c:formatCode>
                <c:ptCount val="13"/>
                <c:pt idx="0">
                  <c:v>4</c:v>
                </c:pt>
                <c:pt idx="1">
                  <c:v>5</c:v>
                </c:pt>
                <c:pt idx="2">
                  <c:v>4</c:v>
                </c:pt>
                <c:pt idx="3">
                  <c:v>9</c:v>
                </c:pt>
                <c:pt idx="4">
                  <c:v>10</c:v>
                </c:pt>
                <c:pt idx="5">
                  <c:v>9</c:v>
                </c:pt>
                <c:pt idx="6">
                  <c:v>7</c:v>
                </c:pt>
                <c:pt idx="7">
                  <c:v>9</c:v>
                </c:pt>
                <c:pt idx="8">
                  <c:v>10</c:v>
                </c:pt>
                <c:pt idx="9">
                  <c:v>4</c:v>
                </c:pt>
                <c:pt idx="10">
                  <c:v>9</c:v>
                </c:pt>
                <c:pt idx="11">
                  <c:v>8</c:v>
                </c:pt>
                <c:pt idx="12">
                  <c:v>6</c:v>
                </c:pt>
              </c:numCache>
            </c:numRef>
          </c:val>
          <c:smooth val="0"/>
          <c:extLst>
            <c:ext xmlns:c16="http://schemas.microsoft.com/office/drawing/2014/chart" uri="{C3380CC4-5D6E-409C-BE32-E72D297353CC}">
              <c16:uniqueId val="{00000001-DB91-49AE-A792-50D46508562A}"/>
            </c:ext>
          </c:extLst>
        </c:ser>
        <c:dLbls>
          <c:dLblPos val="ctr"/>
          <c:showLegendKey val="0"/>
          <c:showVal val="1"/>
          <c:showCatName val="0"/>
          <c:showSerName val="0"/>
          <c:showPercent val="0"/>
          <c:showBubbleSize val="0"/>
        </c:dLbls>
        <c:marker val="1"/>
        <c:smooth val="0"/>
        <c:axId val="625280936"/>
        <c:axId val="625278312"/>
      </c:lineChart>
      <c:dateAx>
        <c:axId val="625280936"/>
        <c:scaling>
          <c:orientation val="minMax"/>
          <c:max val="46082"/>
          <c:min val="45717"/>
        </c:scaling>
        <c:delete val="0"/>
        <c:axPos val="b"/>
        <c:numFmt formatCode="mmm\-yy"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625278312"/>
        <c:crosses val="autoZero"/>
        <c:auto val="1"/>
        <c:lblOffset val="100"/>
        <c:baseTimeUnit val="months"/>
      </c:dateAx>
      <c:valAx>
        <c:axId val="625278312"/>
        <c:scaling>
          <c:orientation val="minMax"/>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625280936"/>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Risk Assessments (Last 12 Months)</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lineChart>
        <c:grouping val="standard"/>
        <c:varyColors val="0"/>
        <c:ser>
          <c:idx val="0"/>
          <c:order val="0"/>
          <c:tx>
            <c:strRef>
              <c:f>'Risk assessments '!$A$2</c:f>
              <c:strCache>
                <c:ptCount val="1"/>
                <c:pt idx="0">
                  <c:v>New RAs</c:v>
                </c:pt>
              </c:strCache>
            </c:strRef>
          </c:tx>
          <c:spPr>
            <a:ln w="31750" cap="rnd">
              <a:solidFill>
                <a:srgbClr val="C00000"/>
              </a:solidFill>
              <a:round/>
            </a:ln>
            <a:effectLst/>
          </c:spPr>
          <c:marker>
            <c:symbol val="circle"/>
            <c:size val="17"/>
            <c:spPr>
              <a:solidFill>
                <a:srgbClr val="C00000"/>
              </a:solidFill>
              <a:ln>
                <a:solidFill>
                  <a:srgbClr val="C0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'Risk assessments '!$D$1:$P$1</c:f>
              <c:numCache>
                <c:formatCode>mmm\-yy</c:formatCode>
                <c:ptCount val="13"/>
                <c:pt idx="0">
                  <c:v>45717</c:v>
                </c:pt>
                <c:pt idx="1">
                  <c:v>45748</c:v>
                </c:pt>
                <c:pt idx="2">
                  <c:v>45778</c:v>
                </c:pt>
                <c:pt idx="3">
                  <c:v>45809</c:v>
                </c:pt>
                <c:pt idx="4">
                  <c:v>45839</c:v>
                </c:pt>
                <c:pt idx="5">
                  <c:v>45870</c:v>
                </c:pt>
                <c:pt idx="6">
                  <c:v>45901</c:v>
                </c:pt>
                <c:pt idx="7">
                  <c:v>45931</c:v>
                </c:pt>
                <c:pt idx="8">
                  <c:v>45962</c:v>
                </c:pt>
                <c:pt idx="9">
                  <c:v>45992</c:v>
                </c:pt>
                <c:pt idx="10">
                  <c:v>46023</c:v>
                </c:pt>
                <c:pt idx="11">
                  <c:v>46054</c:v>
                </c:pt>
                <c:pt idx="12">
                  <c:v>46082</c:v>
                </c:pt>
              </c:numCache>
            </c:numRef>
          </c:cat>
          <c:val>
            <c:numRef>
              <c:f>'Risk assessments '!$D$2:$P$2</c:f>
              <c:numCache>
                <c:formatCode>General</c:formatCode>
                <c:ptCount val="13"/>
                <c:pt idx="0">
                  <c:v>1</c:v>
                </c:pt>
                <c:pt idx="1">
                  <c:v>0</c:v>
                </c:pt>
                <c:pt idx="2">
                  <c:v>2</c:v>
                </c:pt>
                <c:pt idx="3">
                  <c:v>3</c:v>
                </c:pt>
                <c:pt idx="4">
                  <c:v>2</c:v>
                </c:pt>
                <c:pt idx="5">
                  <c:v>0</c:v>
                </c:pt>
                <c:pt idx="6">
                  <c:v>2</c:v>
                </c:pt>
                <c:pt idx="7">
                  <c:v>1</c:v>
                </c:pt>
                <c:pt idx="8">
                  <c:v>2</c:v>
                </c:pt>
                <c:pt idx="9">
                  <c:v>0</c:v>
                </c:pt>
                <c:pt idx="10">
                  <c:v>5</c:v>
                </c:pt>
                <c:pt idx="11">
                  <c:v>4</c:v>
                </c:pt>
                <c:pt idx="12">
                  <c:v>3</c:v>
                </c:pt>
              </c:numCache>
            </c:numRef>
          </c:val>
          <c:smooth val="0"/>
          <c:extLst>
            <c:ext xmlns:c16="http://schemas.microsoft.com/office/drawing/2014/chart" uri="{C3380CC4-5D6E-409C-BE32-E72D297353CC}">
              <c16:uniqueId val="{00000000-0BFC-44A5-BDEE-690244D7E51F}"/>
            </c:ext>
          </c:extLst>
        </c:ser>
        <c:ser>
          <c:idx val="1"/>
          <c:order val="1"/>
          <c:tx>
            <c:strRef>
              <c:f>'Risk assessments '!$A$3</c:f>
              <c:strCache>
                <c:ptCount val="1"/>
                <c:pt idx="0">
                  <c:v>Completed RAs</c:v>
                </c:pt>
              </c:strCache>
            </c:strRef>
          </c:tx>
          <c:spPr>
            <a:ln w="31750" cap="rnd">
              <a:solidFill>
                <a:srgbClr val="00B050"/>
              </a:solidFill>
              <a:round/>
            </a:ln>
            <a:effectLst/>
          </c:spPr>
          <c:marker>
            <c:symbol val="circle"/>
            <c:size val="17"/>
            <c:spPr>
              <a:solidFill>
                <a:srgbClr val="00B050"/>
              </a:solidFill>
              <a:ln>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'Risk assessments '!$D$1:$P$1</c:f>
              <c:numCache>
                <c:formatCode>mmm\-yy</c:formatCode>
                <c:ptCount val="13"/>
                <c:pt idx="0">
                  <c:v>45717</c:v>
                </c:pt>
                <c:pt idx="1">
                  <c:v>45748</c:v>
                </c:pt>
                <c:pt idx="2">
                  <c:v>45778</c:v>
                </c:pt>
                <c:pt idx="3">
                  <c:v>45809</c:v>
                </c:pt>
                <c:pt idx="4">
                  <c:v>45839</c:v>
                </c:pt>
                <c:pt idx="5">
                  <c:v>45870</c:v>
                </c:pt>
                <c:pt idx="6">
                  <c:v>45901</c:v>
                </c:pt>
                <c:pt idx="7">
                  <c:v>45931</c:v>
                </c:pt>
                <c:pt idx="8">
                  <c:v>45962</c:v>
                </c:pt>
                <c:pt idx="9">
                  <c:v>45992</c:v>
                </c:pt>
                <c:pt idx="10">
                  <c:v>46023</c:v>
                </c:pt>
                <c:pt idx="11">
                  <c:v>46054</c:v>
                </c:pt>
                <c:pt idx="12">
                  <c:v>46082</c:v>
                </c:pt>
              </c:numCache>
            </c:numRef>
          </c:cat>
          <c:val>
            <c:numRef>
              <c:f>'Risk assessments '!$D$3:$P$3</c:f>
              <c:numCache>
                <c:formatCode>General</c:formatCode>
                <c:ptCount val="13"/>
                <c:pt idx="0">
                  <c:v>1</c:v>
                </c:pt>
                <c:pt idx="1">
                  <c:v>1</c:v>
                </c:pt>
                <c:pt idx="2">
                  <c:v>0</c:v>
                </c:pt>
                <c:pt idx="3">
                  <c:v>0</c:v>
                </c:pt>
                <c:pt idx="4">
                  <c:v>2</c:v>
                </c:pt>
                <c:pt idx="5">
                  <c:v>1</c:v>
                </c:pt>
                <c:pt idx="6">
                  <c:v>0</c:v>
                </c:pt>
                <c:pt idx="7">
                  <c:v>1</c:v>
                </c:pt>
                <c:pt idx="8">
                  <c:v>2</c:v>
                </c:pt>
                <c:pt idx="9">
                  <c:v>2</c:v>
                </c:pt>
                <c:pt idx="10">
                  <c:v>1</c:v>
                </c:pt>
                <c:pt idx="11">
                  <c:v>1</c:v>
                </c:pt>
                <c:pt idx="12">
                  <c:v>2</c:v>
                </c:pt>
              </c:numCache>
            </c:numRef>
          </c:val>
          <c:smooth val="0"/>
          <c:extLst>
            <c:ext xmlns:c16="http://schemas.microsoft.com/office/drawing/2014/chart" uri="{C3380CC4-5D6E-409C-BE32-E72D297353CC}">
              <c16:uniqueId val="{00000001-0BFC-44A5-BDEE-690244D7E51F}"/>
            </c:ext>
          </c:extLst>
        </c:ser>
        <c:dLbls>
          <c:dLblPos val="ctr"/>
          <c:showLegendKey val="0"/>
          <c:showVal val="1"/>
          <c:showCatName val="0"/>
          <c:showSerName val="0"/>
          <c:showPercent val="0"/>
          <c:showBubbleSize val="0"/>
        </c:dLbls>
        <c:marker val="1"/>
        <c:smooth val="0"/>
        <c:axId val="794116232"/>
        <c:axId val="794117216"/>
      </c:lineChart>
      <c:dateAx>
        <c:axId val="794116232"/>
        <c:scaling>
          <c:orientation val="minMax"/>
        </c:scaling>
        <c:delete val="0"/>
        <c:axPos val="b"/>
        <c:numFmt formatCode="mmm\-yy" sourceLinked="1"/>
        <c:majorTickMark val="out"/>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794117216"/>
        <c:crosses val="autoZero"/>
        <c:auto val="1"/>
        <c:lblOffset val="100"/>
        <c:baseTimeUnit val="months"/>
      </c:dateAx>
      <c:valAx>
        <c:axId val="794117216"/>
        <c:scaling>
          <c:orientation val="minMax"/>
          <c:max val="5"/>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794116232"/>
        <c:crosses val="autoZero"/>
        <c:crossBetween val="between"/>
        <c:majorUnit val="1"/>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r>
              <a:rPr lang="en-GB"/>
              <a:t>3. Classification Pie Chart</a:t>
            </a:r>
          </a:p>
        </c:rich>
      </c:tx>
      <c:overlay val="0"/>
    </c:title>
    <c:autoTitleDeleted val="0"/>
    <c:plotArea>
      <c:layout/>
      <c:pieChart>
        <c:varyColors val="1"/>
        <c:ser>
          <c:idx val="0"/>
          <c:order val="0"/>
          <c:tx>
            <c:v>3. Classification Pie Chart</c:v>
          </c:tx>
          <c:spPr>
            <a:ln>
              <a:solidFill>
                <a:schemeClr val="tx1"/>
              </a:solidFill>
            </a:ln>
          </c:spPr>
          <c:dPt>
            <c:idx val="1"/>
            <c:bubble3D val="0"/>
            <c:spPr>
              <a:solidFill>
                <a:srgbClr val="FFFF00"/>
              </a:solidFill>
              <a:ln>
                <a:solidFill>
                  <a:schemeClr val="tx1"/>
                </a:solidFill>
              </a:ln>
            </c:spPr>
            <c:extLst>
              <c:ext xmlns:c16="http://schemas.microsoft.com/office/drawing/2014/chart" uri="{C3380CC4-5D6E-409C-BE32-E72D297353CC}">
                <c16:uniqueId val="{00000001-F6B8-479B-9050-8CE9B2201F91}"/>
              </c:ext>
            </c:extLst>
          </c:dPt>
          <c:dPt>
            <c:idx val="2"/>
            <c:bubble3D val="0"/>
            <c:spPr>
              <a:solidFill>
                <a:schemeClr val="accent2"/>
              </a:solidFill>
              <a:ln>
                <a:solidFill>
                  <a:schemeClr val="tx1"/>
                </a:solidFill>
              </a:ln>
            </c:spPr>
            <c:extLst>
              <c:ext xmlns:c16="http://schemas.microsoft.com/office/drawing/2014/chart" uri="{C3380CC4-5D6E-409C-BE32-E72D297353CC}">
                <c16:uniqueId val="{00000003-F6B8-479B-9050-8CE9B2201F91}"/>
              </c:ext>
            </c:extLst>
          </c:dPt>
          <c:cat>
            <c:strLit>
              <c:ptCount val="3"/>
              <c:pt idx="0">
                <c:v>Negligible</c:v>
              </c:pt>
              <c:pt idx="1">
                <c:v>Minor</c:v>
              </c:pt>
              <c:pt idx="2">
                <c:v>Moderate</c:v>
              </c:pt>
            </c:strLit>
          </c:cat>
          <c:val>
            <c:numLit>
              <c:formatCode>General</c:formatCode>
              <c:ptCount val="3"/>
              <c:pt idx="0">
                <c:v>7</c:v>
              </c:pt>
              <c:pt idx="1">
                <c:v>38</c:v>
              </c:pt>
              <c:pt idx="2">
                <c:v>5</c:v>
              </c:pt>
            </c:numLit>
          </c:val>
          <c:extLst>
            <c:ext xmlns:c16="http://schemas.microsoft.com/office/drawing/2014/chart" uri="{C3380CC4-5D6E-409C-BE32-E72D297353CC}">
              <c16:uniqueId val="{00000004-F6B8-479B-9050-8CE9B2201F91}"/>
            </c:ext>
          </c:extLst>
        </c:ser>
        <c:dLbls>
          <c:showLegendKey val="0"/>
          <c:showVal val="0"/>
          <c:showCatName val="0"/>
          <c:showSerName val="0"/>
          <c:showPercent val="0"/>
          <c:showBubbleSize val="0"/>
          <c:showLeaderLines val="0"/>
        </c:dLbls>
        <c:firstSliceAng val="0"/>
      </c:pieChart>
    </c:plotArea>
    <c:legend>
      <c:legendPos val="r"/>
      <c:overlay val="0"/>
      <c:txPr>
        <a:bodyPr anchorCtr="1"/>
        <a:lstStyle/>
        <a:p>
          <a:pPr>
            <a:defRPr sz="750"/>
          </a:pPr>
          <a:endParaRPr lang="en-US"/>
        </a:p>
      </c:txPr>
    </c:legend>
    <c:plotVisOnly val="1"/>
    <c:dispBlanksAs val="zero"/>
    <c:showDLblsOverMax val="1"/>
  </c:chart>
  <c:spPr>
    <a:ln w="9525">
      <a:solidFill>
        <a:srgbClr val="D9D9D9"/>
      </a:solidFill>
      <a:prstDash val="solid"/>
    </a:ln>
  </c:spPr>
  <c:externalData r:id="rId2">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r>
              <a:rPr lang="en-GB"/>
              <a:t>4. Average RPN per Department</a:t>
            </a:r>
          </a:p>
        </c:rich>
      </c:tx>
      <c:overlay val="0"/>
    </c:title>
    <c:autoTitleDeleted val="0"/>
    <c:plotArea>
      <c:layout/>
      <c:barChart>
        <c:barDir val="col"/>
        <c:grouping val="clustered"/>
        <c:varyColors val="0"/>
        <c:ser>
          <c:idx val="0"/>
          <c:order val="0"/>
          <c:tx>
            <c:v>4. Average RPN per Department</c:v>
          </c:tx>
          <c:spPr>
            <a:solidFill>
              <a:srgbClr val="FFFF00"/>
            </a:solidFill>
            <a:ln>
              <a:solidFill>
                <a:schemeClr val="tx1"/>
              </a:solidFill>
            </a:ln>
          </c:spPr>
          <c:invertIfNegative val="1"/>
          <c:cat>
            <c:strLit>
              <c:ptCount val="3"/>
              <c:pt idx="0">
                <c:v>QA</c:v>
              </c:pt>
              <c:pt idx="1">
                <c:v>Production</c:v>
              </c:pt>
              <c:pt idx="2">
                <c:v>QC</c:v>
              </c:pt>
            </c:strLit>
          </c:cat>
          <c:val>
            <c:numLit>
              <c:formatCode>General</c:formatCode>
              <c:ptCount val="3"/>
              <c:pt idx="0">
                <c:v>18.5</c:v>
              </c:pt>
              <c:pt idx="1">
                <c:v>17</c:v>
              </c:pt>
              <c:pt idx="2">
                <c:v>12</c:v>
              </c:pt>
            </c:numLit>
          </c:val>
          <c:extLst>
            <c:ext xmlns:c14="http://schemas.microsoft.com/office/drawing/2007/8/2/chart" uri="{6F2FDCE9-48DA-4B69-8628-5D25D57E5C99}">
              <c14:invertSolidFillFmt>
                <c14:spPr xmlns:c14="http://schemas.microsoft.com/office/drawing/2007/8/2/chart">
                  <a:solidFill>
                    <a:srgbClr val="FFFFFF"/>
                  </a:solidFill>
                  <a:ln>
                    <a:solidFill>
                      <a:schemeClr val="tx1"/>
                    </a:solidFill>
                  </a:ln>
                </c14:spPr>
              </c14:invertSolidFillFmt>
            </c:ext>
            <c:ext xmlns:c16="http://schemas.microsoft.com/office/drawing/2014/chart" uri="{C3380CC4-5D6E-409C-BE32-E72D297353CC}">
              <c16:uniqueId val="{00000000-3408-4636-BD5B-508AC715C95A}"/>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majorGridlines>
          <c:spPr>
            <a:ln w="9525">
              <a:solidFill>
                <a:srgbClr val="CCCCCC"/>
              </a:solidFill>
              <a:prstDash val="dash"/>
            </a:ln>
          </c:spPr>
        </c:majorGridlines>
        <c:numFmt formatCode="General" sourceLinked="1"/>
        <c:majorTickMark val="none"/>
        <c:minorTickMark val="none"/>
        <c:tickLblPos val="nextTo"/>
        <c:crossAx val="48672768"/>
        <c:crosses val="autoZero"/>
        <c:auto val="1"/>
        <c:lblAlgn val="ctr"/>
        <c:lblOffset val="100"/>
        <c:noMultiLvlLbl val="0"/>
      </c:catAx>
      <c:valAx>
        <c:axId val="48672768"/>
        <c:scaling>
          <c:orientation val="minMax"/>
        </c:scaling>
        <c:delete val="0"/>
        <c:axPos val="l"/>
        <c:majorGridlines>
          <c:spPr>
            <a:ln w="9525">
              <a:solidFill>
                <a:srgbClr val="CCCCCC"/>
              </a:solidFill>
              <a:prstDash val="dash"/>
            </a:ln>
          </c:spPr>
        </c:majorGridlines>
        <c:numFmt formatCode="General" sourceLinked="1"/>
        <c:majorTickMark val="none"/>
        <c:minorTickMark val="none"/>
        <c:tickLblPos val="nextTo"/>
        <c:crossAx val="48650112"/>
        <c:crosses val="autoZero"/>
        <c:crossBetween val="between"/>
      </c:valAx>
    </c:plotArea>
    <c:plotVisOnly val="1"/>
    <c:dispBlanksAs val="zero"/>
    <c:showDLblsOverMax val="1"/>
  </c:chart>
  <c:spPr>
    <a:ln w="9525">
      <a:solidFill>
        <a:srgbClr val="D9D9D9"/>
      </a:solidFill>
      <a:prstDash val="solid"/>
    </a:ln>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6">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dk1">
            <a:lumMod val="75000"/>
            <a:lumOff val="25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dk1">
            <a:lumMod val="75000"/>
            <a:lumOff val="25000"/>
          </a:schemeClr>
        </a:solidFill>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styleClr val="auto"/>
    </cs:fillRef>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styleClr val="auto"/>
    </cs:fillRef>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7">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5.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styleClr val="auto"/>
    </cs:fillRef>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7">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7.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styleClr val="auto"/>
    </cs:fillRef>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styleClr val="auto"/>
    </cs:fillRef>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styleClr val="auto"/>
    </cs:fillRef>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styleClr val="auto"/>
    </cs:fillRef>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50475" cy="498773"/>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56737" y="0"/>
            <a:ext cx="2950475" cy="498773"/>
          </a:xfrm>
          <a:prstGeom prst="rect">
            <a:avLst/>
          </a:prstGeom>
        </p:spPr>
        <p:txBody>
          <a:bodyPr vert="horz" lIns="91440" tIns="45720" rIns="91440" bIns="45720" rtlCol="0"/>
          <a:lstStyle>
            <a:lvl1pPr algn="r">
              <a:defRPr sz="1200"/>
            </a:lvl1pPr>
          </a:lstStyle>
          <a:p>
            <a:fld id="{A7C8837F-3CE6-466B-A731-086D093649E6}" type="datetimeFigureOut">
              <a:rPr lang="en-GB" smtClean="0"/>
              <a:t>08/09/2026</a:t>
            </a:fld>
            <a:endParaRPr lang="en-GB" dirty="0"/>
          </a:p>
        </p:txBody>
      </p:sp>
      <p:sp>
        <p:nvSpPr>
          <p:cNvPr id="4" name="Slide Image Placeholder 3"/>
          <p:cNvSpPr>
            <a:spLocks noGrp="1" noRot="1" noChangeAspect="1"/>
          </p:cNvSpPr>
          <p:nvPr>
            <p:ph type="sldImg" idx="2"/>
          </p:nvPr>
        </p:nvSpPr>
        <p:spPr>
          <a:xfrm>
            <a:off x="423863" y="1243013"/>
            <a:ext cx="5961062" cy="3354387"/>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0879" y="4784070"/>
            <a:ext cx="5447030" cy="391423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42154"/>
            <a:ext cx="2950475" cy="498772"/>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56737" y="9442154"/>
            <a:ext cx="2950475" cy="498772"/>
          </a:xfrm>
          <a:prstGeom prst="rect">
            <a:avLst/>
          </a:prstGeom>
        </p:spPr>
        <p:txBody>
          <a:bodyPr vert="horz" lIns="91440" tIns="45720" rIns="91440" bIns="45720" rtlCol="0" anchor="b"/>
          <a:lstStyle>
            <a:lvl1pPr algn="r">
              <a:defRPr sz="1200"/>
            </a:lvl1pPr>
          </a:lstStyle>
          <a:p>
            <a:fld id="{70BC2406-2BBA-4036-A2FA-EBEE0E5000ED}" type="slidenum">
              <a:rPr lang="en-GB" smtClean="0"/>
              <a:t>‹#›</a:t>
            </a:fld>
            <a:endParaRPr lang="en-GB" dirty="0"/>
          </a:p>
        </p:txBody>
      </p:sp>
    </p:spTree>
    <p:extLst>
      <p:ext uri="{BB962C8B-B14F-4D97-AF65-F5344CB8AC3E}">
        <p14:creationId xmlns:p14="http://schemas.microsoft.com/office/powerpoint/2010/main" val="1983089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Does the number raised consistently exceed closed? </a:t>
            </a:r>
          </a:p>
          <a:p>
            <a:r>
              <a:rPr lang="en-GB" dirty="0"/>
              <a:t>No</a:t>
            </a:r>
          </a:p>
        </p:txBody>
      </p:sp>
      <p:sp>
        <p:nvSpPr>
          <p:cNvPr id="4" name="Slide Number Placeholder 3"/>
          <p:cNvSpPr>
            <a:spLocks noGrp="1"/>
          </p:cNvSpPr>
          <p:nvPr>
            <p:ph type="sldNum" sz="quarter" idx="5"/>
          </p:nvPr>
        </p:nvSpPr>
        <p:spPr/>
        <p:txBody>
          <a:bodyPr/>
          <a:lstStyle/>
          <a:p>
            <a:fld id="{70BC2406-2BBA-4036-A2FA-EBEE0E5000ED}" type="slidenum">
              <a:rPr lang="en-GB" smtClean="0"/>
              <a:t>3</a:t>
            </a:fld>
            <a:endParaRPr lang="en-GB" dirty="0"/>
          </a:p>
        </p:txBody>
      </p:sp>
    </p:spTree>
    <p:extLst>
      <p:ext uri="{BB962C8B-B14F-4D97-AF65-F5344CB8AC3E}">
        <p14:creationId xmlns:p14="http://schemas.microsoft.com/office/powerpoint/2010/main" val="2733266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0BC2406-2BBA-4036-A2FA-EBEE0E5000ED}" type="slidenum">
              <a:rPr lang="en-GB" smtClean="0"/>
              <a:t>4</a:t>
            </a:fld>
            <a:endParaRPr lang="en-GB" dirty="0"/>
          </a:p>
        </p:txBody>
      </p:sp>
    </p:spTree>
    <p:extLst>
      <p:ext uri="{BB962C8B-B14F-4D97-AF65-F5344CB8AC3E}">
        <p14:creationId xmlns:p14="http://schemas.microsoft.com/office/powerpoint/2010/main" val="2645814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The below is from the end of Q1 2026. The above is from end of Q2 2026. As we can see some new trends have emerged. So, lets analyse these (Next slide). </a:t>
            </a:r>
          </a:p>
        </p:txBody>
      </p:sp>
      <p:sp>
        <p:nvSpPr>
          <p:cNvPr id="4" name="Slide Number Placeholder 3"/>
          <p:cNvSpPr>
            <a:spLocks noGrp="1"/>
          </p:cNvSpPr>
          <p:nvPr>
            <p:ph type="sldNum" sz="quarter" idx="5"/>
          </p:nvPr>
        </p:nvSpPr>
        <p:spPr/>
        <p:txBody>
          <a:bodyPr/>
          <a:lstStyle/>
          <a:p>
            <a:fld id="{70BC2406-2BBA-4036-A2FA-EBEE0E5000ED}" type="slidenum">
              <a:rPr lang="en-GB" smtClean="0"/>
              <a:t>5</a:t>
            </a:fld>
            <a:endParaRPr lang="en-GB" dirty="0"/>
          </a:p>
        </p:txBody>
      </p:sp>
    </p:spTree>
    <p:extLst>
      <p:ext uri="{BB962C8B-B14F-4D97-AF65-F5344CB8AC3E}">
        <p14:creationId xmlns:p14="http://schemas.microsoft.com/office/powerpoint/2010/main" val="2295135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Equipment fault root causes not necessarily a bad thing. Doesn’t indicate anything wrong with our people or procedures which is always good.</a:t>
            </a:r>
          </a:p>
          <a:p>
            <a:r>
              <a:rPr lang="en-GB" dirty="0"/>
              <a:t>Deviations highlighted in red are the new entries and new trends identified.  </a:t>
            </a:r>
          </a:p>
        </p:txBody>
      </p:sp>
      <p:sp>
        <p:nvSpPr>
          <p:cNvPr id="4" name="Slide Number Placeholder 3"/>
          <p:cNvSpPr>
            <a:spLocks noGrp="1"/>
          </p:cNvSpPr>
          <p:nvPr>
            <p:ph type="sldNum" sz="quarter" idx="5"/>
          </p:nvPr>
        </p:nvSpPr>
        <p:spPr/>
        <p:txBody>
          <a:bodyPr/>
          <a:lstStyle/>
          <a:p>
            <a:fld id="{70BC2406-2BBA-4036-A2FA-EBEE0E5000ED}" type="slidenum">
              <a:rPr lang="en-GB" smtClean="0"/>
              <a:t>6</a:t>
            </a:fld>
            <a:endParaRPr lang="en-GB" dirty="0"/>
          </a:p>
        </p:txBody>
      </p:sp>
    </p:spTree>
    <p:extLst>
      <p:ext uri="{BB962C8B-B14F-4D97-AF65-F5344CB8AC3E}">
        <p14:creationId xmlns:p14="http://schemas.microsoft.com/office/powerpoint/2010/main" val="3760931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9FFE8-C2D2-D679-7B70-9FCFCCC9E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BD0076-E06A-910A-FDE4-9654548EB8E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12A1D03-118F-72B8-D1D5-B75543BF132A}"/>
              </a:ext>
            </a:extLst>
          </p:cNvPr>
          <p:cNvSpPr>
            <a:spLocks noGrp="1"/>
          </p:cNvSpPr>
          <p:nvPr>
            <p:ph type="body" idx="1"/>
          </p:nvPr>
        </p:nvSpPr>
        <p:spPr/>
        <p:txBody>
          <a:bodyPr/>
          <a:lstStyle/>
          <a:p>
            <a:r>
              <a:rPr lang="en-GB" dirty="0"/>
              <a:t>Does the number raised consistently exceed closed? </a:t>
            </a:r>
          </a:p>
          <a:p>
            <a:r>
              <a:rPr lang="en-GB" dirty="0"/>
              <a:t>No</a:t>
            </a:r>
          </a:p>
        </p:txBody>
      </p:sp>
      <p:sp>
        <p:nvSpPr>
          <p:cNvPr id="4" name="Slide Number Placeholder 3">
            <a:extLst>
              <a:ext uri="{FF2B5EF4-FFF2-40B4-BE49-F238E27FC236}">
                <a16:creationId xmlns:a16="http://schemas.microsoft.com/office/drawing/2014/main" id="{058E965B-44C2-AA9A-BD27-A4B7358C163A}"/>
              </a:ext>
            </a:extLst>
          </p:cNvPr>
          <p:cNvSpPr>
            <a:spLocks noGrp="1"/>
          </p:cNvSpPr>
          <p:nvPr>
            <p:ph type="sldNum" sz="quarter" idx="5"/>
          </p:nvPr>
        </p:nvSpPr>
        <p:spPr/>
        <p:txBody>
          <a:bodyPr/>
          <a:lstStyle/>
          <a:p>
            <a:fld id="{70BC2406-2BBA-4036-A2FA-EBEE0E5000ED}" type="slidenum">
              <a:rPr lang="en-GB" smtClean="0"/>
              <a:t>7</a:t>
            </a:fld>
            <a:endParaRPr lang="en-GB" dirty="0"/>
          </a:p>
        </p:txBody>
      </p:sp>
    </p:spTree>
    <p:extLst>
      <p:ext uri="{BB962C8B-B14F-4D97-AF65-F5344CB8AC3E}">
        <p14:creationId xmlns:p14="http://schemas.microsoft.com/office/powerpoint/2010/main" val="92519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Below is Q4 2025 and above is Q1 2026. </a:t>
            </a:r>
          </a:p>
        </p:txBody>
      </p:sp>
      <p:sp>
        <p:nvSpPr>
          <p:cNvPr id="4" name="Slide Number Placeholder 3"/>
          <p:cNvSpPr>
            <a:spLocks noGrp="1"/>
          </p:cNvSpPr>
          <p:nvPr>
            <p:ph type="sldNum" sz="quarter" idx="5"/>
          </p:nvPr>
        </p:nvSpPr>
        <p:spPr/>
        <p:txBody>
          <a:bodyPr/>
          <a:lstStyle/>
          <a:p>
            <a:fld id="{70BC2406-2BBA-4036-A2FA-EBEE0E5000ED}" type="slidenum">
              <a:rPr lang="en-GB" smtClean="0"/>
              <a:t>9</a:t>
            </a:fld>
            <a:endParaRPr lang="en-GB" dirty="0"/>
          </a:p>
        </p:txBody>
      </p:sp>
    </p:spTree>
    <p:extLst>
      <p:ext uri="{BB962C8B-B14F-4D97-AF65-F5344CB8AC3E}">
        <p14:creationId xmlns:p14="http://schemas.microsoft.com/office/powerpoint/2010/main" val="2924942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91376-B482-9A58-91EA-E455C1EFD4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04CC3B-01F9-928B-30D7-8E104797630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1EEECCD-DD77-96C0-7F1D-F06F861F21D3}"/>
              </a:ext>
            </a:extLst>
          </p:cNvPr>
          <p:cNvSpPr>
            <a:spLocks noGrp="1"/>
          </p:cNvSpPr>
          <p:nvPr>
            <p:ph type="body" idx="1"/>
          </p:nvPr>
        </p:nvSpPr>
        <p:spPr/>
        <p:txBody>
          <a:bodyPr/>
          <a:lstStyle/>
          <a:p>
            <a:r>
              <a:rPr lang="en-GB" dirty="0"/>
              <a:t>Does the number raised consistently exceed closed? </a:t>
            </a:r>
          </a:p>
          <a:p>
            <a:r>
              <a:rPr lang="en-GB" dirty="0"/>
              <a:t>No</a:t>
            </a:r>
          </a:p>
        </p:txBody>
      </p:sp>
      <p:sp>
        <p:nvSpPr>
          <p:cNvPr id="4" name="Slide Number Placeholder 3">
            <a:extLst>
              <a:ext uri="{FF2B5EF4-FFF2-40B4-BE49-F238E27FC236}">
                <a16:creationId xmlns:a16="http://schemas.microsoft.com/office/drawing/2014/main" id="{D86BE140-9003-AA99-D2B4-DEE7CC7D418A}"/>
              </a:ext>
            </a:extLst>
          </p:cNvPr>
          <p:cNvSpPr>
            <a:spLocks noGrp="1"/>
          </p:cNvSpPr>
          <p:nvPr>
            <p:ph type="sldNum" sz="quarter" idx="5"/>
          </p:nvPr>
        </p:nvSpPr>
        <p:spPr/>
        <p:txBody>
          <a:bodyPr/>
          <a:lstStyle/>
          <a:p>
            <a:fld id="{70BC2406-2BBA-4036-A2FA-EBEE0E5000ED}" type="slidenum">
              <a:rPr lang="en-GB" smtClean="0"/>
              <a:t>11</a:t>
            </a:fld>
            <a:endParaRPr lang="en-GB" dirty="0"/>
          </a:p>
        </p:txBody>
      </p:sp>
    </p:spTree>
    <p:extLst>
      <p:ext uri="{BB962C8B-B14F-4D97-AF65-F5344CB8AC3E}">
        <p14:creationId xmlns:p14="http://schemas.microsoft.com/office/powerpoint/2010/main" val="42712998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35B47-FE35-2499-5945-A733B56CB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5701FD-DAFD-263C-0079-15842380161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ED6D650-B9DC-8E43-5548-D44521E60049}"/>
              </a:ext>
            </a:extLst>
          </p:cNvPr>
          <p:cNvSpPr>
            <a:spLocks noGrp="1"/>
          </p:cNvSpPr>
          <p:nvPr>
            <p:ph type="body" idx="1"/>
          </p:nvPr>
        </p:nvSpPr>
        <p:spPr/>
        <p:txBody>
          <a:bodyPr/>
          <a:lstStyle/>
          <a:p>
            <a:r>
              <a:rPr lang="en-GB" dirty="0"/>
              <a:t>Does the number raised consistently exceed closed? </a:t>
            </a:r>
          </a:p>
          <a:p>
            <a:r>
              <a:rPr lang="en-GB" dirty="0"/>
              <a:t>No</a:t>
            </a:r>
          </a:p>
          <a:p>
            <a:r>
              <a:rPr lang="en-GB" dirty="0"/>
              <a:t>Lab errors have reduced however a batch rejection has occurred in Q2 due to an OOS. </a:t>
            </a:r>
          </a:p>
        </p:txBody>
      </p:sp>
      <p:sp>
        <p:nvSpPr>
          <p:cNvPr id="4" name="Slide Number Placeholder 3">
            <a:extLst>
              <a:ext uri="{FF2B5EF4-FFF2-40B4-BE49-F238E27FC236}">
                <a16:creationId xmlns:a16="http://schemas.microsoft.com/office/drawing/2014/main" id="{A095D25E-A76E-317B-2F94-A5CC3D08A137}"/>
              </a:ext>
            </a:extLst>
          </p:cNvPr>
          <p:cNvSpPr>
            <a:spLocks noGrp="1"/>
          </p:cNvSpPr>
          <p:nvPr>
            <p:ph type="sldNum" sz="quarter" idx="5"/>
          </p:nvPr>
        </p:nvSpPr>
        <p:spPr/>
        <p:txBody>
          <a:bodyPr/>
          <a:lstStyle/>
          <a:p>
            <a:fld id="{70BC2406-2BBA-4036-A2FA-EBEE0E5000ED}" type="slidenum">
              <a:rPr lang="en-GB" smtClean="0"/>
              <a:t>12</a:t>
            </a:fld>
            <a:endParaRPr lang="en-GB" dirty="0"/>
          </a:p>
        </p:txBody>
      </p:sp>
    </p:spTree>
    <p:extLst>
      <p:ext uri="{BB962C8B-B14F-4D97-AF65-F5344CB8AC3E}">
        <p14:creationId xmlns:p14="http://schemas.microsoft.com/office/powerpoint/2010/main" val="2593232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None open at the end of March 2026. </a:t>
            </a:r>
          </a:p>
        </p:txBody>
      </p:sp>
      <p:sp>
        <p:nvSpPr>
          <p:cNvPr id="4" name="Slide Number Placeholder 3"/>
          <p:cNvSpPr>
            <a:spLocks noGrp="1"/>
          </p:cNvSpPr>
          <p:nvPr>
            <p:ph type="sldNum" sz="quarter" idx="5"/>
          </p:nvPr>
        </p:nvSpPr>
        <p:spPr/>
        <p:txBody>
          <a:bodyPr/>
          <a:lstStyle/>
          <a:p>
            <a:fld id="{70BC2406-2BBA-4036-A2FA-EBEE0E5000ED}" type="slidenum">
              <a:rPr lang="en-GB" smtClean="0"/>
              <a:t>13</a:t>
            </a:fld>
            <a:endParaRPr lang="en-GB" dirty="0"/>
          </a:p>
        </p:txBody>
      </p:sp>
    </p:spTree>
    <p:extLst>
      <p:ext uri="{BB962C8B-B14F-4D97-AF65-F5344CB8AC3E}">
        <p14:creationId xmlns:p14="http://schemas.microsoft.com/office/powerpoint/2010/main" val="546024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7DA81-D8E2-6080-A6DA-E6D6752E06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63BB4-D16B-7960-17A0-3197B63DC86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21795EE-6BFB-043C-5D22-9BA98D5C3C96}"/>
              </a:ext>
            </a:extLst>
          </p:cNvPr>
          <p:cNvSpPr>
            <a:spLocks noGrp="1"/>
          </p:cNvSpPr>
          <p:nvPr>
            <p:ph type="body" idx="1"/>
          </p:nvPr>
        </p:nvSpPr>
        <p:spPr/>
        <p:txBody>
          <a:bodyPr/>
          <a:lstStyle/>
          <a:p>
            <a:r>
              <a:rPr lang="en-GB" dirty="0"/>
              <a:t>The source demonstrates whether audits are driving improvement.</a:t>
            </a:r>
          </a:p>
          <a:p>
            <a:r>
              <a:rPr lang="en-GB" dirty="0"/>
              <a:t>It also demonstrates if the complaints we receive are due to an internal deficiency/gap and require a CAPA. </a:t>
            </a:r>
          </a:p>
          <a:p>
            <a:r>
              <a:rPr lang="en-GB" dirty="0"/>
              <a:t>It is important to note however that sometimes two source documents can have the same CAPA if relevant to do so. </a:t>
            </a:r>
          </a:p>
          <a:p>
            <a:endParaRPr lang="en-GB" dirty="0"/>
          </a:p>
        </p:txBody>
      </p:sp>
      <p:sp>
        <p:nvSpPr>
          <p:cNvPr id="4" name="Slide Number Placeholder 3">
            <a:extLst>
              <a:ext uri="{FF2B5EF4-FFF2-40B4-BE49-F238E27FC236}">
                <a16:creationId xmlns:a16="http://schemas.microsoft.com/office/drawing/2014/main" id="{0C3049C4-37B8-8A2C-BD54-FF11B8CE39E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C2406-2BBA-4036-A2FA-EBEE0E5000E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36052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In addition to critical and major open and closures we also track the effectiveness checks here to see how many were completed in the quarter, how many passed, how many failed and if follow up is required. This measures if our “fixes” are working. </a:t>
            </a:r>
          </a:p>
        </p:txBody>
      </p:sp>
      <p:sp>
        <p:nvSpPr>
          <p:cNvPr id="4" name="Slide Number Placeholder 3"/>
          <p:cNvSpPr>
            <a:spLocks noGrp="1"/>
          </p:cNvSpPr>
          <p:nvPr>
            <p:ph type="sldNum" sz="quarter" idx="5"/>
          </p:nvPr>
        </p:nvSpPr>
        <p:spPr/>
        <p:txBody>
          <a:bodyPr/>
          <a:lstStyle/>
          <a:p>
            <a:fld id="{70BC2406-2BBA-4036-A2FA-EBEE0E5000ED}" type="slidenum">
              <a:rPr lang="en-GB" smtClean="0"/>
              <a:t>15</a:t>
            </a:fld>
            <a:endParaRPr lang="en-GB" dirty="0"/>
          </a:p>
        </p:txBody>
      </p:sp>
    </p:spTree>
    <p:extLst>
      <p:ext uri="{BB962C8B-B14F-4D97-AF65-F5344CB8AC3E}">
        <p14:creationId xmlns:p14="http://schemas.microsoft.com/office/powerpoint/2010/main" val="25137063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52C69-B5DD-FD54-4147-A91672E94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60FA34-4138-3D9E-9AA9-81D8B681DA2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84A5CA0-11FC-B3FD-4C54-A23E43623AB2}"/>
              </a:ext>
            </a:extLst>
          </p:cNvPr>
          <p:cNvSpPr>
            <a:spLocks noGrp="1"/>
          </p:cNvSpPr>
          <p:nvPr>
            <p:ph type="body" idx="1"/>
          </p:nvPr>
        </p:nvSpPr>
        <p:spPr/>
        <p:txBody>
          <a:bodyPr/>
          <a:lstStyle/>
          <a:p>
            <a:r>
              <a:rPr lang="en-GB" dirty="0"/>
              <a:t>Most of our changes are material and supplier changes due to new tablet brands. This doesn’t demonstrate any performance level metric. </a:t>
            </a:r>
          </a:p>
        </p:txBody>
      </p:sp>
      <p:sp>
        <p:nvSpPr>
          <p:cNvPr id="4" name="Slide Number Placeholder 3">
            <a:extLst>
              <a:ext uri="{FF2B5EF4-FFF2-40B4-BE49-F238E27FC236}">
                <a16:creationId xmlns:a16="http://schemas.microsoft.com/office/drawing/2014/main" id="{69AA8286-FFC8-772E-A79A-650334E6732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C2406-2BBA-4036-A2FA-EBEE0E5000E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3837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The most significant metric here is the “Open with an Extension” metric. This demonstrates the level of control we have over our target dates for our changes and if actions are being implemented in time or being delayed etc.  </a:t>
            </a:r>
          </a:p>
        </p:txBody>
      </p:sp>
      <p:sp>
        <p:nvSpPr>
          <p:cNvPr id="4" name="Slide Number Placeholder 3"/>
          <p:cNvSpPr>
            <a:spLocks noGrp="1"/>
          </p:cNvSpPr>
          <p:nvPr>
            <p:ph type="sldNum" sz="quarter" idx="5"/>
          </p:nvPr>
        </p:nvSpPr>
        <p:spPr/>
        <p:txBody>
          <a:bodyPr/>
          <a:lstStyle/>
          <a:p>
            <a:fld id="{70BC2406-2BBA-4036-A2FA-EBEE0E5000ED}" type="slidenum">
              <a:rPr lang="en-GB" smtClean="0"/>
              <a:t>17</a:t>
            </a:fld>
            <a:endParaRPr lang="en-GB" dirty="0"/>
          </a:p>
        </p:txBody>
      </p:sp>
    </p:spTree>
    <p:extLst>
      <p:ext uri="{BB962C8B-B14F-4D97-AF65-F5344CB8AC3E}">
        <p14:creationId xmlns:p14="http://schemas.microsoft.com/office/powerpoint/2010/main" val="21676149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527FA-0CB0-FB83-BC0F-E7EEEAF192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D6280C-6C01-0683-EC40-5EB94F2B35C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0AF6296-61CD-8F93-8D70-10744D960738}"/>
              </a:ext>
            </a:extLst>
          </p:cNvPr>
          <p:cNvSpPr>
            <a:spLocks noGrp="1"/>
          </p:cNvSpPr>
          <p:nvPr>
            <p:ph type="body" idx="1"/>
          </p:nvPr>
        </p:nvSpPr>
        <p:spPr/>
        <p:txBody>
          <a:bodyPr/>
          <a:lstStyle/>
          <a:p>
            <a:r>
              <a:rPr lang="en-GB" dirty="0"/>
              <a:t>Risk assessments, like change controls, represent the same metrics and are proactive in nature. So, we’re looking for the same trends here. </a:t>
            </a:r>
          </a:p>
          <a:p>
            <a:r>
              <a:rPr lang="en-GB" dirty="0"/>
              <a:t>Very few risk assessments are due to compliance related issues such as those in “Other” and Temperature excursion. The others were Tentamus validation incorrect, quetiapine clinical risk assessment, use of cool box for urgent consignment</a:t>
            </a:r>
          </a:p>
        </p:txBody>
      </p:sp>
      <p:sp>
        <p:nvSpPr>
          <p:cNvPr id="4" name="Slide Number Placeholder 3">
            <a:extLst>
              <a:ext uri="{FF2B5EF4-FFF2-40B4-BE49-F238E27FC236}">
                <a16:creationId xmlns:a16="http://schemas.microsoft.com/office/drawing/2014/main" id="{3F3051C0-6A3F-2C78-387C-97137270DBA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C2406-2BBA-4036-A2FA-EBEE0E5000E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6941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EB5F8-7983-14ED-A877-896EC25649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DCC97-25E3-9D85-1DBA-D1F3EB84C2A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5DC71B0-9A32-4825-2DE3-12A150F9A75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13FC1B3-1B2C-8023-EA70-0FEB86DDF2C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C2406-2BBA-4036-A2FA-EBEE0E5000E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21502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87D37-F349-6576-FF01-563D93D48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EF7DB-E8C2-A80A-C842-4D40DDDFD43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982F5F7-D5EA-752C-FD8C-C1653AF5C37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2644423-F3B8-4070-E45C-2816BA27855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C2406-2BBA-4036-A2FA-EBEE0E5000E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88936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8025B-0BA5-D67A-9849-0938706FB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5471DE-66C8-452B-1BEB-7D452E90429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9318CA9-8256-8B3E-BCB5-150CCE27E34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C17388A-75DD-A2B8-0A13-7AB1B319D9C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C2406-2BBA-4036-A2FA-EBEE0E5000E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87103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14FD9-5011-E5B5-954A-3091773D18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ADA85-65C1-A934-72A9-6BEA768E95F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59B6FD7-3A6F-1723-1625-31D9F8BD176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B15A248-FA90-E18F-1D30-5B339EDD97C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C2406-2BBA-4036-A2FA-EBEE0E5000E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73406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A5434-D311-032A-A1A8-324C9C4E5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18EA0-FBCD-262C-CAD9-5E07AC6D316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FE7FB21-DB9C-6C2E-74A8-67BFF63F470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475D92A-FCD0-F166-B947-92BEDAF2530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C2406-2BBA-4036-A2FA-EBEE0E5000E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1971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624A6-8B88-3C64-EAD4-CE7680DAB2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AD476D-37FF-F778-3765-4C60A69460B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AABA485-A3C8-0575-0179-A23D9C8D7CC5}"/>
              </a:ext>
            </a:extLst>
          </p:cNvPr>
          <p:cNvSpPr>
            <a:spLocks noGrp="1"/>
          </p:cNvSpPr>
          <p:nvPr>
            <p:ph type="body" idx="1"/>
          </p:nvPr>
        </p:nvSpPr>
        <p:spPr/>
        <p:txBody>
          <a:bodyPr/>
          <a:lstStyle/>
          <a:p>
            <a:r>
              <a:rPr lang="en-GB" b="1" dirty="0"/>
              <a:t>Presenter:</a:t>
            </a:r>
          </a:p>
          <a:p>
            <a:r>
              <a:rPr lang="en-GB" b="1" dirty="0"/>
              <a:t>Minhaz</a:t>
            </a:r>
          </a:p>
          <a:p>
            <a:endParaRPr lang="en-GB" dirty="0"/>
          </a:p>
        </p:txBody>
      </p:sp>
      <p:sp>
        <p:nvSpPr>
          <p:cNvPr id="4" name="Slide Number Placeholder 3">
            <a:extLst>
              <a:ext uri="{FF2B5EF4-FFF2-40B4-BE49-F238E27FC236}">
                <a16:creationId xmlns:a16="http://schemas.microsoft.com/office/drawing/2014/main" id="{88501DA3-4E7E-4970-8F37-9BCE9CDADAB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C2406-2BBA-4036-A2FA-EBEE0E5000E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01750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0BB64-4625-FDE9-0502-9A9C15B17A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DC3C47-804A-CD97-188C-5370B0FBE8B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3041193-E066-9A10-3F3B-A87070E32336}"/>
              </a:ext>
            </a:extLst>
          </p:cNvPr>
          <p:cNvSpPr>
            <a:spLocks noGrp="1"/>
          </p:cNvSpPr>
          <p:nvPr>
            <p:ph type="body" idx="1"/>
          </p:nvPr>
        </p:nvSpPr>
        <p:spPr/>
        <p:txBody>
          <a:bodyPr/>
          <a:lstStyle/>
          <a:p>
            <a:r>
              <a:rPr lang="en-GB" b="1" dirty="0"/>
              <a:t>Presenter:</a:t>
            </a:r>
          </a:p>
          <a:p>
            <a:r>
              <a:rPr lang="en-GB" b="1" dirty="0"/>
              <a:t>Minhaz</a:t>
            </a:r>
          </a:p>
          <a:p>
            <a:endParaRPr lang="en-GB" dirty="0"/>
          </a:p>
        </p:txBody>
      </p:sp>
      <p:sp>
        <p:nvSpPr>
          <p:cNvPr id="4" name="Slide Number Placeholder 3">
            <a:extLst>
              <a:ext uri="{FF2B5EF4-FFF2-40B4-BE49-F238E27FC236}">
                <a16:creationId xmlns:a16="http://schemas.microsoft.com/office/drawing/2014/main" id="{C625FFE6-B33D-863B-9D0C-955A473DA6C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C2406-2BBA-4036-A2FA-EBEE0E5000E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38967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26664-90B2-5576-0593-38D24F587F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FB5DB-CDB2-88F4-8FD8-323BFF3E9366}"/>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633D5CC4-6D1F-EE30-5710-ECFBBA7DF78B}"/>
              </a:ext>
            </a:extLst>
          </p:cNvPr>
          <p:cNvSpPr>
            <a:spLocks noGrp="1"/>
          </p:cNvSpPr>
          <p:nvPr>
            <p:ph type="body" idx="1"/>
          </p:nvPr>
        </p:nvSpPr>
        <p:spPr/>
        <p:txBody>
          <a:bodyPr/>
          <a:lstStyle/>
          <a:p>
            <a:r>
              <a:rPr lang="en-GB" b="1" dirty="0"/>
              <a:t>Presenter:</a:t>
            </a:r>
          </a:p>
          <a:p>
            <a:r>
              <a:rPr lang="en-GB" b="1" dirty="0"/>
              <a:t>Nadeem</a:t>
            </a:r>
          </a:p>
          <a:p>
            <a:endParaRPr lang="en-GB" b="1" dirty="0"/>
          </a:p>
        </p:txBody>
      </p:sp>
      <p:sp>
        <p:nvSpPr>
          <p:cNvPr id="4" name="Slide Number Placeholder 3">
            <a:extLst>
              <a:ext uri="{FF2B5EF4-FFF2-40B4-BE49-F238E27FC236}">
                <a16:creationId xmlns:a16="http://schemas.microsoft.com/office/drawing/2014/main" id="{86E1B3D8-A1CD-6E16-EE41-130AFEF8490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C2406-2BBA-4036-A2FA-EBEE0E5000E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68532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1243013"/>
            <a:ext cx="5961062" cy="3354387"/>
          </a:xfrm>
        </p:spPr>
        <p:txBody>
          <a:bodyPr/>
          <a:lstStyle/>
          <a:p>
            <a:endParaRPr lang="en-GB" dirty="0"/>
          </a:p>
        </p:txBody>
      </p:sp>
      <p:sp>
        <p:nvSpPr>
          <p:cNvPr id="3" name="Notes Placeholder 2"/>
          <p:cNvSpPr>
            <a:spLocks noGrp="1"/>
          </p:cNvSpPr>
          <p:nvPr>
            <p:ph type="body" idx="1"/>
          </p:nvPr>
        </p:nvSpPr>
        <p:spPr/>
        <p:txBody>
          <a:bodyPr/>
          <a:lstStyle/>
          <a:p>
            <a:r>
              <a:rPr lang="en-GB" b="1" dirty="0"/>
              <a:t>Presenter:</a:t>
            </a:r>
          </a:p>
          <a:p>
            <a:r>
              <a:rPr lang="en-GB" b="1" dirty="0"/>
              <a:t>Nadeem</a:t>
            </a:r>
            <a:endParaRPr lang="en-GB" dirty="0"/>
          </a:p>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C2406-2BBA-4036-A2FA-EBEE0E5000E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45766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895B-5811-0439-C90E-618DF08C9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92735A-DADE-F103-F7F9-E0AF288074FD}"/>
              </a:ext>
            </a:extLst>
          </p:cNvPr>
          <p:cNvSpPr>
            <a:spLocks noGrp="1" noRot="1" noChangeAspect="1"/>
          </p:cNvSpPr>
          <p:nvPr>
            <p:ph type="sldImg"/>
          </p:nvPr>
        </p:nvSpPr>
        <p:spPr>
          <a:xfrm>
            <a:off x="423863" y="1243013"/>
            <a:ext cx="5961062" cy="3354387"/>
          </a:xfrm>
        </p:spPr>
        <p:txBody>
          <a:bodyPr/>
          <a:lstStyle/>
          <a:p>
            <a:endParaRPr lang="en-GB" dirty="0"/>
          </a:p>
        </p:txBody>
      </p:sp>
      <p:sp>
        <p:nvSpPr>
          <p:cNvPr id="3" name="Notes Placeholder 2">
            <a:extLst>
              <a:ext uri="{FF2B5EF4-FFF2-40B4-BE49-F238E27FC236}">
                <a16:creationId xmlns:a16="http://schemas.microsoft.com/office/drawing/2014/main" id="{43A5EA14-5AE9-C832-48C0-94CD7F998B88}"/>
              </a:ext>
            </a:extLst>
          </p:cNvPr>
          <p:cNvSpPr>
            <a:spLocks noGrp="1"/>
          </p:cNvSpPr>
          <p:nvPr>
            <p:ph type="body" idx="1"/>
          </p:nvPr>
        </p:nvSpPr>
        <p:spPr/>
        <p:txBody>
          <a:bodyPr/>
          <a:lstStyle/>
          <a:p>
            <a:r>
              <a:rPr lang="en-GB" b="1" dirty="0"/>
              <a:t>Presenter:</a:t>
            </a:r>
          </a:p>
          <a:p>
            <a:r>
              <a:rPr lang="en-GB" b="1" dirty="0"/>
              <a:t>Nadeem</a:t>
            </a:r>
          </a:p>
          <a:p>
            <a:endParaRPr lang="en-GB" dirty="0"/>
          </a:p>
        </p:txBody>
      </p:sp>
      <p:sp>
        <p:nvSpPr>
          <p:cNvPr id="4" name="Slide Number Placeholder 3">
            <a:extLst>
              <a:ext uri="{FF2B5EF4-FFF2-40B4-BE49-F238E27FC236}">
                <a16:creationId xmlns:a16="http://schemas.microsoft.com/office/drawing/2014/main" id="{4D79B95A-5492-4CA8-A979-F8B2495D483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C2406-2BBA-4036-A2FA-EBEE0E5000E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16365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b="1" dirty="0"/>
              <a:t>Presenter:</a:t>
            </a:r>
          </a:p>
          <a:p>
            <a:r>
              <a:rPr lang="en-GB" b="1" dirty="0"/>
              <a:t>Nadeem</a:t>
            </a:r>
          </a:p>
          <a:p>
            <a:endParaRPr lang="en-GB" dirty="0"/>
          </a:p>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C2406-2BBA-4036-A2FA-EBEE0E5000E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20274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0BC2406-2BBA-4036-A2FA-EBEE0E5000ED}" type="slidenum">
              <a:rPr lang="en-GB" smtClean="0"/>
              <a:t>31</a:t>
            </a:fld>
            <a:endParaRPr lang="en-GB" dirty="0"/>
          </a:p>
        </p:txBody>
      </p:sp>
    </p:spTree>
    <p:extLst>
      <p:ext uri="{BB962C8B-B14F-4D97-AF65-F5344CB8AC3E}">
        <p14:creationId xmlns:p14="http://schemas.microsoft.com/office/powerpoint/2010/main" val="35896075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781675-AD2E-42A3-B731-955C39E90BA9}" type="datetimeFigureOut">
              <a:rPr lang="en-GB" smtClean="0"/>
              <a:t>08/09/2026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1274938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781675-AD2E-42A3-B731-955C39E90BA9}" type="datetimeFigureOut">
              <a:rPr lang="en-GB" smtClean="0"/>
              <a:t>08/09/2026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3961503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FD781675-AD2E-42A3-B731-955C39E90BA9}" type="datetimeFigureOut">
              <a:rPr lang="en-GB" smtClean="0"/>
              <a:t>08/09/2026</a:t>
            </a:fld>
            <a:endParaRPr lang="en-GB"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GB"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398EBC06-FB4C-440D-8A76-706E54DE4218}" type="slidenum">
              <a:rPr lang="en-GB" smtClean="0"/>
              <a:t>‹#›</a:t>
            </a:fld>
            <a:endParaRPr lang="en-GB" dirty="0"/>
          </a:p>
        </p:txBody>
      </p:sp>
    </p:spTree>
    <p:extLst>
      <p:ext uri="{BB962C8B-B14F-4D97-AF65-F5344CB8AC3E}">
        <p14:creationId xmlns:p14="http://schemas.microsoft.com/office/powerpoint/2010/main" val="74338903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781675-AD2E-42A3-B731-955C39E90BA9}" type="datetimeFigureOut">
              <a:rPr lang="en-GB" smtClean="0"/>
              <a:t>08/09/2026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2312596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781675-AD2E-42A3-B731-955C39E90BA9}" type="datetimeFigureOut">
              <a:rPr lang="en-GB" smtClean="0"/>
              <a:t>08/09/2026</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2339217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781675-AD2E-42A3-B731-955C39E90BA9}" type="datetimeFigureOut">
              <a:rPr lang="en-GB" smtClean="0"/>
              <a:t>08/09/2026</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2552029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781675-AD2E-42A3-B731-955C39E90BA9}" type="datetimeFigureOut">
              <a:rPr lang="en-GB" smtClean="0"/>
              <a:t>08/09/2026</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1453012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781675-AD2E-42A3-B731-955C39E90BA9}" type="datetimeFigureOut">
              <a:rPr lang="en-GB" smtClean="0"/>
              <a:t>08/09/2026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17380871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781675-AD2E-42A3-B731-955C39E90BA9}" type="datetimeFigureOut">
              <a:rPr lang="en-GB" smtClean="0"/>
              <a:t>08/09/2026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2533746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781675-AD2E-42A3-B731-955C39E90BA9}" type="datetimeFigureOut">
              <a:rPr lang="en-GB" smtClean="0"/>
              <a:t>08/09/2026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2616904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FD781675-AD2E-42A3-B731-955C39E90BA9}" type="datetimeFigureOut">
              <a:rPr lang="en-GB" smtClean="0"/>
              <a:t>08/09/2026</a:t>
            </a:fld>
            <a:endParaRPr lang="en-GB" dirty="0"/>
          </a:p>
        </p:txBody>
      </p:sp>
      <p:sp>
        <p:nvSpPr>
          <p:cNvPr id="5" name="Footer Placeholder 4"/>
          <p:cNvSpPr>
            <a:spLocks noGrp="1"/>
          </p:cNvSpPr>
          <p:nvPr>
            <p:ph type="ftr" sz="quarter" idx="11"/>
          </p:nvPr>
        </p:nvSpPr>
        <p:spPr>
          <a:xfrm>
            <a:off x="3776135" y="6422854"/>
            <a:ext cx="4279669" cy="365125"/>
          </a:xfrm>
        </p:spPr>
        <p:txBody>
          <a:bodyPr/>
          <a:lstStyle/>
          <a:p>
            <a:endParaRPr lang="en-GB" dirty="0"/>
          </a:p>
        </p:txBody>
      </p:sp>
      <p:sp>
        <p:nvSpPr>
          <p:cNvPr id="6" name="Slide Number Placeholder 5"/>
          <p:cNvSpPr>
            <a:spLocks noGrp="1"/>
          </p:cNvSpPr>
          <p:nvPr>
            <p:ph type="sldNum" sz="quarter" idx="12"/>
          </p:nvPr>
        </p:nvSpPr>
        <p:spPr>
          <a:xfrm>
            <a:off x="8073048" y="6422854"/>
            <a:ext cx="879759" cy="365125"/>
          </a:xfrm>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712502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781675-AD2E-42A3-B731-955C39E90BA9}" type="datetimeFigureOut">
              <a:rPr lang="en-GB" smtClean="0"/>
              <a:t>08/09/2026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27728691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781675-AD2E-42A3-B731-955C39E90BA9}" type="datetimeFigureOut">
              <a:rPr lang="en-GB" smtClean="0"/>
              <a:t>08/09/2026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34871056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FD781675-AD2E-42A3-B731-955C39E90BA9}" type="datetimeFigureOut">
              <a:rPr lang="en-GB" smtClean="0"/>
              <a:t>08/09/2026</a:t>
            </a:fld>
            <a:endParaRPr lang="en-GB"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GB"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398EBC06-FB4C-440D-8A76-706E54DE4218}" type="slidenum">
              <a:rPr lang="en-GB" smtClean="0"/>
              <a:t>‹#›</a:t>
            </a:fld>
            <a:endParaRPr lang="en-GB" dirty="0"/>
          </a:p>
        </p:txBody>
      </p:sp>
    </p:spTree>
    <p:extLst>
      <p:ext uri="{BB962C8B-B14F-4D97-AF65-F5344CB8AC3E}">
        <p14:creationId xmlns:p14="http://schemas.microsoft.com/office/powerpoint/2010/main" val="226035568"/>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781675-AD2E-42A3-B731-955C39E90BA9}" type="datetimeFigureOut">
              <a:rPr lang="en-GB" smtClean="0"/>
              <a:t>08/09/2026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2215052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781675-AD2E-42A3-B731-955C39E90BA9}" type="datetimeFigureOut">
              <a:rPr lang="en-GB" smtClean="0"/>
              <a:t>08/09/2026</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42001214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781675-AD2E-42A3-B731-955C39E90BA9}" type="datetimeFigureOut">
              <a:rPr lang="en-GB" smtClean="0"/>
              <a:t>08/09/2026</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19992435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781675-AD2E-42A3-B731-955C39E90BA9}" type="datetimeFigureOut">
              <a:rPr lang="en-GB" smtClean="0"/>
              <a:t>08/09/2026</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2343435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781675-AD2E-42A3-B731-955C39E90BA9}" type="datetimeFigureOut">
              <a:rPr lang="en-GB" smtClean="0"/>
              <a:t>08/09/2026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17127345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781675-AD2E-42A3-B731-955C39E90BA9}" type="datetimeFigureOut">
              <a:rPr lang="en-GB" smtClean="0"/>
              <a:t>08/09/2026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12579825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781675-AD2E-42A3-B731-955C39E90BA9}" type="datetimeFigureOut">
              <a:rPr lang="en-GB" smtClean="0"/>
              <a:t>08/09/2026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5915499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FD781675-AD2E-42A3-B731-955C39E90BA9}" type="datetimeFigureOut">
              <a:rPr lang="en-GB" smtClean="0"/>
              <a:t>08/09/2026</a:t>
            </a:fld>
            <a:endParaRPr lang="en-GB" dirty="0"/>
          </a:p>
        </p:txBody>
      </p:sp>
      <p:sp>
        <p:nvSpPr>
          <p:cNvPr id="5" name="Footer Placeholder 4"/>
          <p:cNvSpPr>
            <a:spLocks noGrp="1"/>
          </p:cNvSpPr>
          <p:nvPr>
            <p:ph type="ftr" sz="quarter" idx="11"/>
          </p:nvPr>
        </p:nvSpPr>
        <p:spPr>
          <a:xfrm>
            <a:off x="3776135" y="6422854"/>
            <a:ext cx="4279669" cy="365125"/>
          </a:xfrm>
        </p:spPr>
        <p:txBody>
          <a:bodyPr/>
          <a:lstStyle/>
          <a:p>
            <a:endParaRPr lang="en-GB" dirty="0"/>
          </a:p>
        </p:txBody>
      </p:sp>
      <p:sp>
        <p:nvSpPr>
          <p:cNvPr id="6" name="Slide Number Placeholder 5"/>
          <p:cNvSpPr>
            <a:spLocks noGrp="1"/>
          </p:cNvSpPr>
          <p:nvPr>
            <p:ph type="sldNum" sz="quarter" idx="12"/>
          </p:nvPr>
        </p:nvSpPr>
        <p:spPr>
          <a:xfrm>
            <a:off x="8073048" y="6422854"/>
            <a:ext cx="879759" cy="365125"/>
          </a:xfrm>
        </p:spPr>
        <p:txBody>
          <a:bodyPr/>
          <a:lstStyle/>
          <a:p>
            <a:fld id="{398EBC06-FB4C-440D-8A76-706E54DE4218}" type="slidenum">
              <a:rPr lang="en-GB" smtClean="0"/>
              <a:t>‹#›</a:t>
            </a:fld>
            <a:endParaRPr lang="en-GB" dirty="0"/>
          </a:p>
        </p:txBody>
      </p:sp>
    </p:spTree>
    <p:extLst>
      <p:ext uri="{BB962C8B-B14F-4D97-AF65-F5344CB8AC3E}">
        <p14:creationId xmlns:p14="http://schemas.microsoft.com/office/powerpoint/2010/main" val="471928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FD781675-AD2E-42A3-B731-955C39E90BA9}" type="datetimeFigureOut">
              <a:rPr lang="en-GB" smtClean="0"/>
              <a:t>08/09/2026</a:t>
            </a:fld>
            <a:endParaRPr lang="en-GB" dirty="0"/>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GB" dirty="0"/>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398EBC06-FB4C-440D-8A76-706E54DE4218}" type="slidenum">
              <a:rPr lang="en-GB" smtClean="0"/>
              <a:t>‹#›</a:t>
            </a:fld>
            <a:endParaRPr lang="en-GB" dirty="0"/>
          </a:p>
        </p:txBody>
      </p:sp>
    </p:spTree>
    <p:extLst>
      <p:ext uri="{BB962C8B-B14F-4D97-AF65-F5344CB8AC3E}">
        <p14:creationId xmlns:p14="http://schemas.microsoft.com/office/powerpoint/2010/main" val="2323081241"/>
      </p:ext>
    </p:extLst>
  </p:cSld>
  <p:clrMap bg1="dk1" tx1="lt1" bg2="dk2" tx2="lt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FD781675-AD2E-42A3-B731-955C39E90BA9}" type="datetimeFigureOut">
              <a:rPr lang="en-GB" smtClean="0"/>
              <a:t>08/09/2026</a:t>
            </a:fld>
            <a:endParaRPr lang="en-GB" dirty="0"/>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GB" dirty="0"/>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398EBC06-FB4C-440D-8A76-706E54DE4218}" type="slidenum">
              <a:rPr lang="en-GB" smtClean="0"/>
              <a:t>‹#›</a:t>
            </a:fld>
            <a:endParaRPr lang="en-GB" dirty="0"/>
          </a:p>
        </p:txBody>
      </p:sp>
    </p:spTree>
    <p:extLst>
      <p:ext uri="{BB962C8B-B14F-4D97-AF65-F5344CB8AC3E}">
        <p14:creationId xmlns:p14="http://schemas.microsoft.com/office/powerpoint/2010/main" val="1825391847"/>
      </p:ext>
    </p:extLst>
  </p:cSld>
  <p:clrMap bg1="dk1" tx1="lt1" bg2="dk2" tx2="lt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8" Type="http://schemas.openxmlformats.org/officeDocument/2006/relationships/chart" Target="../charts/chart12.xml"/><Relationship Id="rId3" Type="http://schemas.openxmlformats.org/officeDocument/2006/relationships/image" Target="../media/image8.svg"/><Relationship Id="rId7" Type="http://schemas.openxmlformats.org/officeDocument/2006/relationships/chart" Target="../charts/chart11.xml"/><Relationship Id="rId2" Type="http://schemas.openxmlformats.org/officeDocument/2006/relationships/notesSlide" Target="../notesSlides/notesSlide25.xml"/><Relationship Id="rId1" Type="http://schemas.openxmlformats.org/officeDocument/2006/relationships/slideLayout" Target="../slideLayouts/slideLayout19.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79CE8-56FB-4088-BE0B-151B1D0FA664}"/>
              </a:ext>
            </a:extLst>
          </p:cNvPr>
          <p:cNvSpPr>
            <a:spLocks noGrp="1"/>
          </p:cNvSpPr>
          <p:nvPr>
            <p:ph type="ctrTitle"/>
          </p:nvPr>
        </p:nvSpPr>
        <p:spPr>
          <a:xfrm>
            <a:off x="5937591" y="388276"/>
            <a:ext cx="5969705" cy="1508760"/>
          </a:xfrm>
        </p:spPr>
        <p:txBody>
          <a:bodyPr vert="horz" lIns="91440" tIns="45720" rIns="91440" bIns="45720" rtlCol="0" anchor="ctr">
            <a:normAutofit/>
          </a:bodyPr>
          <a:lstStyle/>
          <a:p>
            <a:pPr algn="l">
              <a:lnSpc>
                <a:spcPct val="85000"/>
              </a:lnSpc>
            </a:pPr>
            <a:r>
              <a:rPr lang="en-US" sz="2800" b="1" dirty="0">
                <a:solidFill>
                  <a:schemeClr val="tx2"/>
                </a:solidFill>
              </a:rPr>
              <a:t>Quality Metrics review (QMR)</a:t>
            </a:r>
          </a:p>
        </p:txBody>
      </p:sp>
      <p:sp>
        <p:nvSpPr>
          <p:cNvPr id="5" name="Subtitle 2">
            <a:extLst>
              <a:ext uri="{FF2B5EF4-FFF2-40B4-BE49-F238E27FC236}">
                <a16:creationId xmlns:a16="http://schemas.microsoft.com/office/drawing/2014/main" id="{B8EC0D95-197A-9221-61FC-81F1C1257221}"/>
              </a:ext>
            </a:extLst>
          </p:cNvPr>
          <p:cNvSpPr txBox="1">
            <a:spLocks/>
          </p:cNvSpPr>
          <p:nvPr/>
        </p:nvSpPr>
        <p:spPr>
          <a:xfrm>
            <a:off x="6067036" y="2724408"/>
            <a:ext cx="5710814" cy="601597"/>
          </a:xfrm>
          <a:prstGeom prst="rect">
            <a:avLst/>
          </a:prstGeom>
        </p:spPr>
        <p:txBody>
          <a:bodyPr vert="horz" lIns="91440" tIns="45720" rIns="91440" bIns="45720" rtlCol="0">
            <a:normAutofit/>
          </a:bodyPr>
          <a:lstStyle>
            <a:lvl1pPr marL="0" indent="0" algn="ctr" defTabSz="914377" rtl="0" eaLnBrk="1" latinLnBrk="0" hangingPunct="1">
              <a:lnSpc>
                <a:spcPct val="90000"/>
              </a:lnSpc>
              <a:spcBef>
                <a:spcPts val="1200"/>
              </a:spcBef>
              <a:spcAft>
                <a:spcPts val="200"/>
              </a:spcAft>
              <a:buClr>
                <a:schemeClr val="tx1"/>
              </a:buClr>
              <a:buFont typeface="Wingdings" pitchFamily="2" charset="2"/>
              <a:buNone/>
              <a:defRPr sz="2000" kern="1200">
                <a:solidFill>
                  <a:schemeClr val="tx1"/>
                </a:solidFill>
                <a:latin typeface="+mn-lt"/>
                <a:ea typeface="+mn-ea"/>
                <a:cs typeface="+mn-cs"/>
              </a:defRPr>
            </a:lvl1pPr>
            <a:lvl2pPr marL="457189" indent="0" algn="ctr" defTabSz="914377" rtl="0" eaLnBrk="1" latinLnBrk="0" hangingPunct="1">
              <a:lnSpc>
                <a:spcPct val="90000"/>
              </a:lnSpc>
              <a:spcBef>
                <a:spcPts val="200"/>
              </a:spcBef>
              <a:spcAft>
                <a:spcPts val="400"/>
              </a:spcAft>
              <a:buClr>
                <a:schemeClr val="tx1"/>
              </a:buClr>
              <a:buFont typeface="Wingdings" pitchFamily="2" charset="2"/>
              <a:buNone/>
              <a:defRPr sz="2000" kern="1200">
                <a:solidFill>
                  <a:schemeClr val="tx1"/>
                </a:solidFill>
                <a:latin typeface="+mn-lt"/>
                <a:ea typeface="+mn-ea"/>
                <a:cs typeface="+mn-cs"/>
              </a:defRPr>
            </a:lvl2pPr>
            <a:lvl3pPr marL="914377" indent="0" algn="ctr" defTabSz="914377" rtl="0" eaLnBrk="1" latinLnBrk="0" hangingPunct="1">
              <a:lnSpc>
                <a:spcPct val="90000"/>
              </a:lnSpc>
              <a:spcBef>
                <a:spcPts val="200"/>
              </a:spcBef>
              <a:spcAft>
                <a:spcPts val="400"/>
              </a:spcAft>
              <a:buClr>
                <a:schemeClr val="tx1"/>
              </a:buClr>
              <a:buFont typeface="Wingdings" pitchFamily="2" charset="2"/>
              <a:buNone/>
              <a:defRPr sz="2000" kern="1200">
                <a:solidFill>
                  <a:schemeClr val="tx1"/>
                </a:solidFill>
                <a:latin typeface="+mn-lt"/>
                <a:ea typeface="+mn-ea"/>
                <a:cs typeface="+mn-cs"/>
              </a:defRPr>
            </a:lvl3pPr>
            <a:lvl4pPr marL="1371566" indent="0" algn="ctr" defTabSz="914377" rtl="0" eaLnBrk="1" latinLnBrk="0" hangingPunct="1">
              <a:lnSpc>
                <a:spcPct val="90000"/>
              </a:lnSpc>
              <a:spcBef>
                <a:spcPts val="200"/>
              </a:spcBef>
              <a:spcAft>
                <a:spcPts val="400"/>
              </a:spcAft>
              <a:buClr>
                <a:schemeClr val="tx1"/>
              </a:buClr>
              <a:buFont typeface="Wingdings" pitchFamily="2" charset="2"/>
              <a:buNone/>
              <a:defRPr sz="2000" kern="1200">
                <a:solidFill>
                  <a:schemeClr val="tx1"/>
                </a:solidFill>
                <a:latin typeface="+mn-lt"/>
                <a:ea typeface="+mn-ea"/>
                <a:cs typeface="+mn-cs"/>
              </a:defRPr>
            </a:lvl4pPr>
            <a:lvl5pPr marL="1828754" indent="0" algn="ctr" defTabSz="914377" rtl="0" eaLnBrk="1" latinLnBrk="0" hangingPunct="1">
              <a:lnSpc>
                <a:spcPct val="90000"/>
              </a:lnSpc>
              <a:spcBef>
                <a:spcPts val="200"/>
              </a:spcBef>
              <a:spcAft>
                <a:spcPts val="400"/>
              </a:spcAft>
              <a:buClr>
                <a:schemeClr val="tx1"/>
              </a:buClr>
              <a:buFont typeface="Wingdings" pitchFamily="2" charset="2"/>
              <a:buNone/>
              <a:defRPr sz="2000" kern="1200">
                <a:solidFill>
                  <a:schemeClr val="tx1"/>
                </a:solidFill>
                <a:latin typeface="+mn-lt"/>
                <a:ea typeface="+mn-ea"/>
                <a:cs typeface="+mn-cs"/>
              </a:defRPr>
            </a:lvl5pPr>
            <a:lvl6pPr marL="2285943" indent="0" algn="ctr" defTabSz="914377" rtl="0" eaLnBrk="1" latinLnBrk="0" hangingPunct="1">
              <a:lnSpc>
                <a:spcPct val="90000"/>
              </a:lnSpc>
              <a:spcBef>
                <a:spcPts val="200"/>
              </a:spcBef>
              <a:spcAft>
                <a:spcPts val="400"/>
              </a:spcAft>
              <a:buClr>
                <a:schemeClr val="tx1"/>
              </a:buClr>
              <a:buFont typeface="Wingdings" pitchFamily="2" charset="2"/>
              <a:buNone/>
              <a:defRPr sz="2000" kern="1200">
                <a:solidFill>
                  <a:schemeClr val="tx1"/>
                </a:solidFill>
                <a:latin typeface="+mn-lt"/>
                <a:ea typeface="+mn-ea"/>
                <a:cs typeface="+mn-cs"/>
              </a:defRPr>
            </a:lvl6pPr>
            <a:lvl7pPr marL="2743131" indent="0" algn="ctr" defTabSz="914377" rtl="0" eaLnBrk="1" latinLnBrk="0" hangingPunct="1">
              <a:lnSpc>
                <a:spcPct val="90000"/>
              </a:lnSpc>
              <a:spcBef>
                <a:spcPts val="200"/>
              </a:spcBef>
              <a:spcAft>
                <a:spcPts val="400"/>
              </a:spcAft>
              <a:buClr>
                <a:schemeClr val="tx1"/>
              </a:buClr>
              <a:buFont typeface="Wingdings" pitchFamily="2" charset="2"/>
              <a:buNone/>
              <a:defRPr sz="2000" kern="1200">
                <a:solidFill>
                  <a:schemeClr val="tx1"/>
                </a:solidFill>
                <a:latin typeface="+mn-lt"/>
                <a:ea typeface="+mn-ea"/>
                <a:cs typeface="+mn-cs"/>
              </a:defRPr>
            </a:lvl7pPr>
            <a:lvl8pPr marL="3200320" indent="0" algn="ctr" defTabSz="914377" rtl="0" eaLnBrk="1" latinLnBrk="0" hangingPunct="1">
              <a:lnSpc>
                <a:spcPct val="90000"/>
              </a:lnSpc>
              <a:spcBef>
                <a:spcPts val="200"/>
              </a:spcBef>
              <a:spcAft>
                <a:spcPts val="400"/>
              </a:spcAft>
              <a:buClr>
                <a:schemeClr val="tx1"/>
              </a:buClr>
              <a:buFont typeface="Wingdings" pitchFamily="2" charset="2"/>
              <a:buNone/>
              <a:defRPr sz="2000" kern="1200">
                <a:solidFill>
                  <a:schemeClr val="tx1"/>
                </a:solidFill>
                <a:latin typeface="+mn-lt"/>
                <a:ea typeface="+mn-ea"/>
                <a:cs typeface="+mn-cs"/>
              </a:defRPr>
            </a:lvl8pPr>
            <a:lvl9pPr marL="3657509" indent="0" algn="ctr" defTabSz="914377" rtl="0" eaLnBrk="1" latinLnBrk="0" hangingPunct="1">
              <a:lnSpc>
                <a:spcPct val="90000"/>
              </a:lnSpc>
              <a:spcBef>
                <a:spcPts val="200"/>
              </a:spcBef>
              <a:spcAft>
                <a:spcPts val="400"/>
              </a:spcAft>
              <a:buClr>
                <a:schemeClr val="tx1"/>
              </a:buClr>
              <a:buFont typeface="Wingdings" pitchFamily="2" charset="2"/>
              <a:buNone/>
              <a:defRPr sz="2000" kern="1200">
                <a:solidFill>
                  <a:schemeClr val="tx1"/>
                </a:solidFill>
                <a:latin typeface="+mn-lt"/>
                <a:ea typeface="+mn-ea"/>
                <a:cs typeface="+mn-cs"/>
              </a:defRPr>
            </a:lvl9pPr>
          </a:lstStyle>
          <a:p>
            <a:pPr algn="l" defTabSz="914400"/>
            <a:r>
              <a:rPr lang="en-US" sz="2800" b="1" dirty="0">
                <a:solidFill>
                  <a:schemeClr val="bg1"/>
                </a:solidFill>
              </a:rPr>
              <a:t>Review Period: </a:t>
            </a:r>
            <a:r>
              <a:rPr lang="en-US" sz="2800" i="1" dirty="0">
                <a:solidFill>
                  <a:schemeClr val="bg1"/>
                </a:solidFill>
              </a:rPr>
              <a:t>Apr - Jun (Q2) 2026</a:t>
            </a:r>
          </a:p>
          <a:p>
            <a:pPr indent="-182880" algn="l" defTabSz="914400">
              <a:buFont typeface="Wingdings" pitchFamily="2" charset="2"/>
              <a:buChar char=""/>
            </a:pPr>
            <a:endParaRPr lang="en-US" sz="2800" b="1" dirty="0">
              <a:solidFill>
                <a:schemeClr val="bg1"/>
              </a:solidFill>
            </a:endParaRPr>
          </a:p>
        </p:txBody>
      </p:sp>
      <p:grpSp>
        <p:nvGrpSpPr>
          <p:cNvPr id="9" name="Group 8">
            <a:extLst>
              <a:ext uri="{FF2B5EF4-FFF2-40B4-BE49-F238E27FC236}">
                <a16:creationId xmlns:a16="http://schemas.microsoft.com/office/drawing/2014/main" id="{944697A3-7294-9A6B-1121-915B72D6769C}"/>
              </a:ext>
            </a:extLst>
          </p:cNvPr>
          <p:cNvGrpSpPr/>
          <p:nvPr/>
        </p:nvGrpSpPr>
        <p:grpSpPr>
          <a:xfrm>
            <a:off x="-6703" y="307892"/>
            <a:ext cx="5710814" cy="5674497"/>
            <a:chOff x="1122064" y="694747"/>
            <a:chExt cx="5710814" cy="5674497"/>
          </a:xfrm>
        </p:grpSpPr>
        <p:sp>
          <p:nvSpPr>
            <p:cNvPr id="6" name="Rectangle 5">
              <a:extLst>
                <a:ext uri="{FF2B5EF4-FFF2-40B4-BE49-F238E27FC236}">
                  <a16:creationId xmlns:a16="http://schemas.microsoft.com/office/drawing/2014/main" id="{48547D58-FB9C-B991-462B-ECDE5536EF1A}"/>
                </a:ext>
              </a:extLst>
            </p:cNvPr>
            <p:cNvSpPr/>
            <p:nvPr/>
          </p:nvSpPr>
          <p:spPr>
            <a:xfrm>
              <a:off x="1122064" y="694747"/>
              <a:ext cx="5710814" cy="5674497"/>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pic>
          <p:nvPicPr>
            <p:cNvPr id="7" name="Picture 2">
              <a:extLst>
                <a:ext uri="{FF2B5EF4-FFF2-40B4-BE49-F238E27FC236}">
                  <a16:creationId xmlns:a16="http://schemas.microsoft.com/office/drawing/2014/main" id="{92D65E98-BA10-25B2-7222-7AA751B14231}"/>
                </a:ext>
              </a:extLst>
            </p:cNvPr>
            <p:cNvPicPr>
              <a:picLocks noChangeAspect="1" noChangeArrowheads="1"/>
            </p:cNvPicPr>
            <p:nvPr/>
          </p:nvPicPr>
          <p:blipFill>
            <a:blip r:embed="rId2">
              <a:alphaModFix/>
              <a:extLst>
                <a:ext uri="{28A0092B-C50C-407E-A947-70E740481C1C}">
                  <a14:useLocalDpi xmlns:a14="http://schemas.microsoft.com/office/drawing/2010/main" val="0"/>
                </a:ext>
              </a:extLst>
            </a:blip>
            <a:srcRect/>
            <a:stretch>
              <a:fillRect/>
            </a:stretch>
          </p:blipFill>
          <p:spPr bwMode="auto">
            <a:xfrm>
              <a:off x="1186638" y="772166"/>
              <a:ext cx="5634701" cy="5571957"/>
            </a:xfrm>
            <a:prstGeom prst="rect">
              <a:avLst/>
            </a:prstGeom>
            <a:solidFill>
              <a:schemeClr val="bg1"/>
            </a:solidFill>
            <a:ln>
              <a:noFill/>
            </a:ln>
          </p:spPr>
        </p:pic>
      </p:grpSp>
    </p:spTree>
    <p:extLst>
      <p:ext uri="{BB962C8B-B14F-4D97-AF65-F5344CB8AC3E}">
        <p14:creationId xmlns:p14="http://schemas.microsoft.com/office/powerpoint/2010/main" val="40875975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E957058-57AD-46A9-BAE9-7145CB3504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A6D86F0-98E0-4468-9315-41BF7B0F2E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670F2B-E98B-68F8-D4EE-568C73EB620B}"/>
              </a:ext>
            </a:extLst>
          </p:cNvPr>
          <p:cNvSpPr>
            <a:spLocks noGrp="1"/>
          </p:cNvSpPr>
          <p:nvPr>
            <p:ph type="title"/>
          </p:nvPr>
        </p:nvSpPr>
        <p:spPr>
          <a:xfrm>
            <a:off x="1041062" y="774550"/>
            <a:ext cx="2696285" cy="5443369"/>
          </a:xfrm>
        </p:spPr>
        <p:txBody>
          <a:bodyPr>
            <a:normAutofit/>
          </a:bodyPr>
          <a:lstStyle/>
          <a:p>
            <a:pPr algn="ctr"/>
            <a:r>
              <a:rPr lang="en-GB" sz="8800" b="1" dirty="0">
                <a:solidFill>
                  <a:schemeClr val="tx1"/>
                </a:solidFill>
              </a:rPr>
              <a:t>QMR</a:t>
            </a:r>
            <a:br>
              <a:rPr lang="en-GB" sz="8800" b="1" dirty="0">
                <a:solidFill>
                  <a:schemeClr val="tx1"/>
                </a:solidFill>
              </a:rPr>
            </a:br>
            <a:r>
              <a:rPr lang="en-GB" sz="8800" b="1" dirty="0">
                <a:solidFill>
                  <a:schemeClr val="tx1"/>
                </a:solidFill>
              </a:rPr>
              <a:t>KEY</a:t>
            </a:r>
          </a:p>
        </p:txBody>
      </p:sp>
      <p:sp>
        <p:nvSpPr>
          <p:cNvPr id="21" name="Rectangle 20">
            <a:extLst>
              <a:ext uri="{FF2B5EF4-FFF2-40B4-BE49-F238E27FC236}">
                <a16:creationId xmlns:a16="http://schemas.microsoft.com/office/drawing/2014/main" id="{58946146-9FF7-4B29-97F2-EA1CB3876E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4" name="Content Placeholder 3">
            <a:extLst>
              <a:ext uri="{FF2B5EF4-FFF2-40B4-BE49-F238E27FC236}">
                <a16:creationId xmlns:a16="http://schemas.microsoft.com/office/drawing/2014/main" id="{4E23F110-B7BA-124E-3FCC-C578F13A6F92}"/>
              </a:ext>
            </a:extLst>
          </p:cNvPr>
          <p:cNvSpPr txBox="1">
            <a:spLocks noGrp="1"/>
          </p:cNvSpPr>
          <p:nvPr>
            <p:ph idx="1"/>
          </p:nvPr>
        </p:nvSpPr>
        <p:spPr>
          <a:xfrm>
            <a:off x="4380813" y="181567"/>
            <a:ext cx="6288088" cy="3732304"/>
          </a:xfrm>
          <a:prstGeom prst="rect">
            <a:avLst/>
          </a:prstGeom>
          <a:noFill/>
        </p:spPr>
        <p:txBody>
          <a:bodyPr wrap="square">
            <a:spAutoFit/>
          </a:bodyPr>
          <a:lstStyle/>
          <a:p>
            <a:pPr marL="0" indent="0">
              <a:buNone/>
            </a:pPr>
            <a:r>
              <a:rPr lang="en-GB" b="1" dirty="0"/>
              <a:t>Overall QMS Status: </a:t>
            </a:r>
            <a:r>
              <a:rPr lang="en-GB" dirty="0"/>
              <a:t>🟢- In control / 🟠- Improvement needed / 🔴- Out of control</a:t>
            </a:r>
          </a:p>
          <a:p>
            <a:pPr marL="0" indent="0">
              <a:buNone/>
            </a:pPr>
            <a:r>
              <a:rPr lang="en-GB" b="1" dirty="0"/>
              <a:t>KPI Trend &amp; Assessment level: </a:t>
            </a:r>
            <a:r>
              <a:rPr lang="en-GB" dirty="0"/>
              <a:t>🟢- Improving / 🟠- Stable / 🔴- Deteriorating</a:t>
            </a:r>
          </a:p>
          <a:p>
            <a:pPr marL="0" indent="0">
              <a:buNone/>
            </a:pPr>
            <a:r>
              <a:rPr lang="en-GB" b="1" dirty="0"/>
              <a:t>Classifications:</a:t>
            </a:r>
            <a:r>
              <a:rPr lang="en-GB" dirty="0"/>
              <a:t>      - Minor /      - Major /      - Critical</a:t>
            </a:r>
          </a:p>
          <a:p>
            <a:pPr marL="0" indent="0">
              <a:buNone/>
            </a:pPr>
            <a:r>
              <a:rPr lang="en-GB" b="1" dirty="0"/>
              <a:t>Target date adherence:      </a:t>
            </a:r>
            <a:r>
              <a:rPr lang="en-GB" dirty="0"/>
              <a:t>- Completed within target date /      - Overdue or completed past target date</a:t>
            </a:r>
          </a:p>
          <a:p>
            <a:pPr marL="0" indent="0">
              <a:buNone/>
            </a:pPr>
            <a:endParaRPr lang="en-GB" dirty="0"/>
          </a:p>
          <a:p>
            <a:pPr marL="0" indent="0">
              <a:buNone/>
            </a:pPr>
            <a:endParaRPr lang="en-GB" dirty="0"/>
          </a:p>
        </p:txBody>
      </p:sp>
      <p:sp>
        <p:nvSpPr>
          <p:cNvPr id="5" name="Oval 4">
            <a:extLst>
              <a:ext uri="{FF2B5EF4-FFF2-40B4-BE49-F238E27FC236}">
                <a16:creationId xmlns:a16="http://schemas.microsoft.com/office/drawing/2014/main" id="{CAFDDF27-C072-1142-A96D-34505AC7A9E2}"/>
              </a:ext>
            </a:extLst>
          </p:cNvPr>
          <p:cNvSpPr/>
          <p:nvPr/>
        </p:nvSpPr>
        <p:spPr>
          <a:xfrm>
            <a:off x="6302475" y="1779638"/>
            <a:ext cx="285139" cy="294968"/>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B839E66A-6EBA-CC4A-3786-42FAB0354591}"/>
              </a:ext>
            </a:extLst>
          </p:cNvPr>
          <p:cNvSpPr/>
          <p:nvPr/>
        </p:nvSpPr>
        <p:spPr>
          <a:xfrm>
            <a:off x="7593680" y="1779638"/>
            <a:ext cx="275303" cy="294968"/>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BC7A5F85-5FC9-7DF4-2931-595D5FDD53F3}"/>
              </a:ext>
            </a:extLst>
          </p:cNvPr>
          <p:cNvSpPr/>
          <p:nvPr/>
        </p:nvSpPr>
        <p:spPr>
          <a:xfrm>
            <a:off x="8875049" y="1779638"/>
            <a:ext cx="275303" cy="294968"/>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Oval 2">
            <a:extLst>
              <a:ext uri="{FF2B5EF4-FFF2-40B4-BE49-F238E27FC236}">
                <a16:creationId xmlns:a16="http://schemas.microsoft.com/office/drawing/2014/main" id="{D2993639-4472-2478-B7DB-F6C3E12EE2F0}"/>
              </a:ext>
            </a:extLst>
          </p:cNvPr>
          <p:cNvSpPr/>
          <p:nvPr/>
        </p:nvSpPr>
        <p:spPr>
          <a:xfrm>
            <a:off x="7282688" y="2256175"/>
            <a:ext cx="275303" cy="294968"/>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9F5CE603-E841-D2BB-AB62-DD6B2084C34D}"/>
              </a:ext>
            </a:extLst>
          </p:cNvPr>
          <p:cNvSpPr/>
          <p:nvPr/>
        </p:nvSpPr>
        <p:spPr>
          <a:xfrm>
            <a:off x="5143938" y="2558970"/>
            <a:ext cx="275303" cy="294968"/>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38524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F92AC83-6EF2-9471-3A12-F9EBA182630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E957058-57AD-46A9-BAE9-7145CB3504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A6D86F0-98E0-4468-9315-41BF7B0F2E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8946146-9FF7-4B29-97F2-EA1CB3876E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8" name="Title 1">
            <a:extLst>
              <a:ext uri="{FF2B5EF4-FFF2-40B4-BE49-F238E27FC236}">
                <a16:creationId xmlns:a16="http://schemas.microsoft.com/office/drawing/2014/main" id="{68D608B6-E48C-4BF7-B210-C4ECCC00FA8F}"/>
              </a:ext>
            </a:extLst>
          </p:cNvPr>
          <p:cNvSpPr>
            <a:spLocks noGrp="1"/>
          </p:cNvSpPr>
          <p:nvPr>
            <p:ph type="title"/>
          </p:nvPr>
        </p:nvSpPr>
        <p:spPr>
          <a:xfrm>
            <a:off x="4059080" y="68824"/>
            <a:ext cx="8132919" cy="312177"/>
          </a:xfrm>
        </p:spPr>
        <p:txBody>
          <a:bodyPr vert="horz" lIns="91440" tIns="45720" rIns="91440" bIns="45720" rtlCol="0" anchor="ctr">
            <a:noAutofit/>
          </a:bodyPr>
          <a:lstStyle/>
          <a:p>
            <a:pPr algn="ctr">
              <a:lnSpc>
                <a:spcPct val="80000"/>
              </a:lnSpc>
            </a:pPr>
            <a:r>
              <a:rPr lang="en-US" sz="2400" b="1" spc="150" dirty="0">
                <a:solidFill>
                  <a:schemeClr val="tx2"/>
                </a:solidFill>
              </a:rPr>
              <a:t>TREND GRAPHS</a:t>
            </a:r>
          </a:p>
        </p:txBody>
      </p:sp>
      <p:sp>
        <p:nvSpPr>
          <p:cNvPr id="14" name="Rectangle 13">
            <a:extLst>
              <a:ext uri="{FF2B5EF4-FFF2-40B4-BE49-F238E27FC236}">
                <a16:creationId xmlns:a16="http://schemas.microsoft.com/office/drawing/2014/main" id="{38A2EC28-7070-8352-1AA1-04BEDB09C512}"/>
              </a:ext>
            </a:extLst>
          </p:cNvPr>
          <p:cNvSpPr/>
          <p:nvPr/>
        </p:nvSpPr>
        <p:spPr>
          <a:xfrm>
            <a:off x="-61380" y="-2"/>
            <a:ext cx="842090" cy="6847953"/>
          </a:xfrm>
          <a:prstGeom prst="rect">
            <a:avLst/>
          </a:prstGeom>
          <a:noFill/>
        </p:spPr>
        <p:txBody>
          <a:bodyPr vert="wordArtVert" wrap="square" lIns="91440" tIns="45720" rIns="91440" bIns="45720">
            <a:spAutoFit/>
          </a:bodyPr>
          <a:lstStyle/>
          <a:p>
            <a:pPr algn="ctr"/>
            <a:r>
              <a:rPr lang="en-US" sz="3600" b="1" cap="none" spc="0" dirty="0">
                <a:ln w="0"/>
                <a:solidFill>
                  <a:schemeClr val="tx1"/>
                </a:solidFill>
                <a:effectLst>
                  <a:outerShdw blurRad="38100" dist="38100" dir="2700000" algn="tl">
                    <a:srgbClr val="000000">
                      <a:alpha val="43137"/>
                    </a:srgbClr>
                  </a:outerShdw>
                </a:effectLst>
                <a:latin typeface="+mj-lt"/>
              </a:rPr>
              <a:t>DEVIATIONS</a:t>
            </a:r>
          </a:p>
        </p:txBody>
      </p:sp>
      <p:sp>
        <p:nvSpPr>
          <p:cNvPr id="15" name="Title 1">
            <a:extLst>
              <a:ext uri="{FF2B5EF4-FFF2-40B4-BE49-F238E27FC236}">
                <a16:creationId xmlns:a16="http://schemas.microsoft.com/office/drawing/2014/main" id="{139A2DFB-23C0-6D19-EF5C-9A28CCC46933}"/>
              </a:ext>
            </a:extLst>
          </p:cNvPr>
          <p:cNvSpPr txBox="1">
            <a:spLocks/>
          </p:cNvSpPr>
          <p:nvPr/>
        </p:nvSpPr>
        <p:spPr>
          <a:xfrm>
            <a:off x="719329" y="0"/>
            <a:ext cx="3339751" cy="68825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pPr algn="ctr"/>
            <a:r>
              <a:rPr lang="en-GB" sz="2800" b="1" dirty="0">
                <a:solidFill>
                  <a:schemeClr val="tx1"/>
                </a:solidFill>
              </a:rPr>
              <a:t>KPI Summary</a:t>
            </a:r>
          </a:p>
        </p:txBody>
      </p:sp>
      <p:graphicFrame>
        <p:nvGraphicFramePr>
          <p:cNvPr id="16" name="Content Placeholder 3">
            <a:extLst>
              <a:ext uri="{FF2B5EF4-FFF2-40B4-BE49-F238E27FC236}">
                <a16:creationId xmlns:a16="http://schemas.microsoft.com/office/drawing/2014/main" id="{C84D4817-44AB-DD12-F9AD-EDEED2998335}"/>
              </a:ext>
            </a:extLst>
          </p:cNvPr>
          <p:cNvGraphicFramePr>
            <a:graphicFrameLocks noGrp="1"/>
          </p:cNvGraphicFramePr>
          <p:nvPr>
            <p:ph idx="1"/>
            <p:extLst>
              <p:ext uri="{D42A27DB-BD31-4B8C-83A1-F6EECF244321}">
                <p14:modId xmlns:p14="http://schemas.microsoft.com/office/powerpoint/2010/main" val="498566372"/>
              </p:ext>
            </p:extLst>
          </p:nvPr>
        </p:nvGraphicFramePr>
        <p:xfrm>
          <a:off x="820038" y="688258"/>
          <a:ext cx="3127336" cy="4118310"/>
        </p:xfrm>
        <a:graphic>
          <a:graphicData uri="http://schemas.openxmlformats.org/drawingml/2006/table">
            <a:tbl>
              <a:tblPr firstRow="1" firstCol="1">
                <a:tableStyleId>{073A0DAA-6AF3-43AB-8588-CEC1D06C72B9}</a:tableStyleId>
              </a:tblPr>
              <a:tblGrid>
                <a:gridCol w="1367362">
                  <a:extLst>
                    <a:ext uri="{9D8B030D-6E8A-4147-A177-3AD203B41FA5}">
                      <a16:colId xmlns:a16="http://schemas.microsoft.com/office/drawing/2014/main" val="3746610510"/>
                    </a:ext>
                  </a:extLst>
                </a:gridCol>
                <a:gridCol w="914400">
                  <a:extLst>
                    <a:ext uri="{9D8B030D-6E8A-4147-A177-3AD203B41FA5}">
                      <a16:colId xmlns:a16="http://schemas.microsoft.com/office/drawing/2014/main" val="1245586481"/>
                    </a:ext>
                  </a:extLst>
                </a:gridCol>
                <a:gridCol w="845574">
                  <a:extLst>
                    <a:ext uri="{9D8B030D-6E8A-4147-A177-3AD203B41FA5}">
                      <a16:colId xmlns:a16="http://schemas.microsoft.com/office/drawing/2014/main" val="420243024"/>
                    </a:ext>
                  </a:extLst>
                </a:gridCol>
              </a:tblGrid>
              <a:tr h="857415">
                <a:tc>
                  <a:txBody>
                    <a:bodyPr/>
                    <a:lstStyle/>
                    <a:p>
                      <a:pPr algn="ctr"/>
                      <a:r>
                        <a:rPr lang="en-GB" sz="1800" b="1" kern="1200" dirty="0">
                          <a:solidFill>
                            <a:schemeClr val="lt1"/>
                          </a:solidFill>
                          <a:latin typeface="+mn-lt"/>
                          <a:ea typeface="+mn-ea"/>
                          <a:cs typeface="+mn-cs"/>
                        </a:rPr>
                        <a:t>KPI </a:t>
                      </a:r>
                    </a:p>
                  </a:txBody>
                  <a:tcPr anchor="ctr"/>
                </a:tc>
                <a:tc>
                  <a:txBody>
                    <a:bodyPr/>
                    <a:lstStyle/>
                    <a:p>
                      <a:pPr algn="ctr"/>
                      <a:r>
                        <a:rPr lang="en-GB" sz="1800" b="1" kern="1200" dirty="0">
                          <a:solidFill>
                            <a:schemeClr val="lt1"/>
                          </a:solidFill>
                          <a:latin typeface="+mn-lt"/>
                          <a:ea typeface="+mn-ea"/>
                          <a:cs typeface="+mn-cs"/>
                        </a:rPr>
                        <a:t>Q1 (2026)</a:t>
                      </a:r>
                    </a:p>
                  </a:txBody>
                  <a:tcPr anchor="ctr"/>
                </a:tc>
                <a:tc>
                  <a:txBody>
                    <a:bodyPr/>
                    <a:lstStyle/>
                    <a:p>
                      <a:pPr algn="ctr"/>
                      <a:r>
                        <a:rPr lang="en-GB" sz="1800" b="1" kern="1200" dirty="0">
                          <a:solidFill>
                            <a:schemeClr val="lt1"/>
                          </a:solidFill>
                          <a:latin typeface="+mn-lt"/>
                          <a:ea typeface="+mn-ea"/>
                          <a:cs typeface="+mn-cs"/>
                        </a:rPr>
                        <a:t>Q2 (2026)</a:t>
                      </a:r>
                    </a:p>
                  </a:txBody>
                  <a:tcPr anchor="ctr"/>
                </a:tc>
                <a:extLst>
                  <a:ext uri="{0D108BD9-81ED-4DB2-BD59-A6C34878D82A}">
                    <a16:rowId xmlns:a16="http://schemas.microsoft.com/office/drawing/2014/main" val="2811724974"/>
                  </a:ext>
                </a:extLst>
              </a:tr>
              <a:tr h="689294">
                <a:tc>
                  <a:txBody>
                    <a:bodyPr/>
                    <a:lstStyle/>
                    <a:p>
                      <a:pPr algn="ctr"/>
                      <a:r>
                        <a:rPr lang="en-GB" sz="1400" b="1" dirty="0"/>
                        <a:t>Total raised this quarter</a:t>
                      </a:r>
                    </a:p>
                  </a:txBody>
                  <a:tcPr anchor="ctr"/>
                </a:tc>
                <a:tc>
                  <a:txBody>
                    <a:bodyPr/>
                    <a:lstStyle/>
                    <a:p>
                      <a:pPr algn="ctr"/>
                      <a:r>
                        <a:rPr lang="en-GB" sz="1800" b="0" dirty="0"/>
                        <a:t>8</a:t>
                      </a:r>
                    </a:p>
                  </a:txBody>
                  <a:tcPr anchor="ctr"/>
                </a:tc>
                <a:tc>
                  <a:txBody>
                    <a:bodyPr/>
                    <a:lstStyle/>
                    <a:p>
                      <a:pPr algn="ctr"/>
                      <a:r>
                        <a:rPr lang="en-GB" sz="1800" b="0" dirty="0"/>
                        <a:t>13</a:t>
                      </a:r>
                    </a:p>
                  </a:txBody>
                  <a:tcPr anchor="ctr"/>
                </a:tc>
                <a:extLst>
                  <a:ext uri="{0D108BD9-81ED-4DB2-BD59-A6C34878D82A}">
                    <a16:rowId xmlns:a16="http://schemas.microsoft.com/office/drawing/2014/main" val="893295017"/>
                  </a:ext>
                </a:extLst>
              </a:tr>
              <a:tr h="521173">
                <a:tc>
                  <a:txBody>
                    <a:bodyPr/>
                    <a:lstStyle/>
                    <a:p>
                      <a:pPr algn="ctr"/>
                      <a:r>
                        <a:rPr lang="en-GB" sz="1400" b="1" dirty="0"/>
                        <a:t>Total closed this quarter</a:t>
                      </a:r>
                    </a:p>
                  </a:txBody>
                  <a:tcPr anchor="ctr"/>
                </a:tc>
                <a:tc>
                  <a:txBody>
                    <a:bodyPr/>
                    <a:lstStyle/>
                    <a:p>
                      <a:pPr algn="ctr"/>
                      <a:r>
                        <a:rPr lang="en-GB" sz="1800" b="0" dirty="0"/>
                        <a:t>12</a:t>
                      </a:r>
                    </a:p>
                  </a:txBody>
                  <a:tcPr anchor="ctr"/>
                </a:tc>
                <a:tc>
                  <a:txBody>
                    <a:bodyPr/>
                    <a:lstStyle/>
                    <a:p>
                      <a:pPr algn="ctr"/>
                      <a:r>
                        <a:rPr lang="en-GB" sz="1800" b="0"/>
                        <a:t>14</a:t>
                      </a:r>
                      <a:endParaRPr lang="en-GB" sz="1800" b="0" dirty="0"/>
                    </a:p>
                  </a:txBody>
                  <a:tcPr anchor="ctr"/>
                </a:tc>
                <a:extLst>
                  <a:ext uri="{0D108BD9-81ED-4DB2-BD59-A6C34878D82A}">
                    <a16:rowId xmlns:a16="http://schemas.microsoft.com/office/drawing/2014/main" val="1846249938"/>
                  </a:ext>
                </a:extLst>
              </a:tr>
              <a:tr h="683476">
                <a:tc>
                  <a:txBody>
                    <a:bodyPr/>
                    <a:lstStyle/>
                    <a:p>
                      <a:pPr algn="ctr"/>
                      <a:r>
                        <a:rPr lang="en-GB" sz="1400" b="1" dirty="0"/>
                        <a:t>Major/Critical raised</a:t>
                      </a:r>
                    </a:p>
                  </a:txBody>
                  <a:tcPr anchor="ctr"/>
                </a:tc>
                <a:tc>
                  <a:txBody>
                    <a:bodyPr/>
                    <a:lstStyle/>
                    <a:p>
                      <a:pPr algn="ctr"/>
                      <a:r>
                        <a:rPr lang="en-GB" sz="1800" b="0" dirty="0"/>
                        <a:t>1</a:t>
                      </a:r>
                    </a:p>
                  </a:txBody>
                  <a:tcPr anchor="ctr"/>
                </a:tc>
                <a:tc>
                  <a:txBody>
                    <a:bodyPr/>
                    <a:lstStyle/>
                    <a:p>
                      <a:pPr algn="ctr"/>
                      <a:r>
                        <a:rPr lang="en-GB" sz="1800" b="0" dirty="0"/>
                        <a:t>3</a:t>
                      </a:r>
                    </a:p>
                  </a:txBody>
                  <a:tcPr anchor="ctr"/>
                </a:tc>
                <a:extLst>
                  <a:ext uri="{0D108BD9-81ED-4DB2-BD59-A6C34878D82A}">
                    <a16:rowId xmlns:a16="http://schemas.microsoft.com/office/drawing/2014/main" val="4060241798"/>
                  </a:ext>
                </a:extLst>
              </a:tr>
              <a:tr h="683476">
                <a:tc>
                  <a:txBody>
                    <a:bodyPr/>
                    <a:lstStyle/>
                    <a:p>
                      <a:pPr algn="ctr"/>
                      <a:r>
                        <a:rPr lang="en-GB" sz="1400" b="1" dirty="0"/>
                        <a:t>Major/Critical closed</a:t>
                      </a:r>
                    </a:p>
                  </a:txBody>
                  <a:tcPr anchor="ctr"/>
                </a:tc>
                <a:tc>
                  <a:txBody>
                    <a:bodyPr/>
                    <a:lstStyle/>
                    <a:p>
                      <a:pPr algn="ctr"/>
                      <a:r>
                        <a:rPr lang="en-GB" sz="1800" b="0" dirty="0"/>
                        <a:t>2</a:t>
                      </a:r>
                    </a:p>
                  </a:txBody>
                  <a:tcPr anchor="ctr"/>
                </a:tc>
                <a:tc>
                  <a:txBody>
                    <a:bodyPr/>
                    <a:lstStyle/>
                    <a:p>
                      <a:pPr algn="ctr"/>
                      <a:r>
                        <a:rPr lang="en-GB" sz="1800" b="0" dirty="0"/>
                        <a:t>2</a:t>
                      </a:r>
                    </a:p>
                  </a:txBody>
                  <a:tcPr anchor="ctr"/>
                </a:tc>
                <a:extLst>
                  <a:ext uri="{0D108BD9-81ED-4DB2-BD59-A6C34878D82A}">
                    <a16:rowId xmlns:a16="http://schemas.microsoft.com/office/drawing/2014/main" val="2537027104"/>
                  </a:ext>
                </a:extLst>
              </a:tr>
              <a:tr h="683476">
                <a:tc>
                  <a:txBody>
                    <a:bodyPr/>
                    <a:lstStyle/>
                    <a:p>
                      <a:pPr algn="ctr"/>
                      <a:r>
                        <a:rPr lang="en-GB" sz="1400" b="1" dirty="0"/>
                        <a:t>Average Closure time</a:t>
                      </a:r>
                    </a:p>
                  </a:txBody>
                  <a:tcPr anchor="ctr"/>
                </a:tc>
                <a:tc>
                  <a:txBody>
                    <a:bodyPr/>
                    <a:lstStyle/>
                    <a:p>
                      <a:pPr algn="ctr"/>
                      <a:r>
                        <a:rPr lang="en-GB" sz="1800" b="0" dirty="0"/>
                        <a:t>53 days</a:t>
                      </a:r>
                    </a:p>
                  </a:txBody>
                  <a:tcPr anchor="ctr"/>
                </a:tc>
                <a:tc>
                  <a:txBody>
                    <a:bodyPr/>
                    <a:lstStyle/>
                    <a:p>
                      <a:pPr algn="ctr"/>
                      <a:r>
                        <a:rPr lang="en-GB" sz="1800" b="0" dirty="0"/>
                        <a:t>44 days</a:t>
                      </a:r>
                    </a:p>
                  </a:txBody>
                  <a:tcPr anchor="ctr"/>
                </a:tc>
                <a:extLst>
                  <a:ext uri="{0D108BD9-81ED-4DB2-BD59-A6C34878D82A}">
                    <a16:rowId xmlns:a16="http://schemas.microsoft.com/office/drawing/2014/main" val="493168860"/>
                  </a:ext>
                </a:extLst>
              </a:tr>
            </a:tbl>
          </a:graphicData>
        </a:graphic>
      </p:graphicFrame>
      <p:sp>
        <p:nvSpPr>
          <p:cNvPr id="2" name="Title 1">
            <a:extLst>
              <a:ext uri="{FF2B5EF4-FFF2-40B4-BE49-F238E27FC236}">
                <a16:creationId xmlns:a16="http://schemas.microsoft.com/office/drawing/2014/main" id="{3B41495E-F101-7D17-DCD5-AD6B85847E87}"/>
              </a:ext>
            </a:extLst>
          </p:cNvPr>
          <p:cNvSpPr txBox="1">
            <a:spLocks/>
          </p:cNvSpPr>
          <p:nvPr/>
        </p:nvSpPr>
        <p:spPr>
          <a:xfrm>
            <a:off x="634047" y="4884174"/>
            <a:ext cx="3339751" cy="1418303"/>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pPr algn="ctr"/>
            <a:r>
              <a:rPr lang="en-GB" sz="2800" b="1" cap="none" dirty="0">
                <a:solidFill>
                  <a:schemeClr val="tx1"/>
                </a:solidFill>
                <a:latin typeface="+mn-lt"/>
              </a:rPr>
              <a:t>KPI &amp; Trend Assessment: </a:t>
            </a:r>
          </a:p>
          <a:p>
            <a:pPr algn="ctr"/>
            <a:endParaRPr lang="en-GB" sz="2800" b="1" cap="none" dirty="0">
              <a:solidFill>
                <a:schemeClr val="tx1"/>
              </a:solidFill>
              <a:latin typeface="+mn-lt"/>
            </a:endParaRPr>
          </a:p>
          <a:p>
            <a:pPr algn="ctr"/>
            <a:r>
              <a:rPr lang="en-GB" sz="2800" dirty="0"/>
              <a:t>🟢</a:t>
            </a:r>
            <a:r>
              <a:rPr lang="en-GB" sz="2800" cap="none" dirty="0">
                <a:solidFill>
                  <a:schemeClr val="tx1"/>
                </a:solidFill>
              </a:rPr>
              <a:t>- Improving </a:t>
            </a:r>
            <a:endParaRPr lang="en-GB" sz="2800" cap="none" dirty="0">
              <a:solidFill>
                <a:schemeClr val="tx1"/>
              </a:solidFill>
              <a:latin typeface="+mn-lt"/>
            </a:endParaRPr>
          </a:p>
        </p:txBody>
      </p:sp>
      <p:graphicFrame>
        <p:nvGraphicFramePr>
          <p:cNvPr id="5" name="Chart 4">
            <a:extLst>
              <a:ext uri="{FF2B5EF4-FFF2-40B4-BE49-F238E27FC236}">
                <a16:creationId xmlns:a16="http://schemas.microsoft.com/office/drawing/2014/main" id="{00000000-0008-0000-0400-000004000000}"/>
              </a:ext>
            </a:extLst>
          </p:cNvPr>
          <p:cNvGraphicFramePr>
            <a:graphicFrameLocks/>
          </p:cNvGraphicFramePr>
          <p:nvPr>
            <p:extLst>
              <p:ext uri="{D42A27DB-BD31-4B8C-83A1-F6EECF244321}">
                <p14:modId xmlns:p14="http://schemas.microsoft.com/office/powerpoint/2010/main" val="79923363"/>
              </p:ext>
            </p:extLst>
          </p:nvPr>
        </p:nvGraphicFramePr>
        <p:xfrm>
          <a:off x="4059079" y="3757847"/>
          <a:ext cx="8132919" cy="30901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5243665A-E14F-FABF-1F3A-51D9049307DF}"/>
              </a:ext>
            </a:extLst>
          </p:cNvPr>
          <p:cNvGraphicFramePr>
            <a:graphicFrameLocks/>
          </p:cNvGraphicFramePr>
          <p:nvPr>
            <p:extLst>
              <p:ext uri="{D42A27DB-BD31-4B8C-83A1-F6EECF244321}">
                <p14:modId xmlns:p14="http://schemas.microsoft.com/office/powerpoint/2010/main" val="3994719491"/>
              </p:ext>
            </p:extLst>
          </p:nvPr>
        </p:nvGraphicFramePr>
        <p:xfrm>
          <a:off x="4059078" y="449825"/>
          <a:ext cx="8132919" cy="329797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171743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9566E47-E9A9-9F5B-0A12-72B9E96EBD6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39AF756-612E-490E-E102-28C773434D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EA50273-A776-8D53-957D-2005326CA7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07C4A33-8190-73A6-95D0-42A28AAC92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4" name="Rectangle 13">
            <a:extLst>
              <a:ext uri="{FF2B5EF4-FFF2-40B4-BE49-F238E27FC236}">
                <a16:creationId xmlns:a16="http://schemas.microsoft.com/office/drawing/2014/main" id="{A3B3CDFF-FD76-950C-6C72-481607A78C6E}"/>
              </a:ext>
            </a:extLst>
          </p:cNvPr>
          <p:cNvSpPr/>
          <p:nvPr/>
        </p:nvSpPr>
        <p:spPr>
          <a:xfrm>
            <a:off x="-61380" y="-2"/>
            <a:ext cx="842090" cy="6847953"/>
          </a:xfrm>
          <a:prstGeom prst="rect">
            <a:avLst/>
          </a:prstGeom>
          <a:noFill/>
        </p:spPr>
        <p:txBody>
          <a:bodyPr vert="wordArtVert" wrap="square" lIns="91440" tIns="45720" rIns="91440" bIns="45720">
            <a:spAutoFit/>
          </a:bodyPr>
          <a:lstStyle/>
          <a:p>
            <a:pPr algn="ctr"/>
            <a:r>
              <a:rPr lang="en-US" sz="3600" b="1" cap="none" spc="0" dirty="0">
                <a:ln w="0"/>
                <a:solidFill>
                  <a:schemeClr val="tx1"/>
                </a:solidFill>
                <a:effectLst>
                  <a:outerShdw blurRad="38100" dist="38100" dir="2700000" algn="tl">
                    <a:srgbClr val="000000">
                      <a:alpha val="43137"/>
                    </a:srgbClr>
                  </a:outerShdw>
                </a:effectLst>
                <a:latin typeface="+mj-lt"/>
              </a:rPr>
              <a:t>DEVIATIONS</a:t>
            </a:r>
          </a:p>
        </p:txBody>
      </p:sp>
      <p:sp>
        <p:nvSpPr>
          <p:cNvPr id="6" name="TextBox 5">
            <a:extLst>
              <a:ext uri="{FF2B5EF4-FFF2-40B4-BE49-F238E27FC236}">
                <a16:creationId xmlns:a16="http://schemas.microsoft.com/office/drawing/2014/main" id="{A85AE84F-32E9-0064-3E76-EBEC5850D6B0}"/>
              </a:ext>
            </a:extLst>
          </p:cNvPr>
          <p:cNvSpPr txBox="1"/>
          <p:nvPr/>
        </p:nvSpPr>
        <p:spPr>
          <a:xfrm>
            <a:off x="4224963" y="0"/>
            <a:ext cx="7815918" cy="584775"/>
          </a:xfrm>
          <a:prstGeom prst="rect">
            <a:avLst/>
          </a:prstGeom>
          <a:noFill/>
        </p:spPr>
        <p:txBody>
          <a:bodyPr wrap="square" rtlCol="0">
            <a:spAutoFit/>
          </a:bodyPr>
          <a:lstStyle/>
          <a:p>
            <a:pPr lvl="0">
              <a:defRPr/>
            </a:pPr>
            <a:r>
              <a:rPr lang="en-GB" sz="3200" b="1" dirty="0"/>
              <a:t>SIGNIFICANT ITEMS (MAJOR &amp; CRITICAL)</a:t>
            </a:r>
            <a:endParaRPr kumimoji="0" lang="en-GB" sz="3200" b="1"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grpSp>
        <p:nvGrpSpPr>
          <p:cNvPr id="7" name="Group 6">
            <a:extLst>
              <a:ext uri="{FF2B5EF4-FFF2-40B4-BE49-F238E27FC236}">
                <a16:creationId xmlns:a16="http://schemas.microsoft.com/office/drawing/2014/main" id="{10691002-5422-AD24-176B-8BE9BF445C80}"/>
              </a:ext>
            </a:extLst>
          </p:cNvPr>
          <p:cNvGrpSpPr/>
          <p:nvPr/>
        </p:nvGrpSpPr>
        <p:grpSpPr>
          <a:xfrm>
            <a:off x="842091" y="695572"/>
            <a:ext cx="11101643" cy="3424750"/>
            <a:chOff x="797885" y="1529658"/>
            <a:chExt cx="12278237" cy="3523128"/>
          </a:xfrm>
          <a:solidFill>
            <a:srgbClr val="FFFF00"/>
          </a:solidFill>
        </p:grpSpPr>
        <p:graphicFrame>
          <p:nvGraphicFramePr>
            <p:cNvPr id="17" name="Table 16">
              <a:extLst>
                <a:ext uri="{FF2B5EF4-FFF2-40B4-BE49-F238E27FC236}">
                  <a16:creationId xmlns:a16="http://schemas.microsoft.com/office/drawing/2014/main" id="{292C8988-A50A-104A-5441-3FC3FEFC066E}"/>
                </a:ext>
              </a:extLst>
            </p:cNvPr>
            <p:cNvGraphicFramePr>
              <a:graphicFrameLocks/>
            </p:cNvGraphicFramePr>
            <p:nvPr>
              <p:extLst>
                <p:ext uri="{D42A27DB-BD31-4B8C-83A1-F6EECF244321}">
                  <p14:modId xmlns:p14="http://schemas.microsoft.com/office/powerpoint/2010/main" val="1598333741"/>
                </p:ext>
              </p:extLst>
            </p:nvPr>
          </p:nvGraphicFramePr>
          <p:xfrm>
            <a:off x="797885" y="3183211"/>
            <a:ext cx="12278237" cy="1869575"/>
          </p:xfrm>
          <a:graphic>
            <a:graphicData uri="http://schemas.openxmlformats.org/drawingml/2006/table">
              <a:tbl>
                <a:tblPr firstRow="1" bandRow="1">
                  <a:tableStyleId>{21E4AEA4-8DFA-4A89-87EB-49C32662AFE0}</a:tableStyleId>
                </a:tblPr>
                <a:tblGrid>
                  <a:gridCol w="1450300">
                    <a:extLst>
                      <a:ext uri="{9D8B030D-6E8A-4147-A177-3AD203B41FA5}">
                        <a16:colId xmlns:a16="http://schemas.microsoft.com/office/drawing/2014/main" val="41084954"/>
                      </a:ext>
                    </a:extLst>
                  </a:gridCol>
                  <a:gridCol w="1364084">
                    <a:extLst>
                      <a:ext uri="{9D8B030D-6E8A-4147-A177-3AD203B41FA5}">
                        <a16:colId xmlns:a16="http://schemas.microsoft.com/office/drawing/2014/main" val="190224105"/>
                      </a:ext>
                    </a:extLst>
                  </a:gridCol>
                  <a:gridCol w="3340047">
                    <a:extLst>
                      <a:ext uri="{9D8B030D-6E8A-4147-A177-3AD203B41FA5}">
                        <a16:colId xmlns:a16="http://schemas.microsoft.com/office/drawing/2014/main" val="3131065920"/>
                      </a:ext>
                    </a:extLst>
                  </a:gridCol>
                  <a:gridCol w="2164466">
                    <a:extLst>
                      <a:ext uri="{9D8B030D-6E8A-4147-A177-3AD203B41FA5}">
                        <a16:colId xmlns:a16="http://schemas.microsoft.com/office/drawing/2014/main" val="396103689"/>
                      </a:ext>
                    </a:extLst>
                  </a:gridCol>
                  <a:gridCol w="1063734">
                    <a:extLst>
                      <a:ext uri="{9D8B030D-6E8A-4147-A177-3AD203B41FA5}">
                        <a16:colId xmlns:a16="http://schemas.microsoft.com/office/drawing/2014/main" val="2698333210"/>
                      </a:ext>
                    </a:extLst>
                  </a:gridCol>
                  <a:gridCol w="1719012">
                    <a:extLst>
                      <a:ext uri="{9D8B030D-6E8A-4147-A177-3AD203B41FA5}">
                        <a16:colId xmlns:a16="http://schemas.microsoft.com/office/drawing/2014/main" val="2585996546"/>
                      </a:ext>
                    </a:extLst>
                  </a:gridCol>
                </a:tblGrid>
                <a:tr h="0">
                  <a:tc gridSpan="6">
                    <a:txBody>
                      <a:bodyPr/>
                      <a:lstStyle>
                        <a:lvl1pPr marL="0" algn="l" defTabSz="914377" rtl="0" eaLnBrk="1" latinLnBrk="0" hangingPunct="1">
                          <a:defRPr sz="1800" b="1" kern="1200">
                            <a:solidFill>
                              <a:schemeClr val="lt1"/>
                            </a:solidFill>
                            <a:latin typeface="Corbel" panose="020B0503020204020204"/>
                          </a:defRPr>
                        </a:lvl1pPr>
                        <a:lvl2pPr marL="457189" algn="l" defTabSz="914377" rtl="0" eaLnBrk="1" latinLnBrk="0" hangingPunct="1">
                          <a:defRPr sz="1800" b="1" kern="1200">
                            <a:solidFill>
                              <a:schemeClr val="lt1"/>
                            </a:solidFill>
                            <a:latin typeface="Corbel" panose="020B0503020204020204"/>
                          </a:defRPr>
                        </a:lvl2pPr>
                        <a:lvl3pPr marL="914377" algn="l" defTabSz="914377" rtl="0" eaLnBrk="1" latinLnBrk="0" hangingPunct="1">
                          <a:defRPr sz="1800" b="1" kern="1200">
                            <a:solidFill>
                              <a:schemeClr val="lt1"/>
                            </a:solidFill>
                            <a:latin typeface="Corbel" panose="020B0503020204020204"/>
                          </a:defRPr>
                        </a:lvl3pPr>
                        <a:lvl4pPr marL="1371566" algn="l" defTabSz="914377" rtl="0" eaLnBrk="1" latinLnBrk="0" hangingPunct="1">
                          <a:defRPr sz="1800" b="1" kern="1200">
                            <a:solidFill>
                              <a:schemeClr val="lt1"/>
                            </a:solidFill>
                            <a:latin typeface="Corbel" panose="020B0503020204020204"/>
                          </a:defRPr>
                        </a:lvl4pPr>
                        <a:lvl5pPr marL="1828754" algn="l" defTabSz="914377" rtl="0" eaLnBrk="1" latinLnBrk="0" hangingPunct="1">
                          <a:defRPr sz="1800" b="1" kern="1200">
                            <a:solidFill>
                              <a:schemeClr val="lt1"/>
                            </a:solidFill>
                            <a:latin typeface="Corbel" panose="020B0503020204020204"/>
                          </a:defRPr>
                        </a:lvl5pPr>
                        <a:lvl6pPr marL="2285943" algn="l" defTabSz="914377" rtl="0" eaLnBrk="1" latinLnBrk="0" hangingPunct="1">
                          <a:defRPr sz="1800" b="1" kern="1200">
                            <a:solidFill>
                              <a:schemeClr val="lt1"/>
                            </a:solidFill>
                            <a:latin typeface="Corbel" panose="020B0503020204020204"/>
                          </a:defRPr>
                        </a:lvl6pPr>
                        <a:lvl7pPr marL="2743131" algn="l" defTabSz="914377" rtl="0" eaLnBrk="1" latinLnBrk="0" hangingPunct="1">
                          <a:defRPr sz="1800" b="1" kern="1200">
                            <a:solidFill>
                              <a:schemeClr val="lt1"/>
                            </a:solidFill>
                            <a:latin typeface="Corbel" panose="020B0503020204020204"/>
                          </a:defRPr>
                        </a:lvl7pPr>
                        <a:lvl8pPr marL="3200320" algn="l" defTabSz="914377" rtl="0" eaLnBrk="1" latinLnBrk="0" hangingPunct="1">
                          <a:defRPr sz="1800" b="1" kern="1200">
                            <a:solidFill>
                              <a:schemeClr val="lt1"/>
                            </a:solidFill>
                            <a:latin typeface="Corbel" panose="020B0503020204020204"/>
                          </a:defRPr>
                        </a:lvl8pPr>
                        <a:lvl9pPr marL="3657509" algn="l" defTabSz="914377" rtl="0" eaLnBrk="1" latinLnBrk="0" hangingPunct="1">
                          <a:defRPr sz="1800" b="1" kern="1200">
                            <a:solidFill>
                              <a:schemeClr val="lt1"/>
                            </a:solidFill>
                            <a:latin typeface="Corbel" panose="020B0503020204020204"/>
                          </a:defRPr>
                        </a:lvl9pPr>
                      </a:lstStyle>
                      <a:p>
                        <a:pPr algn="ctr"/>
                        <a:r>
                          <a:rPr lang="en-GB" sz="1600" b="1" dirty="0">
                            <a:solidFill>
                              <a:sysClr val="windowText" lastClr="000000"/>
                            </a:solidFill>
                          </a:rPr>
                          <a:t>Major &amp; Critical </a:t>
                        </a:r>
                        <a:r>
                          <a:rPr lang="en-GB" sz="1600" dirty="0">
                            <a:solidFill>
                              <a:sysClr val="windowText" lastClr="000000"/>
                            </a:solidFill>
                          </a:rPr>
                          <a:t>Deviations Closed</a:t>
                        </a:r>
                        <a:endParaRPr lang="en-GB" sz="1600" dirty="0">
                          <a:solidFill>
                            <a:sysClr val="windowText" lastClr="000000"/>
                          </a:solidFill>
                          <a:latin typeface="+mn-lt"/>
                        </a:endParaRPr>
                      </a:p>
                    </a:txBody>
                    <a:tcPr/>
                  </a:tc>
                  <a:tc hMerge="1">
                    <a:txBody>
                      <a:bodyPr/>
                      <a:lstStyle/>
                      <a:p>
                        <a:endParaRPr lang="en-GB"/>
                      </a:p>
                    </a:txBody>
                    <a:tcPr/>
                  </a:tc>
                  <a:tc hMerge="1">
                    <a:txBody>
                      <a:bodyPr/>
                      <a:lstStyle/>
                      <a:p>
                        <a:endParaRPr lang="en-GB"/>
                      </a:p>
                    </a:txBody>
                    <a:tcPr/>
                  </a:tc>
                  <a:tc hMerge="1">
                    <a:txBody>
                      <a:bodyPr/>
                      <a:lstStyle/>
                      <a:p>
                        <a:endParaRPr lang="en-GB" dirty="0"/>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34243998"/>
                    </a:ext>
                  </a:extLst>
                </a:tr>
                <a:tr h="423408">
                  <a:tc>
                    <a:txBody>
                      <a:bodyPr/>
                      <a:lstStyle>
                        <a:lvl1pPr marL="0" algn="l" defTabSz="914377" rtl="0" eaLnBrk="1" latinLnBrk="0" hangingPunct="1">
                          <a:defRPr sz="1800" kern="1200">
                            <a:solidFill>
                              <a:schemeClr val="dk1"/>
                            </a:solidFill>
                            <a:latin typeface="Corbel" panose="020B0503020204020204"/>
                          </a:defRPr>
                        </a:lvl1pPr>
                        <a:lvl2pPr marL="457189" algn="l" defTabSz="914377" rtl="0" eaLnBrk="1" latinLnBrk="0" hangingPunct="1">
                          <a:defRPr sz="1800" kern="1200">
                            <a:solidFill>
                              <a:schemeClr val="dk1"/>
                            </a:solidFill>
                            <a:latin typeface="Corbel" panose="020B0503020204020204"/>
                          </a:defRPr>
                        </a:lvl2pPr>
                        <a:lvl3pPr marL="914377" algn="l" defTabSz="914377" rtl="0" eaLnBrk="1" latinLnBrk="0" hangingPunct="1">
                          <a:defRPr sz="1800" kern="1200">
                            <a:solidFill>
                              <a:schemeClr val="dk1"/>
                            </a:solidFill>
                            <a:latin typeface="Corbel" panose="020B0503020204020204"/>
                          </a:defRPr>
                        </a:lvl3pPr>
                        <a:lvl4pPr marL="1371566" algn="l" defTabSz="914377" rtl="0" eaLnBrk="1" latinLnBrk="0" hangingPunct="1">
                          <a:defRPr sz="1800" kern="1200">
                            <a:solidFill>
                              <a:schemeClr val="dk1"/>
                            </a:solidFill>
                            <a:latin typeface="Corbel" panose="020B0503020204020204"/>
                          </a:defRPr>
                        </a:lvl4pPr>
                        <a:lvl5pPr marL="1828754" algn="l" defTabSz="914377" rtl="0" eaLnBrk="1" latinLnBrk="0" hangingPunct="1">
                          <a:defRPr sz="1800" kern="1200">
                            <a:solidFill>
                              <a:schemeClr val="dk1"/>
                            </a:solidFill>
                            <a:latin typeface="Corbel" panose="020B0503020204020204"/>
                          </a:defRPr>
                        </a:lvl5pPr>
                        <a:lvl6pPr marL="2285943" algn="l" defTabSz="914377" rtl="0" eaLnBrk="1" latinLnBrk="0" hangingPunct="1">
                          <a:defRPr sz="1800" kern="1200">
                            <a:solidFill>
                              <a:schemeClr val="dk1"/>
                            </a:solidFill>
                            <a:latin typeface="Corbel" panose="020B0503020204020204"/>
                          </a:defRPr>
                        </a:lvl6pPr>
                        <a:lvl7pPr marL="2743131" algn="l" defTabSz="914377" rtl="0" eaLnBrk="1" latinLnBrk="0" hangingPunct="1">
                          <a:defRPr sz="1800" kern="1200">
                            <a:solidFill>
                              <a:schemeClr val="dk1"/>
                            </a:solidFill>
                            <a:latin typeface="Corbel" panose="020B0503020204020204"/>
                          </a:defRPr>
                        </a:lvl7pPr>
                        <a:lvl8pPr marL="3200320" algn="l" defTabSz="914377" rtl="0" eaLnBrk="1" latinLnBrk="0" hangingPunct="1">
                          <a:defRPr sz="1800" kern="1200">
                            <a:solidFill>
                              <a:schemeClr val="dk1"/>
                            </a:solidFill>
                            <a:latin typeface="Corbel" panose="020B0503020204020204"/>
                          </a:defRPr>
                        </a:lvl8pPr>
                        <a:lvl9pPr marL="3657509" algn="l" defTabSz="914377" rtl="0" eaLnBrk="1" latinLnBrk="0" hangingPunct="1">
                          <a:defRPr sz="1800" kern="1200">
                            <a:solidFill>
                              <a:schemeClr val="dk1"/>
                            </a:solidFill>
                            <a:latin typeface="Corbel" panose="020B0503020204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1" dirty="0">
                            <a:solidFill>
                              <a:sysClr val="windowText" lastClr="000000"/>
                            </a:solidFill>
                          </a:rPr>
                          <a:t>Deviation number</a:t>
                        </a:r>
                      </a:p>
                    </a:txBody>
                    <a:tcPr anchor="ctr"/>
                  </a:tc>
                  <a:tc>
                    <a:txBody>
                      <a:bodyPr/>
                      <a:lstStyle/>
                      <a:p>
                        <a:pPr algn="ctr"/>
                        <a:r>
                          <a:rPr lang="en-GB" sz="1400" b="1" dirty="0">
                            <a:solidFill>
                              <a:sysClr val="windowText" lastClr="000000"/>
                            </a:solidFill>
                          </a:rPr>
                          <a:t>Date raised</a:t>
                        </a:r>
                      </a:p>
                    </a:txBody>
                    <a:tcPr anchor="ctr"/>
                  </a:tc>
                  <a:tc>
                    <a:txBody>
                      <a:bodyPr/>
                      <a:lstStyle>
                        <a:lvl1pPr marL="0" algn="l" defTabSz="914377" rtl="0" eaLnBrk="1" latinLnBrk="0" hangingPunct="1">
                          <a:defRPr sz="1800" kern="1200">
                            <a:solidFill>
                              <a:schemeClr val="dk1"/>
                            </a:solidFill>
                            <a:latin typeface="Corbel" panose="020B0503020204020204"/>
                          </a:defRPr>
                        </a:lvl1pPr>
                        <a:lvl2pPr marL="457189" algn="l" defTabSz="914377" rtl="0" eaLnBrk="1" latinLnBrk="0" hangingPunct="1">
                          <a:defRPr sz="1800" kern="1200">
                            <a:solidFill>
                              <a:schemeClr val="dk1"/>
                            </a:solidFill>
                            <a:latin typeface="Corbel" panose="020B0503020204020204"/>
                          </a:defRPr>
                        </a:lvl2pPr>
                        <a:lvl3pPr marL="914377" algn="l" defTabSz="914377" rtl="0" eaLnBrk="1" latinLnBrk="0" hangingPunct="1">
                          <a:defRPr sz="1800" kern="1200">
                            <a:solidFill>
                              <a:schemeClr val="dk1"/>
                            </a:solidFill>
                            <a:latin typeface="Corbel" panose="020B0503020204020204"/>
                          </a:defRPr>
                        </a:lvl3pPr>
                        <a:lvl4pPr marL="1371566" algn="l" defTabSz="914377" rtl="0" eaLnBrk="1" latinLnBrk="0" hangingPunct="1">
                          <a:defRPr sz="1800" kern="1200">
                            <a:solidFill>
                              <a:schemeClr val="dk1"/>
                            </a:solidFill>
                            <a:latin typeface="Corbel" panose="020B0503020204020204"/>
                          </a:defRPr>
                        </a:lvl4pPr>
                        <a:lvl5pPr marL="1828754" algn="l" defTabSz="914377" rtl="0" eaLnBrk="1" latinLnBrk="0" hangingPunct="1">
                          <a:defRPr sz="1800" kern="1200">
                            <a:solidFill>
                              <a:schemeClr val="dk1"/>
                            </a:solidFill>
                            <a:latin typeface="Corbel" panose="020B0503020204020204"/>
                          </a:defRPr>
                        </a:lvl5pPr>
                        <a:lvl6pPr marL="2285943" algn="l" defTabSz="914377" rtl="0" eaLnBrk="1" latinLnBrk="0" hangingPunct="1">
                          <a:defRPr sz="1800" kern="1200">
                            <a:solidFill>
                              <a:schemeClr val="dk1"/>
                            </a:solidFill>
                            <a:latin typeface="Corbel" panose="020B0503020204020204"/>
                          </a:defRPr>
                        </a:lvl6pPr>
                        <a:lvl7pPr marL="2743131" algn="l" defTabSz="914377" rtl="0" eaLnBrk="1" latinLnBrk="0" hangingPunct="1">
                          <a:defRPr sz="1800" kern="1200">
                            <a:solidFill>
                              <a:schemeClr val="dk1"/>
                            </a:solidFill>
                            <a:latin typeface="Corbel" panose="020B0503020204020204"/>
                          </a:defRPr>
                        </a:lvl7pPr>
                        <a:lvl8pPr marL="3200320" algn="l" defTabSz="914377" rtl="0" eaLnBrk="1" latinLnBrk="0" hangingPunct="1">
                          <a:defRPr sz="1800" kern="1200">
                            <a:solidFill>
                              <a:schemeClr val="dk1"/>
                            </a:solidFill>
                            <a:latin typeface="Corbel" panose="020B0503020204020204"/>
                          </a:defRPr>
                        </a:lvl8pPr>
                        <a:lvl9pPr marL="3657509" algn="l" defTabSz="914377" rtl="0" eaLnBrk="1" latinLnBrk="0" hangingPunct="1">
                          <a:defRPr sz="1800" kern="1200">
                            <a:solidFill>
                              <a:schemeClr val="dk1"/>
                            </a:solidFill>
                            <a:latin typeface="Corbel" panose="020B0503020204020204"/>
                          </a:defRPr>
                        </a:lvl9pPr>
                      </a:lstStyle>
                      <a:p>
                        <a:pPr algn="ctr"/>
                        <a:r>
                          <a:rPr lang="en-GB" sz="1400" b="1" dirty="0">
                            <a:solidFill>
                              <a:sysClr val="windowText" lastClr="000000"/>
                            </a:solidFill>
                          </a:rPr>
                          <a:t>Deviation description</a:t>
                        </a:r>
                      </a:p>
                    </a:txBody>
                    <a:tcPr anchor="ctr"/>
                  </a:tc>
                  <a:tc>
                    <a:txBody>
                      <a:bodyPr/>
                      <a:lstStyle>
                        <a:lvl1pPr marL="0" algn="l" defTabSz="914377" rtl="0" eaLnBrk="1" latinLnBrk="0" hangingPunct="1">
                          <a:defRPr sz="1800" kern="1200">
                            <a:solidFill>
                              <a:schemeClr val="dk1"/>
                            </a:solidFill>
                            <a:latin typeface="Corbel" panose="020B0503020204020204"/>
                          </a:defRPr>
                        </a:lvl1pPr>
                        <a:lvl2pPr marL="457189" algn="l" defTabSz="914377" rtl="0" eaLnBrk="1" latinLnBrk="0" hangingPunct="1">
                          <a:defRPr sz="1800" kern="1200">
                            <a:solidFill>
                              <a:schemeClr val="dk1"/>
                            </a:solidFill>
                            <a:latin typeface="Corbel" panose="020B0503020204020204"/>
                          </a:defRPr>
                        </a:lvl2pPr>
                        <a:lvl3pPr marL="914377" algn="l" defTabSz="914377" rtl="0" eaLnBrk="1" latinLnBrk="0" hangingPunct="1">
                          <a:defRPr sz="1800" kern="1200">
                            <a:solidFill>
                              <a:schemeClr val="dk1"/>
                            </a:solidFill>
                            <a:latin typeface="Corbel" panose="020B0503020204020204"/>
                          </a:defRPr>
                        </a:lvl3pPr>
                        <a:lvl4pPr marL="1371566" algn="l" defTabSz="914377" rtl="0" eaLnBrk="1" latinLnBrk="0" hangingPunct="1">
                          <a:defRPr sz="1800" kern="1200">
                            <a:solidFill>
                              <a:schemeClr val="dk1"/>
                            </a:solidFill>
                            <a:latin typeface="Corbel" panose="020B0503020204020204"/>
                          </a:defRPr>
                        </a:lvl4pPr>
                        <a:lvl5pPr marL="1828754" algn="l" defTabSz="914377" rtl="0" eaLnBrk="1" latinLnBrk="0" hangingPunct="1">
                          <a:defRPr sz="1800" kern="1200">
                            <a:solidFill>
                              <a:schemeClr val="dk1"/>
                            </a:solidFill>
                            <a:latin typeface="Corbel" panose="020B0503020204020204"/>
                          </a:defRPr>
                        </a:lvl5pPr>
                        <a:lvl6pPr marL="2285943" algn="l" defTabSz="914377" rtl="0" eaLnBrk="1" latinLnBrk="0" hangingPunct="1">
                          <a:defRPr sz="1800" kern="1200">
                            <a:solidFill>
                              <a:schemeClr val="dk1"/>
                            </a:solidFill>
                            <a:latin typeface="Corbel" panose="020B0503020204020204"/>
                          </a:defRPr>
                        </a:lvl6pPr>
                        <a:lvl7pPr marL="2743131" algn="l" defTabSz="914377" rtl="0" eaLnBrk="1" latinLnBrk="0" hangingPunct="1">
                          <a:defRPr sz="1800" kern="1200">
                            <a:solidFill>
                              <a:schemeClr val="dk1"/>
                            </a:solidFill>
                            <a:latin typeface="Corbel" panose="020B0503020204020204"/>
                          </a:defRPr>
                        </a:lvl7pPr>
                        <a:lvl8pPr marL="3200320" algn="l" defTabSz="914377" rtl="0" eaLnBrk="1" latinLnBrk="0" hangingPunct="1">
                          <a:defRPr sz="1800" kern="1200">
                            <a:solidFill>
                              <a:schemeClr val="dk1"/>
                            </a:solidFill>
                            <a:latin typeface="Corbel" panose="020B0503020204020204"/>
                          </a:defRPr>
                        </a:lvl8pPr>
                        <a:lvl9pPr marL="3657509" algn="l" defTabSz="914377" rtl="0" eaLnBrk="1" latinLnBrk="0" hangingPunct="1">
                          <a:defRPr sz="1800" kern="1200">
                            <a:solidFill>
                              <a:schemeClr val="dk1"/>
                            </a:solidFill>
                            <a:latin typeface="Corbel" panose="020B0503020204020204"/>
                          </a:defRPr>
                        </a:lvl9pPr>
                      </a:lstStyle>
                      <a:p>
                        <a:pPr algn="ctr"/>
                        <a:r>
                          <a:rPr lang="en-GB" sz="1400" b="1" dirty="0">
                            <a:solidFill>
                              <a:sysClr val="windowText" lastClr="000000"/>
                            </a:solidFill>
                          </a:rPr>
                          <a:t>Classification </a:t>
                        </a:r>
                      </a:p>
                    </a:txBody>
                    <a:tcPr anchor="ctr"/>
                  </a:tc>
                  <a:tc>
                    <a:txBody>
                      <a:bodyPr/>
                      <a:lstStyle/>
                      <a:p>
                        <a:pPr algn="ctr"/>
                        <a:r>
                          <a:rPr lang="en-GB" sz="1400" b="1" dirty="0">
                            <a:solidFill>
                              <a:sysClr val="windowText" lastClr="000000"/>
                            </a:solidFill>
                          </a:rPr>
                          <a:t>Target date</a:t>
                        </a:r>
                      </a:p>
                    </a:txBody>
                    <a:tcPr anchor="ctr"/>
                  </a:tc>
                  <a:tc>
                    <a:txBody>
                      <a:bodyPr/>
                      <a:lstStyle/>
                      <a:p>
                        <a:pPr algn="ctr"/>
                        <a:r>
                          <a:rPr lang="en-GB" sz="1400" b="1" dirty="0">
                            <a:solidFill>
                              <a:sysClr val="windowText" lastClr="000000"/>
                            </a:solidFill>
                          </a:rPr>
                          <a:t>Completion date</a:t>
                        </a:r>
                      </a:p>
                    </a:txBody>
                    <a:tcPr anchor="ctr"/>
                  </a:tc>
                  <a:extLst>
                    <a:ext uri="{0D108BD9-81ED-4DB2-BD59-A6C34878D82A}">
                      <a16:rowId xmlns:a16="http://schemas.microsoft.com/office/drawing/2014/main" val="701549060"/>
                    </a:ext>
                  </a:extLst>
                </a:tr>
                <a:tr h="297782">
                  <a:tc>
                    <a:txBody>
                      <a:bodyPr/>
                      <a:lstStyle/>
                      <a:p>
                        <a:pPr marL="0" algn="ctr" defTabSz="914400" rtl="0" eaLnBrk="1" fontAlgn="ctr" latinLnBrk="0" hangingPunct="1">
                          <a:buNone/>
                        </a:pPr>
                        <a:r>
                          <a:rPr lang="en-GB" sz="1400" b="0" u="none" strike="noStrike" kern="1200" dirty="0">
                            <a:solidFill>
                              <a:srgbClr val="000000"/>
                            </a:solidFill>
                            <a:effectLst/>
                            <a:latin typeface="+mn-lt"/>
                            <a:ea typeface="+mn-ea"/>
                            <a:cs typeface="+mn-cs"/>
                          </a:rPr>
                          <a:t>DEV.2026.015</a:t>
                        </a:r>
                      </a:p>
                    </a:txBody>
                    <a:tcPr marL="9525" marR="9525" marT="9525" anchor="ctr"/>
                  </a:tc>
                  <a:tc>
                    <a:txBody>
                      <a:bodyPr/>
                      <a:lstStyle/>
                      <a:p>
                        <a:pPr marL="0" algn="ctr" defTabSz="914400" rtl="0" eaLnBrk="1" fontAlgn="ctr" latinLnBrk="0" hangingPunct="1">
                          <a:buNone/>
                        </a:pPr>
                        <a:r>
                          <a:rPr lang="en-US" sz="1400" b="0" u="none" strike="noStrike" kern="1200" dirty="0">
                            <a:solidFill>
                              <a:srgbClr val="000000"/>
                            </a:solidFill>
                            <a:effectLst/>
                            <a:latin typeface="+mn-lt"/>
                            <a:ea typeface="+mn-ea"/>
                            <a:cs typeface="+mn-cs"/>
                          </a:rPr>
                          <a:t>24-Apr-26</a:t>
                        </a:r>
                      </a:p>
                    </a:txBody>
                    <a:tcPr marL="9525" marR="9525" marT="9525" anchor="ctr"/>
                  </a:tc>
                  <a:tc>
                    <a:txBody>
                      <a:bodyPr/>
                      <a:lstStyle/>
                      <a:p>
                        <a:pPr marL="0" algn="ctr" defTabSz="914400" rtl="0" eaLnBrk="1" fontAlgn="ctr" latinLnBrk="0" hangingPunct="1">
                          <a:buNone/>
                        </a:pPr>
                        <a:r>
                          <a:rPr lang="en-US" sz="1400" b="0" u="none" strike="noStrike" kern="1200" dirty="0">
                            <a:solidFill>
                              <a:srgbClr val="000000"/>
                            </a:solidFill>
                            <a:effectLst/>
                            <a:latin typeface="+mn-lt"/>
                            <a:ea typeface="+mn-ea"/>
                            <a:cs typeface="+mn-cs"/>
                          </a:rPr>
                          <a:t>Excessive foaming of Doxycycline Suspension Product</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400" b="0" u="none" strike="noStrike" kern="1200" dirty="0">
                            <a:solidFill>
                              <a:srgbClr val="000000"/>
                            </a:solidFill>
                            <a:effectLst/>
                            <a:latin typeface="+mn-lt"/>
                            <a:ea typeface="+mn-ea"/>
                            <a:cs typeface="+mn-cs"/>
                          </a:rPr>
                          <a:t>Major</a:t>
                        </a:r>
                      </a:p>
                    </a:txBody>
                    <a:tcPr marL="0" marR="0" marT="0" marB="0" anchor="ctr">
                      <a:solidFill>
                        <a:srgbClr val="FFFF00"/>
                      </a:solidFill>
                    </a:tcPr>
                  </a:tc>
                  <a:tc>
                    <a:txBody>
                      <a:bodyPr/>
                      <a:lstStyle/>
                      <a:p>
                        <a:pPr marL="0" algn="ctr" defTabSz="914400" rtl="0" eaLnBrk="1" fontAlgn="ctr" latinLnBrk="0" hangingPunct="1">
                          <a:buNone/>
                        </a:pPr>
                        <a:r>
                          <a:rPr lang="en-GB" sz="1400" b="0" u="none" strike="noStrike" kern="1200" dirty="0">
                            <a:solidFill>
                              <a:srgbClr val="000000"/>
                            </a:solidFill>
                            <a:effectLst/>
                            <a:latin typeface="+mn-lt"/>
                            <a:ea typeface="+mn-ea"/>
                            <a:cs typeface="+mn-cs"/>
                          </a:rPr>
                          <a:t>29-May-26</a:t>
                        </a:r>
                      </a:p>
                    </a:txBody>
                    <a:tcPr marL="9525" marR="9525" marT="9525" anchor="ctr"/>
                  </a:tc>
                  <a:tc>
                    <a:txBody>
                      <a:bodyPr/>
                      <a:lstStyle/>
                      <a:p>
                        <a:pPr marL="0" algn="ctr" defTabSz="914400" rtl="0" eaLnBrk="1" fontAlgn="ctr" latinLnBrk="0" hangingPunct="1">
                          <a:buNone/>
                        </a:pPr>
                        <a:r>
                          <a:rPr lang="en-GB" sz="1400" b="0" u="none" strike="noStrike" kern="1200" dirty="0">
                            <a:solidFill>
                              <a:srgbClr val="000000"/>
                            </a:solidFill>
                            <a:effectLst/>
                            <a:latin typeface="+mn-lt"/>
                            <a:ea typeface="+mn-ea"/>
                            <a:cs typeface="+mn-cs"/>
                          </a:rPr>
                          <a:t>12-May-26</a:t>
                        </a:r>
                      </a:p>
                    </a:txBody>
                    <a:tcPr marL="9525" marR="9525" marT="9525" anchor="ctr">
                      <a:solidFill>
                        <a:srgbClr val="00B050"/>
                      </a:solidFill>
                    </a:tcPr>
                  </a:tc>
                  <a:extLst>
                    <a:ext uri="{0D108BD9-81ED-4DB2-BD59-A6C34878D82A}">
                      <a16:rowId xmlns:a16="http://schemas.microsoft.com/office/drawing/2014/main" val="3856702784"/>
                    </a:ext>
                  </a:extLst>
                </a:tr>
                <a:tr h="297782">
                  <a:tc>
                    <a:txBody>
                      <a:bodyPr/>
                      <a:lstStyle/>
                      <a:p>
                        <a:pPr marL="0" algn="ctr" defTabSz="914400" rtl="0" eaLnBrk="1" fontAlgn="ctr" latinLnBrk="0" hangingPunct="1">
                          <a:buNone/>
                        </a:pPr>
                        <a:r>
                          <a:rPr lang="en-GB" sz="1400" b="0" u="none" strike="noStrike" kern="1200" dirty="0">
                            <a:solidFill>
                              <a:srgbClr val="000000"/>
                            </a:solidFill>
                            <a:effectLst/>
                            <a:latin typeface="+mn-lt"/>
                            <a:ea typeface="+mn-ea"/>
                            <a:cs typeface="+mn-cs"/>
                          </a:rPr>
                          <a:t>Dev.2026.020</a:t>
                        </a:r>
                      </a:p>
                    </a:txBody>
                    <a:tcPr marL="9525" marR="9525" marT="9525" anchor="ctr"/>
                  </a:tc>
                  <a:tc>
                    <a:txBody>
                      <a:bodyPr/>
                      <a:lstStyle/>
                      <a:p>
                        <a:pPr marL="0" algn="ctr" defTabSz="914400" rtl="0" eaLnBrk="1" fontAlgn="ctr" latinLnBrk="0" hangingPunct="1">
                          <a:buNone/>
                        </a:pPr>
                        <a:r>
                          <a:rPr lang="en-US" sz="1400" b="0" u="none" strike="noStrike" kern="1200" dirty="0">
                            <a:solidFill>
                              <a:srgbClr val="000000"/>
                            </a:solidFill>
                            <a:effectLst/>
                            <a:latin typeface="+mn-lt"/>
                            <a:ea typeface="+mn-ea"/>
                            <a:cs typeface="+mn-cs"/>
                          </a:rPr>
                          <a:t>19-Jun-26</a:t>
                        </a:r>
                      </a:p>
                    </a:txBody>
                    <a:tcPr marL="9525" marR="9525" marT="9525" anchor="ctr"/>
                  </a:tc>
                  <a:tc>
                    <a:txBody>
                      <a:bodyPr/>
                      <a:lstStyle/>
                      <a:p>
                        <a:pPr marL="0" algn="ctr" defTabSz="914400" rtl="0" eaLnBrk="1" fontAlgn="ctr" latinLnBrk="0" hangingPunct="1">
                          <a:buNone/>
                        </a:pPr>
                        <a:r>
                          <a:rPr lang="en-GB" sz="1400" b="0" u="none" strike="noStrike" kern="1200" dirty="0">
                            <a:solidFill>
                              <a:srgbClr val="000000"/>
                            </a:solidFill>
                            <a:effectLst/>
                            <a:latin typeface="+mn-lt"/>
                            <a:ea typeface="+mn-ea"/>
                            <a:cs typeface="+mn-cs"/>
                          </a:rPr>
                          <a:t>Overdue calibration on tinytag used to monitor humidity for tableting bay batches</a:t>
                        </a:r>
                        <a:endParaRPr lang="en-US" sz="1400" b="0" u="none" strike="noStrike" kern="1200" dirty="0">
                          <a:solidFill>
                            <a:srgbClr val="000000"/>
                          </a:solidFill>
                          <a:effectLst/>
                          <a:latin typeface="+mn-lt"/>
                          <a:ea typeface="+mn-ea"/>
                          <a:cs typeface="+mn-cs"/>
                        </a:endParaRP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400" b="0" u="none" strike="noStrike" kern="1200" dirty="0">
                            <a:solidFill>
                              <a:srgbClr val="000000"/>
                            </a:solidFill>
                            <a:effectLst/>
                            <a:latin typeface="+mn-lt"/>
                            <a:ea typeface="+mn-ea"/>
                            <a:cs typeface="+mn-cs"/>
                          </a:rPr>
                          <a:t>Critical</a:t>
                        </a:r>
                      </a:p>
                    </a:txBody>
                    <a:tcPr marL="0" marR="0" marT="0" marB="0" anchor="ctr">
                      <a:solidFill>
                        <a:srgbClr val="FF0000"/>
                      </a:solidFill>
                    </a:tcPr>
                  </a:tc>
                  <a:tc>
                    <a:txBody>
                      <a:bodyPr/>
                      <a:lstStyle/>
                      <a:p>
                        <a:pPr marL="0" algn="ctr" defTabSz="914400" rtl="0" eaLnBrk="1" fontAlgn="ctr" latinLnBrk="0" hangingPunct="1">
                          <a:buNone/>
                        </a:pPr>
                        <a:r>
                          <a:rPr lang="en-GB" sz="1400" b="0" u="none" strike="noStrike" kern="1200" dirty="0">
                            <a:solidFill>
                              <a:srgbClr val="000000"/>
                            </a:solidFill>
                            <a:effectLst/>
                            <a:latin typeface="+mn-lt"/>
                            <a:ea typeface="+mn-ea"/>
                            <a:cs typeface="+mn-cs"/>
                          </a:rPr>
                          <a:t>26-Jun-26</a:t>
                        </a:r>
                      </a:p>
                    </a:txBody>
                    <a:tcPr marL="9525" marR="9525" marT="9525" anchor="ctr"/>
                  </a:tc>
                  <a:tc>
                    <a:txBody>
                      <a:bodyPr/>
                      <a:lstStyle/>
                      <a:p>
                        <a:pPr marL="0" algn="ctr" defTabSz="914400" rtl="0" eaLnBrk="1" fontAlgn="ctr" latinLnBrk="0" hangingPunct="1">
                          <a:buNone/>
                        </a:pPr>
                        <a:r>
                          <a:rPr lang="en-GB" sz="1400" b="0" u="none" strike="noStrike" kern="1200" dirty="0">
                            <a:solidFill>
                              <a:srgbClr val="000000"/>
                            </a:solidFill>
                            <a:effectLst/>
                            <a:latin typeface="+mn-lt"/>
                            <a:ea typeface="+mn-ea"/>
                            <a:cs typeface="+mn-cs"/>
                          </a:rPr>
                          <a:t>26-Jun-26</a:t>
                        </a:r>
                      </a:p>
                    </a:txBody>
                    <a:tcPr marL="9525" marR="9525" marT="9525" anchor="ctr">
                      <a:solidFill>
                        <a:srgbClr val="00B050"/>
                      </a:solidFill>
                    </a:tcPr>
                  </a:tc>
                  <a:extLst>
                    <a:ext uri="{0D108BD9-81ED-4DB2-BD59-A6C34878D82A}">
                      <a16:rowId xmlns:a16="http://schemas.microsoft.com/office/drawing/2014/main" val="2380056315"/>
                    </a:ext>
                  </a:extLst>
                </a:tr>
              </a:tbl>
            </a:graphicData>
          </a:graphic>
        </p:graphicFrame>
        <p:graphicFrame>
          <p:nvGraphicFramePr>
            <p:cNvPr id="18" name="Table 17">
              <a:extLst>
                <a:ext uri="{FF2B5EF4-FFF2-40B4-BE49-F238E27FC236}">
                  <a16:creationId xmlns:a16="http://schemas.microsoft.com/office/drawing/2014/main" id="{77D6D8A3-4556-F9D1-CA54-238980AC3D42}"/>
                </a:ext>
              </a:extLst>
            </p:cNvPr>
            <p:cNvGraphicFramePr>
              <a:graphicFrameLocks/>
            </p:cNvGraphicFramePr>
            <p:nvPr>
              <p:extLst>
                <p:ext uri="{D42A27DB-BD31-4B8C-83A1-F6EECF244321}">
                  <p14:modId xmlns:p14="http://schemas.microsoft.com/office/powerpoint/2010/main" val="423008819"/>
                </p:ext>
              </p:extLst>
            </p:nvPr>
          </p:nvGraphicFramePr>
          <p:xfrm>
            <a:off x="797886" y="1529658"/>
            <a:ext cx="12278235" cy="1338521"/>
          </p:xfrm>
          <a:graphic>
            <a:graphicData uri="http://schemas.openxmlformats.org/drawingml/2006/table">
              <a:tbl>
                <a:tblPr firstRow="1" bandRow="1">
                  <a:tableStyleId>{5C22544A-7EE6-4342-B048-85BDC9FD1C3A}</a:tableStyleId>
                </a:tblPr>
                <a:tblGrid>
                  <a:gridCol w="1409253">
                    <a:extLst>
                      <a:ext uri="{9D8B030D-6E8A-4147-A177-3AD203B41FA5}">
                        <a16:colId xmlns:a16="http://schemas.microsoft.com/office/drawing/2014/main" val="340894773"/>
                      </a:ext>
                    </a:extLst>
                  </a:gridCol>
                  <a:gridCol w="1392437">
                    <a:extLst>
                      <a:ext uri="{9D8B030D-6E8A-4147-A177-3AD203B41FA5}">
                        <a16:colId xmlns:a16="http://schemas.microsoft.com/office/drawing/2014/main" val="1544888063"/>
                      </a:ext>
                    </a:extLst>
                  </a:gridCol>
                  <a:gridCol w="3371238">
                    <a:extLst>
                      <a:ext uri="{9D8B030D-6E8A-4147-A177-3AD203B41FA5}">
                        <a16:colId xmlns:a16="http://schemas.microsoft.com/office/drawing/2014/main" val="578213674"/>
                      </a:ext>
                    </a:extLst>
                  </a:gridCol>
                  <a:gridCol w="2155216">
                    <a:extLst>
                      <a:ext uri="{9D8B030D-6E8A-4147-A177-3AD203B41FA5}">
                        <a16:colId xmlns:a16="http://schemas.microsoft.com/office/drawing/2014/main" val="2330183767"/>
                      </a:ext>
                    </a:extLst>
                  </a:gridCol>
                  <a:gridCol w="1035984">
                    <a:extLst>
                      <a:ext uri="{9D8B030D-6E8A-4147-A177-3AD203B41FA5}">
                        <a16:colId xmlns:a16="http://schemas.microsoft.com/office/drawing/2014/main" val="2869575329"/>
                      </a:ext>
                    </a:extLst>
                  </a:gridCol>
                  <a:gridCol w="1737513">
                    <a:extLst>
                      <a:ext uri="{9D8B030D-6E8A-4147-A177-3AD203B41FA5}">
                        <a16:colId xmlns:a16="http://schemas.microsoft.com/office/drawing/2014/main" val="1571917461"/>
                      </a:ext>
                    </a:extLst>
                  </a:gridCol>
                </a:tblGrid>
                <a:tr h="165391">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dirty="0">
                            <a:solidFill>
                              <a:sysClr val="windowText" lastClr="000000"/>
                            </a:solidFill>
                          </a:rPr>
                          <a:t>Major &amp; Critical Deviations Open</a:t>
                        </a:r>
                        <a:endParaRPr lang="en-GB" sz="1600" b="1" dirty="0">
                          <a:solidFill>
                            <a:sysClr val="windowText" lastClr="000000"/>
                          </a:solidFill>
                          <a:latin typeface="+mn-lt"/>
                        </a:endParaRPr>
                      </a:p>
                    </a:txBody>
                    <a:tcPr marL="74309" marR="74309" marT="37155" marB="37155" anchor="ctr"/>
                  </a:tc>
                  <a:tc hMerge="1">
                    <a:txBody>
                      <a:bodyPr/>
                      <a:lstStyle/>
                      <a:p>
                        <a:endParaRPr lang="en-GB"/>
                      </a:p>
                    </a:txBody>
                    <a:tcPr/>
                  </a:tc>
                  <a:tc hMerge="1">
                    <a:txBody>
                      <a:bodyPr/>
                      <a:lstStyle/>
                      <a:p>
                        <a:pPr algn="ctr"/>
                        <a:endParaRPr lang="en-GB" sz="2000" b="1" dirty="0">
                          <a:solidFill>
                            <a:schemeClr val="tx1"/>
                          </a:solidFill>
                          <a:latin typeface="+mn-lt"/>
                        </a:endParaRPr>
                      </a:p>
                    </a:txBody>
                    <a:tcPr marL="74309" marR="74309" marT="37155" marB="37155" anchor="ctr">
                      <a:solidFill>
                        <a:schemeClr val="bg1"/>
                      </a:solidFill>
                    </a:tcPr>
                  </a:tc>
                  <a:tc hMerge="1">
                    <a:txBody>
                      <a:bodyPr/>
                      <a:lstStyle/>
                      <a:p>
                        <a:pPr algn="ctr"/>
                        <a:endParaRPr lang="en-GB" sz="2000" b="1" dirty="0">
                          <a:solidFill>
                            <a:schemeClr val="tx1"/>
                          </a:solidFill>
                          <a:latin typeface="+mn-lt"/>
                        </a:endParaRPr>
                      </a:p>
                    </a:txBody>
                    <a:tcPr marL="74309" marR="74309" marT="37155" marB="37155" anchor="ctr">
                      <a:solidFill>
                        <a:schemeClr val="bg1"/>
                      </a:solidFill>
                    </a:tcPr>
                  </a:tc>
                  <a:tc hMerge="1">
                    <a:txBody>
                      <a:bodyPr/>
                      <a:lstStyle/>
                      <a:p>
                        <a:pPr algn="ctr"/>
                        <a:endParaRPr lang="en-GB" sz="2000" b="1" dirty="0">
                          <a:solidFill>
                            <a:schemeClr val="tx1"/>
                          </a:solidFill>
                        </a:endParaRPr>
                      </a:p>
                    </a:txBody>
                    <a:tcPr marL="74309" marR="74309" marT="37155" marB="37155" anchor="ctr">
                      <a:solidFill>
                        <a:schemeClr val="bg1"/>
                      </a:solidFill>
                    </a:tcPr>
                  </a:tc>
                  <a:tc hMerge="1">
                    <a:txBody>
                      <a:bodyPr/>
                      <a:lstStyle/>
                      <a:p>
                        <a:pPr algn="ctr"/>
                        <a:endParaRPr lang="en-GB" sz="2000" b="1" dirty="0">
                          <a:solidFill>
                            <a:schemeClr val="tx1"/>
                          </a:solidFill>
                        </a:endParaRPr>
                      </a:p>
                    </a:txBody>
                    <a:tcPr marL="74309" marR="74309" marT="37155" marB="37155" anchor="ctr">
                      <a:solidFill>
                        <a:schemeClr val="bg1"/>
                      </a:solidFill>
                    </a:tcPr>
                  </a:tc>
                  <a:extLst>
                    <a:ext uri="{0D108BD9-81ED-4DB2-BD59-A6C34878D82A}">
                      <a16:rowId xmlns:a16="http://schemas.microsoft.com/office/drawing/2014/main" val="1452266958"/>
                    </a:ext>
                  </a:extLst>
                </a:tr>
                <a:tr h="3498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1" dirty="0">
                            <a:solidFill>
                              <a:sysClr val="windowText" lastClr="000000"/>
                            </a:solidFill>
                          </a:rPr>
                          <a:t>Deviation number</a:t>
                        </a:r>
                        <a:endParaRPr lang="en-GB" sz="1400" b="1" dirty="0">
                          <a:solidFill>
                            <a:sysClr val="windowText" lastClr="000000"/>
                          </a:solidFill>
                          <a:latin typeface="+mn-lt"/>
                        </a:endParaRPr>
                      </a:p>
                    </a:txBody>
                    <a:tcPr marL="74309" marR="74309" marT="37155" marB="37155" anchor="ctr"/>
                  </a:tc>
                  <a:tc>
                    <a:txBody>
                      <a:bodyPr/>
                      <a:lstStyle/>
                      <a:p>
                        <a:pPr algn="ctr"/>
                        <a:r>
                          <a:rPr lang="en-GB" sz="1400" b="1" dirty="0">
                            <a:solidFill>
                              <a:sysClr val="windowText" lastClr="000000"/>
                            </a:solidFill>
                            <a:latin typeface="+mn-lt"/>
                          </a:rPr>
                          <a:t>Date raised</a:t>
                        </a:r>
                      </a:p>
                    </a:txBody>
                    <a:tcPr marL="74309" marR="74309" marT="37155" marB="37155" anchor="ctr"/>
                  </a:tc>
                  <a:tc>
                    <a:txBody>
                      <a:bodyPr/>
                      <a:lstStyle/>
                      <a:p>
                        <a:pPr algn="ctr"/>
                        <a:r>
                          <a:rPr lang="en-GB" sz="1400" b="1" dirty="0">
                            <a:solidFill>
                              <a:sysClr val="windowText" lastClr="000000"/>
                            </a:solidFill>
                          </a:rPr>
                          <a:t>Deviation description</a:t>
                        </a:r>
                        <a:endParaRPr lang="en-GB" sz="1400" b="1" dirty="0">
                          <a:solidFill>
                            <a:sysClr val="windowText" lastClr="000000"/>
                          </a:solidFill>
                          <a:latin typeface="+mn-lt"/>
                        </a:endParaRPr>
                      </a:p>
                    </a:txBody>
                    <a:tcPr marL="74309" marR="74309" marT="37155" marB="37155" anchor="ctr"/>
                  </a:tc>
                  <a:tc>
                    <a:txBody>
                      <a:bodyPr/>
                      <a:lstStyle/>
                      <a:p>
                        <a:pPr algn="ctr"/>
                        <a:r>
                          <a:rPr lang="en-GB" sz="1400" b="1" dirty="0">
                            <a:solidFill>
                              <a:sysClr val="windowText" lastClr="000000"/>
                            </a:solidFill>
                          </a:rPr>
                          <a:t>Classification</a:t>
                        </a:r>
                        <a:endParaRPr lang="en-GB" sz="1400" b="1" dirty="0">
                          <a:solidFill>
                            <a:sysClr val="windowText" lastClr="000000"/>
                          </a:solidFill>
                          <a:latin typeface="+mn-lt"/>
                        </a:endParaRPr>
                      </a:p>
                    </a:txBody>
                    <a:tcPr marL="74309" marR="74309" marT="37155" marB="37155" anchor="ctr"/>
                  </a:tc>
                  <a:tc>
                    <a:txBody>
                      <a:bodyPr/>
                      <a:lstStyle/>
                      <a:p>
                        <a:pPr algn="ctr"/>
                        <a:r>
                          <a:rPr lang="en-GB" sz="1400" b="1" dirty="0">
                            <a:solidFill>
                              <a:sysClr val="windowText" lastClr="000000"/>
                            </a:solidFill>
                          </a:rPr>
                          <a:t>Target date</a:t>
                        </a:r>
                      </a:p>
                    </a:txBody>
                    <a:tcPr marL="74309" marR="74309" marT="37155" marB="37155" anchor="ctr"/>
                  </a:tc>
                  <a:tc>
                    <a:txBody>
                      <a:bodyPr/>
                      <a:lstStyle/>
                      <a:p>
                        <a:pPr algn="ctr"/>
                        <a:r>
                          <a:rPr lang="en-GB" sz="1400" b="1" dirty="0">
                            <a:solidFill>
                              <a:sysClr val="windowText" lastClr="000000"/>
                            </a:solidFill>
                          </a:rPr>
                          <a:t>Reason still open</a:t>
                        </a:r>
                      </a:p>
                    </a:txBody>
                    <a:tcPr marL="74309" marR="74309" marT="37155" marB="37155" anchor="ctr"/>
                  </a:tc>
                  <a:extLst>
                    <a:ext uri="{0D108BD9-81ED-4DB2-BD59-A6C34878D82A}">
                      <a16:rowId xmlns:a16="http://schemas.microsoft.com/office/drawing/2014/main" val="3379889016"/>
                    </a:ext>
                  </a:extLst>
                </a:tr>
                <a:tr h="263451">
                  <a:tc>
                    <a:txBody>
                      <a:bodyPr/>
                      <a:lstStyle/>
                      <a:p>
                        <a:pPr marL="0" algn="ctr" defTabSz="914400" rtl="0" eaLnBrk="1" fontAlgn="ctr" latinLnBrk="0" hangingPunct="1">
                          <a:buNone/>
                        </a:pPr>
                        <a:r>
                          <a:rPr lang="en-GB" sz="1400" b="0" u="none" strike="noStrike" kern="1200" dirty="0">
                            <a:solidFill>
                              <a:srgbClr val="000000"/>
                            </a:solidFill>
                            <a:effectLst/>
                            <a:latin typeface="+mn-lt"/>
                            <a:ea typeface="+mn-ea"/>
                            <a:cs typeface="+mn-cs"/>
                          </a:rPr>
                          <a:t>DEV.2026.021</a:t>
                        </a:r>
                      </a:p>
                    </a:txBody>
                    <a:tcPr marL="9525" marR="9525" marT="9525" anchor="ctr"/>
                  </a:tc>
                  <a:tc>
                    <a:txBody>
                      <a:bodyPr/>
                      <a:lstStyle/>
                      <a:p>
                        <a:pPr marL="0" algn="ctr" defTabSz="914400" rtl="0" eaLnBrk="1" fontAlgn="ctr" latinLnBrk="0" hangingPunct="1">
                          <a:buNone/>
                        </a:pPr>
                        <a:r>
                          <a:rPr lang="en-US" sz="1400" b="0" u="none" strike="noStrike" kern="1200" dirty="0">
                            <a:solidFill>
                              <a:srgbClr val="000000"/>
                            </a:solidFill>
                            <a:effectLst/>
                            <a:latin typeface="+mn-lt"/>
                            <a:ea typeface="+mn-ea"/>
                            <a:cs typeface="+mn-cs"/>
                          </a:rPr>
                          <a:t>25-Jun-26</a:t>
                        </a:r>
                      </a:p>
                    </a:txBody>
                    <a:tcPr marL="9525" marR="9525" marT="9525" anchor="ctr"/>
                  </a:tc>
                  <a:tc>
                    <a:txBody>
                      <a:bodyPr/>
                      <a:lstStyle/>
                      <a:p>
                        <a:pPr marL="0" algn="ctr" defTabSz="914400" rtl="0" eaLnBrk="1" fontAlgn="ctr" latinLnBrk="0" hangingPunct="1">
                          <a:buNone/>
                        </a:pPr>
                        <a:r>
                          <a:rPr lang="en-GB" sz="1400" b="0" u="none" strike="noStrike" kern="1200" dirty="0">
                            <a:solidFill>
                              <a:srgbClr val="000000"/>
                            </a:solidFill>
                            <a:effectLst/>
                            <a:latin typeface="+mn-lt"/>
                            <a:ea typeface="+mn-ea"/>
                            <a:cs typeface="+mn-cs"/>
                          </a:rPr>
                          <a:t>Midazolam Hydrochloride raw material used is past its expiry date</a:t>
                        </a:r>
                        <a:endParaRPr lang="en-US" sz="1400" b="0" u="none" strike="noStrike" kern="1200" dirty="0">
                          <a:solidFill>
                            <a:srgbClr val="000000"/>
                          </a:solidFill>
                          <a:effectLst/>
                          <a:latin typeface="+mn-lt"/>
                          <a:ea typeface="+mn-ea"/>
                          <a:cs typeface="+mn-cs"/>
                        </a:endParaRP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400" b="0" u="none" strike="noStrike" kern="1200" dirty="0">
                            <a:solidFill>
                              <a:srgbClr val="000000"/>
                            </a:solidFill>
                            <a:effectLst/>
                            <a:latin typeface="+mn-lt"/>
                            <a:ea typeface="+mn-ea"/>
                            <a:cs typeface="+mn-cs"/>
                          </a:rPr>
                          <a:t>Critical</a:t>
                        </a:r>
                      </a:p>
                    </a:txBody>
                    <a:tcPr marL="0" marR="0" marT="0" marB="0" anchor="ctr">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400" b="0" u="none" strike="noStrike" kern="1200" dirty="0">
                            <a:solidFill>
                              <a:srgbClr val="000000"/>
                            </a:solidFill>
                            <a:effectLst/>
                            <a:latin typeface="+mn-lt"/>
                            <a:ea typeface="+mn-ea"/>
                            <a:cs typeface="+mn-cs"/>
                          </a:rPr>
                          <a:t>09-Jul-26</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400" b="0" u="none" strike="noStrike" kern="1200" dirty="0">
                            <a:solidFill>
                              <a:srgbClr val="000000"/>
                            </a:solidFill>
                            <a:effectLst/>
                            <a:latin typeface="+mn-lt"/>
                            <a:ea typeface="+mn-ea"/>
                            <a:cs typeface="+mn-cs"/>
                          </a:rPr>
                          <a:t>Investigation in progress</a:t>
                        </a:r>
                      </a:p>
                    </a:txBody>
                    <a:tcPr marL="9525" marR="9525" marT="9525" anchor="ctr"/>
                  </a:tc>
                  <a:extLst>
                    <a:ext uri="{0D108BD9-81ED-4DB2-BD59-A6C34878D82A}">
                      <a16:rowId xmlns:a16="http://schemas.microsoft.com/office/drawing/2014/main" val="1890687822"/>
                    </a:ext>
                  </a:extLst>
                </a:tr>
              </a:tbl>
            </a:graphicData>
          </a:graphic>
        </p:graphicFrame>
      </p:grpSp>
      <p:graphicFrame>
        <p:nvGraphicFramePr>
          <p:cNvPr id="19" name="Table 18">
            <a:extLst>
              <a:ext uri="{FF2B5EF4-FFF2-40B4-BE49-F238E27FC236}">
                <a16:creationId xmlns:a16="http://schemas.microsoft.com/office/drawing/2014/main" id="{E78108AF-21E5-CF16-ECEA-9BE99C53102F}"/>
              </a:ext>
            </a:extLst>
          </p:cNvPr>
          <p:cNvGraphicFramePr>
            <a:graphicFrameLocks noGrp="1"/>
          </p:cNvGraphicFramePr>
          <p:nvPr>
            <p:extLst>
              <p:ext uri="{D42A27DB-BD31-4B8C-83A1-F6EECF244321}">
                <p14:modId xmlns:p14="http://schemas.microsoft.com/office/powerpoint/2010/main" val="3630937015"/>
              </p:ext>
            </p:extLst>
          </p:nvPr>
        </p:nvGraphicFramePr>
        <p:xfrm>
          <a:off x="842091" y="4607208"/>
          <a:ext cx="11101645" cy="1241410"/>
        </p:xfrm>
        <a:graphic>
          <a:graphicData uri="http://schemas.openxmlformats.org/drawingml/2006/table">
            <a:tbl>
              <a:tblPr/>
              <a:tblGrid>
                <a:gridCol w="1774241">
                  <a:extLst>
                    <a:ext uri="{9D8B030D-6E8A-4147-A177-3AD203B41FA5}">
                      <a16:colId xmlns:a16="http://schemas.microsoft.com/office/drawing/2014/main" val="1385492866"/>
                    </a:ext>
                  </a:extLst>
                </a:gridCol>
                <a:gridCol w="2133523">
                  <a:extLst>
                    <a:ext uri="{9D8B030D-6E8A-4147-A177-3AD203B41FA5}">
                      <a16:colId xmlns:a16="http://schemas.microsoft.com/office/drawing/2014/main" val="3491109630"/>
                    </a:ext>
                  </a:extLst>
                </a:gridCol>
                <a:gridCol w="2133523">
                  <a:extLst>
                    <a:ext uri="{9D8B030D-6E8A-4147-A177-3AD203B41FA5}">
                      <a16:colId xmlns:a16="http://schemas.microsoft.com/office/drawing/2014/main" val="3616206764"/>
                    </a:ext>
                  </a:extLst>
                </a:gridCol>
                <a:gridCol w="1748722">
                  <a:extLst>
                    <a:ext uri="{9D8B030D-6E8A-4147-A177-3AD203B41FA5}">
                      <a16:colId xmlns:a16="http://schemas.microsoft.com/office/drawing/2014/main" val="3644329512"/>
                    </a:ext>
                  </a:extLst>
                </a:gridCol>
                <a:gridCol w="1655818">
                  <a:extLst>
                    <a:ext uri="{9D8B030D-6E8A-4147-A177-3AD203B41FA5}">
                      <a16:colId xmlns:a16="http://schemas.microsoft.com/office/drawing/2014/main" val="3871842897"/>
                    </a:ext>
                  </a:extLst>
                </a:gridCol>
                <a:gridCol w="1655818">
                  <a:extLst>
                    <a:ext uri="{9D8B030D-6E8A-4147-A177-3AD203B41FA5}">
                      <a16:colId xmlns:a16="http://schemas.microsoft.com/office/drawing/2014/main" val="1883237257"/>
                    </a:ext>
                  </a:extLst>
                </a:gridCol>
              </a:tblGrid>
              <a:tr h="342491">
                <a:tc>
                  <a:txBody>
                    <a:bodyPr/>
                    <a:lstStyle>
                      <a:lvl1pPr marL="0" algn="l" defTabSz="914377" rtl="0" eaLnBrk="1" latinLnBrk="0" hangingPunct="1">
                        <a:defRPr sz="1800" kern="1200">
                          <a:solidFill>
                            <a:schemeClr val="tx1"/>
                          </a:solidFill>
                          <a:latin typeface="Corbel" panose="020B0503020204020204"/>
                        </a:defRPr>
                      </a:lvl1pPr>
                      <a:lvl2pPr marL="457189" algn="l" defTabSz="914377" rtl="0" eaLnBrk="1" latinLnBrk="0" hangingPunct="1">
                        <a:defRPr sz="1800" kern="1200">
                          <a:solidFill>
                            <a:schemeClr val="tx1"/>
                          </a:solidFill>
                          <a:latin typeface="Corbel" panose="020B0503020204020204"/>
                        </a:defRPr>
                      </a:lvl2pPr>
                      <a:lvl3pPr marL="914377" algn="l" defTabSz="914377" rtl="0" eaLnBrk="1" latinLnBrk="0" hangingPunct="1">
                        <a:defRPr sz="1800" kern="1200">
                          <a:solidFill>
                            <a:schemeClr val="tx1"/>
                          </a:solidFill>
                          <a:latin typeface="Corbel" panose="020B0503020204020204"/>
                        </a:defRPr>
                      </a:lvl3pPr>
                      <a:lvl4pPr marL="1371566" algn="l" defTabSz="914377" rtl="0" eaLnBrk="1" latinLnBrk="0" hangingPunct="1">
                        <a:defRPr sz="1800" kern="1200">
                          <a:solidFill>
                            <a:schemeClr val="tx1"/>
                          </a:solidFill>
                          <a:latin typeface="Corbel" panose="020B0503020204020204"/>
                        </a:defRPr>
                      </a:lvl4pPr>
                      <a:lvl5pPr marL="1828754" algn="l" defTabSz="914377" rtl="0" eaLnBrk="1" latinLnBrk="0" hangingPunct="1">
                        <a:defRPr sz="1800" kern="1200">
                          <a:solidFill>
                            <a:schemeClr val="tx1"/>
                          </a:solidFill>
                          <a:latin typeface="Corbel" panose="020B0503020204020204"/>
                        </a:defRPr>
                      </a:lvl5pPr>
                      <a:lvl6pPr marL="2285943" algn="l" defTabSz="914377" rtl="0" eaLnBrk="1" latinLnBrk="0" hangingPunct="1">
                        <a:defRPr sz="1800" kern="1200">
                          <a:solidFill>
                            <a:schemeClr val="tx1"/>
                          </a:solidFill>
                          <a:latin typeface="Corbel" panose="020B0503020204020204"/>
                        </a:defRPr>
                      </a:lvl6pPr>
                      <a:lvl7pPr marL="2743131" algn="l" defTabSz="914377" rtl="0" eaLnBrk="1" latinLnBrk="0" hangingPunct="1">
                        <a:defRPr sz="1800" kern="1200">
                          <a:solidFill>
                            <a:schemeClr val="tx1"/>
                          </a:solidFill>
                          <a:latin typeface="Corbel" panose="020B0503020204020204"/>
                        </a:defRPr>
                      </a:lvl7pPr>
                      <a:lvl8pPr marL="3200320" algn="l" defTabSz="914377" rtl="0" eaLnBrk="1" latinLnBrk="0" hangingPunct="1">
                        <a:defRPr sz="1800" kern="1200">
                          <a:solidFill>
                            <a:schemeClr val="tx1"/>
                          </a:solidFill>
                          <a:latin typeface="Corbel" panose="020B0503020204020204"/>
                        </a:defRPr>
                      </a:lvl8pPr>
                      <a:lvl9pPr marL="3657509" algn="l" defTabSz="914377" rtl="0" eaLnBrk="1" latinLnBrk="0" hangingPunct="1">
                        <a:defRPr sz="1800" kern="1200">
                          <a:solidFill>
                            <a:schemeClr val="tx1"/>
                          </a:solidFill>
                          <a:latin typeface="Corbel" panose="020B0503020204020204"/>
                        </a:defRPr>
                      </a:lvl9pPr>
                    </a:lstStyle>
                    <a:p>
                      <a:pPr algn="ctr" fontAlgn="ctr"/>
                      <a:r>
                        <a:rPr lang="en-US" sz="1800" b="1" i="0" u="none" strike="noStrike" dirty="0">
                          <a:solidFill>
                            <a:srgbClr val="000000"/>
                          </a:solidFill>
                          <a:effectLst/>
                          <a:latin typeface="Calibri" panose="020F0502020204030204" pitchFamily="34" charset="0"/>
                        </a:rPr>
                        <a:t>Currently Open </a:t>
                      </a:r>
                      <a:endParaRPr lang="en-GB" sz="1800" b="1" i="0" u="none" strike="noStrike" dirty="0">
                        <a:solidFill>
                          <a:srgbClr val="000000"/>
                        </a:solidFill>
                        <a:effectLst/>
                        <a:latin typeface="Calibri" panose="020F0502020204030204" pitchFamily="34" charset="0"/>
                      </a:endParaRP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dirty="0">
                          <a:solidFill>
                            <a:srgbClr val="000000"/>
                          </a:solidFill>
                          <a:effectLst/>
                          <a:latin typeface="Calibri" panose="020F0502020204030204" pitchFamily="34" charset="0"/>
                        </a:rPr>
                        <a:t>Open with an Extension</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dirty="0">
                          <a:solidFill>
                            <a:srgbClr val="000000"/>
                          </a:solidFill>
                          <a:effectLst/>
                          <a:latin typeface="Calibri" panose="020F0502020204030204" pitchFamily="34" charset="0"/>
                        </a:rPr>
                        <a:t>Currently open &amp; overdue at the end of quarter</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kern="1200" dirty="0">
                          <a:solidFill>
                            <a:srgbClr val="000000"/>
                          </a:solidFill>
                          <a:effectLst/>
                          <a:latin typeface="Calibri" panose="020F0502020204030204" pitchFamily="34" charset="0"/>
                          <a:ea typeface="+mn-ea"/>
                          <a:cs typeface="+mn-cs"/>
                        </a:rPr>
                        <a:t>Closed (Q2 2026)</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kern="1200" dirty="0">
                          <a:solidFill>
                            <a:srgbClr val="000000"/>
                          </a:solidFill>
                          <a:effectLst/>
                          <a:latin typeface="Calibri" panose="020F0502020204030204" pitchFamily="34" charset="0"/>
                          <a:ea typeface="+mn-ea"/>
                          <a:cs typeface="+mn-cs"/>
                        </a:rPr>
                        <a:t>Closed after target date</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kern="1200" dirty="0">
                          <a:solidFill>
                            <a:srgbClr val="000000"/>
                          </a:solidFill>
                          <a:effectLst/>
                          <a:latin typeface="Calibri" panose="020F0502020204030204" pitchFamily="34" charset="0"/>
                          <a:ea typeface="+mn-ea"/>
                          <a:cs typeface="+mn-cs"/>
                        </a:rPr>
                        <a:t>Closed after extension</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3701969659"/>
                  </a:ext>
                </a:extLst>
              </a:tr>
              <a:tr h="253873">
                <a:tc>
                  <a:txBody>
                    <a:bodyPr/>
                    <a:lstStyle>
                      <a:lvl1pPr marL="0" algn="l" defTabSz="914377" rtl="0" eaLnBrk="1" latinLnBrk="0" hangingPunct="1">
                        <a:defRPr sz="1800" kern="1200">
                          <a:solidFill>
                            <a:schemeClr val="tx1"/>
                          </a:solidFill>
                          <a:latin typeface="Corbel" panose="020B0503020204020204"/>
                        </a:defRPr>
                      </a:lvl1pPr>
                      <a:lvl2pPr marL="457189" algn="l" defTabSz="914377" rtl="0" eaLnBrk="1" latinLnBrk="0" hangingPunct="1">
                        <a:defRPr sz="1800" kern="1200">
                          <a:solidFill>
                            <a:schemeClr val="tx1"/>
                          </a:solidFill>
                          <a:latin typeface="Corbel" panose="020B0503020204020204"/>
                        </a:defRPr>
                      </a:lvl2pPr>
                      <a:lvl3pPr marL="914377" algn="l" defTabSz="914377" rtl="0" eaLnBrk="1" latinLnBrk="0" hangingPunct="1">
                        <a:defRPr sz="1800" kern="1200">
                          <a:solidFill>
                            <a:schemeClr val="tx1"/>
                          </a:solidFill>
                          <a:latin typeface="Corbel" panose="020B0503020204020204"/>
                        </a:defRPr>
                      </a:lvl3pPr>
                      <a:lvl4pPr marL="1371566" algn="l" defTabSz="914377" rtl="0" eaLnBrk="1" latinLnBrk="0" hangingPunct="1">
                        <a:defRPr sz="1800" kern="1200">
                          <a:solidFill>
                            <a:schemeClr val="tx1"/>
                          </a:solidFill>
                          <a:latin typeface="Corbel" panose="020B0503020204020204"/>
                        </a:defRPr>
                      </a:lvl4pPr>
                      <a:lvl5pPr marL="1828754" algn="l" defTabSz="914377" rtl="0" eaLnBrk="1" latinLnBrk="0" hangingPunct="1">
                        <a:defRPr sz="1800" kern="1200">
                          <a:solidFill>
                            <a:schemeClr val="tx1"/>
                          </a:solidFill>
                          <a:latin typeface="Corbel" panose="020B0503020204020204"/>
                        </a:defRPr>
                      </a:lvl5pPr>
                      <a:lvl6pPr marL="2285943" algn="l" defTabSz="914377" rtl="0" eaLnBrk="1" latinLnBrk="0" hangingPunct="1">
                        <a:defRPr sz="1800" kern="1200">
                          <a:solidFill>
                            <a:schemeClr val="tx1"/>
                          </a:solidFill>
                          <a:latin typeface="Corbel" panose="020B0503020204020204"/>
                        </a:defRPr>
                      </a:lvl6pPr>
                      <a:lvl7pPr marL="2743131" algn="l" defTabSz="914377" rtl="0" eaLnBrk="1" latinLnBrk="0" hangingPunct="1">
                        <a:defRPr sz="1800" kern="1200">
                          <a:solidFill>
                            <a:schemeClr val="tx1"/>
                          </a:solidFill>
                          <a:latin typeface="Corbel" panose="020B0503020204020204"/>
                        </a:defRPr>
                      </a:lvl7pPr>
                      <a:lvl8pPr marL="3200320" algn="l" defTabSz="914377" rtl="0" eaLnBrk="1" latinLnBrk="0" hangingPunct="1">
                        <a:defRPr sz="1800" kern="1200">
                          <a:solidFill>
                            <a:schemeClr val="tx1"/>
                          </a:solidFill>
                          <a:latin typeface="Corbel" panose="020B0503020204020204"/>
                        </a:defRPr>
                      </a:lvl8pPr>
                      <a:lvl9pPr marL="3657509" algn="l" defTabSz="914377" rtl="0" eaLnBrk="1" latinLnBrk="0" hangingPunct="1">
                        <a:defRPr sz="1800" kern="1200">
                          <a:solidFill>
                            <a:schemeClr val="tx1"/>
                          </a:solidFill>
                          <a:latin typeface="Corbel" panose="020B0503020204020204"/>
                        </a:defRPr>
                      </a:lvl9pPr>
                    </a:lstStyle>
                    <a:p>
                      <a:pPr algn="ctr" fontAlgn="ctr"/>
                      <a:r>
                        <a:rPr lang="en-GB" sz="1800" b="0" i="0" u="none" strike="noStrike" kern="1200" dirty="0">
                          <a:solidFill>
                            <a:srgbClr val="000000"/>
                          </a:solidFill>
                          <a:effectLst/>
                          <a:latin typeface="Calibri" panose="020F0502020204030204" pitchFamily="34" charset="0"/>
                          <a:ea typeface="+mn-ea"/>
                          <a:cs typeface="+mn-cs"/>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GB" sz="20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GB" sz="20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GB" sz="1800" b="0" i="0" u="none" strike="noStrike" dirty="0">
                          <a:solidFill>
                            <a:srgbClr val="000000"/>
                          </a:solidFill>
                          <a:effectLst/>
                          <a:latin typeface="Calibri" panose="020F0502020204030204" pitchFamily="34" charset="0"/>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GB" sz="18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GB" sz="18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074620987"/>
                  </a:ext>
                </a:extLst>
              </a:tr>
            </a:tbl>
          </a:graphicData>
        </a:graphic>
      </p:graphicFrame>
    </p:spTree>
    <p:extLst>
      <p:ext uri="{BB962C8B-B14F-4D97-AF65-F5344CB8AC3E}">
        <p14:creationId xmlns:p14="http://schemas.microsoft.com/office/powerpoint/2010/main" val="3014828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8FC230D-A4A2-20E0-BEC2-E9B0B6C55C9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2C5A903-6489-9E88-1B0A-ED1C7641C1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DA2C937-C617-B5CC-A4C6-DB7F9F2DB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D0415DA-6FBE-F8B6-13F2-3159B99F6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4" name="Rectangle 13">
            <a:extLst>
              <a:ext uri="{FF2B5EF4-FFF2-40B4-BE49-F238E27FC236}">
                <a16:creationId xmlns:a16="http://schemas.microsoft.com/office/drawing/2014/main" id="{646A0F31-B45C-9AF5-65B9-677825457571}"/>
              </a:ext>
            </a:extLst>
          </p:cNvPr>
          <p:cNvSpPr/>
          <p:nvPr/>
        </p:nvSpPr>
        <p:spPr>
          <a:xfrm>
            <a:off x="-61380" y="-2"/>
            <a:ext cx="842090" cy="6847953"/>
          </a:xfrm>
          <a:prstGeom prst="rect">
            <a:avLst/>
          </a:prstGeom>
          <a:noFill/>
        </p:spPr>
        <p:txBody>
          <a:bodyPr vert="wordArtVert" wrap="square" lIns="91440" tIns="45720" rIns="91440" bIns="45720">
            <a:spAutoFit/>
          </a:bodyPr>
          <a:lstStyle/>
          <a:p>
            <a:pPr algn="ctr"/>
            <a:r>
              <a:rPr lang="en-US" sz="3600" b="1" cap="none" spc="0" dirty="0">
                <a:ln w="0"/>
                <a:solidFill>
                  <a:schemeClr val="tx1"/>
                </a:solidFill>
                <a:effectLst>
                  <a:outerShdw blurRad="38100" dist="38100" dir="2700000" algn="tl">
                    <a:srgbClr val="000000">
                      <a:alpha val="43137"/>
                    </a:srgbClr>
                  </a:outerShdw>
                </a:effectLst>
                <a:latin typeface="+mj-lt"/>
              </a:rPr>
              <a:t>DEVIATIONS</a:t>
            </a:r>
          </a:p>
        </p:txBody>
      </p:sp>
      <p:sp>
        <p:nvSpPr>
          <p:cNvPr id="3" name="TextBox 2">
            <a:extLst>
              <a:ext uri="{FF2B5EF4-FFF2-40B4-BE49-F238E27FC236}">
                <a16:creationId xmlns:a16="http://schemas.microsoft.com/office/drawing/2014/main" id="{F1F585AD-2C8E-455F-BBA7-096A31410FF9}"/>
              </a:ext>
            </a:extLst>
          </p:cNvPr>
          <p:cNvSpPr txBox="1"/>
          <p:nvPr/>
        </p:nvSpPr>
        <p:spPr>
          <a:xfrm>
            <a:off x="4479045" y="-38524"/>
            <a:ext cx="7292987" cy="588271"/>
          </a:xfrm>
          <a:prstGeom prst="rect">
            <a:avLst/>
          </a:prstGeom>
          <a:noFill/>
        </p:spPr>
        <p:txBody>
          <a:bodyPr wrap="square" rtlCol="0">
            <a:spAutoFit/>
          </a:bodyPr>
          <a:lstStyle/>
          <a:p>
            <a:pPr lvl="0" algn="ctr">
              <a:defRPr/>
            </a:pPr>
            <a:r>
              <a:rPr lang="en-GB" sz="3200" b="1" dirty="0"/>
              <a:t>IDENTIFIED ROOT CAUSE TRENDS (Q2)</a:t>
            </a:r>
            <a:endParaRPr kumimoji="0" lang="en-GB" sz="3200" b="1"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pic>
        <p:nvPicPr>
          <p:cNvPr id="8" name="Picture 7">
            <a:extLst>
              <a:ext uri="{FF2B5EF4-FFF2-40B4-BE49-F238E27FC236}">
                <a16:creationId xmlns:a16="http://schemas.microsoft.com/office/drawing/2014/main" id="{3FA0BCB7-4895-53C8-1D17-41CB2ED218D5}"/>
              </a:ext>
            </a:extLst>
          </p:cNvPr>
          <p:cNvPicPr>
            <a:picLocks noChangeAspect="1"/>
          </p:cNvPicPr>
          <p:nvPr/>
        </p:nvPicPr>
        <p:blipFill>
          <a:blip r:embed="rId3"/>
          <a:stretch>
            <a:fillRect/>
          </a:stretch>
        </p:blipFill>
        <p:spPr>
          <a:xfrm>
            <a:off x="719329" y="3696199"/>
            <a:ext cx="11472670" cy="3162755"/>
          </a:xfrm>
          <a:prstGeom prst="rect">
            <a:avLst/>
          </a:prstGeom>
        </p:spPr>
      </p:pic>
      <p:pic>
        <p:nvPicPr>
          <p:cNvPr id="6" name="Picture 5">
            <a:extLst>
              <a:ext uri="{FF2B5EF4-FFF2-40B4-BE49-F238E27FC236}">
                <a16:creationId xmlns:a16="http://schemas.microsoft.com/office/drawing/2014/main" id="{B3D7423C-5FDF-A343-FD4F-1A86C8E8B17E}"/>
              </a:ext>
            </a:extLst>
          </p:cNvPr>
          <p:cNvPicPr>
            <a:picLocks noChangeAspect="1"/>
          </p:cNvPicPr>
          <p:nvPr/>
        </p:nvPicPr>
        <p:blipFill>
          <a:blip r:embed="rId4"/>
          <a:stretch>
            <a:fillRect/>
          </a:stretch>
        </p:blipFill>
        <p:spPr>
          <a:xfrm>
            <a:off x="719329" y="518385"/>
            <a:ext cx="11472670" cy="3189299"/>
          </a:xfrm>
          <a:prstGeom prst="rect">
            <a:avLst/>
          </a:prstGeom>
        </p:spPr>
      </p:pic>
      <p:sp>
        <p:nvSpPr>
          <p:cNvPr id="21" name="Ellips 10">
            <a:extLst>
              <a:ext uri="{FF2B5EF4-FFF2-40B4-BE49-F238E27FC236}">
                <a16:creationId xmlns:a16="http://schemas.microsoft.com/office/drawing/2014/main" id="{0BDD8ABD-6FCD-64E3-0A77-E2F3404A1A10}"/>
              </a:ext>
            </a:extLst>
          </p:cNvPr>
          <p:cNvSpPr/>
          <p:nvPr/>
        </p:nvSpPr>
        <p:spPr>
          <a:xfrm>
            <a:off x="2155106" y="1664330"/>
            <a:ext cx="848518" cy="218593"/>
          </a:xfrm>
          <a:prstGeom prst="ellipse">
            <a:avLst/>
          </a:prstGeom>
          <a:solidFill>
            <a:srgbClr val="000000">
              <a:alpha val="5000"/>
            </a:srgbClr>
          </a:solidFill>
          <a:ln w="126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000000"/>
              </a:solidFill>
            </a:endParaRPr>
          </a:p>
        </p:txBody>
      </p:sp>
      <p:sp>
        <p:nvSpPr>
          <p:cNvPr id="12" name="Ellips 10">
            <a:extLst>
              <a:ext uri="{FF2B5EF4-FFF2-40B4-BE49-F238E27FC236}">
                <a16:creationId xmlns:a16="http://schemas.microsoft.com/office/drawing/2014/main" id="{74358AC6-462F-E703-ECBD-4CBB77C24E08}"/>
              </a:ext>
            </a:extLst>
          </p:cNvPr>
          <p:cNvSpPr/>
          <p:nvPr/>
        </p:nvSpPr>
        <p:spPr>
          <a:xfrm>
            <a:off x="2155107" y="2889754"/>
            <a:ext cx="805058" cy="218593"/>
          </a:xfrm>
          <a:prstGeom prst="ellipse">
            <a:avLst/>
          </a:prstGeom>
          <a:solidFill>
            <a:srgbClr val="000000">
              <a:alpha val="5000"/>
            </a:srgbClr>
          </a:solidFill>
          <a:ln w="126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000000"/>
              </a:solidFill>
            </a:endParaRPr>
          </a:p>
        </p:txBody>
      </p:sp>
      <p:sp>
        <p:nvSpPr>
          <p:cNvPr id="20" name="Ellips 10">
            <a:extLst>
              <a:ext uri="{FF2B5EF4-FFF2-40B4-BE49-F238E27FC236}">
                <a16:creationId xmlns:a16="http://schemas.microsoft.com/office/drawing/2014/main" id="{DDF51873-7BA3-56AD-F60D-70D5658C5BF4}"/>
              </a:ext>
            </a:extLst>
          </p:cNvPr>
          <p:cNvSpPr/>
          <p:nvPr/>
        </p:nvSpPr>
        <p:spPr>
          <a:xfrm>
            <a:off x="5966012" y="919006"/>
            <a:ext cx="593109" cy="218593"/>
          </a:xfrm>
          <a:prstGeom prst="ellipse">
            <a:avLst/>
          </a:prstGeom>
          <a:solidFill>
            <a:srgbClr val="000000">
              <a:alpha val="5000"/>
            </a:srgbClr>
          </a:solidFill>
          <a:ln w="126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000000"/>
              </a:solidFill>
            </a:endParaRPr>
          </a:p>
        </p:txBody>
      </p:sp>
      <p:sp>
        <p:nvSpPr>
          <p:cNvPr id="15" name="Ellips 10">
            <a:extLst>
              <a:ext uri="{FF2B5EF4-FFF2-40B4-BE49-F238E27FC236}">
                <a16:creationId xmlns:a16="http://schemas.microsoft.com/office/drawing/2014/main" id="{ACDDA7B2-1364-B46B-A485-BAF96D335D11}"/>
              </a:ext>
            </a:extLst>
          </p:cNvPr>
          <p:cNvSpPr/>
          <p:nvPr/>
        </p:nvSpPr>
        <p:spPr>
          <a:xfrm>
            <a:off x="5991059" y="2680265"/>
            <a:ext cx="593109" cy="218593"/>
          </a:xfrm>
          <a:prstGeom prst="ellipse">
            <a:avLst/>
          </a:prstGeom>
          <a:solidFill>
            <a:srgbClr val="000000">
              <a:alpha val="5000"/>
            </a:srgbClr>
          </a:solidFill>
          <a:ln w="126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000000"/>
              </a:solidFill>
            </a:endParaRPr>
          </a:p>
        </p:txBody>
      </p:sp>
      <p:sp>
        <p:nvSpPr>
          <p:cNvPr id="17" name="Ellips 10">
            <a:extLst>
              <a:ext uri="{FF2B5EF4-FFF2-40B4-BE49-F238E27FC236}">
                <a16:creationId xmlns:a16="http://schemas.microsoft.com/office/drawing/2014/main" id="{A6E19C4F-571E-A42E-7975-42F6D86F4E3D}"/>
              </a:ext>
            </a:extLst>
          </p:cNvPr>
          <p:cNvSpPr/>
          <p:nvPr/>
        </p:nvSpPr>
        <p:spPr>
          <a:xfrm>
            <a:off x="5479156" y="2598185"/>
            <a:ext cx="593109" cy="218593"/>
          </a:xfrm>
          <a:prstGeom prst="ellipse">
            <a:avLst/>
          </a:prstGeom>
          <a:solidFill>
            <a:srgbClr val="000000">
              <a:alpha val="5000"/>
            </a:srgbClr>
          </a:solidFill>
          <a:ln w="126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000000"/>
              </a:solidFill>
            </a:endParaRPr>
          </a:p>
        </p:txBody>
      </p:sp>
      <p:sp>
        <p:nvSpPr>
          <p:cNvPr id="19" name="Ellips 10">
            <a:extLst>
              <a:ext uri="{FF2B5EF4-FFF2-40B4-BE49-F238E27FC236}">
                <a16:creationId xmlns:a16="http://schemas.microsoft.com/office/drawing/2014/main" id="{7C3E04CC-E80B-67E4-7BF9-6311C2ED0E38}"/>
              </a:ext>
            </a:extLst>
          </p:cNvPr>
          <p:cNvSpPr/>
          <p:nvPr/>
        </p:nvSpPr>
        <p:spPr>
          <a:xfrm>
            <a:off x="5433476" y="1847896"/>
            <a:ext cx="593109" cy="218593"/>
          </a:xfrm>
          <a:prstGeom prst="ellipse">
            <a:avLst/>
          </a:prstGeom>
          <a:solidFill>
            <a:srgbClr val="000000">
              <a:alpha val="5000"/>
            </a:srgbClr>
          </a:solidFill>
          <a:ln w="126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000000"/>
              </a:solidFill>
            </a:endParaRPr>
          </a:p>
        </p:txBody>
      </p:sp>
    </p:spTree>
    <p:extLst>
      <p:ext uri="{BB962C8B-B14F-4D97-AF65-F5344CB8AC3E}">
        <p14:creationId xmlns:p14="http://schemas.microsoft.com/office/powerpoint/2010/main" val="3288495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3C8B017-0347-BDFB-7357-2DC1D8A2B3F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67D2532-E8F3-274C-EFAB-139EF70B94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8F8D342-0484-27DC-0FEA-9C16330AF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893351A-0B30-BF15-F4EB-F41F8596F4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4" name="Rectangle 13">
            <a:extLst>
              <a:ext uri="{FF2B5EF4-FFF2-40B4-BE49-F238E27FC236}">
                <a16:creationId xmlns:a16="http://schemas.microsoft.com/office/drawing/2014/main" id="{EB7B2BA0-4782-CDFE-A440-3EA2A0408410}"/>
              </a:ext>
            </a:extLst>
          </p:cNvPr>
          <p:cNvSpPr/>
          <p:nvPr/>
        </p:nvSpPr>
        <p:spPr>
          <a:xfrm>
            <a:off x="-61380" y="-2"/>
            <a:ext cx="842090" cy="6847953"/>
          </a:xfrm>
          <a:prstGeom prst="rect">
            <a:avLst/>
          </a:prstGeom>
          <a:noFill/>
        </p:spPr>
        <p:txBody>
          <a:bodyPr vert="wordArtVert" wrap="square" lIns="91440" tIns="45720" rIns="91440" bIns="45720">
            <a:spAutoFit/>
          </a:bodyPr>
          <a:lstStyle/>
          <a:p>
            <a:pPr algn="ctr"/>
            <a:r>
              <a:rPr lang="en-US" sz="3600" b="1" cap="none" spc="0" dirty="0">
                <a:ln w="0"/>
                <a:solidFill>
                  <a:schemeClr val="tx1"/>
                </a:solidFill>
                <a:effectLst>
                  <a:outerShdw blurRad="38100" dist="38100" dir="2700000" algn="tl">
                    <a:srgbClr val="000000">
                      <a:alpha val="43137"/>
                    </a:srgbClr>
                  </a:outerShdw>
                </a:effectLst>
                <a:latin typeface="+mj-lt"/>
              </a:rPr>
              <a:t>DEVIATIONS</a:t>
            </a:r>
          </a:p>
        </p:txBody>
      </p:sp>
      <p:sp>
        <p:nvSpPr>
          <p:cNvPr id="3" name="TextBox 2">
            <a:extLst>
              <a:ext uri="{FF2B5EF4-FFF2-40B4-BE49-F238E27FC236}">
                <a16:creationId xmlns:a16="http://schemas.microsoft.com/office/drawing/2014/main" id="{E043B49C-C618-15C4-C964-AE2C274708AC}"/>
              </a:ext>
            </a:extLst>
          </p:cNvPr>
          <p:cNvSpPr txBox="1"/>
          <p:nvPr/>
        </p:nvSpPr>
        <p:spPr>
          <a:xfrm>
            <a:off x="719329" y="-10289"/>
            <a:ext cx="3339751" cy="1077218"/>
          </a:xfrm>
          <a:prstGeom prst="rect">
            <a:avLst/>
          </a:prstGeom>
          <a:noFill/>
        </p:spPr>
        <p:txBody>
          <a:bodyPr wrap="square" rtlCol="0">
            <a:spAutoFit/>
          </a:bodyPr>
          <a:lstStyle/>
          <a:p>
            <a:pPr lvl="0" algn="ctr">
              <a:defRPr/>
            </a:pPr>
            <a:r>
              <a:rPr lang="en-GB" sz="3200" b="1" dirty="0"/>
              <a:t>TREND </a:t>
            </a:r>
          </a:p>
          <a:p>
            <a:pPr lvl="0" algn="ctr">
              <a:defRPr/>
            </a:pPr>
            <a:r>
              <a:rPr lang="en-GB" sz="3200" b="1" dirty="0"/>
              <a:t>ANALYSIS</a:t>
            </a:r>
            <a:endParaRPr kumimoji="0" lang="en-GB" sz="3200" b="1"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graphicFrame>
        <p:nvGraphicFramePr>
          <p:cNvPr id="2" name="Table 1">
            <a:extLst>
              <a:ext uri="{FF2B5EF4-FFF2-40B4-BE49-F238E27FC236}">
                <a16:creationId xmlns:a16="http://schemas.microsoft.com/office/drawing/2014/main" id="{E01C145F-1E12-53D7-E5CE-AABCEFBFAC0D}"/>
              </a:ext>
            </a:extLst>
          </p:cNvPr>
          <p:cNvGraphicFramePr>
            <a:graphicFrameLocks noGrp="1"/>
          </p:cNvGraphicFramePr>
          <p:nvPr>
            <p:extLst>
              <p:ext uri="{D42A27DB-BD31-4B8C-83A1-F6EECF244321}">
                <p14:modId xmlns:p14="http://schemas.microsoft.com/office/powerpoint/2010/main" val="1626285966"/>
              </p:ext>
            </p:extLst>
          </p:nvPr>
        </p:nvGraphicFramePr>
        <p:xfrm>
          <a:off x="3706760" y="2671"/>
          <a:ext cx="8485239" cy="6663667"/>
        </p:xfrm>
        <a:graphic>
          <a:graphicData uri="http://schemas.openxmlformats.org/drawingml/2006/table">
            <a:tbl>
              <a:tblPr firstRow="1" firstCol="1" bandRow="1">
                <a:tableStyleId>{5C22544A-7EE6-4342-B048-85BDC9FD1C3A}</a:tableStyleId>
              </a:tblPr>
              <a:tblGrid>
                <a:gridCol w="1130709">
                  <a:extLst>
                    <a:ext uri="{9D8B030D-6E8A-4147-A177-3AD203B41FA5}">
                      <a16:colId xmlns:a16="http://schemas.microsoft.com/office/drawing/2014/main" val="1210118052"/>
                    </a:ext>
                  </a:extLst>
                </a:gridCol>
                <a:gridCol w="806245">
                  <a:extLst>
                    <a:ext uri="{9D8B030D-6E8A-4147-A177-3AD203B41FA5}">
                      <a16:colId xmlns:a16="http://schemas.microsoft.com/office/drawing/2014/main" val="533778414"/>
                    </a:ext>
                  </a:extLst>
                </a:gridCol>
                <a:gridCol w="3991897">
                  <a:extLst>
                    <a:ext uri="{9D8B030D-6E8A-4147-A177-3AD203B41FA5}">
                      <a16:colId xmlns:a16="http://schemas.microsoft.com/office/drawing/2014/main" val="2733779828"/>
                    </a:ext>
                  </a:extLst>
                </a:gridCol>
                <a:gridCol w="1467034">
                  <a:extLst>
                    <a:ext uri="{9D8B030D-6E8A-4147-A177-3AD203B41FA5}">
                      <a16:colId xmlns:a16="http://schemas.microsoft.com/office/drawing/2014/main" val="661514645"/>
                    </a:ext>
                  </a:extLst>
                </a:gridCol>
                <a:gridCol w="1089354">
                  <a:extLst>
                    <a:ext uri="{9D8B030D-6E8A-4147-A177-3AD203B41FA5}">
                      <a16:colId xmlns:a16="http://schemas.microsoft.com/office/drawing/2014/main" val="3446596123"/>
                    </a:ext>
                  </a:extLst>
                </a:gridCol>
              </a:tblGrid>
              <a:tr h="251134">
                <a:tc>
                  <a:txBody>
                    <a:bodyPr/>
                    <a:lstStyle/>
                    <a:p>
                      <a:pPr algn="ctr"/>
                      <a:r>
                        <a:rPr lang="en-GB" sz="1050" dirty="0">
                          <a:solidFill>
                            <a:schemeClr val="tx1"/>
                          </a:solidFill>
                        </a:rPr>
                        <a:t>Trend</a:t>
                      </a:r>
                    </a:p>
                  </a:txBody>
                  <a:tcPr>
                    <a:lnR w="1905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rowSpan="2">
                  <a:txBody>
                    <a:bodyPr/>
                    <a:lstStyle/>
                    <a:p>
                      <a:pPr algn="ctr"/>
                      <a:r>
                        <a:rPr lang="en-GB" sz="1050" dirty="0">
                          <a:solidFill>
                            <a:schemeClr val="tx1"/>
                          </a:solidFill>
                        </a:rPr>
                        <a:t>Deviation numbers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bg2"/>
                    </a:solidFill>
                  </a:tcPr>
                </a:tc>
                <a:tc rowSpan="2">
                  <a:txBody>
                    <a:bodyPr/>
                    <a:lstStyle/>
                    <a:p>
                      <a:pPr algn="ctr"/>
                      <a:r>
                        <a:rPr lang="en-GB" sz="1050" dirty="0">
                          <a:solidFill>
                            <a:schemeClr val="tx1"/>
                          </a:solidFill>
                        </a:rPr>
                        <a:t>Deviation details (Description, investigation etc)</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bg2"/>
                    </a:solidFill>
                  </a:tcPr>
                </a:tc>
                <a:tc rowSpan="2">
                  <a:txBody>
                    <a:bodyPr/>
                    <a:lstStyle/>
                    <a:p>
                      <a:pPr algn="ctr"/>
                      <a:r>
                        <a:rPr lang="en-GB" sz="1050" dirty="0">
                          <a:solidFill>
                            <a:schemeClr val="tx1"/>
                          </a:solidFill>
                        </a:rPr>
                        <a:t>Systemic themes identified?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bg2"/>
                    </a:solidFill>
                  </a:tcPr>
                </a:tc>
                <a:tc rowSpan="2">
                  <a:txBody>
                    <a:bodyPr/>
                    <a:lstStyle/>
                    <a:p>
                      <a:pPr algn="ctr"/>
                      <a:r>
                        <a:rPr lang="en-GB" sz="1050" dirty="0">
                          <a:solidFill>
                            <a:schemeClr val="tx1"/>
                          </a:solidFill>
                        </a:rPr>
                        <a:t>Escalation required/Regulatory impact?</a:t>
                      </a:r>
                    </a:p>
                  </a:txBody>
                  <a:tcPr anchor="ctr">
                    <a:lnL w="19050" cap="flat" cmpd="sng" algn="ctr">
                      <a:solidFill>
                        <a:schemeClr val="tx1"/>
                      </a:solidFill>
                      <a:prstDash val="solid"/>
                      <a:round/>
                      <a:headEnd type="none" w="med" len="med"/>
                      <a:tailEnd type="none" w="med" len="med"/>
                    </a:lnL>
                    <a:solidFill>
                      <a:schemeClr val="bg2"/>
                    </a:solidFill>
                  </a:tcPr>
                </a:tc>
                <a:extLst>
                  <a:ext uri="{0D108BD9-81ED-4DB2-BD59-A6C34878D82A}">
                    <a16:rowId xmlns:a16="http://schemas.microsoft.com/office/drawing/2014/main" val="2605517301"/>
                  </a:ext>
                </a:extLst>
              </a:tr>
              <a:tr h="410947">
                <a:tc>
                  <a:txBody>
                    <a:bodyPr/>
                    <a:lstStyle/>
                    <a:p>
                      <a:pPr algn="ctr"/>
                      <a:r>
                        <a:rPr lang="en-GB" sz="1050" dirty="0">
                          <a:solidFill>
                            <a:srgbClr val="FFC000"/>
                          </a:solidFill>
                        </a:rPr>
                        <a:t>Area</a:t>
                      </a:r>
                      <a:r>
                        <a:rPr lang="en-GB" sz="1050" dirty="0">
                          <a:solidFill>
                            <a:schemeClr val="bg1"/>
                          </a:solidFill>
                        </a:rPr>
                        <a:t> </a:t>
                      </a:r>
                      <a:r>
                        <a:rPr lang="en-GB" sz="1050" dirty="0">
                          <a:solidFill>
                            <a:schemeClr val="tx1"/>
                          </a:solidFill>
                        </a:rPr>
                        <a:t>&amp;</a:t>
                      </a:r>
                    </a:p>
                    <a:p>
                      <a:pPr algn="ctr"/>
                      <a:r>
                        <a:rPr lang="en-GB" sz="1050" dirty="0">
                          <a:solidFill>
                            <a:srgbClr val="00FF00"/>
                          </a:solidFill>
                        </a:rPr>
                        <a:t>Root Cause</a:t>
                      </a:r>
                    </a:p>
                  </a:txBody>
                  <a:tcPr anchor="ctr">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959789846"/>
                  </a:ext>
                </a:extLst>
              </a:tr>
              <a:tr h="1337464">
                <a:tc>
                  <a:txBody>
                    <a:bodyPr/>
                    <a:lstStyle/>
                    <a:p>
                      <a:pPr algn="ctr"/>
                      <a:r>
                        <a:rPr lang="en-GB" sz="1000" dirty="0">
                          <a:solidFill>
                            <a:srgbClr val="FFC000"/>
                          </a:solidFill>
                        </a:rPr>
                        <a:t>Product Manufacturing</a:t>
                      </a:r>
                    </a:p>
                    <a:p>
                      <a:pPr algn="ctr"/>
                      <a:r>
                        <a:rPr lang="en-GB" sz="1000" dirty="0"/>
                        <a:t>&amp;</a:t>
                      </a:r>
                    </a:p>
                    <a:p>
                      <a:pPr algn="ctr"/>
                      <a:r>
                        <a:rPr lang="en-GB" sz="1000" dirty="0">
                          <a:solidFill>
                            <a:srgbClr val="00FF00"/>
                          </a:solidFill>
                        </a:rPr>
                        <a:t>Human Error</a:t>
                      </a:r>
                    </a:p>
                  </a:txBody>
                  <a:tcPr anchor="ctr">
                    <a:solidFill>
                      <a:schemeClr val="bg2"/>
                    </a:solidFill>
                  </a:tcPr>
                </a:tc>
                <a:tc>
                  <a:txBody>
                    <a:bodyPr/>
                    <a:lstStyle/>
                    <a:p>
                      <a:r>
                        <a:rPr lang="en-GB" sz="800" dirty="0"/>
                        <a:t>DEV.2025.008</a:t>
                      </a:r>
                    </a:p>
                    <a:p>
                      <a:r>
                        <a:rPr lang="en-GB" sz="800" dirty="0"/>
                        <a:t>DEV.2025.035</a:t>
                      </a:r>
                    </a:p>
                    <a:p>
                      <a:r>
                        <a:rPr lang="en-GB" sz="800" dirty="0">
                          <a:solidFill>
                            <a:srgbClr val="FF0000"/>
                          </a:solidFill>
                        </a:rPr>
                        <a:t>DEV.2026.013</a:t>
                      </a:r>
                    </a:p>
                  </a:txBody>
                  <a:tcPr anchor="ctr">
                    <a:solidFill>
                      <a:schemeClr val="bg2">
                        <a:lumMod val="20000"/>
                        <a:lumOff val="80000"/>
                      </a:schemeClr>
                    </a:solidFill>
                  </a:tcPr>
                </a:tc>
                <a:tc>
                  <a:txBody>
                    <a:bodyPr/>
                    <a:lstStyle/>
                    <a:p>
                      <a:pPr marL="228600" marR="0" lvl="0" indent="-228600" algn="just" defTabSz="914400" rtl="0" eaLnBrk="1" fontAlgn="auto" latinLnBrk="0" hangingPunct="1">
                        <a:lnSpc>
                          <a:spcPct val="100000"/>
                        </a:lnSpc>
                        <a:spcBef>
                          <a:spcPts val="0"/>
                        </a:spcBef>
                        <a:spcAft>
                          <a:spcPts val="0"/>
                        </a:spcAft>
                        <a:buClrTx/>
                        <a:buSzTx/>
                        <a:buFontTx/>
                        <a:buAutoNum type="arabicPeriod"/>
                        <a:tabLst/>
                        <a:defRPr/>
                      </a:pPr>
                      <a:r>
                        <a:rPr lang="en-GB" sz="800" dirty="0"/>
                        <a:t>Incorrect quantity of base excipient added. 468.8g added instead of 468g. The weighing slip was visually misinterpreted by operators. In addition, SOPs do not allow for minor variances where safe to do so.</a:t>
                      </a:r>
                    </a:p>
                    <a:p>
                      <a:pPr marL="228600" marR="0" lvl="0" indent="-228600" algn="just" defTabSz="914400" rtl="0" eaLnBrk="1" fontAlgn="auto" latinLnBrk="0" hangingPunct="1">
                        <a:lnSpc>
                          <a:spcPct val="100000"/>
                        </a:lnSpc>
                        <a:spcBef>
                          <a:spcPts val="0"/>
                        </a:spcBef>
                        <a:spcAft>
                          <a:spcPts val="0"/>
                        </a:spcAft>
                        <a:buClrTx/>
                        <a:buSzTx/>
                        <a:buFontTx/>
                        <a:buAutoNum type="arabicPeriod"/>
                        <a:tabLst/>
                        <a:defRPr/>
                      </a:pPr>
                      <a:r>
                        <a:rPr lang="en-GB" sz="800" b="0" dirty="0"/>
                        <a:t>Operator did not wait for volume checker and mistakenly used water for irrigation instead of maltitol. SOP does not state volume checker must witness the volume being made. Also, the operator was unwell during the shift. </a:t>
                      </a:r>
                    </a:p>
                    <a:p>
                      <a:pPr marL="228600" marR="0" lvl="0" indent="-228600" algn="just" defTabSz="914400" rtl="0" eaLnBrk="1" fontAlgn="auto" latinLnBrk="0" hangingPunct="1">
                        <a:lnSpc>
                          <a:spcPct val="100000"/>
                        </a:lnSpc>
                        <a:spcBef>
                          <a:spcPts val="0"/>
                        </a:spcBef>
                        <a:spcAft>
                          <a:spcPts val="0"/>
                        </a:spcAft>
                        <a:buClrTx/>
                        <a:buSzTx/>
                        <a:buFontTx/>
                        <a:buAutoNum type="arabicPeriod"/>
                        <a:tabLst/>
                        <a:defRPr/>
                      </a:pPr>
                      <a:r>
                        <a:rPr lang="en-GB" sz="800" b="0" dirty="0"/>
                        <a:t>Incorrect weighing scale used to measure 13mg of beclomethasone powder. Operator assumed procedure within SOP took precedence over BMR. Procedure is SOP is also inaccurate and requires updating</a:t>
                      </a:r>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b="1" dirty="0"/>
                        <a:t>No</a:t>
                      </a:r>
                      <a:r>
                        <a:rPr lang="en-GB" sz="800" b="0" dirty="0"/>
                        <a:t>: Differing staff, all human errors are combined with a procedural deficiency. </a:t>
                      </a:r>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b="0" dirty="0"/>
                        <a:t>N/A</a:t>
                      </a:r>
                    </a:p>
                  </a:txBody>
                  <a:tcPr anchor="ctr">
                    <a:solidFill>
                      <a:schemeClr val="bg2">
                        <a:lumMod val="20000"/>
                        <a:lumOff val="80000"/>
                      </a:schemeClr>
                    </a:solidFill>
                  </a:tcPr>
                </a:tc>
                <a:extLst>
                  <a:ext uri="{0D108BD9-81ED-4DB2-BD59-A6C34878D82A}">
                    <a16:rowId xmlns:a16="http://schemas.microsoft.com/office/drawing/2014/main" val="4256412861"/>
                  </a:ext>
                </a:extLst>
              </a:tr>
              <a:tr h="839802">
                <a:tc>
                  <a:txBody>
                    <a:bodyPr/>
                    <a:lstStyle/>
                    <a:p>
                      <a:pPr algn="ctr"/>
                      <a:r>
                        <a:rPr lang="en-GB" sz="1000" dirty="0">
                          <a:solidFill>
                            <a:srgbClr val="FFC000"/>
                          </a:solidFill>
                        </a:rPr>
                        <a:t>Stability</a:t>
                      </a:r>
                    </a:p>
                    <a:p>
                      <a:pPr algn="ctr"/>
                      <a:r>
                        <a:rPr lang="en-GB" sz="1000" dirty="0"/>
                        <a:t>&amp;</a:t>
                      </a:r>
                    </a:p>
                    <a:p>
                      <a:pPr algn="ctr"/>
                      <a:r>
                        <a:rPr lang="en-GB" sz="1000" dirty="0">
                          <a:solidFill>
                            <a:srgbClr val="00FF00"/>
                          </a:solidFill>
                        </a:rPr>
                        <a:t>Human Error</a:t>
                      </a:r>
                    </a:p>
                  </a:txBody>
                  <a:tcPr anchor="ctr">
                    <a:solidFill>
                      <a:schemeClr val="bg2"/>
                    </a:solidFill>
                  </a:tcPr>
                </a:tc>
                <a:tc>
                  <a:txBody>
                    <a:bodyPr/>
                    <a:lstStyle/>
                    <a:p>
                      <a:r>
                        <a:rPr lang="en-GB" sz="800" dirty="0">
                          <a:solidFill>
                            <a:srgbClr val="FF0000"/>
                          </a:solidFill>
                        </a:rPr>
                        <a:t>DEV.2025.037</a:t>
                      </a:r>
                    </a:p>
                    <a:p>
                      <a:r>
                        <a:rPr lang="en-GB" sz="800" dirty="0">
                          <a:solidFill>
                            <a:srgbClr val="FF0000"/>
                          </a:solidFill>
                        </a:rPr>
                        <a:t>DEV.2026.008</a:t>
                      </a:r>
                    </a:p>
                  </a:txBody>
                  <a:tcPr anchor="ctr">
                    <a:solidFill>
                      <a:schemeClr val="bg2">
                        <a:lumMod val="20000"/>
                        <a:lumOff val="80000"/>
                      </a:schemeClr>
                    </a:solidFill>
                  </a:tcPr>
                </a:tc>
                <a:tc>
                  <a:txBody>
                    <a:bodyPr/>
                    <a:lstStyle/>
                    <a:p>
                      <a:pPr marL="228600" marR="0" lvl="0" indent="-228600" algn="just" defTabSz="914400" rtl="0" eaLnBrk="1" fontAlgn="auto" latinLnBrk="0" hangingPunct="1">
                        <a:lnSpc>
                          <a:spcPct val="100000"/>
                        </a:lnSpc>
                        <a:spcBef>
                          <a:spcPts val="0"/>
                        </a:spcBef>
                        <a:spcAft>
                          <a:spcPts val="0"/>
                        </a:spcAft>
                        <a:buClrTx/>
                        <a:buSzTx/>
                        <a:buFontTx/>
                        <a:buAutoNum type="arabicPeriod"/>
                        <a:tabLst/>
                        <a:defRPr/>
                      </a:pPr>
                      <a:endParaRPr lang="en-US" sz="80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extLst>
                  <a:ext uri="{0D108BD9-81ED-4DB2-BD59-A6C34878D82A}">
                    <a16:rowId xmlns:a16="http://schemas.microsoft.com/office/drawing/2014/main" val="2083230222"/>
                  </a:ext>
                </a:extLst>
              </a:tr>
              <a:tr h="828152">
                <a:tc>
                  <a:txBody>
                    <a:bodyPr/>
                    <a:lstStyle/>
                    <a:p>
                      <a:pPr algn="ctr"/>
                      <a:r>
                        <a:rPr lang="en-GB" sz="1000" dirty="0">
                          <a:solidFill>
                            <a:srgbClr val="FFC000"/>
                          </a:solidFill>
                        </a:rPr>
                        <a:t>QC Testing</a:t>
                      </a:r>
                    </a:p>
                    <a:p>
                      <a:pPr algn="ctr"/>
                      <a:r>
                        <a:rPr lang="en-GB" sz="1000" dirty="0"/>
                        <a:t>&amp;</a:t>
                      </a:r>
                    </a:p>
                    <a:p>
                      <a:pPr algn="ctr"/>
                      <a:r>
                        <a:rPr lang="en-GB" sz="1000" dirty="0">
                          <a:solidFill>
                            <a:srgbClr val="00FF00"/>
                          </a:solidFill>
                        </a:rPr>
                        <a:t>Equipment Fault</a:t>
                      </a:r>
                    </a:p>
                  </a:txBody>
                  <a:tcPr anchor="ctr">
                    <a:solidFill>
                      <a:schemeClr val="bg2"/>
                    </a:solidFill>
                  </a:tcPr>
                </a:tc>
                <a:tc>
                  <a:txBody>
                    <a:bodyPr/>
                    <a:lstStyle/>
                    <a:p>
                      <a:r>
                        <a:rPr lang="en-GB" sz="800" dirty="0">
                          <a:solidFill>
                            <a:srgbClr val="FF0000"/>
                          </a:solidFill>
                        </a:rPr>
                        <a:t>DEV.2025.023</a:t>
                      </a:r>
                    </a:p>
                    <a:p>
                      <a:r>
                        <a:rPr lang="en-GB" sz="800" dirty="0">
                          <a:solidFill>
                            <a:srgbClr val="FF0000"/>
                          </a:solidFill>
                        </a:rPr>
                        <a:t>DEV.2026.018</a:t>
                      </a:r>
                    </a:p>
                    <a:p>
                      <a:r>
                        <a:rPr lang="en-GB" sz="800" dirty="0">
                          <a:solidFill>
                            <a:srgbClr val="FF0000"/>
                          </a:solidFill>
                        </a:rPr>
                        <a:t>DEV.2026.019</a:t>
                      </a:r>
                    </a:p>
                  </a:txBody>
                  <a:tcPr anchor="ctr">
                    <a:solidFill>
                      <a:schemeClr val="bg2">
                        <a:lumMod val="20000"/>
                        <a:lumOff val="80000"/>
                      </a:schemeClr>
                    </a:solidFill>
                  </a:tcPr>
                </a:tc>
                <a:tc>
                  <a:txBody>
                    <a:bodyPr/>
                    <a:lstStyle/>
                    <a:p>
                      <a:pPr marL="228600" marR="0" lvl="0" indent="-228600" algn="just" defTabSz="914400" rtl="0" eaLnBrk="1" fontAlgn="auto" latinLnBrk="0" hangingPunct="1">
                        <a:lnSpc>
                          <a:spcPct val="100000"/>
                        </a:lnSpc>
                        <a:spcBef>
                          <a:spcPts val="0"/>
                        </a:spcBef>
                        <a:spcAft>
                          <a:spcPts val="0"/>
                        </a:spcAft>
                        <a:buClrTx/>
                        <a:buSzTx/>
                        <a:buFontTx/>
                        <a:buAutoNum type="arabicPeriod"/>
                        <a:tabLst/>
                        <a:defRPr/>
                      </a:pPr>
                      <a:endParaRPr lang="en-GB" sz="800" b="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extLst>
                  <a:ext uri="{0D108BD9-81ED-4DB2-BD59-A6C34878D82A}">
                    <a16:rowId xmlns:a16="http://schemas.microsoft.com/office/drawing/2014/main" val="1570201018"/>
                  </a:ext>
                </a:extLst>
              </a:tr>
              <a:tr h="1318909">
                <a:tc>
                  <a:txBody>
                    <a:bodyPr/>
                    <a:lstStyle/>
                    <a:p>
                      <a:pPr algn="ctr"/>
                      <a:r>
                        <a:rPr lang="en-GB" sz="1000" dirty="0">
                          <a:solidFill>
                            <a:srgbClr val="FFC000"/>
                          </a:solidFill>
                        </a:rPr>
                        <a:t>Labelling</a:t>
                      </a:r>
                    </a:p>
                    <a:p>
                      <a:pPr algn="ctr"/>
                      <a:r>
                        <a:rPr lang="en-GB" sz="1000" dirty="0"/>
                        <a:t>&amp;</a:t>
                      </a:r>
                    </a:p>
                    <a:p>
                      <a:pPr algn="ctr"/>
                      <a:r>
                        <a:rPr lang="en-GB" sz="1000" dirty="0">
                          <a:solidFill>
                            <a:srgbClr val="00FF00"/>
                          </a:solidFill>
                        </a:rPr>
                        <a:t>Procedure is deficient</a:t>
                      </a:r>
                    </a:p>
                  </a:txBody>
                  <a:tcPr anchor="ctr">
                    <a:solidFill>
                      <a:schemeClr val="bg2"/>
                    </a:solidFill>
                  </a:tcPr>
                </a:tc>
                <a:tc>
                  <a:txBody>
                    <a:bodyPr/>
                    <a:lstStyle/>
                    <a:p>
                      <a:r>
                        <a:rPr lang="en-GB" sz="800" dirty="0">
                          <a:solidFill>
                            <a:srgbClr val="FF0000"/>
                          </a:solidFill>
                        </a:rPr>
                        <a:t>DEV.2026.014</a:t>
                      </a:r>
                    </a:p>
                    <a:p>
                      <a:r>
                        <a:rPr lang="en-GB" sz="800" dirty="0">
                          <a:solidFill>
                            <a:srgbClr val="FF0000"/>
                          </a:solidFill>
                        </a:rPr>
                        <a:t>DEV.2026.017</a:t>
                      </a:r>
                    </a:p>
                  </a:txBody>
                  <a:tcPr anchor="ctr">
                    <a:solidFill>
                      <a:schemeClr val="bg2">
                        <a:lumMod val="20000"/>
                        <a:lumOff val="80000"/>
                      </a:schemeClr>
                    </a:solidFill>
                  </a:tcPr>
                </a:tc>
                <a:tc>
                  <a:txBody>
                    <a:bodyPr/>
                    <a:lstStyle/>
                    <a:p>
                      <a:pPr marL="228600" indent="-228600" algn="just">
                        <a:buFont typeface="+mj-lt"/>
                        <a:buAutoNum type="arabicPeriod"/>
                      </a:pPr>
                      <a:endParaRPr lang="en-GB" sz="800" b="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extLst>
                  <a:ext uri="{0D108BD9-81ED-4DB2-BD59-A6C34878D82A}">
                    <a16:rowId xmlns:a16="http://schemas.microsoft.com/office/drawing/2014/main" val="235642476"/>
                  </a:ext>
                </a:extLst>
              </a:tr>
              <a:tr h="705463">
                <a:tc>
                  <a:txBody>
                    <a:bodyPr/>
                    <a:lstStyle/>
                    <a:p>
                      <a:pPr algn="ctr"/>
                      <a:r>
                        <a:rPr lang="en-GB" sz="1000" dirty="0">
                          <a:solidFill>
                            <a:srgbClr val="FFC000"/>
                          </a:solidFill>
                        </a:rPr>
                        <a:t>Temperature Monitoring</a:t>
                      </a:r>
                    </a:p>
                    <a:p>
                      <a:pPr algn="ctr"/>
                      <a:r>
                        <a:rPr lang="en-GB" sz="1000" dirty="0"/>
                        <a:t>&amp;</a:t>
                      </a:r>
                    </a:p>
                    <a:p>
                      <a:pPr algn="ctr"/>
                      <a:r>
                        <a:rPr lang="en-GB" sz="1000" dirty="0">
                          <a:solidFill>
                            <a:srgbClr val="00FF00"/>
                          </a:solidFill>
                        </a:rPr>
                        <a:t>Procedure is deficient</a:t>
                      </a:r>
                    </a:p>
                  </a:txBody>
                  <a:tcPr anchor="ctr">
                    <a:solidFill>
                      <a:schemeClr val="bg2"/>
                    </a:solidFill>
                  </a:tcPr>
                </a:tc>
                <a:tc>
                  <a:txBody>
                    <a:bodyPr/>
                    <a:lstStyle/>
                    <a:p>
                      <a:r>
                        <a:rPr lang="en-GB" sz="800" dirty="0">
                          <a:solidFill>
                            <a:srgbClr val="FF0000"/>
                          </a:solidFill>
                        </a:rPr>
                        <a:t>DEV.2025.036</a:t>
                      </a:r>
                    </a:p>
                    <a:p>
                      <a:r>
                        <a:rPr lang="en-GB" sz="800" dirty="0">
                          <a:solidFill>
                            <a:srgbClr val="FF0000"/>
                          </a:solidFill>
                        </a:rPr>
                        <a:t>DEV.2026.020</a:t>
                      </a:r>
                    </a:p>
                  </a:txBody>
                  <a:tcPr anchor="ctr">
                    <a:solidFill>
                      <a:schemeClr val="bg2">
                        <a:lumMod val="20000"/>
                        <a:lumOff val="80000"/>
                      </a:schemeClr>
                    </a:solidFill>
                  </a:tcPr>
                </a:tc>
                <a:tc>
                  <a:txBody>
                    <a:bodyPr/>
                    <a:lstStyle/>
                    <a:p>
                      <a:pPr marL="228600" indent="-228600">
                        <a:buFont typeface="+mj-lt"/>
                        <a:buAutoNum type="arabicPeriod"/>
                      </a:pPr>
                      <a:endParaRPr lang="en-GB" sz="800" b="1"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extLst>
                  <a:ext uri="{0D108BD9-81ED-4DB2-BD59-A6C34878D82A}">
                    <a16:rowId xmlns:a16="http://schemas.microsoft.com/office/drawing/2014/main" val="1976507391"/>
                  </a:ext>
                </a:extLst>
              </a:tr>
              <a:tr h="590972">
                <a:tc>
                  <a:txBody>
                    <a:bodyPr/>
                    <a:lstStyle/>
                    <a:p>
                      <a:pPr algn="ctr"/>
                      <a:r>
                        <a:rPr lang="en-GB" sz="1000" dirty="0">
                          <a:solidFill>
                            <a:srgbClr val="FFC000"/>
                          </a:solidFill>
                        </a:rPr>
                        <a:t>Equipment</a:t>
                      </a:r>
                    </a:p>
                    <a:p>
                      <a:pPr algn="ctr"/>
                      <a:r>
                        <a:rPr lang="en-GB" sz="1000" dirty="0"/>
                        <a:t>&amp;</a:t>
                      </a:r>
                    </a:p>
                    <a:p>
                      <a:pPr algn="ctr"/>
                      <a:r>
                        <a:rPr lang="en-GB" sz="1000" dirty="0">
                          <a:solidFill>
                            <a:srgbClr val="00FF00"/>
                          </a:solidFill>
                        </a:rPr>
                        <a:t>Equipment Fault </a:t>
                      </a:r>
                    </a:p>
                  </a:txBody>
                  <a:tcPr anchor="ctr">
                    <a:solidFill>
                      <a:schemeClr val="bg2"/>
                    </a:solidFill>
                  </a:tcPr>
                </a:tc>
                <a:tc>
                  <a:txBody>
                    <a:bodyPr/>
                    <a:lstStyle/>
                    <a:p>
                      <a:r>
                        <a:rPr lang="en-GB" sz="800" dirty="0"/>
                        <a:t>DEV.2025.029</a:t>
                      </a:r>
                    </a:p>
                    <a:p>
                      <a:r>
                        <a:rPr lang="en-GB" sz="800" dirty="0"/>
                        <a:t>DEV.2026.002</a:t>
                      </a:r>
                    </a:p>
                    <a:p>
                      <a:r>
                        <a:rPr lang="en-GB" sz="800" dirty="0"/>
                        <a:t>DEV.2026.003</a:t>
                      </a:r>
                    </a:p>
                    <a:p>
                      <a:r>
                        <a:rPr lang="en-GB" sz="800" dirty="0">
                          <a:solidFill>
                            <a:srgbClr val="FF0000"/>
                          </a:solidFill>
                        </a:rPr>
                        <a:t>DEV.2026.009</a:t>
                      </a:r>
                    </a:p>
                    <a:p>
                      <a:r>
                        <a:rPr lang="en-GB" sz="800" dirty="0">
                          <a:solidFill>
                            <a:srgbClr val="FF0000"/>
                          </a:solidFill>
                        </a:rPr>
                        <a:t>DEV.2026.012</a:t>
                      </a:r>
                    </a:p>
                    <a:p>
                      <a:r>
                        <a:rPr lang="en-GB" sz="800" dirty="0">
                          <a:solidFill>
                            <a:srgbClr val="FF0000"/>
                          </a:solidFill>
                        </a:rPr>
                        <a:t>DEV.2026.016</a:t>
                      </a:r>
                    </a:p>
                  </a:txBody>
                  <a:tcPr anchor="ctr">
                    <a:solidFill>
                      <a:schemeClr val="bg2">
                        <a:lumMod val="20000"/>
                        <a:lumOff val="80000"/>
                      </a:schemeClr>
                    </a:solidFill>
                  </a:tcPr>
                </a:tc>
                <a:tc>
                  <a:txBody>
                    <a:bodyPr/>
                    <a:lstStyle/>
                    <a:p>
                      <a:pPr marL="228600" indent="-228600" algn="just">
                        <a:buAutoNum type="arabicPeriod"/>
                      </a:pPr>
                      <a:r>
                        <a:rPr lang="en-GB" sz="800" b="0"/>
                        <a:t>Friability machine failure, motor that drives rotating drum suffered internal damages.</a:t>
                      </a:r>
                    </a:p>
                    <a:p>
                      <a:pPr marL="228600" indent="-228600" algn="just">
                        <a:buAutoNum type="arabicPeriod"/>
                      </a:pPr>
                      <a:r>
                        <a:rPr lang="en-GB" sz="800" b="0"/>
                        <a:t>Loan Comark transmitter gave discrepancy in humidity measurement due to sensor issue.</a:t>
                      </a:r>
                    </a:p>
                    <a:p>
                      <a:pPr marL="228600" indent="-228600" algn="just">
                        <a:buAutoNum type="arabicPeriod"/>
                      </a:pPr>
                      <a:r>
                        <a:rPr lang="en-GB" sz="800" b="0"/>
                        <a:t>Autosampler error in HPLC, robotic arm malfunction due to module defect over time.</a:t>
                      </a:r>
                      <a:endParaRPr lang="en-GB" sz="800" b="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b="1"/>
                        <a:t>No</a:t>
                      </a:r>
                      <a:r>
                        <a:rPr lang="en-GB" sz="800" b="0"/>
                        <a:t>: differing equipment </a:t>
                      </a:r>
                      <a:endParaRPr lang="en-GB" sz="800" b="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b="0" dirty="0"/>
                        <a:t>N/A</a:t>
                      </a:r>
                    </a:p>
                  </a:txBody>
                  <a:tcPr anchor="ctr">
                    <a:solidFill>
                      <a:schemeClr val="bg2">
                        <a:lumMod val="20000"/>
                        <a:lumOff val="80000"/>
                      </a:schemeClr>
                    </a:solidFill>
                  </a:tcPr>
                </a:tc>
                <a:extLst>
                  <a:ext uri="{0D108BD9-81ED-4DB2-BD59-A6C34878D82A}">
                    <a16:rowId xmlns:a16="http://schemas.microsoft.com/office/drawing/2014/main" val="4206209570"/>
                  </a:ext>
                </a:extLst>
              </a:tr>
            </a:tbl>
          </a:graphicData>
        </a:graphic>
      </p:graphicFrame>
      <p:sp>
        <p:nvSpPr>
          <p:cNvPr id="6" name="TextBox 5">
            <a:extLst>
              <a:ext uri="{FF2B5EF4-FFF2-40B4-BE49-F238E27FC236}">
                <a16:creationId xmlns:a16="http://schemas.microsoft.com/office/drawing/2014/main" id="{9B549DF8-639F-63BC-87C5-B42A6D5B7621}"/>
              </a:ext>
            </a:extLst>
          </p:cNvPr>
          <p:cNvSpPr txBox="1"/>
          <p:nvPr/>
        </p:nvSpPr>
        <p:spPr>
          <a:xfrm>
            <a:off x="780710" y="1140514"/>
            <a:ext cx="2926051" cy="5509200"/>
          </a:xfrm>
          <a:prstGeom prst="rect">
            <a:avLst/>
          </a:prstGeom>
          <a:noFill/>
        </p:spPr>
        <p:txBody>
          <a:bodyPr wrap="square" rtlCol="0">
            <a:spAutoFit/>
          </a:bodyPr>
          <a:lstStyle/>
          <a:p>
            <a:r>
              <a:rPr lang="en-GB" sz="1600" b="1" u="sng" dirty="0"/>
              <a:t>Systemic themes identified: </a:t>
            </a:r>
          </a:p>
          <a:p>
            <a:endParaRPr lang="en-GB" sz="1600" dirty="0"/>
          </a:p>
          <a:p>
            <a:pPr marL="285750" indent="-285750">
              <a:buFont typeface="Arial" panose="020B0604020202020204" pitchFamily="34" charset="0"/>
              <a:buChar char="•"/>
            </a:pPr>
            <a:r>
              <a:rPr lang="en-GB" sz="1600" dirty="0"/>
              <a:t>Multiple equipment fault root causes have been assigned in various deviation areas. </a:t>
            </a:r>
          </a:p>
          <a:p>
            <a:pPr marL="285750" indent="-285750">
              <a:buFont typeface="Arial" panose="020B0604020202020204" pitchFamily="34" charset="0"/>
              <a:buChar char="•"/>
            </a:pPr>
            <a:r>
              <a:rPr lang="en-GB" sz="1600" dirty="0"/>
              <a:t>The primary theme of these equipment faults seem to be wear and tear of older equipment and prolonged usage</a:t>
            </a:r>
          </a:p>
          <a:p>
            <a:endParaRPr lang="en-GB" sz="1600" dirty="0"/>
          </a:p>
          <a:p>
            <a:r>
              <a:rPr lang="en-GB" sz="1600" b="1" u="sng" dirty="0"/>
              <a:t>Further actions: </a:t>
            </a:r>
          </a:p>
          <a:p>
            <a:endParaRPr lang="en-GB" sz="1600" b="1" dirty="0"/>
          </a:p>
          <a:p>
            <a:pPr marL="285750" indent="-285750">
              <a:buFont typeface="Arial" panose="020B0604020202020204" pitchFamily="34" charset="0"/>
              <a:buChar char="•"/>
            </a:pPr>
            <a:r>
              <a:rPr lang="en-GB" sz="1600" dirty="0"/>
              <a:t>No further action is required based on this analysis. Equipment is being systematically replaced where it is warranted. </a:t>
            </a:r>
          </a:p>
          <a:p>
            <a:pPr marL="285750" indent="-285750">
              <a:buFont typeface="Arial" panose="020B0604020202020204" pitchFamily="34" charset="0"/>
              <a:buChar char="•"/>
            </a:pPr>
            <a:r>
              <a:rPr lang="en-GB" sz="1600" dirty="0"/>
              <a:t>As stated in the table there is no escalation required or regulatory impact </a:t>
            </a:r>
          </a:p>
        </p:txBody>
      </p:sp>
    </p:spTree>
    <p:extLst>
      <p:ext uri="{BB962C8B-B14F-4D97-AF65-F5344CB8AC3E}">
        <p14:creationId xmlns:p14="http://schemas.microsoft.com/office/powerpoint/2010/main" val="836836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7000">
              <a:schemeClr val="bg1"/>
            </a:gs>
            <a:gs pos="46000">
              <a:schemeClr val="bg2">
                <a:lumMod val="75000"/>
              </a:schemeClr>
            </a:gs>
            <a:gs pos="94000">
              <a:srgbClr val="00B0F0"/>
            </a:gs>
          </a:gsLst>
          <a:lin ang="2700000" scaled="1"/>
        </a:gradFill>
        <a:effectLst/>
      </p:bgPr>
    </p:bg>
    <p:spTree>
      <p:nvGrpSpPr>
        <p:cNvPr id="1" name="">
          <a:extLst>
            <a:ext uri="{FF2B5EF4-FFF2-40B4-BE49-F238E27FC236}">
              <a16:creationId xmlns:a16="http://schemas.microsoft.com/office/drawing/2014/main" id="{3F05BFB8-DED7-2976-18C8-A8DF0260EA6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1E1B270-BE26-875C-E6BF-61BE1E535E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8ADF61B-23CD-8971-CE35-213DF8D18E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D04CFEF-F054-0172-1506-0E1DA5519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8" name="Title 1">
            <a:extLst>
              <a:ext uri="{FF2B5EF4-FFF2-40B4-BE49-F238E27FC236}">
                <a16:creationId xmlns:a16="http://schemas.microsoft.com/office/drawing/2014/main" id="{7D9FF0DC-B542-9261-7E0A-0FDFCF0555FB}"/>
              </a:ext>
            </a:extLst>
          </p:cNvPr>
          <p:cNvSpPr>
            <a:spLocks noGrp="1"/>
          </p:cNvSpPr>
          <p:nvPr>
            <p:ph type="title"/>
          </p:nvPr>
        </p:nvSpPr>
        <p:spPr>
          <a:xfrm>
            <a:off x="4059080" y="68824"/>
            <a:ext cx="8132919" cy="312177"/>
          </a:xfrm>
        </p:spPr>
        <p:txBody>
          <a:bodyPr vert="horz" lIns="91440" tIns="45720" rIns="91440" bIns="45720" rtlCol="0" anchor="ctr">
            <a:noAutofit/>
          </a:bodyPr>
          <a:lstStyle/>
          <a:p>
            <a:pPr algn="ctr">
              <a:lnSpc>
                <a:spcPct val="80000"/>
              </a:lnSpc>
            </a:pPr>
            <a:r>
              <a:rPr lang="en-US" sz="2400" b="1" spc="150" dirty="0">
                <a:solidFill>
                  <a:schemeClr val="tx2"/>
                </a:solidFill>
              </a:rPr>
              <a:t>TREND GRAPHS</a:t>
            </a:r>
          </a:p>
        </p:txBody>
      </p:sp>
      <p:sp>
        <p:nvSpPr>
          <p:cNvPr id="14" name="Rectangle 13">
            <a:extLst>
              <a:ext uri="{FF2B5EF4-FFF2-40B4-BE49-F238E27FC236}">
                <a16:creationId xmlns:a16="http://schemas.microsoft.com/office/drawing/2014/main" id="{BBAEEB50-298A-387A-C6FF-810DD1022CB0}"/>
              </a:ext>
            </a:extLst>
          </p:cNvPr>
          <p:cNvSpPr/>
          <p:nvPr/>
        </p:nvSpPr>
        <p:spPr>
          <a:xfrm>
            <a:off x="48202" y="224912"/>
            <a:ext cx="622927" cy="6302478"/>
          </a:xfrm>
          <a:prstGeom prst="rect">
            <a:avLst/>
          </a:prstGeom>
          <a:noFill/>
        </p:spPr>
        <p:txBody>
          <a:bodyPr vert="wordArtVert" wrap="square" lIns="91440" tIns="45720" rIns="91440" bIns="45720">
            <a:spAutoFit/>
          </a:bodyPr>
          <a:lstStyle/>
          <a:p>
            <a:pPr algn="ctr"/>
            <a:r>
              <a:rPr lang="en-US" sz="2400" b="1" cap="none" spc="0" dirty="0">
                <a:ln w="0"/>
                <a:solidFill>
                  <a:schemeClr val="tx1"/>
                </a:solidFill>
                <a:effectLst>
                  <a:outerShdw blurRad="38100" dist="38100" dir="2700000" algn="tl">
                    <a:srgbClr val="000000">
                      <a:alpha val="43137"/>
                    </a:srgbClr>
                  </a:outerShdw>
                </a:effectLst>
                <a:latin typeface="+mj-lt"/>
              </a:rPr>
              <a:t>GMP COMPLAINTS</a:t>
            </a:r>
          </a:p>
        </p:txBody>
      </p:sp>
      <p:sp>
        <p:nvSpPr>
          <p:cNvPr id="15" name="Title 1">
            <a:extLst>
              <a:ext uri="{FF2B5EF4-FFF2-40B4-BE49-F238E27FC236}">
                <a16:creationId xmlns:a16="http://schemas.microsoft.com/office/drawing/2014/main" id="{7687AADC-9C11-26A7-9FC4-037DF9BC28C5}"/>
              </a:ext>
            </a:extLst>
          </p:cNvPr>
          <p:cNvSpPr txBox="1">
            <a:spLocks/>
          </p:cNvSpPr>
          <p:nvPr/>
        </p:nvSpPr>
        <p:spPr>
          <a:xfrm>
            <a:off x="719329" y="0"/>
            <a:ext cx="3339751" cy="68825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pPr algn="ctr"/>
            <a:r>
              <a:rPr lang="en-GB" sz="2800" b="1" dirty="0">
                <a:solidFill>
                  <a:schemeClr val="tx1"/>
                </a:solidFill>
              </a:rPr>
              <a:t>KPI Summary</a:t>
            </a:r>
          </a:p>
        </p:txBody>
      </p:sp>
      <p:graphicFrame>
        <p:nvGraphicFramePr>
          <p:cNvPr id="16" name="Content Placeholder 3">
            <a:extLst>
              <a:ext uri="{FF2B5EF4-FFF2-40B4-BE49-F238E27FC236}">
                <a16:creationId xmlns:a16="http://schemas.microsoft.com/office/drawing/2014/main" id="{1FC73699-5866-693A-C5B8-1BECB2F2F7DC}"/>
              </a:ext>
            </a:extLst>
          </p:cNvPr>
          <p:cNvGraphicFramePr>
            <a:graphicFrameLocks noGrp="1"/>
          </p:cNvGraphicFramePr>
          <p:nvPr>
            <p:ph idx="1"/>
            <p:extLst>
              <p:ext uri="{D42A27DB-BD31-4B8C-83A1-F6EECF244321}">
                <p14:modId xmlns:p14="http://schemas.microsoft.com/office/powerpoint/2010/main" val="3854045961"/>
              </p:ext>
            </p:extLst>
          </p:nvPr>
        </p:nvGraphicFramePr>
        <p:xfrm>
          <a:off x="820038" y="688258"/>
          <a:ext cx="3127336" cy="3749118"/>
        </p:xfrm>
        <a:graphic>
          <a:graphicData uri="http://schemas.openxmlformats.org/drawingml/2006/table">
            <a:tbl>
              <a:tblPr firstRow="1" firstCol="1">
                <a:tableStyleId>{073A0DAA-6AF3-43AB-8588-CEC1D06C72B9}</a:tableStyleId>
              </a:tblPr>
              <a:tblGrid>
                <a:gridCol w="1237362">
                  <a:extLst>
                    <a:ext uri="{9D8B030D-6E8A-4147-A177-3AD203B41FA5}">
                      <a16:colId xmlns:a16="http://schemas.microsoft.com/office/drawing/2014/main" val="3746610510"/>
                    </a:ext>
                  </a:extLst>
                </a:gridCol>
                <a:gridCol w="974035">
                  <a:extLst>
                    <a:ext uri="{9D8B030D-6E8A-4147-A177-3AD203B41FA5}">
                      <a16:colId xmlns:a16="http://schemas.microsoft.com/office/drawing/2014/main" val="1245586481"/>
                    </a:ext>
                  </a:extLst>
                </a:gridCol>
                <a:gridCol w="915939">
                  <a:extLst>
                    <a:ext uri="{9D8B030D-6E8A-4147-A177-3AD203B41FA5}">
                      <a16:colId xmlns:a16="http://schemas.microsoft.com/office/drawing/2014/main" val="420243024"/>
                    </a:ext>
                  </a:extLst>
                </a:gridCol>
              </a:tblGrid>
              <a:tr h="1002891">
                <a:tc>
                  <a:txBody>
                    <a:bodyPr/>
                    <a:lstStyle/>
                    <a:p>
                      <a:pPr algn="ctr"/>
                      <a:r>
                        <a:rPr lang="en-GB" sz="1800" b="1" kern="1200" dirty="0">
                          <a:solidFill>
                            <a:schemeClr val="lt1"/>
                          </a:solidFill>
                          <a:latin typeface="+mn-lt"/>
                          <a:ea typeface="+mn-ea"/>
                          <a:cs typeface="+mn-cs"/>
                        </a:rPr>
                        <a:t>KPI </a:t>
                      </a:r>
                    </a:p>
                  </a:txBody>
                  <a:tcPr anchor="ctr"/>
                </a:tc>
                <a:tc>
                  <a:txBody>
                    <a:bodyPr/>
                    <a:lstStyle/>
                    <a:p>
                      <a:pPr algn="ctr"/>
                      <a:r>
                        <a:rPr lang="en-GB" sz="1800" b="1" kern="1200" dirty="0">
                          <a:solidFill>
                            <a:schemeClr val="lt1"/>
                          </a:solidFill>
                          <a:latin typeface="+mn-lt"/>
                          <a:ea typeface="+mn-ea"/>
                          <a:cs typeface="+mn-cs"/>
                        </a:rPr>
                        <a:t>Q1 (2026)</a:t>
                      </a:r>
                    </a:p>
                  </a:txBody>
                  <a:tcPr anchor="ctr"/>
                </a:tc>
                <a:tc>
                  <a:txBody>
                    <a:bodyPr/>
                    <a:lstStyle/>
                    <a:p>
                      <a:pPr algn="ctr"/>
                      <a:r>
                        <a:rPr lang="en-GB" sz="1800" b="1" kern="1200" dirty="0">
                          <a:solidFill>
                            <a:schemeClr val="lt1"/>
                          </a:solidFill>
                          <a:latin typeface="+mn-lt"/>
                          <a:ea typeface="+mn-ea"/>
                          <a:cs typeface="+mn-cs"/>
                        </a:rPr>
                        <a:t>Q2 (2026)</a:t>
                      </a:r>
                    </a:p>
                  </a:txBody>
                  <a:tcPr anchor="ctr"/>
                </a:tc>
                <a:extLst>
                  <a:ext uri="{0D108BD9-81ED-4DB2-BD59-A6C34878D82A}">
                    <a16:rowId xmlns:a16="http://schemas.microsoft.com/office/drawing/2014/main" val="2811724974"/>
                  </a:ext>
                </a:extLst>
              </a:tr>
              <a:tr h="806245">
                <a:tc>
                  <a:txBody>
                    <a:bodyPr/>
                    <a:lstStyle/>
                    <a:p>
                      <a:pPr algn="ctr"/>
                      <a:r>
                        <a:rPr lang="en-GB" sz="1400" b="1" dirty="0"/>
                        <a:t>Total raised this quarter</a:t>
                      </a:r>
                    </a:p>
                  </a:txBody>
                  <a:tcPr anchor="ctr"/>
                </a:tc>
                <a:tc>
                  <a:txBody>
                    <a:bodyPr/>
                    <a:lstStyle/>
                    <a:p>
                      <a:pPr algn="ctr"/>
                      <a:r>
                        <a:rPr lang="en-GB" sz="1800" b="0" dirty="0"/>
                        <a:t>5</a:t>
                      </a:r>
                    </a:p>
                  </a:txBody>
                  <a:tcPr anchor="ctr"/>
                </a:tc>
                <a:tc>
                  <a:txBody>
                    <a:bodyPr/>
                    <a:lstStyle/>
                    <a:p>
                      <a:pPr algn="ctr"/>
                      <a:r>
                        <a:rPr lang="en-GB" sz="1800" b="0" dirty="0"/>
                        <a:t>1</a:t>
                      </a:r>
                    </a:p>
                  </a:txBody>
                  <a:tcPr anchor="ctr"/>
                </a:tc>
                <a:extLst>
                  <a:ext uri="{0D108BD9-81ED-4DB2-BD59-A6C34878D82A}">
                    <a16:rowId xmlns:a16="http://schemas.microsoft.com/office/drawing/2014/main" val="893295017"/>
                  </a:ext>
                </a:extLst>
              </a:tr>
              <a:tr h="609600">
                <a:tc>
                  <a:txBody>
                    <a:bodyPr/>
                    <a:lstStyle/>
                    <a:p>
                      <a:pPr algn="ctr"/>
                      <a:r>
                        <a:rPr lang="en-GB" sz="1400" b="1" dirty="0"/>
                        <a:t>Total closed this quarter</a:t>
                      </a:r>
                    </a:p>
                  </a:txBody>
                  <a:tcPr anchor="ctr"/>
                </a:tc>
                <a:tc>
                  <a:txBody>
                    <a:bodyPr/>
                    <a:lstStyle/>
                    <a:p>
                      <a:pPr algn="ctr"/>
                      <a:r>
                        <a:rPr lang="en-GB" sz="1800" b="0" dirty="0"/>
                        <a:t>4</a:t>
                      </a:r>
                    </a:p>
                  </a:txBody>
                  <a:tcPr anchor="ctr"/>
                </a:tc>
                <a:tc>
                  <a:txBody>
                    <a:bodyPr/>
                    <a:lstStyle/>
                    <a:p>
                      <a:pPr algn="ctr"/>
                      <a:r>
                        <a:rPr lang="en-GB" sz="1800" b="0" dirty="0"/>
                        <a:t>3</a:t>
                      </a:r>
                    </a:p>
                  </a:txBody>
                  <a:tcPr anchor="ctr"/>
                </a:tc>
                <a:extLst>
                  <a:ext uri="{0D108BD9-81ED-4DB2-BD59-A6C34878D82A}">
                    <a16:rowId xmlns:a16="http://schemas.microsoft.com/office/drawing/2014/main" val="1846249938"/>
                  </a:ext>
                </a:extLst>
              </a:tr>
              <a:tr h="530942">
                <a:tc>
                  <a:txBody>
                    <a:bodyPr/>
                    <a:lstStyle/>
                    <a:p>
                      <a:pPr algn="ctr"/>
                      <a:r>
                        <a:rPr lang="en-GB" sz="1400" b="1" dirty="0"/>
                        <a:t>Average Closure time</a:t>
                      </a:r>
                    </a:p>
                  </a:txBody>
                  <a:tcPr anchor="ctr"/>
                </a:tc>
                <a:tc>
                  <a:txBody>
                    <a:bodyPr/>
                    <a:lstStyle/>
                    <a:p>
                      <a:pPr algn="ctr"/>
                      <a:r>
                        <a:rPr lang="en-GB" sz="1800" b="0" dirty="0"/>
                        <a:t>38 days</a:t>
                      </a:r>
                    </a:p>
                  </a:txBody>
                  <a:tcPr anchor="ctr"/>
                </a:tc>
                <a:tc>
                  <a:txBody>
                    <a:bodyPr/>
                    <a:lstStyle/>
                    <a:p>
                      <a:pPr algn="ctr"/>
                      <a:r>
                        <a:rPr lang="en-GB" sz="1800" b="0" dirty="0"/>
                        <a:t>56 days</a:t>
                      </a:r>
                    </a:p>
                  </a:txBody>
                  <a:tcPr anchor="ctr"/>
                </a:tc>
                <a:extLst>
                  <a:ext uri="{0D108BD9-81ED-4DB2-BD59-A6C34878D82A}">
                    <a16:rowId xmlns:a16="http://schemas.microsoft.com/office/drawing/2014/main" val="855198943"/>
                  </a:ext>
                </a:extLst>
              </a:tr>
              <a:tr h="799440">
                <a:tc>
                  <a:txBody>
                    <a:bodyPr/>
                    <a:lstStyle/>
                    <a:p>
                      <a:pPr algn="ctr"/>
                      <a:r>
                        <a:rPr lang="en-GB" sz="1400" b="1" dirty="0"/>
                        <a:t>Major/Critical raised</a:t>
                      </a:r>
                    </a:p>
                  </a:txBody>
                  <a:tcPr anchor="ctr"/>
                </a:tc>
                <a:tc>
                  <a:txBody>
                    <a:bodyPr/>
                    <a:lstStyle/>
                    <a:p>
                      <a:pPr algn="ctr"/>
                      <a:r>
                        <a:rPr lang="en-GB" sz="1800" b="0" dirty="0"/>
                        <a:t>1</a:t>
                      </a:r>
                    </a:p>
                  </a:txBody>
                  <a:tcPr anchor="ctr"/>
                </a:tc>
                <a:tc>
                  <a:txBody>
                    <a:bodyPr/>
                    <a:lstStyle/>
                    <a:p>
                      <a:pPr algn="ctr"/>
                      <a:r>
                        <a:rPr lang="en-GB" sz="1800" b="0" dirty="0"/>
                        <a:t>0</a:t>
                      </a:r>
                    </a:p>
                  </a:txBody>
                  <a:tcPr anchor="ctr"/>
                </a:tc>
                <a:extLst>
                  <a:ext uri="{0D108BD9-81ED-4DB2-BD59-A6C34878D82A}">
                    <a16:rowId xmlns:a16="http://schemas.microsoft.com/office/drawing/2014/main" val="4060241798"/>
                  </a:ext>
                </a:extLst>
              </a:tr>
            </a:tbl>
          </a:graphicData>
        </a:graphic>
      </p:graphicFrame>
      <p:sp>
        <p:nvSpPr>
          <p:cNvPr id="2" name="Title 1">
            <a:extLst>
              <a:ext uri="{FF2B5EF4-FFF2-40B4-BE49-F238E27FC236}">
                <a16:creationId xmlns:a16="http://schemas.microsoft.com/office/drawing/2014/main" id="{64D564F6-B25B-A681-932C-439AE0F4D968}"/>
              </a:ext>
            </a:extLst>
          </p:cNvPr>
          <p:cNvSpPr txBox="1">
            <a:spLocks/>
          </p:cNvSpPr>
          <p:nvPr/>
        </p:nvSpPr>
        <p:spPr>
          <a:xfrm>
            <a:off x="634047" y="4884174"/>
            <a:ext cx="3339751" cy="1418303"/>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pPr algn="ctr"/>
            <a:r>
              <a:rPr lang="en-GB" sz="2800" b="1" cap="none" dirty="0">
                <a:solidFill>
                  <a:schemeClr val="tx1"/>
                </a:solidFill>
                <a:latin typeface="+mn-lt"/>
              </a:rPr>
              <a:t>KPI &amp; Trend Assessment: </a:t>
            </a:r>
          </a:p>
          <a:p>
            <a:pPr algn="ctr"/>
            <a:endParaRPr lang="en-GB" sz="2800" b="1" cap="none" dirty="0">
              <a:solidFill>
                <a:schemeClr val="tx1"/>
              </a:solidFill>
              <a:latin typeface="+mn-lt"/>
            </a:endParaRPr>
          </a:p>
          <a:p>
            <a:pPr algn="ctr"/>
            <a:r>
              <a:rPr lang="en-GB" sz="2800" dirty="0"/>
              <a:t>🟢</a:t>
            </a:r>
            <a:r>
              <a:rPr lang="en-GB" sz="2800" cap="none" dirty="0">
                <a:solidFill>
                  <a:schemeClr val="tx1"/>
                </a:solidFill>
              </a:rPr>
              <a:t>- Improving </a:t>
            </a:r>
          </a:p>
        </p:txBody>
      </p:sp>
      <p:graphicFrame>
        <p:nvGraphicFramePr>
          <p:cNvPr id="3" name="Chart 2">
            <a:extLst>
              <a:ext uri="{FF2B5EF4-FFF2-40B4-BE49-F238E27FC236}">
                <a16:creationId xmlns:a16="http://schemas.microsoft.com/office/drawing/2014/main" id="{10A73493-C48E-90B6-0F29-4E08C184FCDA}"/>
              </a:ext>
            </a:extLst>
          </p:cNvPr>
          <p:cNvGraphicFramePr>
            <a:graphicFrameLocks/>
          </p:cNvGraphicFramePr>
          <p:nvPr>
            <p:extLst>
              <p:ext uri="{D42A27DB-BD31-4B8C-83A1-F6EECF244321}">
                <p14:modId xmlns:p14="http://schemas.microsoft.com/office/powerpoint/2010/main" val="4071147746"/>
              </p:ext>
            </p:extLst>
          </p:nvPr>
        </p:nvGraphicFramePr>
        <p:xfrm>
          <a:off x="4059080" y="449826"/>
          <a:ext cx="8132919" cy="32938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56E75DCB-EC35-8F83-8667-17A098087808}"/>
              </a:ext>
            </a:extLst>
          </p:cNvPr>
          <p:cNvGraphicFramePr>
            <a:graphicFrameLocks/>
          </p:cNvGraphicFramePr>
          <p:nvPr>
            <p:extLst>
              <p:ext uri="{D42A27DB-BD31-4B8C-83A1-F6EECF244321}">
                <p14:modId xmlns:p14="http://schemas.microsoft.com/office/powerpoint/2010/main" val="458690812"/>
              </p:ext>
            </p:extLst>
          </p:nvPr>
        </p:nvGraphicFramePr>
        <p:xfrm>
          <a:off x="4059080" y="3743630"/>
          <a:ext cx="8132920" cy="311437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510654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8BE9540-358E-F159-C1F7-FD2552138CB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53D99C8-D7F0-22E1-865C-7F6397561C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6961546-ED75-1098-BC50-3F6A20AFE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4D6FC82-4055-2C16-1176-1B908A7B3D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6" name="TextBox 5">
            <a:extLst>
              <a:ext uri="{FF2B5EF4-FFF2-40B4-BE49-F238E27FC236}">
                <a16:creationId xmlns:a16="http://schemas.microsoft.com/office/drawing/2014/main" id="{E9AA629E-3474-D297-D110-557853F06D96}"/>
              </a:ext>
            </a:extLst>
          </p:cNvPr>
          <p:cNvSpPr txBox="1"/>
          <p:nvPr/>
        </p:nvSpPr>
        <p:spPr>
          <a:xfrm>
            <a:off x="4224963" y="0"/>
            <a:ext cx="7815918" cy="584775"/>
          </a:xfrm>
          <a:prstGeom prst="rect">
            <a:avLst/>
          </a:prstGeom>
          <a:noFill/>
        </p:spPr>
        <p:txBody>
          <a:bodyPr wrap="square" rtlCol="0">
            <a:spAutoFit/>
          </a:bodyPr>
          <a:lstStyle/>
          <a:p>
            <a:pPr lvl="0">
              <a:defRPr/>
            </a:pPr>
            <a:r>
              <a:rPr lang="en-GB" sz="3200" b="1" dirty="0"/>
              <a:t>SIGNIFICANT ITEMS (MAJOR &amp; CRITICAL)</a:t>
            </a:r>
            <a:endParaRPr kumimoji="0" lang="en-GB" sz="3200" b="1"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grpSp>
        <p:nvGrpSpPr>
          <p:cNvPr id="7" name="Group 6">
            <a:extLst>
              <a:ext uri="{FF2B5EF4-FFF2-40B4-BE49-F238E27FC236}">
                <a16:creationId xmlns:a16="http://schemas.microsoft.com/office/drawing/2014/main" id="{9D5CC1B0-BBD3-894A-82EB-9415D3453BAC}"/>
              </a:ext>
            </a:extLst>
          </p:cNvPr>
          <p:cNvGrpSpPr/>
          <p:nvPr/>
        </p:nvGrpSpPr>
        <p:grpSpPr>
          <a:xfrm>
            <a:off x="842091" y="695572"/>
            <a:ext cx="11101642" cy="3209998"/>
            <a:chOff x="797885" y="1529658"/>
            <a:chExt cx="12278236" cy="3302208"/>
          </a:xfrm>
          <a:solidFill>
            <a:srgbClr val="FFFF00"/>
          </a:solidFill>
        </p:grpSpPr>
        <p:graphicFrame>
          <p:nvGraphicFramePr>
            <p:cNvPr id="17" name="Table 16">
              <a:extLst>
                <a:ext uri="{FF2B5EF4-FFF2-40B4-BE49-F238E27FC236}">
                  <a16:creationId xmlns:a16="http://schemas.microsoft.com/office/drawing/2014/main" id="{3D095479-7FEC-7D9F-BC14-006A64FF06DB}"/>
                </a:ext>
              </a:extLst>
            </p:cNvPr>
            <p:cNvGraphicFramePr>
              <a:graphicFrameLocks/>
            </p:cNvGraphicFramePr>
            <p:nvPr>
              <p:extLst>
                <p:ext uri="{D42A27DB-BD31-4B8C-83A1-F6EECF244321}">
                  <p14:modId xmlns:p14="http://schemas.microsoft.com/office/powerpoint/2010/main" val="3734779954"/>
                </p:ext>
              </p:extLst>
            </p:nvPr>
          </p:nvGraphicFramePr>
          <p:xfrm>
            <a:off x="797885" y="2845428"/>
            <a:ext cx="12278233" cy="1986438"/>
          </p:xfrm>
          <a:graphic>
            <a:graphicData uri="http://schemas.openxmlformats.org/drawingml/2006/table">
              <a:tbl>
                <a:tblPr firstRow="1" bandRow="1">
                  <a:tableStyleId>{21E4AEA4-8DFA-4A89-87EB-49C32662AFE0}</a:tableStyleId>
                </a:tblPr>
                <a:tblGrid>
                  <a:gridCol w="1946800">
                    <a:extLst>
                      <a:ext uri="{9D8B030D-6E8A-4147-A177-3AD203B41FA5}">
                        <a16:colId xmlns:a16="http://schemas.microsoft.com/office/drawing/2014/main" val="41084954"/>
                      </a:ext>
                    </a:extLst>
                  </a:gridCol>
                  <a:gridCol w="1293910">
                    <a:extLst>
                      <a:ext uri="{9D8B030D-6E8A-4147-A177-3AD203B41FA5}">
                        <a16:colId xmlns:a16="http://schemas.microsoft.com/office/drawing/2014/main" val="190224105"/>
                      </a:ext>
                    </a:extLst>
                  </a:gridCol>
                  <a:gridCol w="3168222">
                    <a:extLst>
                      <a:ext uri="{9D8B030D-6E8A-4147-A177-3AD203B41FA5}">
                        <a16:colId xmlns:a16="http://schemas.microsoft.com/office/drawing/2014/main" val="3131065920"/>
                      </a:ext>
                    </a:extLst>
                  </a:gridCol>
                  <a:gridCol w="2053117">
                    <a:extLst>
                      <a:ext uri="{9D8B030D-6E8A-4147-A177-3AD203B41FA5}">
                        <a16:colId xmlns:a16="http://schemas.microsoft.com/office/drawing/2014/main" val="396103689"/>
                      </a:ext>
                    </a:extLst>
                  </a:gridCol>
                  <a:gridCol w="1009011">
                    <a:extLst>
                      <a:ext uri="{9D8B030D-6E8A-4147-A177-3AD203B41FA5}">
                        <a16:colId xmlns:a16="http://schemas.microsoft.com/office/drawing/2014/main" val="2698333210"/>
                      </a:ext>
                    </a:extLst>
                  </a:gridCol>
                  <a:gridCol w="1630579">
                    <a:extLst>
                      <a:ext uri="{9D8B030D-6E8A-4147-A177-3AD203B41FA5}">
                        <a16:colId xmlns:a16="http://schemas.microsoft.com/office/drawing/2014/main" val="2585996546"/>
                      </a:ext>
                    </a:extLst>
                  </a:gridCol>
                </a:tblGrid>
                <a:tr h="0">
                  <a:tc gridSpan="6">
                    <a:txBody>
                      <a:bodyPr/>
                      <a:lstStyle>
                        <a:lvl1pPr marL="0" algn="l" defTabSz="914377" rtl="0" eaLnBrk="1" latinLnBrk="0" hangingPunct="1">
                          <a:defRPr sz="1800" b="1" kern="1200">
                            <a:solidFill>
                              <a:schemeClr val="lt1"/>
                            </a:solidFill>
                            <a:latin typeface="Corbel" panose="020B0503020204020204"/>
                          </a:defRPr>
                        </a:lvl1pPr>
                        <a:lvl2pPr marL="457189" algn="l" defTabSz="914377" rtl="0" eaLnBrk="1" latinLnBrk="0" hangingPunct="1">
                          <a:defRPr sz="1800" b="1" kern="1200">
                            <a:solidFill>
                              <a:schemeClr val="lt1"/>
                            </a:solidFill>
                            <a:latin typeface="Corbel" panose="020B0503020204020204"/>
                          </a:defRPr>
                        </a:lvl2pPr>
                        <a:lvl3pPr marL="914377" algn="l" defTabSz="914377" rtl="0" eaLnBrk="1" latinLnBrk="0" hangingPunct="1">
                          <a:defRPr sz="1800" b="1" kern="1200">
                            <a:solidFill>
                              <a:schemeClr val="lt1"/>
                            </a:solidFill>
                            <a:latin typeface="Corbel" panose="020B0503020204020204"/>
                          </a:defRPr>
                        </a:lvl3pPr>
                        <a:lvl4pPr marL="1371566" algn="l" defTabSz="914377" rtl="0" eaLnBrk="1" latinLnBrk="0" hangingPunct="1">
                          <a:defRPr sz="1800" b="1" kern="1200">
                            <a:solidFill>
                              <a:schemeClr val="lt1"/>
                            </a:solidFill>
                            <a:latin typeface="Corbel" panose="020B0503020204020204"/>
                          </a:defRPr>
                        </a:lvl4pPr>
                        <a:lvl5pPr marL="1828754" algn="l" defTabSz="914377" rtl="0" eaLnBrk="1" latinLnBrk="0" hangingPunct="1">
                          <a:defRPr sz="1800" b="1" kern="1200">
                            <a:solidFill>
                              <a:schemeClr val="lt1"/>
                            </a:solidFill>
                            <a:latin typeface="Corbel" panose="020B0503020204020204"/>
                          </a:defRPr>
                        </a:lvl5pPr>
                        <a:lvl6pPr marL="2285943" algn="l" defTabSz="914377" rtl="0" eaLnBrk="1" latinLnBrk="0" hangingPunct="1">
                          <a:defRPr sz="1800" b="1" kern="1200">
                            <a:solidFill>
                              <a:schemeClr val="lt1"/>
                            </a:solidFill>
                            <a:latin typeface="Corbel" panose="020B0503020204020204"/>
                          </a:defRPr>
                        </a:lvl6pPr>
                        <a:lvl7pPr marL="2743131" algn="l" defTabSz="914377" rtl="0" eaLnBrk="1" latinLnBrk="0" hangingPunct="1">
                          <a:defRPr sz="1800" b="1" kern="1200">
                            <a:solidFill>
                              <a:schemeClr val="lt1"/>
                            </a:solidFill>
                            <a:latin typeface="Corbel" panose="020B0503020204020204"/>
                          </a:defRPr>
                        </a:lvl7pPr>
                        <a:lvl8pPr marL="3200320" algn="l" defTabSz="914377" rtl="0" eaLnBrk="1" latinLnBrk="0" hangingPunct="1">
                          <a:defRPr sz="1800" b="1" kern="1200">
                            <a:solidFill>
                              <a:schemeClr val="lt1"/>
                            </a:solidFill>
                            <a:latin typeface="Corbel" panose="020B0503020204020204"/>
                          </a:defRPr>
                        </a:lvl8pPr>
                        <a:lvl9pPr marL="3657509" algn="l" defTabSz="914377" rtl="0" eaLnBrk="1" latinLnBrk="0" hangingPunct="1">
                          <a:defRPr sz="1800" b="1" kern="1200">
                            <a:solidFill>
                              <a:schemeClr val="lt1"/>
                            </a:solidFill>
                            <a:latin typeface="Corbel" panose="020B0503020204020204"/>
                          </a:defRPr>
                        </a:lvl9pPr>
                      </a:lstStyle>
                      <a:p>
                        <a:pPr algn="ctr"/>
                        <a:r>
                          <a:rPr lang="en-GB" sz="1600" b="1" dirty="0">
                            <a:solidFill>
                              <a:sysClr val="windowText" lastClr="000000"/>
                            </a:solidFill>
                          </a:rPr>
                          <a:t>Major &amp; Critical GMP </a:t>
                        </a:r>
                        <a:r>
                          <a:rPr lang="en-GB" sz="1600" dirty="0">
                            <a:solidFill>
                              <a:sysClr val="windowText" lastClr="000000"/>
                            </a:solidFill>
                          </a:rPr>
                          <a:t>Complaints Closed</a:t>
                        </a:r>
                        <a:endParaRPr lang="en-GB" sz="1600" dirty="0">
                          <a:solidFill>
                            <a:sysClr val="windowText" lastClr="000000"/>
                          </a:solidFill>
                          <a:latin typeface="+mn-lt"/>
                        </a:endParaRPr>
                      </a:p>
                    </a:txBody>
                    <a:tcPr/>
                  </a:tc>
                  <a:tc hMerge="1">
                    <a:txBody>
                      <a:bodyPr/>
                      <a:lstStyle/>
                      <a:p>
                        <a:endParaRPr lang="en-GB"/>
                      </a:p>
                    </a:txBody>
                    <a:tcPr/>
                  </a:tc>
                  <a:tc hMerge="1">
                    <a:txBody>
                      <a:bodyPr/>
                      <a:lstStyle/>
                      <a:p>
                        <a:endParaRPr lang="en-GB"/>
                      </a:p>
                    </a:txBody>
                    <a:tcPr/>
                  </a:tc>
                  <a:tc hMerge="1">
                    <a:txBody>
                      <a:bodyPr/>
                      <a:lstStyle/>
                      <a:p>
                        <a:endParaRPr lang="en-GB" dirty="0"/>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34243998"/>
                    </a:ext>
                  </a:extLst>
                </a:tr>
                <a:tr h="423408">
                  <a:tc>
                    <a:txBody>
                      <a:bodyPr/>
                      <a:lstStyle>
                        <a:lvl1pPr marL="0" algn="l" defTabSz="914377" rtl="0" eaLnBrk="1" latinLnBrk="0" hangingPunct="1">
                          <a:defRPr sz="1800" kern="1200">
                            <a:solidFill>
                              <a:schemeClr val="dk1"/>
                            </a:solidFill>
                            <a:latin typeface="Corbel" panose="020B0503020204020204"/>
                          </a:defRPr>
                        </a:lvl1pPr>
                        <a:lvl2pPr marL="457189" algn="l" defTabSz="914377" rtl="0" eaLnBrk="1" latinLnBrk="0" hangingPunct="1">
                          <a:defRPr sz="1800" kern="1200">
                            <a:solidFill>
                              <a:schemeClr val="dk1"/>
                            </a:solidFill>
                            <a:latin typeface="Corbel" panose="020B0503020204020204"/>
                          </a:defRPr>
                        </a:lvl2pPr>
                        <a:lvl3pPr marL="914377" algn="l" defTabSz="914377" rtl="0" eaLnBrk="1" latinLnBrk="0" hangingPunct="1">
                          <a:defRPr sz="1800" kern="1200">
                            <a:solidFill>
                              <a:schemeClr val="dk1"/>
                            </a:solidFill>
                            <a:latin typeface="Corbel" panose="020B0503020204020204"/>
                          </a:defRPr>
                        </a:lvl3pPr>
                        <a:lvl4pPr marL="1371566" algn="l" defTabSz="914377" rtl="0" eaLnBrk="1" latinLnBrk="0" hangingPunct="1">
                          <a:defRPr sz="1800" kern="1200">
                            <a:solidFill>
                              <a:schemeClr val="dk1"/>
                            </a:solidFill>
                            <a:latin typeface="Corbel" panose="020B0503020204020204"/>
                          </a:defRPr>
                        </a:lvl4pPr>
                        <a:lvl5pPr marL="1828754" algn="l" defTabSz="914377" rtl="0" eaLnBrk="1" latinLnBrk="0" hangingPunct="1">
                          <a:defRPr sz="1800" kern="1200">
                            <a:solidFill>
                              <a:schemeClr val="dk1"/>
                            </a:solidFill>
                            <a:latin typeface="Corbel" panose="020B0503020204020204"/>
                          </a:defRPr>
                        </a:lvl5pPr>
                        <a:lvl6pPr marL="2285943" algn="l" defTabSz="914377" rtl="0" eaLnBrk="1" latinLnBrk="0" hangingPunct="1">
                          <a:defRPr sz="1800" kern="1200">
                            <a:solidFill>
                              <a:schemeClr val="dk1"/>
                            </a:solidFill>
                            <a:latin typeface="Corbel" panose="020B0503020204020204"/>
                          </a:defRPr>
                        </a:lvl6pPr>
                        <a:lvl7pPr marL="2743131" algn="l" defTabSz="914377" rtl="0" eaLnBrk="1" latinLnBrk="0" hangingPunct="1">
                          <a:defRPr sz="1800" kern="1200">
                            <a:solidFill>
                              <a:schemeClr val="dk1"/>
                            </a:solidFill>
                            <a:latin typeface="Corbel" panose="020B0503020204020204"/>
                          </a:defRPr>
                        </a:lvl7pPr>
                        <a:lvl8pPr marL="3200320" algn="l" defTabSz="914377" rtl="0" eaLnBrk="1" latinLnBrk="0" hangingPunct="1">
                          <a:defRPr sz="1800" kern="1200">
                            <a:solidFill>
                              <a:schemeClr val="dk1"/>
                            </a:solidFill>
                            <a:latin typeface="Corbel" panose="020B0503020204020204"/>
                          </a:defRPr>
                        </a:lvl8pPr>
                        <a:lvl9pPr marL="3657509" algn="l" defTabSz="914377" rtl="0" eaLnBrk="1" latinLnBrk="0" hangingPunct="1">
                          <a:defRPr sz="1800" kern="1200">
                            <a:solidFill>
                              <a:schemeClr val="dk1"/>
                            </a:solidFill>
                            <a:latin typeface="Corbel" panose="020B0503020204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1" dirty="0">
                            <a:solidFill>
                              <a:sysClr val="windowText" lastClr="000000"/>
                            </a:solidFill>
                          </a:rPr>
                          <a:t>GMP Complaint number</a:t>
                        </a:r>
                        <a:endParaRPr lang="en-GB" sz="1400" b="1" kern="1200" dirty="0">
                          <a:solidFill>
                            <a:sysClr val="windowText" lastClr="000000"/>
                          </a:solidFill>
                          <a:latin typeface="Corbel" panose="020B0503020204020204"/>
                          <a:ea typeface="+mn-ea"/>
                          <a:cs typeface="+mn-cs"/>
                        </a:endParaRPr>
                      </a:p>
                    </a:txBody>
                    <a:tcPr anchor="ctr"/>
                  </a:tc>
                  <a:tc>
                    <a:txBody>
                      <a:bodyPr/>
                      <a:lstStyle/>
                      <a:p>
                        <a:pPr algn="ctr"/>
                        <a:r>
                          <a:rPr lang="en-GB" sz="1400" b="1" dirty="0">
                            <a:solidFill>
                              <a:sysClr val="windowText" lastClr="000000"/>
                            </a:solidFill>
                          </a:rPr>
                          <a:t>Date raised</a:t>
                        </a:r>
                      </a:p>
                    </a:txBody>
                    <a:tcPr anchor="ctr"/>
                  </a:tc>
                  <a:tc>
                    <a:txBody>
                      <a:bodyPr/>
                      <a:lstStyle>
                        <a:lvl1pPr marL="0" algn="l" defTabSz="914377" rtl="0" eaLnBrk="1" latinLnBrk="0" hangingPunct="1">
                          <a:defRPr sz="1800" kern="1200">
                            <a:solidFill>
                              <a:schemeClr val="dk1"/>
                            </a:solidFill>
                            <a:latin typeface="Corbel" panose="020B0503020204020204"/>
                          </a:defRPr>
                        </a:lvl1pPr>
                        <a:lvl2pPr marL="457189" algn="l" defTabSz="914377" rtl="0" eaLnBrk="1" latinLnBrk="0" hangingPunct="1">
                          <a:defRPr sz="1800" kern="1200">
                            <a:solidFill>
                              <a:schemeClr val="dk1"/>
                            </a:solidFill>
                            <a:latin typeface="Corbel" panose="020B0503020204020204"/>
                          </a:defRPr>
                        </a:lvl2pPr>
                        <a:lvl3pPr marL="914377" algn="l" defTabSz="914377" rtl="0" eaLnBrk="1" latinLnBrk="0" hangingPunct="1">
                          <a:defRPr sz="1800" kern="1200">
                            <a:solidFill>
                              <a:schemeClr val="dk1"/>
                            </a:solidFill>
                            <a:latin typeface="Corbel" panose="020B0503020204020204"/>
                          </a:defRPr>
                        </a:lvl3pPr>
                        <a:lvl4pPr marL="1371566" algn="l" defTabSz="914377" rtl="0" eaLnBrk="1" latinLnBrk="0" hangingPunct="1">
                          <a:defRPr sz="1800" kern="1200">
                            <a:solidFill>
                              <a:schemeClr val="dk1"/>
                            </a:solidFill>
                            <a:latin typeface="Corbel" panose="020B0503020204020204"/>
                          </a:defRPr>
                        </a:lvl4pPr>
                        <a:lvl5pPr marL="1828754" algn="l" defTabSz="914377" rtl="0" eaLnBrk="1" latinLnBrk="0" hangingPunct="1">
                          <a:defRPr sz="1800" kern="1200">
                            <a:solidFill>
                              <a:schemeClr val="dk1"/>
                            </a:solidFill>
                            <a:latin typeface="Corbel" panose="020B0503020204020204"/>
                          </a:defRPr>
                        </a:lvl5pPr>
                        <a:lvl6pPr marL="2285943" algn="l" defTabSz="914377" rtl="0" eaLnBrk="1" latinLnBrk="0" hangingPunct="1">
                          <a:defRPr sz="1800" kern="1200">
                            <a:solidFill>
                              <a:schemeClr val="dk1"/>
                            </a:solidFill>
                            <a:latin typeface="Corbel" panose="020B0503020204020204"/>
                          </a:defRPr>
                        </a:lvl6pPr>
                        <a:lvl7pPr marL="2743131" algn="l" defTabSz="914377" rtl="0" eaLnBrk="1" latinLnBrk="0" hangingPunct="1">
                          <a:defRPr sz="1800" kern="1200">
                            <a:solidFill>
                              <a:schemeClr val="dk1"/>
                            </a:solidFill>
                            <a:latin typeface="Corbel" panose="020B0503020204020204"/>
                          </a:defRPr>
                        </a:lvl7pPr>
                        <a:lvl8pPr marL="3200320" algn="l" defTabSz="914377" rtl="0" eaLnBrk="1" latinLnBrk="0" hangingPunct="1">
                          <a:defRPr sz="1800" kern="1200">
                            <a:solidFill>
                              <a:schemeClr val="dk1"/>
                            </a:solidFill>
                            <a:latin typeface="Corbel" panose="020B0503020204020204"/>
                          </a:defRPr>
                        </a:lvl8pPr>
                        <a:lvl9pPr marL="3657509" algn="l" defTabSz="914377" rtl="0" eaLnBrk="1" latinLnBrk="0" hangingPunct="1">
                          <a:defRPr sz="1800" kern="1200">
                            <a:solidFill>
                              <a:schemeClr val="dk1"/>
                            </a:solidFill>
                            <a:latin typeface="Corbel" panose="020B0503020204020204"/>
                          </a:defRPr>
                        </a:lvl9pPr>
                      </a:lstStyle>
                      <a:p>
                        <a:pPr algn="ctr"/>
                        <a:r>
                          <a:rPr lang="en-GB" sz="1400" b="1" dirty="0">
                            <a:solidFill>
                              <a:sysClr val="windowText" lastClr="000000"/>
                            </a:solidFill>
                          </a:rPr>
                          <a:t>Complaint description</a:t>
                        </a:r>
                      </a:p>
                    </a:txBody>
                    <a:tcPr anchor="ctr"/>
                  </a:tc>
                  <a:tc>
                    <a:txBody>
                      <a:bodyPr/>
                      <a:lstStyle>
                        <a:lvl1pPr marL="0" algn="l" defTabSz="914377" rtl="0" eaLnBrk="1" latinLnBrk="0" hangingPunct="1">
                          <a:defRPr sz="1800" kern="1200">
                            <a:solidFill>
                              <a:schemeClr val="dk1"/>
                            </a:solidFill>
                            <a:latin typeface="Corbel" panose="020B0503020204020204"/>
                          </a:defRPr>
                        </a:lvl1pPr>
                        <a:lvl2pPr marL="457189" algn="l" defTabSz="914377" rtl="0" eaLnBrk="1" latinLnBrk="0" hangingPunct="1">
                          <a:defRPr sz="1800" kern="1200">
                            <a:solidFill>
                              <a:schemeClr val="dk1"/>
                            </a:solidFill>
                            <a:latin typeface="Corbel" panose="020B0503020204020204"/>
                          </a:defRPr>
                        </a:lvl2pPr>
                        <a:lvl3pPr marL="914377" algn="l" defTabSz="914377" rtl="0" eaLnBrk="1" latinLnBrk="0" hangingPunct="1">
                          <a:defRPr sz="1800" kern="1200">
                            <a:solidFill>
                              <a:schemeClr val="dk1"/>
                            </a:solidFill>
                            <a:latin typeface="Corbel" panose="020B0503020204020204"/>
                          </a:defRPr>
                        </a:lvl3pPr>
                        <a:lvl4pPr marL="1371566" algn="l" defTabSz="914377" rtl="0" eaLnBrk="1" latinLnBrk="0" hangingPunct="1">
                          <a:defRPr sz="1800" kern="1200">
                            <a:solidFill>
                              <a:schemeClr val="dk1"/>
                            </a:solidFill>
                            <a:latin typeface="Corbel" panose="020B0503020204020204"/>
                          </a:defRPr>
                        </a:lvl4pPr>
                        <a:lvl5pPr marL="1828754" algn="l" defTabSz="914377" rtl="0" eaLnBrk="1" latinLnBrk="0" hangingPunct="1">
                          <a:defRPr sz="1800" kern="1200">
                            <a:solidFill>
                              <a:schemeClr val="dk1"/>
                            </a:solidFill>
                            <a:latin typeface="Corbel" panose="020B0503020204020204"/>
                          </a:defRPr>
                        </a:lvl5pPr>
                        <a:lvl6pPr marL="2285943" algn="l" defTabSz="914377" rtl="0" eaLnBrk="1" latinLnBrk="0" hangingPunct="1">
                          <a:defRPr sz="1800" kern="1200">
                            <a:solidFill>
                              <a:schemeClr val="dk1"/>
                            </a:solidFill>
                            <a:latin typeface="Corbel" panose="020B0503020204020204"/>
                          </a:defRPr>
                        </a:lvl6pPr>
                        <a:lvl7pPr marL="2743131" algn="l" defTabSz="914377" rtl="0" eaLnBrk="1" latinLnBrk="0" hangingPunct="1">
                          <a:defRPr sz="1800" kern="1200">
                            <a:solidFill>
                              <a:schemeClr val="dk1"/>
                            </a:solidFill>
                            <a:latin typeface="Corbel" panose="020B0503020204020204"/>
                          </a:defRPr>
                        </a:lvl7pPr>
                        <a:lvl8pPr marL="3200320" algn="l" defTabSz="914377" rtl="0" eaLnBrk="1" latinLnBrk="0" hangingPunct="1">
                          <a:defRPr sz="1800" kern="1200">
                            <a:solidFill>
                              <a:schemeClr val="dk1"/>
                            </a:solidFill>
                            <a:latin typeface="Corbel" panose="020B0503020204020204"/>
                          </a:defRPr>
                        </a:lvl8pPr>
                        <a:lvl9pPr marL="3657509" algn="l" defTabSz="914377" rtl="0" eaLnBrk="1" latinLnBrk="0" hangingPunct="1">
                          <a:defRPr sz="1800" kern="1200">
                            <a:solidFill>
                              <a:schemeClr val="dk1"/>
                            </a:solidFill>
                            <a:latin typeface="Corbel" panose="020B0503020204020204"/>
                          </a:defRPr>
                        </a:lvl9pPr>
                      </a:lstStyle>
                      <a:p>
                        <a:pPr algn="ctr"/>
                        <a:r>
                          <a:rPr lang="en-GB" sz="1400" b="1" dirty="0">
                            <a:solidFill>
                              <a:sysClr val="windowText" lastClr="000000"/>
                            </a:solidFill>
                          </a:rPr>
                          <a:t>Classification </a:t>
                        </a:r>
                      </a:p>
                    </a:txBody>
                    <a:tcPr anchor="ctr"/>
                  </a:tc>
                  <a:tc>
                    <a:txBody>
                      <a:bodyPr/>
                      <a:lstStyle/>
                      <a:p>
                        <a:pPr algn="ctr"/>
                        <a:r>
                          <a:rPr lang="en-GB" sz="1400" b="1" dirty="0">
                            <a:solidFill>
                              <a:sysClr val="windowText" lastClr="000000"/>
                            </a:solidFill>
                          </a:rPr>
                          <a:t>Target date</a:t>
                        </a:r>
                      </a:p>
                    </a:txBody>
                    <a:tcPr anchor="ctr"/>
                  </a:tc>
                  <a:tc>
                    <a:txBody>
                      <a:bodyPr/>
                      <a:lstStyle/>
                      <a:p>
                        <a:pPr algn="ctr"/>
                        <a:r>
                          <a:rPr lang="en-GB" sz="1400" b="1" dirty="0">
                            <a:solidFill>
                              <a:sysClr val="windowText" lastClr="000000"/>
                            </a:solidFill>
                          </a:rPr>
                          <a:t>Completion date</a:t>
                        </a:r>
                      </a:p>
                    </a:txBody>
                    <a:tcPr anchor="ctr"/>
                  </a:tc>
                  <a:extLst>
                    <a:ext uri="{0D108BD9-81ED-4DB2-BD59-A6C34878D82A}">
                      <a16:rowId xmlns:a16="http://schemas.microsoft.com/office/drawing/2014/main" val="701549060"/>
                    </a:ext>
                  </a:extLst>
                </a:tr>
                <a:tr h="297782">
                  <a:tc>
                    <a:txBody>
                      <a:bodyPr/>
                      <a:lstStyle/>
                      <a:p>
                        <a:pPr marL="0" algn="ctr" defTabSz="914400" rtl="0" eaLnBrk="1" fontAlgn="ctr" latinLnBrk="0" hangingPunct="1">
                          <a:buNone/>
                        </a:pPr>
                        <a:endParaRPr lang="en-GB" sz="1400" b="0" u="none" strike="noStrike" kern="1200" dirty="0">
                          <a:solidFill>
                            <a:srgbClr val="000000"/>
                          </a:solidFill>
                          <a:effectLst/>
                          <a:latin typeface="+mn-lt"/>
                          <a:ea typeface="+mn-ea"/>
                          <a:cs typeface="+mn-cs"/>
                        </a:endParaRPr>
                      </a:p>
                    </a:txBody>
                    <a:tcPr marL="9525" marR="9525" marT="9525" anchor="ctr"/>
                  </a:tc>
                  <a:tc>
                    <a:txBody>
                      <a:bodyPr/>
                      <a:lstStyle/>
                      <a:p>
                        <a:pPr marL="0" algn="ctr" defTabSz="914400" rtl="0" eaLnBrk="1" fontAlgn="ctr" latinLnBrk="0" hangingPunct="1">
                          <a:buNone/>
                        </a:pPr>
                        <a:endParaRPr lang="en-US" sz="1400" b="0" u="none" strike="noStrike" kern="1200" dirty="0">
                          <a:solidFill>
                            <a:srgbClr val="000000"/>
                          </a:solidFill>
                          <a:effectLst/>
                          <a:latin typeface="+mn-lt"/>
                          <a:ea typeface="+mn-ea"/>
                          <a:cs typeface="+mn-cs"/>
                        </a:endParaRP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None to report in Q2, only Minor complaints</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GB" sz="1400" b="0" u="none" strike="noStrike" kern="1200" dirty="0">
                          <a:solidFill>
                            <a:srgbClr val="000000"/>
                          </a:solidFill>
                          <a:effectLst/>
                          <a:latin typeface="+mn-lt"/>
                          <a:ea typeface="+mn-ea"/>
                          <a:cs typeface="+mn-cs"/>
                        </a:endParaRPr>
                      </a:p>
                    </a:txBody>
                    <a:tcPr marL="0" marR="0" marT="0" marB="0" anchor="ctr">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GB" sz="1400" b="0" u="none" strike="noStrike" kern="1200" dirty="0">
                          <a:solidFill>
                            <a:srgbClr val="000000"/>
                          </a:solidFill>
                          <a:effectLst/>
                          <a:latin typeface="+mn-lt"/>
                          <a:ea typeface="+mn-ea"/>
                          <a:cs typeface="+mn-cs"/>
                        </a:endParaRP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GB" sz="1400" b="0" u="none" strike="noStrike" kern="1200" dirty="0">
                          <a:solidFill>
                            <a:srgbClr val="000000"/>
                          </a:solidFill>
                          <a:effectLst/>
                          <a:latin typeface="+mn-lt"/>
                          <a:ea typeface="+mn-ea"/>
                          <a:cs typeface="+mn-cs"/>
                        </a:endParaRPr>
                      </a:p>
                    </a:txBody>
                    <a:tcPr marL="9525" marR="9525" marT="9525" anchor="ctr">
                      <a:solidFill>
                        <a:srgbClr val="00B050"/>
                      </a:solidFill>
                    </a:tcPr>
                  </a:tc>
                  <a:extLst>
                    <a:ext uri="{0D108BD9-81ED-4DB2-BD59-A6C34878D82A}">
                      <a16:rowId xmlns:a16="http://schemas.microsoft.com/office/drawing/2014/main" val="3856702784"/>
                    </a:ext>
                  </a:extLst>
                </a:tr>
                <a:tr h="297782">
                  <a:tc>
                    <a:txBody>
                      <a:bodyPr/>
                      <a:lstStyle/>
                      <a:p>
                        <a:pPr marL="0" algn="ctr" defTabSz="914400" rtl="0" eaLnBrk="1" fontAlgn="ctr" latinLnBrk="0" hangingPunct="1">
                          <a:buNone/>
                        </a:pPr>
                        <a:endParaRPr lang="en-GB" sz="1400" b="0" u="none" strike="noStrike" kern="1200" dirty="0">
                          <a:solidFill>
                            <a:srgbClr val="000000"/>
                          </a:solidFill>
                          <a:effectLst/>
                          <a:latin typeface="+mn-lt"/>
                          <a:ea typeface="+mn-ea"/>
                          <a:cs typeface="+mn-cs"/>
                        </a:endParaRPr>
                      </a:p>
                    </a:txBody>
                    <a:tcPr marL="9525" marR="9525" marT="9525" anchor="ctr"/>
                  </a:tc>
                  <a:tc>
                    <a:txBody>
                      <a:bodyPr/>
                      <a:lstStyle/>
                      <a:p>
                        <a:pPr marL="0" algn="ctr" defTabSz="914400" rtl="0" eaLnBrk="1" fontAlgn="ctr" latinLnBrk="0" hangingPunct="1">
                          <a:buNone/>
                        </a:pPr>
                        <a:endParaRPr lang="en-US" sz="1400" b="0" u="none" strike="noStrike" kern="1200" dirty="0">
                          <a:solidFill>
                            <a:srgbClr val="000000"/>
                          </a:solidFill>
                          <a:effectLst/>
                          <a:latin typeface="+mn-lt"/>
                          <a:ea typeface="+mn-ea"/>
                          <a:cs typeface="+mn-cs"/>
                        </a:endParaRPr>
                      </a:p>
                    </a:txBody>
                    <a:tcPr marL="9525" marR="9525" marT="9525" anchor="ctr"/>
                  </a:tc>
                  <a:tc>
                    <a:txBody>
                      <a:bodyPr/>
                      <a:lstStyle/>
                      <a:p>
                        <a:pPr marL="0" algn="ctr" defTabSz="914400" rtl="0" eaLnBrk="1" fontAlgn="ctr" latinLnBrk="0" hangingPunct="1">
                          <a:buNone/>
                        </a:pPr>
                        <a:endParaRPr lang="en-US" sz="1400" b="0" u="none" strike="noStrike" kern="1200" dirty="0">
                          <a:solidFill>
                            <a:srgbClr val="000000"/>
                          </a:solidFill>
                          <a:effectLst/>
                          <a:latin typeface="+mn-lt"/>
                          <a:ea typeface="+mn-ea"/>
                          <a:cs typeface="+mn-cs"/>
                        </a:endParaRP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GB" sz="1400" b="0" u="none" strike="noStrike" kern="1200" dirty="0">
                          <a:solidFill>
                            <a:srgbClr val="000000"/>
                          </a:solidFill>
                          <a:effectLst/>
                          <a:latin typeface="+mn-lt"/>
                          <a:ea typeface="+mn-ea"/>
                          <a:cs typeface="+mn-cs"/>
                        </a:endParaRPr>
                      </a:p>
                    </a:txBody>
                    <a:tcPr marL="0" marR="0" marT="0" marB="0" anchor="ctr">
                      <a:solidFill>
                        <a:srgbClr val="FFFF00"/>
                      </a:solidFill>
                    </a:tcPr>
                  </a:tc>
                  <a:tc>
                    <a:txBody>
                      <a:bodyPr/>
                      <a:lstStyle/>
                      <a:p>
                        <a:pPr marL="0" algn="ctr" defTabSz="914400" rtl="0" eaLnBrk="1" fontAlgn="ctr" latinLnBrk="0" hangingPunct="1">
                          <a:buNone/>
                        </a:pPr>
                        <a:endParaRPr lang="en-GB" sz="1400" b="0" u="none" strike="noStrike" kern="1200" dirty="0">
                          <a:solidFill>
                            <a:srgbClr val="000000"/>
                          </a:solidFill>
                          <a:effectLst/>
                          <a:latin typeface="+mn-lt"/>
                          <a:ea typeface="+mn-ea"/>
                          <a:cs typeface="+mn-cs"/>
                        </a:endParaRPr>
                      </a:p>
                    </a:txBody>
                    <a:tcPr marL="9525" marR="9525" marT="9525" anchor="ctr"/>
                  </a:tc>
                  <a:tc>
                    <a:txBody>
                      <a:bodyPr/>
                      <a:lstStyle/>
                      <a:p>
                        <a:pPr marL="0" algn="ctr" defTabSz="914400" rtl="0" eaLnBrk="1" fontAlgn="ctr" latinLnBrk="0" hangingPunct="1">
                          <a:buNone/>
                        </a:pPr>
                        <a:endParaRPr lang="en-GB" sz="1400" b="0" u="none" strike="noStrike" kern="1200" dirty="0">
                          <a:solidFill>
                            <a:srgbClr val="000000"/>
                          </a:solidFill>
                          <a:effectLst/>
                          <a:latin typeface="+mn-lt"/>
                          <a:ea typeface="+mn-ea"/>
                          <a:cs typeface="+mn-cs"/>
                        </a:endParaRPr>
                      </a:p>
                    </a:txBody>
                    <a:tcPr marL="9525" marR="9525" marT="9525" anchor="ctr">
                      <a:solidFill>
                        <a:srgbClr val="00B050"/>
                      </a:solidFill>
                    </a:tcPr>
                  </a:tc>
                  <a:extLst>
                    <a:ext uri="{0D108BD9-81ED-4DB2-BD59-A6C34878D82A}">
                      <a16:rowId xmlns:a16="http://schemas.microsoft.com/office/drawing/2014/main" val="2380056315"/>
                    </a:ext>
                  </a:extLst>
                </a:tr>
                <a:tr h="297782">
                  <a:tc>
                    <a:txBody>
                      <a:bodyPr/>
                      <a:lstStyle/>
                      <a:p>
                        <a:pPr marL="0" algn="ctr" defTabSz="914400" rtl="0" eaLnBrk="1" fontAlgn="ctr" latinLnBrk="0" hangingPunct="1">
                          <a:buNone/>
                        </a:pPr>
                        <a:endParaRPr lang="en-GB" sz="1400" b="0" u="none" strike="noStrike" kern="1200" dirty="0">
                          <a:solidFill>
                            <a:srgbClr val="000000"/>
                          </a:solidFill>
                          <a:effectLst/>
                          <a:latin typeface="+mn-lt"/>
                          <a:ea typeface="+mn-ea"/>
                          <a:cs typeface="+mn-cs"/>
                        </a:endParaRPr>
                      </a:p>
                    </a:txBody>
                    <a:tcPr marL="9525" marR="9525" marT="9525" anchor="ctr"/>
                  </a:tc>
                  <a:tc>
                    <a:txBody>
                      <a:bodyPr/>
                      <a:lstStyle/>
                      <a:p>
                        <a:pPr marL="0" algn="ctr" defTabSz="914400" rtl="0" eaLnBrk="1" fontAlgn="ctr" latinLnBrk="0" hangingPunct="1">
                          <a:buNone/>
                        </a:pPr>
                        <a:endParaRPr lang="en-US" sz="1400" b="0" u="none" strike="noStrike" kern="1200" dirty="0">
                          <a:solidFill>
                            <a:srgbClr val="000000"/>
                          </a:solidFill>
                          <a:effectLst/>
                          <a:latin typeface="+mn-lt"/>
                          <a:ea typeface="+mn-ea"/>
                          <a:cs typeface="+mn-cs"/>
                        </a:endParaRPr>
                      </a:p>
                    </a:txBody>
                    <a:tcPr marL="9525" marR="9525" marT="9525" anchor="ctr"/>
                  </a:tc>
                  <a:tc>
                    <a:txBody>
                      <a:bodyPr/>
                      <a:lstStyle/>
                      <a:p>
                        <a:pPr marL="0" algn="ctr" defTabSz="914400" rtl="0" eaLnBrk="1" fontAlgn="ctr" latinLnBrk="0" hangingPunct="1">
                          <a:buNone/>
                        </a:pPr>
                        <a:endParaRPr lang="en-US" sz="1400" b="0" u="none" strike="noStrike" kern="1200" dirty="0">
                          <a:solidFill>
                            <a:srgbClr val="000000"/>
                          </a:solidFill>
                          <a:effectLst/>
                          <a:latin typeface="+mn-lt"/>
                          <a:ea typeface="+mn-ea"/>
                          <a:cs typeface="+mn-cs"/>
                        </a:endParaRP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GB" sz="1400" b="0" u="none" strike="noStrike" kern="1200" dirty="0">
                          <a:solidFill>
                            <a:srgbClr val="000000"/>
                          </a:solidFill>
                          <a:effectLst/>
                          <a:latin typeface="+mn-lt"/>
                          <a:ea typeface="+mn-ea"/>
                          <a:cs typeface="+mn-cs"/>
                        </a:endParaRPr>
                      </a:p>
                    </a:txBody>
                    <a:tcPr marL="0" marR="0" marT="0" marB="0" anchor="ctr">
                      <a:solidFill>
                        <a:srgbClr val="FFFF00"/>
                      </a:solidFill>
                    </a:tcPr>
                  </a:tc>
                  <a:tc>
                    <a:txBody>
                      <a:bodyPr/>
                      <a:lstStyle/>
                      <a:p>
                        <a:pPr marL="0" algn="ctr" defTabSz="914400" rtl="0" eaLnBrk="1" fontAlgn="ctr" latinLnBrk="0" hangingPunct="1">
                          <a:buNone/>
                        </a:pPr>
                        <a:endParaRPr lang="en-GB" sz="1400" b="0" u="none" strike="noStrike" kern="1200" dirty="0">
                          <a:solidFill>
                            <a:srgbClr val="000000"/>
                          </a:solidFill>
                          <a:effectLst/>
                          <a:latin typeface="+mn-lt"/>
                          <a:ea typeface="+mn-ea"/>
                          <a:cs typeface="+mn-cs"/>
                        </a:endParaRPr>
                      </a:p>
                    </a:txBody>
                    <a:tcPr marL="9525" marR="9525" marT="9525" anchor="ctr"/>
                  </a:tc>
                  <a:tc>
                    <a:txBody>
                      <a:bodyPr/>
                      <a:lstStyle/>
                      <a:p>
                        <a:pPr marL="0" algn="ctr" defTabSz="914400" rtl="0" eaLnBrk="1" fontAlgn="ctr" latinLnBrk="0" hangingPunct="1">
                          <a:buNone/>
                        </a:pPr>
                        <a:endParaRPr lang="en-GB" sz="1400" b="0" u="none" strike="noStrike" kern="1200" dirty="0">
                          <a:solidFill>
                            <a:srgbClr val="000000"/>
                          </a:solidFill>
                          <a:effectLst/>
                          <a:latin typeface="+mn-lt"/>
                          <a:ea typeface="+mn-ea"/>
                          <a:cs typeface="+mn-cs"/>
                        </a:endParaRPr>
                      </a:p>
                    </a:txBody>
                    <a:tcPr marL="9525" marR="9525" marT="9525" anchor="ctr">
                      <a:solidFill>
                        <a:srgbClr val="00B050"/>
                      </a:solidFill>
                    </a:tcPr>
                  </a:tc>
                  <a:extLst>
                    <a:ext uri="{0D108BD9-81ED-4DB2-BD59-A6C34878D82A}">
                      <a16:rowId xmlns:a16="http://schemas.microsoft.com/office/drawing/2014/main" val="4215798200"/>
                    </a:ext>
                  </a:extLst>
                </a:tr>
              </a:tbl>
            </a:graphicData>
          </a:graphic>
        </p:graphicFrame>
        <p:graphicFrame>
          <p:nvGraphicFramePr>
            <p:cNvPr id="18" name="Table 17">
              <a:extLst>
                <a:ext uri="{FF2B5EF4-FFF2-40B4-BE49-F238E27FC236}">
                  <a16:creationId xmlns:a16="http://schemas.microsoft.com/office/drawing/2014/main" id="{DA5499A7-47E0-E49F-036F-8E815B7A1EDA}"/>
                </a:ext>
              </a:extLst>
            </p:cNvPr>
            <p:cNvGraphicFramePr>
              <a:graphicFrameLocks/>
            </p:cNvGraphicFramePr>
            <p:nvPr>
              <p:extLst>
                <p:ext uri="{D42A27DB-BD31-4B8C-83A1-F6EECF244321}">
                  <p14:modId xmlns:p14="http://schemas.microsoft.com/office/powerpoint/2010/main" val="1009490646"/>
                </p:ext>
              </p:extLst>
            </p:nvPr>
          </p:nvGraphicFramePr>
          <p:xfrm>
            <a:off x="797886" y="1529658"/>
            <a:ext cx="12278235" cy="1119033"/>
          </p:xfrm>
          <a:graphic>
            <a:graphicData uri="http://schemas.openxmlformats.org/drawingml/2006/table">
              <a:tbl>
                <a:tblPr firstRow="1" bandRow="1">
                  <a:tableStyleId>{5C22544A-7EE6-4342-B048-85BDC9FD1C3A}</a:tableStyleId>
                </a:tblPr>
                <a:tblGrid>
                  <a:gridCol w="1409253">
                    <a:extLst>
                      <a:ext uri="{9D8B030D-6E8A-4147-A177-3AD203B41FA5}">
                        <a16:colId xmlns:a16="http://schemas.microsoft.com/office/drawing/2014/main" val="340894773"/>
                      </a:ext>
                    </a:extLst>
                  </a:gridCol>
                  <a:gridCol w="1392437">
                    <a:extLst>
                      <a:ext uri="{9D8B030D-6E8A-4147-A177-3AD203B41FA5}">
                        <a16:colId xmlns:a16="http://schemas.microsoft.com/office/drawing/2014/main" val="1544888063"/>
                      </a:ext>
                    </a:extLst>
                  </a:gridCol>
                  <a:gridCol w="3371238">
                    <a:extLst>
                      <a:ext uri="{9D8B030D-6E8A-4147-A177-3AD203B41FA5}">
                        <a16:colId xmlns:a16="http://schemas.microsoft.com/office/drawing/2014/main" val="578213674"/>
                      </a:ext>
                    </a:extLst>
                  </a:gridCol>
                  <a:gridCol w="2155216">
                    <a:extLst>
                      <a:ext uri="{9D8B030D-6E8A-4147-A177-3AD203B41FA5}">
                        <a16:colId xmlns:a16="http://schemas.microsoft.com/office/drawing/2014/main" val="2330183767"/>
                      </a:ext>
                    </a:extLst>
                  </a:gridCol>
                  <a:gridCol w="1035984">
                    <a:extLst>
                      <a:ext uri="{9D8B030D-6E8A-4147-A177-3AD203B41FA5}">
                        <a16:colId xmlns:a16="http://schemas.microsoft.com/office/drawing/2014/main" val="2869575329"/>
                      </a:ext>
                    </a:extLst>
                  </a:gridCol>
                  <a:gridCol w="1737513">
                    <a:extLst>
                      <a:ext uri="{9D8B030D-6E8A-4147-A177-3AD203B41FA5}">
                        <a16:colId xmlns:a16="http://schemas.microsoft.com/office/drawing/2014/main" val="1571917461"/>
                      </a:ext>
                    </a:extLst>
                  </a:gridCol>
                </a:tblGrid>
                <a:tr h="165391">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dirty="0">
                            <a:solidFill>
                              <a:sysClr val="windowText" lastClr="000000"/>
                            </a:solidFill>
                          </a:rPr>
                          <a:t>Major &amp; Critical GMP Complaints Open</a:t>
                        </a:r>
                        <a:endParaRPr lang="en-GB" sz="1600" b="1" dirty="0">
                          <a:solidFill>
                            <a:sysClr val="windowText" lastClr="000000"/>
                          </a:solidFill>
                          <a:latin typeface="+mn-lt"/>
                        </a:endParaRPr>
                      </a:p>
                    </a:txBody>
                    <a:tcPr marL="74309" marR="74309" marT="37155" marB="37155" anchor="ctr"/>
                  </a:tc>
                  <a:tc hMerge="1">
                    <a:txBody>
                      <a:bodyPr/>
                      <a:lstStyle/>
                      <a:p>
                        <a:endParaRPr lang="en-GB"/>
                      </a:p>
                    </a:txBody>
                    <a:tcPr/>
                  </a:tc>
                  <a:tc hMerge="1">
                    <a:txBody>
                      <a:bodyPr/>
                      <a:lstStyle/>
                      <a:p>
                        <a:pPr algn="ctr"/>
                        <a:endParaRPr lang="en-GB" sz="2000" b="1" dirty="0">
                          <a:solidFill>
                            <a:schemeClr val="tx1"/>
                          </a:solidFill>
                          <a:latin typeface="+mn-lt"/>
                        </a:endParaRPr>
                      </a:p>
                    </a:txBody>
                    <a:tcPr marL="74309" marR="74309" marT="37155" marB="37155" anchor="ctr">
                      <a:solidFill>
                        <a:schemeClr val="bg1"/>
                      </a:solidFill>
                    </a:tcPr>
                  </a:tc>
                  <a:tc hMerge="1">
                    <a:txBody>
                      <a:bodyPr/>
                      <a:lstStyle/>
                      <a:p>
                        <a:pPr algn="ctr"/>
                        <a:endParaRPr lang="en-GB" sz="2000" b="1" dirty="0">
                          <a:solidFill>
                            <a:schemeClr val="tx1"/>
                          </a:solidFill>
                          <a:latin typeface="+mn-lt"/>
                        </a:endParaRPr>
                      </a:p>
                    </a:txBody>
                    <a:tcPr marL="74309" marR="74309" marT="37155" marB="37155" anchor="ctr">
                      <a:solidFill>
                        <a:schemeClr val="bg1"/>
                      </a:solidFill>
                    </a:tcPr>
                  </a:tc>
                  <a:tc hMerge="1">
                    <a:txBody>
                      <a:bodyPr/>
                      <a:lstStyle/>
                      <a:p>
                        <a:pPr algn="ctr"/>
                        <a:endParaRPr lang="en-GB" sz="2000" b="1" dirty="0">
                          <a:solidFill>
                            <a:schemeClr val="tx1"/>
                          </a:solidFill>
                        </a:endParaRPr>
                      </a:p>
                    </a:txBody>
                    <a:tcPr marL="74309" marR="74309" marT="37155" marB="37155" anchor="ctr">
                      <a:solidFill>
                        <a:schemeClr val="bg1"/>
                      </a:solidFill>
                    </a:tcPr>
                  </a:tc>
                  <a:tc hMerge="1">
                    <a:txBody>
                      <a:bodyPr/>
                      <a:lstStyle/>
                      <a:p>
                        <a:pPr algn="ctr"/>
                        <a:endParaRPr lang="en-GB" sz="2000" b="1" dirty="0">
                          <a:solidFill>
                            <a:schemeClr val="tx1"/>
                          </a:solidFill>
                        </a:endParaRPr>
                      </a:p>
                    </a:txBody>
                    <a:tcPr marL="74309" marR="74309" marT="37155" marB="37155" anchor="ctr">
                      <a:solidFill>
                        <a:schemeClr val="bg1"/>
                      </a:solidFill>
                    </a:tcPr>
                  </a:tc>
                  <a:extLst>
                    <a:ext uri="{0D108BD9-81ED-4DB2-BD59-A6C34878D82A}">
                      <a16:rowId xmlns:a16="http://schemas.microsoft.com/office/drawing/2014/main" val="1452266958"/>
                    </a:ext>
                  </a:extLst>
                </a:tr>
                <a:tr h="3498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1" dirty="0">
                            <a:solidFill>
                              <a:sysClr val="windowText" lastClr="000000"/>
                            </a:solidFill>
                          </a:rPr>
                          <a:t>GMP Complaint number</a:t>
                        </a:r>
                        <a:endParaRPr lang="en-GB" sz="1400" b="1" dirty="0">
                          <a:solidFill>
                            <a:sysClr val="windowText" lastClr="000000"/>
                          </a:solidFill>
                          <a:latin typeface="+mn-lt"/>
                        </a:endParaRPr>
                      </a:p>
                    </a:txBody>
                    <a:tcPr marL="74309" marR="74309" marT="37155" marB="37155" anchor="ctr"/>
                  </a:tc>
                  <a:tc>
                    <a:txBody>
                      <a:bodyPr/>
                      <a:lstStyle/>
                      <a:p>
                        <a:pPr algn="ctr"/>
                        <a:r>
                          <a:rPr lang="en-GB" sz="1400" b="1" dirty="0">
                            <a:solidFill>
                              <a:sysClr val="windowText" lastClr="000000"/>
                            </a:solidFill>
                            <a:latin typeface="+mn-lt"/>
                          </a:rPr>
                          <a:t>Date raised</a:t>
                        </a:r>
                      </a:p>
                    </a:txBody>
                    <a:tcPr marL="74309" marR="74309" marT="37155" marB="37155" anchor="ctr"/>
                  </a:tc>
                  <a:tc>
                    <a:txBody>
                      <a:bodyPr/>
                      <a:lstStyle/>
                      <a:p>
                        <a:pPr algn="ctr"/>
                        <a:r>
                          <a:rPr lang="en-GB" sz="1400" b="1" dirty="0">
                            <a:solidFill>
                              <a:sysClr val="windowText" lastClr="000000"/>
                            </a:solidFill>
                          </a:rPr>
                          <a:t>Complaint description</a:t>
                        </a:r>
                        <a:endParaRPr lang="en-GB" sz="1400" b="1" dirty="0">
                          <a:solidFill>
                            <a:sysClr val="windowText" lastClr="000000"/>
                          </a:solidFill>
                          <a:latin typeface="+mn-lt"/>
                        </a:endParaRPr>
                      </a:p>
                    </a:txBody>
                    <a:tcPr marL="74309" marR="74309" marT="37155" marB="37155" anchor="ctr"/>
                  </a:tc>
                  <a:tc>
                    <a:txBody>
                      <a:bodyPr/>
                      <a:lstStyle/>
                      <a:p>
                        <a:pPr algn="ctr"/>
                        <a:r>
                          <a:rPr lang="en-GB" sz="1400" b="1" dirty="0">
                            <a:solidFill>
                              <a:sysClr val="windowText" lastClr="000000"/>
                            </a:solidFill>
                          </a:rPr>
                          <a:t>Classification</a:t>
                        </a:r>
                        <a:endParaRPr lang="en-GB" sz="1400" b="1" dirty="0">
                          <a:solidFill>
                            <a:sysClr val="windowText" lastClr="000000"/>
                          </a:solidFill>
                          <a:latin typeface="+mn-lt"/>
                        </a:endParaRPr>
                      </a:p>
                    </a:txBody>
                    <a:tcPr marL="74309" marR="74309" marT="37155" marB="37155" anchor="ctr"/>
                  </a:tc>
                  <a:tc>
                    <a:txBody>
                      <a:bodyPr/>
                      <a:lstStyle/>
                      <a:p>
                        <a:pPr algn="ctr"/>
                        <a:r>
                          <a:rPr lang="en-GB" sz="1400" b="1" dirty="0">
                            <a:solidFill>
                              <a:sysClr val="windowText" lastClr="000000"/>
                            </a:solidFill>
                          </a:rPr>
                          <a:t>Target date</a:t>
                        </a:r>
                      </a:p>
                    </a:txBody>
                    <a:tcPr marL="74309" marR="74309" marT="37155" marB="37155" anchor="ctr"/>
                  </a:tc>
                  <a:tc>
                    <a:txBody>
                      <a:bodyPr/>
                      <a:lstStyle/>
                      <a:p>
                        <a:pPr algn="ctr"/>
                        <a:r>
                          <a:rPr lang="en-GB" sz="1400" b="1" dirty="0">
                            <a:solidFill>
                              <a:sysClr val="windowText" lastClr="000000"/>
                            </a:solidFill>
                          </a:rPr>
                          <a:t>Reason still open</a:t>
                        </a:r>
                      </a:p>
                    </a:txBody>
                    <a:tcPr marL="74309" marR="74309" marT="37155" marB="37155" anchor="ctr"/>
                  </a:tc>
                  <a:extLst>
                    <a:ext uri="{0D108BD9-81ED-4DB2-BD59-A6C34878D82A}">
                      <a16:rowId xmlns:a16="http://schemas.microsoft.com/office/drawing/2014/main" val="3379889016"/>
                    </a:ext>
                  </a:extLst>
                </a:tr>
                <a:tr h="263451">
                  <a:tc>
                    <a:txBody>
                      <a:bodyPr/>
                      <a:lstStyle/>
                      <a:p>
                        <a:pPr algn="ctr" fontAlgn="ctr">
                          <a:buNone/>
                        </a:pPr>
                        <a:endParaRPr lang="en-GB" sz="1400" b="0" i="0" u="none" strike="noStrike" dirty="0">
                          <a:solidFill>
                            <a:srgbClr val="000000"/>
                          </a:solidFill>
                          <a:effectLst/>
                          <a:latin typeface="Calibri" panose="020F0502020204030204" pitchFamily="34" charset="0"/>
                        </a:endParaRPr>
                      </a:p>
                    </a:txBody>
                    <a:tcPr marL="9525" marR="9525" marT="9525" anchor="ctr"/>
                  </a:tc>
                  <a:tc>
                    <a:txBody>
                      <a:bodyPr/>
                      <a:lstStyle/>
                      <a:p>
                        <a:pPr algn="ctr" fontAlgn="ctr">
                          <a:buNone/>
                        </a:pPr>
                        <a:endParaRPr lang="en-US" sz="1400" b="0" i="0" u="none" strike="noStrike" dirty="0">
                          <a:solidFill>
                            <a:srgbClr val="000000"/>
                          </a:solidFill>
                          <a:effectLst/>
                          <a:latin typeface="+mn-lt"/>
                        </a:endParaRPr>
                      </a:p>
                    </a:txBody>
                    <a:tcPr marL="9525" marR="9525" marT="9525" anchor="ctr"/>
                  </a:tc>
                  <a:tc>
                    <a:txBody>
                      <a:bodyPr/>
                      <a:lstStyle/>
                      <a:p>
                        <a:pPr algn="ctr" fontAlgn="ctr">
                          <a:buNone/>
                        </a:pPr>
                        <a:r>
                          <a:rPr lang="en-US" sz="1400" b="0" i="0" u="none" strike="noStrike" dirty="0">
                            <a:solidFill>
                              <a:srgbClr val="000000"/>
                            </a:solidFill>
                            <a:effectLst/>
                            <a:latin typeface="Calibri" panose="020F0502020204030204" pitchFamily="34" charset="0"/>
                          </a:rPr>
                          <a:t>None to report in Q2, only Minor complaints</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GB" sz="14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ctr">
                      <a:solidFill>
                        <a:srgbClr val="FFFF00"/>
                      </a:solidFill>
                    </a:tcPr>
                  </a:tc>
                  <a:tc>
                    <a:txBody>
                      <a:bodyPr/>
                      <a:lstStyle/>
                      <a:p>
                        <a:pPr algn="ctr" fontAlgn="ctr">
                          <a:buNone/>
                        </a:pPr>
                        <a:endParaRPr lang="en-GB" sz="1400" b="0" i="0" u="none" strike="noStrike" dirty="0">
                          <a:solidFill>
                            <a:srgbClr val="000000"/>
                          </a:solidFill>
                          <a:effectLst/>
                          <a:latin typeface="Calibri" panose="020F0502020204030204" pitchFamily="34" charset="0"/>
                        </a:endParaRPr>
                      </a:p>
                    </a:txBody>
                    <a:tcPr marL="9525" marR="9525" marT="9525" anchor="ctr"/>
                  </a:tc>
                  <a:tc>
                    <a:txBody>
                      <a:bodyPr/>
                      <a:lstStyle/>
                      <a:p>
                        <a:pPr algn="ctr" fontAlgn="ctr">
                          <a:buNone/>
                        </a:pPr>
                        <a:endParaRPr lang="en-GB" sz="1400" b="0" i="0" u="none" strike="noStrike" dirty="0">
                          <a:solidFill>
                            <a:schemeClr val="bg1"/>
                          </a:solidFill>
                          <a:effectLst/>
                          <a:latin typeface="Calibri" panose="020F0502020204030204" pitchFamily="34" charset="0"/>
                        </a:endParaRPr>
                      </a:p>
                    </a:txBody>
                    <a:tcPr marL="9525" marR="9525" marT="9525" anchor="ctr"/>
                  </a:tc>
                  <a:extLst>
                    <a:ext uri="{0D108BD9-81ED-4DB2-BD59-A6C34878D82A}">
                      <a16:rowId xmlns:a16="http://schemas.microsoft.com/office/drawing/2014/main" val="1606515999"/>
                    </a:ext>
                  </a:extLst>
                </a:tr>
              </a:tbl>
            </a:graphicData>
          </a:graphic>
        </p:graphicFrame>
      </p:grpSp>
      <p:graphicFrame>
        <p:nvGraphicFramePr>
          <p:cNvPr id="19" name="Table 18">
            <a:extLst>
              <a:ext uri="{FF2B5EF4-FFF2-40B4-BE49-F238E27FC236}">
                <a16:creationId xmlns:a16="http://schemas.microsoft.com/office/drawing/2014/main" id="{229F33C1-A787-5927-73B8-E06449D91EE1}"/>
              </a:ext>
            </a:extLst>
          </p:cNvPr>
          <p:cNvGraphicFramePr>
            <a:graphicFrameLocks noGrp="1"/>
          </p:cNvGraphicFramePr>
          <p:nvPr>
            <p:extLst>
              <p:ext uri="{D42A27DB-BD31-4B8C-83A1-F6EECF244321}">
                <p14:modId xmlns:p14="http://schemas.microsoft.com/office/powerpoint/2010/main" val="711862120"/>
              </p:ext>
            </p:extLst>
          </p:nvPr>
        </p:nvGraphicFramePr>
        <p:xfrm>
          <a:off x="842091" y="4905691"/>
          <a:ext cx="11101645" cy="1241410"/>
        </p:xfrm>
        <a:graphic>
          <a:graphicData uri="http://schemas.openxmlformats.org/drawingml/2006/table">
            <a:tbl>
              <a:tblPr/>
              <a:tblGrid>
                <a:gridCol w="1774241">
                  <a:extLst>
                    <a:ext uri="{9D8B030D-6E8A-4147-A177-3AD203B41FA5}">
                      <a16:colId xmlns:a16="http://schemas.microsoft.com/office/drawing/2014/main" val="1385492866"/>
                    </a:ext>
                  </a:extLst>
                </a:gridCol>
                <a:gridCol w="2133523">
                  <a:extLst>
                    <a:ext uri="{9D8B030D-6E8A-4147-A177-3AD203B41FA5}">
                      <a16:colId xmlns:a16="http://schemas.microsoft.com/office/drawing/2014/main" val="804148362"/>
                    </a:ext>
                  </a:extLst>
                </a:gridCol>
                <a:gridCol w="2133523">
                  <a:extLst>
                    <a:ext uri="{9D8B030D-6E8A-4147-A177-3AD203B41FA5}">
                      <a16:colId xmlns:a16="http://schemas.microsoft.com/office/drawing/2014/main" val="3616206764"/>
                    </a:ext>
                  </a:extLst>
                </a:gridCol>
                <a:gridCol w="1748722">
                  <a:extLst>
                    <a:ext uri="{9D8B030D-6E8A-4147-A177-3AD203B41FA5}">
                      <a16:colId xmlns:a16="http://schemas.microsoft.com/office/drawing/2014/main" val="3644329512"/>
                    </a:ext>
                  </a:extLst>
                </a:gridCol>
                <a:gridCol w="1655818">
                  <a:extLst>
                    <a:ext uri="{9D8B030D-6E8A-4147-A177-3AD203B41FA5}">
                      <a16:colId xmlns:a16="http://schemas.microsoft.com/office/drawing/2014/main" val="3871842897"/>
                    </a:ext>
                  </a:extLst>
                </a:gridCol>
                <a:gridCol w="1655818">
                  <a:extLst>
                    <a:ext uri="{9D8B030D-6E8A-4147-A177-3AD203B41FA5}">
                      <a16:colId xmlns:a16="http://schemas.microsoft.com/office/drawing/2014/main" val="1883237257"/>
                    </a:ext>
                  </a:extLst>
                </a:gridCol>
              </a:tblGrid>
              <a:tr h="342491">
                <a:tc>
                  <a:txBody>
                    <a:bodyPr/>
                    <a:lstStyle>
                      <a:lvl1pPr marL="0" algn="l" defTabSz="914377" rtl="0" eaLnBrk="1" latinLnBrk="0" hangingPunct="1">
                        <a:defRPr sz="1800" kern="1200">
                          <a:solidFill>
                            <a:schemeClr val="tx1"/>
                          </a:solidFill>
                          <a:latin typeface="Corbel" panose="020B0503020204020204"/>
                        </a:defRPr>
                      </a:lvl1pPr>
                      <a:lvl2pPr marL="457189" algn="l" defTabSz="914377" rtl="0" eaLnBrk="1" latinLnBrk="0" hangingPunct="1">
                        <a:defRPr sz="1800" kern="1200">
                          <a:solidFill>
                            <a:schemeClr val="tx1"/>
                          </a:solidFill>
                          <a:latin typeface="Corbel" panose="020B0503020204020204"/>
                        </a:defRPr>
                      </a:lvl2pPr>
                      <a:lvl3pPr marL="914377" algn="l" defTabSz="914377" rtl="0" eaLnBrk="1" latinLnBrk="0" hangingPunct="1">
                        <a:defRPr sz="1800" kern="1200">
                          <a:solidFill>
                            <a:schemeClr val="tx1"/>
                          </a:solidFill>
                          <a:latin typeface="Corbel" panose="020B0503020204020204"/>
                        </a:defRPr>
                      </a:lvl3pPr>
                      <a:lvl4pPr marL="1371566" algn="l" defTabSz="914377" rtl="0" eaLnBrk="1" latinLnBrk="0" hangingPunct="1">
                        <a:defRPr sz="1800" kern="1200">
                          <a:solidFill>
                            <a:schemeClr val="tx1"/>
                          </a:solidFill>
                          <a:latin typeface="Corbel" panose="020B0503020204020204"/>
                        </a:defRPr>
                      </a:lvl4pPr>
                      <a:lvl5pPr marL="1828754" algn="l" defTabSz="914377" rtl="0" eaLnBrk="1" latinLnBrk="0" hangingPunct="1">
                        <a:defRPr sz="1800" kern="1200">
                          <a:solidFill>
                            <a:schemeClr val="tx1"/>
                          </a:solidFill>
                          <a:latin typeface="Corbel" panose="020B0503020204020204"/>
                        </a:defRPr>
                      </a:lvl5pPr>
                      <a:lvl6pPr marL="2285943" algn="l" defTabSz="914377" rtl="0" eaLnBrk="1" latinLnBrk="0" hangingPunct="1">
                        <a:defRPr sz="1800" kern="1200">
                          <a:solidFill>
                            <a:schemeClr val="tx1"/>
                          </a:solidFill>
                          <a:latin typeface="Corbel" panose="020B0503020204020204"/>
                        </a:defRPr>
                      </a:lvl6pPr>
                      <a:lvl7pPr marL="2743131" algn="l" defTabSz="914377" rtl="0" eaLnBrk="1" latinLnBrk="0" hangingPunct="1">
                        <a:defRPr sz="1800" kern="1200">
                          <a:solidFill>
                            <a:schemeClr val="tx1"/>
                          </a:solidFill>
                          <a:latin typeface="Corbel" panose="020B0503020204020204"/>
                        </a:defRPr>
                      </a:lvl7pPr>
                      <a:lvl8pPr marL="3200320" algn="l" defTabSz="914377" rtl="0" eaLnBrk="1" latinLnBrk="0" hangingPunct="1">
                        <a:defRPr sz="1800" kern="1200">
                          <a:solidFill>
                            <a:schemeClr val="tx1"/>
                          </a:solidFill>
                          <a:latin typeface="Corbel" panose="020B0503020204020204"/>
                        </a:defRPr>
                      </a:lvl8pPr>
                      <a:lvl9pPr marL="3657509" algn="l" defTabSz="914377" rtl="0" eaLnBrk="1" latinLnBrk="0" hangingPunct="1">
                        <a:defRPr sz="1800" kern="1200">
                          <a:solidFill>
                            <a:schemeClr val="tx1"/>
                          </a:solidFill>
                          <a:latin typeface="Corbel" panose="020B0503020204020204"/>
                        </a:defRPr>
                      </a:lvl9pPr>
                    </a:lstStyle>
                    <a:p>
                      <a:pPr algn="ctr" fontAlgn="ctr"/>
                      <a:r>
                        <a:rPr lang="en-US" sz="1800" b="1" i="0" u="none" strike="noStrike" dirty="0">
                          <a:solidFill>
                            <a:srgbClr val="000000"/>
                          </a:solidFill>
                          <a:effectLst/>
                          <a:latin typeface="Calibri" panose="020F0502020204030204" pitchFamily="34" charset="0"/>
                        </a:rPr>
                        <a:t>Currently Open </a:t>
                      </a:r>
                      <a:endParaRPr lang="en-GB" sz="1800" b="1" i="0" u="none" strike="noStrike" dirty="0">
                        <a:solidFill>
                          <a:srgbClr val="000000"/>
                        </a:solidFill>
                        <a:effectLst/>
                        <a:latin typeface="Calibri" panose="020F0502020204030204" pitchFamily="34" charset="0"/>
                      </a:endParaRP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dirty="0">
                          <a:solidFill>
                            <a:srgbClr val="000000"/>
                          </a:solidFill>
                          <a:effectLst/>
                          <a:latin typeface="Calibri" panose="020F0502020204030204" pitchFamily="34" charset="0"/>
                        </a:rPr>
                        <a:t>Open with an Extension</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dirty="0">
                          <a:solidFill>
                            <a:srgbClr val="000000"/>
                          </a:solidFill>
                          <a:effectLst/>
                          <a:latin typeface="Calibri" panose="020F0502020204030204" pitchFamily="34" charset="0"/>
                        </a:rPr>
                        <a:t>Currently open &amp; overdue at the end of quarter</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kern="1200" dirty="0">
                          <a:solidFill>
                            <a:srgbClr val="000000"/>
                          </a:solidFill>
                          <a:effectLst/>
                          <a:latin typeface="Calibri" panose="020F0502020204030204" pitchFamily="34" charset="0"/>
                          <a:ea typeface="+mn-ea"/>
                          <a:cs typeface="+mn-cs"/>
                        </a:rPr>
                        <a:t>Closed (Q2 2026)</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kern="1200" dirty="0">
                          <a:solidFill>
                            <a:srgbClr val="000000"/>
                          </a:solidFill>
                          <a:effectLst/>
                          <a:latin typeface="Calibri" panose="020F0502020204030204" pitchFamily="34" charset="0"/>
                          <a:ea typeface="+mn-ea"/>
                          <a:cs typeface="+mn-cs"/>
                        </a:rPr>
                        <a:t>Closed after target date</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kern="1200" dirty="0">
                          <a:solidFill>
                            <a:srgbClr val="000000"/>
                          </a:solidFill>
                          <a:effectLst/>
                          <a:latin typeface="Calibri" panose="020F0502020204030204" pitchFamily="34" charset="0"/>
                          <a:ea typeface="+mn-ea"/>
                          <a:cs typeface="+mn-cs"/>
                        </a:rPr>
                        <a:t>Closed after extension</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3701969659"/>
                  </a:ext>
                </a:extLst>
              </a:tr>
              <a:tr h="253873">
                <a:tc>
                  <a:txBody>
                    <a:bodyPr/>
                    <a:lstStyle>
                      <a:lvl1pPr marL="0" algn="l" defTabSz="914377" rtl="0" eaLnBrk="1" latinLnBrk="0" hangingPunct="1">
                        <a:defRPr sz="1800" kern="1200">
                          <a:solidFill>
                            <a:schemeClr val="tx1"/>
                          </a:solidFill>
                          <a:latin typeface="Corbel" panose="020B0503020204020204"/>
                        </a:defRPr>
                      </a:lvl1pPr>
                      <a:lvl2pPr marL="457189" algn="l" defTabSz="914377" rtl="0" eaLnBrk="1" latinLnBrk="0" hangingPunct="1">
                        <a:defRPr sz="1800" kern="1200">
                          <a:solidFill>
                            <a:schemeClr val="tx1"/>
                          </a:solidFill>
                          <a:latin typeface="Corbel" panose="020B0503020204020204"/>
                        </a:defRPr>
                      </a:lvl2pPr>
                      <a:lvl3pPr marL="914377" algn="l" defTabSz="914377" rtl="0" eaLnBrk="1" latinLnBrk="0" hangingPunct="1">
                        <a:defRPr sz="1800" kern="1200">
                          <a:solidFill>
                            <a:schemeClr val="tx1"/>
                          </a:solidFill>
                          <a:latin typeface="Corbel" panose="020B0503020204020204"/>
                        </a:defRPr>
                      </a:lvl3pPr>
                      <a:lvl4pPr marL="1371566" algn="l" defTabSz="914377" rtl="0" eaLnBrk="1" latinLnBrk="0" hangingPunct="1">
                        <a:defRPr sz="1800" kern="1200">
                          <a:solidFill>
                            <a:schemeClr val="tx1"/>
                          </a:solidFill>
                          <a:latin typeface="Corbel" panose="020B0503020204020204"/>
                        </a:defRPr>
                      </a:lvl4pPr>
                      <a:lvl5pPr marL="1828754" algn="l" defTabSz="914377" rtl="0" eaLnBrk="1" latinLnBrk="0" hangingPunct="1">
                        <a:defRPr sz="1800" kern="1200">
                          <a:solidFill>
                            <a:schemeClr val="tx1"/>
                          </a:solidFill>
                          <a:latin typeface="Corbel" panose="020B0503020204020204"/>
                        </a:defRPr>
                      </a:lvl5pPr>
                      <a:lvl6pPr marL="2285943" algn="l" defTabSz="914377" rtl="0" eaLnBrk="1" latinLnBrk="0" hangingPunct="1">
                        <a:defRPr sz="1800" kern="1200">
                          <a:solidFill>
                            <a:schemeClr val="tx1"/>
                          </a:solidFill>
                          <a:latin typeface="Corbel" panose="020B0503020204020204"/>
                        </a:defRPr>
                      </a:lvl6pPr>
                      <a:lvl7pPr marL="2743131" algn="l" defTabSz="914377" rtl="0" eaLnBrk="1" latinLnBrk="0" hangingPunct="1">
                        <a:defRPr sz="1800" kern="1200">
                          <a:solidFill>
                            <a:schemeClr val="tx1"/>
                          </a:solidFill>
                          <a:latin typeface="Corbel" panose="020B0503020204020204"/>
                        </a:defRPr>
                      </a:lvl7pPr>
                      <a:lvl8pPr marL="3200320" algn="l" defTabSz="914377" rtl="0" eaLnBrk="1" latinLnBrk="0" hangingPunct="1">
                        <a:defRPr sz="1800" kern="1200">
                          <a:solidFill>
                            <a:schemeClr val="tx1"/>
                          </a:solidFill>
                          <a:latin typeface="Corbel" panose="020B0503020204020204"/>
                        </a:defRPr>
                      </a:lvl8pPr>
                      <a:lvl9pPr marL="3657509" algn="l" defTabSz="914377" rtl="0" eaLnBrk="1" latinLnBrk="0" hangingPunct="1">
                        <a:defRPr sz="1800" kern="1200">
                          <a:solidFill>
                            <a:schemeClr val="tx1"/>
                          </a:solidFill>
                          <a:latin typeface="Corbel" panose="020B0503020204020204"/>
                        </a:defRPr>
                      </a:lvl9pPr>
                    </a:lstStyle>
                    <a:p>
                      <a:pPr algn="ctr" fontAlgn="ctr"/>
                      <a:r>
                        <a:rPr lang="en-GB" sz="1800" b="0" i="0" u="none" strike="noStrike" kern="1200" dirty="0">
                          <a:solidFill>
                            <a:srgbClr val="000000"/>
                          </a:solidFill>
                          <a:effectLst/>
                          <a:latin typeface="Calibri" panose="020F0502020204030204" pitchFamily="34" charset="0"/>
                          <a:ea typeface="+mn-ea"/>
                          <a:cs typeface="+mn-cs"/>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GB" sz="20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GB" sz="20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GB" sz="18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GB" sz="18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GB" sz="18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074620987"/>
                  </a:ext>
                </a:extLst>
              </a:tr>
            </a:tbl>
          </a:graphicData>
        </a:graphic>
      </p:graphicFrame>
      <p:sp>
        <p:nvSpPr>
          <p:cNvPr id="2" name="Rectangle 1">
            <a:extLst>
              <a:ext uri="{FF2B5EF4-FFF2-40B4-BE49-F238E27FC236}">
                <a16:creationId xmlns:a16="http://schemas.microsoft.com/office/drawing/2014/main" id="{B198D2A7-93C7-D46D-16AC-D9403EBFE157}"/>
              </a:ext>
            </a:extLst>
          </p:cNvPr>
          <p:cNvSpPr/>
          <p:nvPr/>
        </p:nvSpPr>
        <p:spPr>
          <a:xfrm>
            <a:off x="48202" y="224912"/>
            <a:ext cx="622927" cy="6302478"/>
          </a:xfrm>
          <a:prstGeom prst="rect">
            <a:avLst/>
          </a:prstGeom>
          <a:noFill/>
        </p:spPr>
        <p:txBody>
          <a:bodyPr vert="wordArtVert" wrap="square" lIns="91440" tIns="45720" rIns="91440" bIns="45720">
            <a:spAutoFit/>
          </a:bodyPr>
          <a:lstStyle/>
          <a:p>
            <a:pPr algn="ctr"/>
            <a:r>
              <a:rPr lang="en-US" sz="2400" b="1" cap="none" spc="0" dirty="0">
                <a:ln w="0"/>
                <a:solidFill>
                  <a:schemeClr val="tx1"/>
                </a:solidFill>
                <a:effectLst>
                  <a:outerShdw blurRad="38100" dist="38100" dir="2700000" algn="tl">
                    <a:srgbClr val="000000">
                      <a:alpha val="43137"/>
                    </a:srgbClr>
                  </a:outerShdw>
                </a:effectLst>
                <a:latin typeface="+mj-lt"/>
              </a:rPr>
              <a:t>GMP COMPLAINTS</a:t>
            </a:r>
          </a:p>
        </p:txBody>
      </p:sp>
    </p:spTree>
    <p:extLst>
      <p:ext uri="{BB962C8B-B14F-4D97-AF65-F5344CB8AC3E}">
        <p14:creationId xmlns:p14="http://schemas.microsoft.com/office/powerpoint/2010/main" val="509007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9891279-2416-6586-C4E7-4FA2268E363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1603CB4-A0F4-2241-54C9-FFF0214B96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E8B019C-66F7-8367-8B78-56071AD5DC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A9C9B6F-8F84-6976-E2DF-38E6AB884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3" name="TextBox 2">
            <a:extLst>
              <a:ext uri="{FF2B5EF4-FFF2-40B4-BE49-F238E27FC236}">
                <a16:creationId xmlns:a16="http://schemas.microsoft.com/office/drawing/2014/main" id="{F6C3481E-FA03-4D3A-4804-6753468A2755}"/>
              </a:ext>
            </a:extLst>
          </p:cNvPr>
          <p:cNvSpPr txBox="1"/>
          <p:nvPr/>
        </p:nvSpPr>
        <p:spPr>
          <a:xfrm>
            <a:off x="4479045" y="-38524"/>
            <a:ext cx="7292987" cy="588271"/>
          </a:xfrm>
          <a:prstGeom prst="rect">
            <a:avLst/>
          </a:prstGeom>
          <a:noFill/>
        </p:spPr>
        <p:txBody>
          <a:bodyPr wrap="square" rtlCol="0">
            <a:spAutoFit/>
          </a:bodyPr>
          <a:lstStyle/>
          <a:p>
            <a:pPr lvl="0" algn="ctr">
              <a:defRPr/>
            </a:pPr>
            <a:r>
              <a:rPr lang="en-GB" sz="3200" b="1" dirty="0"/>
              <a:t>IDENTIFIED ROOT CAUSE TRENDS (Q2)</a:t>
            </a:r>
            <a:endParaRPr kumimoji="0" lang="en-GB" sz="3200" b="1"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
        <p:nvSpPr>
          <p:cNvPr id="2" name="Rectangle 1">
            <a:extLst>
              <a:ext uri="{FF2B5EF4-FFF2-40B4-BE49-F238E27FC236}">
                <a16:creationId xmlns:a16="http://schemas.microsoft.com/office/drawing/2014/main" id="{0EC688D4-A8A7-72FE-0441-E636F2A032A8}"/>
              </a:ext>
            </a:extLst>
          </p:cNvPr>
          <p:cNvSpPr/>
          <p:nvPr/>
        </p:nvSpPr>
        <p:spPr>
          <a:xfrm>
            <a:off x="48202" y="224912"/>
            <a:ext cx="622927" cy="6302478"/>
          </a:xfrm>
          <a:prstGeom prst="rect">
            <a:avLst/>
          </a:prstGeom>
          <a:noFill/>
        </p:spPr>
        <p:txBody>
          <a:bodyPr vert="wordArtVert" wrap="square" lIns="91440" tIns="45720" rIns="91440" bIns="45720">
            <a:spAutoFit/>
          </a:bodyPr>
          <a:lstStyle/>
          <a:p>
            <a:pPr algn="ctr"/>
            <a:r>
              <a:rPr lang="en-US" sz="2400" b="1" cap="none" spc="0" dirty="0">
                <a:ln w="0"/>
                <a:solidFill>
                  <a:schemeClr val="tx1"/>
                </a:solidFill>
                <a:effectLst>
                  <a:outerShdw blurRad="38100" dist="38100" dir="2700000" algn="tl">
                    <a:srgbClr val="000000">
                      <a:alpha val="43137"/>
                    </a:srgbClr>
                  </a:outerShdw>
                </a:effectLst>
                <a:latin typeface="+mj-lt"/>
              </a:rPr>
              <a:t>GMP COMPLAINTS</a:t>
            </a:r>
          </a:p>
        </p:txBody>
      </p:sp>
      <p:pic>
        <p:nvPicPr>
          <p:cNvPr id="10" name="Picture 9">
            <a:extLst>
              <a:ext uri="{FF2B5EF4-FFF2-40B4-BE49-F238E27FC236}">
                <a16:creationId xmlns:a16="http://schemas.microsoft.com/office/drawing/2014/main" id="{367DAC39-01CB-D014-C4FC-4453C6EE3062}"/>
              </a:ext>
            </a:extLst>
          </p:cNvPr>
          <p:cNvPicPr>
            <a:picLocks noChangeAspect="1"/>
          </p:cNvPicPr>
          <p:nvPr/>
        </p:nvPicPr>
        <p:blipFill>
          <a:blip r:embed="rId3"/>
          <a:stretch>
            <a:fillRect/>
          </a:stretch>
        </p:blipFill>
        <p:spPr>
          <a:xfrm>
            <a:off x="719328" y="3776870"/>
            <a:ext cx="11472671" cy="3087264"/>
          </a:xfrm>
          <a:prstGeom prst="rect">
            <a:avLst/>
          </a:prstGeom>
        </p:spPr>
      </p:pic>
      <p:pic>
        <p:nvPicPr>
          <p:cNvPr id="14" name="Picture 13">
            <a:extLst>
              <a:ext uri="{FF2B5EF4-FFF2-40B4-BE49-F238E27FC236}">
                <a16:creationId xmlns:a16="http://schemas.microsoft.com/office/drawing/2014/main" id="{7815C5C3-B19B-7E3B-752C-D66296F9BB4B}"/>
              </a:ext>
            </a:extLst>
          </p:cNvPr>
          <p:cNvPicPr>
            <a:picLocks noChangeAspect="1"/>
          </p:cNvPicPr>
          <p:nvPr/>
        </p:nvPicPr>
        <p:blipFill>
          <a:blip r:embed="rId4"/>
          <a:stretch>
            <a:fillRect/>
          </a:stretch>
        </p:blipFill>
        <p:spPr>
          <a:xfrm>
            <a:off x="729267" y="548115"/>
            <a:ext cx="11472672" cy="3252430"/>
          </a:xfrm>
          <a:prstGeom prst="rect">
            <a:avLst/>
          </a:prstGeom>
        </p:spPr>
      </p:pic>
      <p:sp>
        <p:nvSpPr>
          <p:cNvPr id="15" name="Oval 14">
            <a:extLst>
              <a:ext uri="{FF2B5EF4-FFF2-40B4-BE49-F238E27FC236}">
                <a16:creationId xmlns:a16="http://schemas.microsoft.com/office/drawing/2014/main" id="{57BD0CB8-2E53-90D0-905E-7ED3B8FC4361}"/>
              </a:ext>
            </a:extLst>
          </p:cNvPr>
          <p:cNvSpPr/>
          <p:nvPr/>
        </p:nvSpPr>
        <p:spPr>
          <a:xfrm>
            <a:off x="11489635" y="1480930"/>
            <a:ext cx="750565" cy="318053"/>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7" name="Oval 16">
            <a:extLst>
              <a:ext uri="{FF2B5EF4-FFF2-40B4-BE49-F238E27FC236}">
                <a16:creationId xmlns:a16="http://schemas.microsoft.com/office/drawing/2014/main" id="{77ED551C-C2F6-48BF-A865-E455CDACE57D}"/>
              </a:ext>
            </a:extLst>
          </p:cNvPr>
          <p:cNvSpPr/>
          <p:nvPr/>
        </p:nvSpPr>
        <p:spPr>
          <a:xfrm>
            <a:off x="11462733" y="3269972"/>
            <a:ext cx="750565" cy="318053"/>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1500539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3E58ABC-7821-1450-4196-56D3FEDC985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BE493E1-6050-2BCA-BF89-99B063904D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72422C8-3ECB-B3A8-B31B-9699272E6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63BE31-2D2B-CA69-2347-9D2B89DA97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3" name="TextBox 2">
            <a:extLst>
              <a:ext uri="{FF2B5EF4-FFF2-40B4-BE49-F238E27FC236}">
                <a16:creationId xmlns:a16="http://schemas.microsoft.com/office/drawing/2014/main" id="{E3707542-FA4C-FB58-4C45-B52061267AA1}"/>
              </a:ext>
            </a:extLst>
          </p:cNvPr>
          <p:cNvSpPr txBox="1"/>
          <p:nvPr/>
        </p:nvSpPr>
        <p:spPr>
          <a:xfrm>
            <a:off x="719329" y="-10289"/>
            <a:ext cx="3339751" cy="1077218"/>
          </a:xfrm>
          <a:prstGeom prst="rect">
            <a:avLst/>
          </a:prstGeom>
          <a:noFill/>
        </p:spPr>
        <p:txBody>
          <a:bodyPr wrap="square" rtlCol="0">
            <a:spAutoFit/>
          </a:bodyPr>
          <a:lstStyle/>
          <a:p>
            <a:pPr lvl="0" algn="ctr">
              <a:defRPr/>
            </a:pPr>
            <a:r>
              <a:rPr lang="en-GB" sz="3200" b="1" dirty="0"/>
              <a:t>TREND </a:t>
            </a:r>
          </a:p>
          <a:p>
            <a:pPr lvl="0" algn="ctr">
              <a:defRPr/>
            </a:pPr>
            <a:r>
              <a:rPr lang="en-GB" sz="3200" b="1" dirty="0"/>
              <a:t>ANALYSIS</a:t>
            </a:r>
            <a:endParaRPr kumimoji="0" lang="en-GB" sz="3200" b="1"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graphicFrame>
        <p:nvGraphicFramePr>
          <p:cNvPr id="2" name="Table 1">
            <a:extLst>
              <a:ext uri="{FF2B5EF4-FFF2-40B4-BE49-F238E27FC236}">
                <a16:creationId xmlns:a16="http://schemas.microsoft.com/office/drawing/2014/main" id="{8ED30E8F-BBB7-A085-E76A-F62567603082}"/>
              </a:ext>
            </a:extLst>
          </p:cNvPr>
          <p:cNvGraphicFramePr>
            <a:graphicFrameLocks noGrp="1"/>
          </p:cNvGraphicFramePr>
          <p:nvPr>
            <p:extLst>
              <p:ext uri="{D42A27DB-BD31-4B8C-83A1-F6EECF244321}">
                <p14:modId xmlns:p14="http://schemas.microsoft.com/office/powerpoint/2010/main" val="4174046508"/>
              </p:ext>
            </p:extLst>
          </p:nvPr>
        </p:nvGraphicFramePr>
        <p:xfrm>
          <a:off x="3706760" y="2671"/>
          <a:ext cx="9328724" cy="6866476"/>
        </p:xfrm>
        <a:graphic>
          <a:graphicData uri="http://schemas.openxmlformats.org/drawingml/2006/table">
            <a:tbl>
              <a:tblPr firstRow="1" firstCol="1" bandRow="1">
                <a:tableStyleId>{5C22544A-7EE6-4342-B048-85BDC9FD1C3A}</a:tableStyleId>
              </a:tblPr>
              <a:tblGrid>
                <a:gridCol w="1130709">
                  <a:extLst>
                    <a:ext uri="{9D8B030D-6E8A-4147-A177-3AD203B41FA5}">
                      <a16:colId xmlns:a16="http://schemas.microsoft.com/office/drawing/2014/main" val="1210118052"/>
                    </a:ext>
                  </a:extLst>
                </a:gridCol>
                <a:gridCol w="1096192">
                  <a:extLst>
                    <a:ext uri="{9D8B030D-6E8A-4147-A177-3AD203B41FA5}">
                      <a16:colId xmlns:a16="http://schemas.microsoft.com/office/drawing/2014/main" val="533778414"/>
                    </a:ext>
                  </a:extLst>
                </a:gridCol>
                <a:gridCol w="4545435">
                  <a:extLst>
                    <a:ext uri="{9D8B030D-6E8A-4147-A177-3AD203B41FA5}">
                      <a16:colId xmlns:a16="http://schemas.microsoft.com/office/drawing/2014/main" val="2733779828"/>
                    </a:ext>
                  </a:extLst>
                </a:gridCol>
                <a:gridCol w="1467034">
                  <a:extLst>
                    <a:ext uri="{9D8B030D-6E8A-4147-A177-3AD203B41FA5}">
                      <a16:colId xmlns:a16="http://schemas.microsoft.com/office/drawing/2014/main" val="661514645"/>
                    </a:ext>
                  </a:extLst>
                </a:gridCol>
                <a:gridCol w="1089354">
                  <a:extLst>
                    <a:ext uri="{9D8B030D-6E8A-4147-A177-3AD203B41FA5}">
                      <a16:colId xmlns:a16="http://schemas.microsoft.com/office/drawing/2014/main" val="3446596123"/>
                    </a:ext>
                  </a:extLst>
                </a:gridCol>
              </a:tblGrid>
              <a:tr h="251134">
                <a:tc>
                  <a:txBody>
                    <a:bodyPr/>
                    <a:lstStyle/>
                    <a:p>
                      <a:pPr algn="ctr"/>
                      <a:r>
                        <a:rPr lang="en-GB" sz="1050" dirty="0">
                          <a:solidFill>
                            <a:schemeClr val="tx1"/>
                          </a:solidFill>
                        </a:rPr>
                        <a:t>Trend</a:t>
                      </a:r>
                    </a:p>
                  </a:txBody>
                  <a:tcPr>
                    <a:lnR w="1905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rowSpan="2">
                  <a:txBody>
                    <a:bodyPr/>
                    <a:lstStyle/>
                    <a:p>
                      <a:pPr algn="ctr"/>
                      <a:r>
                        <a:rPr lang="en-GB" sz="1050" dirty="0">
                          <a:solidFill>
                            <a:schemeClr val="tx1"/>
                          </a:solidFill>
                        </a:rPr>
                        <a:t>GMP Complaint numbers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bg2"/>
                    </a:solidFill>
                  </a:tcPr>
                </a:tc>
                <a:tc rowSpan="2">
                  <a:txBody>
                    <a:bodyPr/>
                    <a:lstStyle/>
                    <a:p>
                      <a:pPr algn="ctr"/>
                      <a:r>
                        <a:rPr lang="en-GB" sz="1050" dirty="0">
                          <a:solidFill>
                            <a:schemeClr val="tx1"/>
                          </a:solidFill>
                        </a:rPr>
                        <a:t>Complaint details (Description, investigation etc)</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bg2"/>
                    </a:solidFill>
                  </a:tcPr>
                </a:tc>
                <a:tc rowSpan="2">
                  <a:txBody>
                    <a:bodyPr/>
                    <a:lstStyle/>
                    <a:p>
                      <a:pPr algn="ctr"/>
                      <a:r>
                        <a:rPr lang="en-GB" sz="1050" dirty="0">
                          <a:solidFill>
                            <a:schemeClr val="tx1"/>
                          </a:solidFill>
                        </a:rPr>
                        <a:t>Systemic themes identified?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bg2"/>
                    </a:solidFill>
                  </a:tcPr>
                </a:tc>
                <a:tc rowSpan="2">
                  <a:txBody>
                    <a:bodyPr/>
                    <a:lstStyle/>
                    <a:p>
                      <a:pPr algn="ctr"/>
                      <a:r>
                        <a:rPr lang="en-GB" sz="1050" dirty="0">
                          <a:solidFill>
                            <a:schemeClr val="tx1"/>
                          </a:solidFill>
                        </a:rPr>
                        <a:t>Escalation required/Regulatory impact?</a:t>
                      </a:r>
                    </a:p>
                  </a:txBody>
                  <a:tcPr anchor="ctr">
                    <a:lnL w="19050" cap="flat" cmpd="sng" algn="ctr">
                      <a:solidFill>
                        <a:schemeClr val="tx1"/>
                      </a:solidFill>
                      <a:prstDash val="solid"/>
                      <a:round/>
                      <a:headEnd type="none" w="med" len="med"/>
                      <a:tailEnd type="none" w="med" len="med"/>
                    </a:lnL>
                    <a:solidFill>
                      <a:schemeClr val="bg2"/>
                    </a:solidFill>
                  </a:tcPr>
                </a:tc>
                <a:extLst>
                  <a:ext uri="{0D108BD9-81ED-4DB2-BD59-A6C34878D82A}">
                    <a16:rowId xmlns:a16="http://schemas.microsoft.com/office/drawing/2014/main" val="2605517301"/>
                  </a:ext>
                </a:extLst>
              </a:tr>
              <a:tr h="410947">
                <a:tc>
                  <a:txBody>
                    <a:bodyPr/>
                    <a:lstStyle/>
                    <a:p>
                      <a:pPr algn="ctr"/>
                      <a:r>
                        <a:rPr lang="en-GB" sz="1050" dirty="0">
                          <a:solidFill>
                            <a:srgbClr val="FFC000"/>
                          </a:solidFill>
                        </a:rPr>
                        <a:t>Area</a:t>
                      </a:r>
                      <a:r>
                        <a:rPr lang="en-GB" sz="1050" dirty="0">
                          <a:solidFill>
                            <a:schemeClr val="bg1"/>
                          </a:solidFill>
                        </a:rPr>
                        <a:t> </a:t>
                      </a:r>
                      <a:r>
                        <a:rPr lang="en-GB" sz="1050" dirty="0">
                          <a:solidFill>
                            <a:schemeClr val="tx1"/>
                          </a:solidFill>
                        </a:rPr>
                        <a:t>&amp;</a:t>
                      </a:r>
                    </a:p>
                    <a:p>
                      <a:pPr algn="ctr"/>
                      <a:r>
                        <a:rPr lang="en-GB" sz="1050" dirty="0">
                          <a:solidFill>
                            <a:srgbClr val="00FF00"/>
                          </a:solidFill>
                        </a:rPr>
                        <a:t>Root Cause</a:t>
                      </a:r>
                    </a:p>
                  </a:txBody>
                  <a:tcPr anchor="ctr">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959789846"/>
                  </a:ext>
                </a:extLst>
              </a:tr>
              <a:tr h="1337464">
                <a:tc>
                  <a:txBody>
                    <a:bodyPr/>
                    <a:lstStyle/>
                    <a:p>
                      <a:pPr algn="ctr"/>
                      <a:r>
                        <a:rPr lang="en-GB" sz="1000" dirty="0">
                          <a:solidFill>
                            <a:srgbClr val="FFC000"/>
                          </a:solidFill>
                        </a:rPr>
                        <a:t>Product Appearance</a:t>
                      </a:r>
                      <a:r>
                        <a:rPr lang="en-GB" sz="1000" dirty="0">
                          <a:solidFill>
                            <a:schemeClr val="bg1"/>
                          </a:solidFill>
                        </a:rPr>
                        <a:t> </a:t>
                      </a:r>
                      <a:r>
                        <a:rPr lang="en-GB" sz="1000" dirty="0">
                          <a:solidFill>
                            <a:schemeClr val="tx1"/>
                          </a:solidFill>
                        </a:rPr>
                        <a:t>&amp;</a:t>
                      </a:r>
                    </a:p>
                    <a:p>
                      <a:pPr algn="ctr"/>
                      <a:r>
                        <a:rPr lang="en-GB" sz="1000" dirty="0">
                          <a:solidFill>
                            <a:srgbClr val="00FF00"/>
                          </a:solidFill>
                        </a:rPr>
                        <a:t>Other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000" dirty="0">
                        <a:solidFill>
                          <a:srgbClr val="00FF00"/>
                        </a:solidFill>
                      </a:endParaRPr>
                    </a:p>
                  </a:txBody>
                  <a:tcPr anchor="ctr">
                    <a:solidFill>
                      <a:schemeClr val="bg2"/>
                    </a:solidFill>
                  </a:tcPr>
                </a:tc>
                <a:tc>
                  <a:txBody>
                    <a:bodyPr/>
                    <a:lstStyle/>
                    <a:p>
                      <a:r>
                        <a:rPr lang="en-US" sz="800" dirty="0">
                          <a:solidFill>
                            <a:srgbClr val="FF0000"/>
                          </a:solidFill>
                        </a:rPr>
                        <a:t>GMP.CPL.2025.009</a:t>
                      </a:r>
                    </a:p>
                    <a:p>
                      <a:r>
                        <a:rPr lang="en-US" sz="800" dirty="0">
                          <a:solidFill>
                            <a:srgbClr val="FF0000"/>
                          </a:solidFill>
                        </a:rPr>
                        <a:t>GMP.CPL.2026.003</a:t>
                      </a:r>
                    </a:p>
                  </a:txBody>
                  <a:tcPr anchor="ctr">
                    <a:solidFill>
                      <a:schemeClr val="bg2">
                        <a:lumMod val="20000"/>
                        <a:lumOff val="80000"/>
                      </a:schemeClr>
                    </a:solidFill>
                  </a:tcPr>
                </a:tc>
                <a:tc>
                  <a:txBody>
                    <a:bodyPr/>
                    <a:lstStyle/>
                    <a:p>
                      <a:pPr marL="228600" indent="-228600" algn="just">
                        <a:buFont typeface="+mj-lt"/>
                        <a:buAutoNum type="arabicPeriod"/>
                      </a:pPr>
                      <a:endParaRPr lang="en-US" sz="800" dirty="0"/>
                    </a:p>
                  </a:txBody>
                  <a:tcPr anchor="ctr">
                    <a:solidFill>
                      <a:schemeClr val="bg2">
                        <a:lumMod val="20000"/>
                        <a:lumOff val="80000"/>
                      </a:schemeClr>
                    </a:solidFill>
                  </a:tcPr>
                </a:tc>
                <a:tc>
                  <a:txBody>
                    <a:bodyPr/>
                    <a:lstStyle/>
                    <a:p>
                      <a:pPr marL="0" indent="0" algn="just">
                        <a:buFont typeface="+mj-lt"/>
                        <a:buNone/>
                      </a:pPr>
                      <a:endParaRPr lang="en-US" sz="800" dirty="0"/>
                    </a:p>
                  </a:txBody>
                  <a:tcPr anchor="ctr">
                    <a:solidFill>
                      <a:schemeClr val="bg2">
                        <a:lumMod val="20000"/>
                        <a:lumOff val="80000"/>
                      </a:schemeClr>
                    </a:solidFill>
                  </a:tcPr>
                </a:tc>
                <a:tc>
                  <a:txBody>
                    <a:bodyPr/>
                    <a:lstStyle/>
                    <a:p>
                      <a:pPr marL="0" indent="0" algn="l">
                        <a:buFont typeface="+mj-lt"/>
                        <a:buNone/>
                      </a:pPr>
                      <a:endParaRPr lang="en-US" sz="800" dirty="0"/>
                    </a:p>
                  </a:txBody>
                  <a:tcPr anchor="ctr">
                    <a:solidFill>
                      <a:schemeClr val="bg2">
                        <a:lumMod val="20000"/>
                        <a:lumOff val="80000"/>
                      </a:schemeClr>
                    </a:solidFill>
                  </a:tcPr>
                </a:tc>
                <a:extLst>
                  <a:ext uri="{0D108BD9-81ED-4DB2-BD59-A6C34878D82A}">
                    <a16:rowId xmlns:a16="http://schemas.microsoft.com/office/drawing/2014/main" val="4256412861"/>
                  </a:ext>
                </a:extLst>
              </a:tr>
              <a:tr h="839802">
                <a:tc>
                  <a:txBody>
                    <a:bodyPr/>
                    <a:lstStyle/>
                    <a:p>
                      <a:pPr algn="ctr"/>
                      <a:r>
                        <a:rPr lang="en-GB" sz="1000" dirty="0">
                          <a:solidFill>
                            <a:srgbClr val="FFC000"/>
                          </a:solidFill>
                        </a:rPr>
                        <a:t>Product Efficacy</a:t>
                      </a:r>
                      <a:r>
                        <a:rPr lang="en-GB" sz="1000" dirty="0">
                          <a:solidFill>
                            <a:schemeClr val="bg1"/>
                          </a:solidFill>
                        </a:rPr>
                        <a:t> </a:t>
                      </a:r>
                      <a:r>
                        <a:rPr lang="en-GB" sz="1000" dirty="0">
                          <a:solidFill>
                            <a:schemeClr val="tx1"/>
                          </a:solidFill>
                        </a:rPr>
                        <a:t>&amp;</a:t>
                      </a:r>
                    </a:p>
                    <a:p>
                      <a:pPr algn="ctr"/>
                      <a:r>
                        <a:rPr lang="en-GB" sz="1000" dirty="0">
                          <a:solidFill>
                            <a:srgbClr val="00FF00"/>
                          </a:solidFill>
                        </a:rPr>
                        <a:t>Other</a:t>
                      </a:r>
                    </a:p>
                    <a:p>
                      <a:pPr algn="ctr"/>
                      <a:endParaRPr lang="en-GB" sz="1000" dirty="0">
                        <a:solidFill>
                          <a:srgbClr val="00FF00"/>
                        </a:solidFill>
                      </a:endParaRPr>
                    </a:p>
                  </a:txBody>
                  <a:tcPr anchor="ctr">
                    <a:solidFill>
                      <a:schemeClr val="bg2"/>
                    </a:solidFill>
                  </a:tcPr>
                </a:tc>
                <a:tc>
                  <a:txBody>
                    <a:bodyPr/>
                    <a:lstStyle/>
                    <a:p>
                      <a:r>
                        <a:rPr lang="en-GB" sz="800" dirty="0">
                          <a:solidFill>
                            <a:srgbClr val="FF0000"/>
                          </a:solidFill>
                        </a:rPr>
                        <a:t>GMP.CPL.2025.008</a:t>
                      </a:r>
                    </a:p>
                    <a:p>
                      <a:r>
                        <a:rPr lang="en-GB" sz="800" dirty="0">
                          <a:solidFill>
                            <a:srgbClr val="FF0000"/>
                          </a:solidFill>
                        </a:rPr>
                        <a:t>GMP.CPL.2026.005</a:t>
                      </a:r>
                    </a:p>
                  </a:txBody>
                  <a:tcPr anchor="ctr">
                    <a:solidFill>
                      <a:schemeClr val="bg2">
                        <a:lumMod val="20000"/>
                        <a:lumOff val="80000"/>
                      </a:schemeClr>
                    </a:solidFill>
                  </a:tcPr>
                </a:tc>
                <a:tc>
                  <a:txBody>
                    <a:bodyPr/>
                    <a:lstStyle/>
                    <a:p>
                      <a:pPr marL="228600" marR="0" lvl="0" indent="-228600" algn="just" defTabSz="914400" rtl="0" eaLnBrk="1" fontAlgn="auto" latinLnBrk="0" hangingPunct="1">
                        <a:lnSpc>
                          <a:spcPct val="100000"/>
                        </a:lnSpc>
                        <a:spcBef>
                          <a:spcPts val="0"/>
                        </a:spcBef>
                        <a:spcAft>
                          <a:spcPts val="0"/>
                        </a:spcAft>
                        <a:buClrTx/>
                        <a:buSzTx/>
                        <a:buFontTx/>
                        <a:buAutoNum type="arabicPeriod"/>
                        <a:tabLst/>
                        <a:defRPr/>
                      </a:pPr>
                      <a:endParaRPr lang="en-US" sz="80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extLst>
                  <a:ext uri="{0D108BD9-81ED-4DB2-BD59-A6C34878D82A}">
                    <a16:rowId xmlns:a16="http://schemas.microsoft.com/office/drawing/2014/main" val="2083230222"/>
                  </a:ext>
                </a:extLst>
              </a:tr>
              <a:tr h="582774">
                <a:tc>
                  <a:txBody>
                    <a:bodyPr/>
                    <a:lstStyle/>
                    <a:p>
                      <a:pPr algn="ctr"/>
                      <a:endParaRPr lang="en-GB" sz="1000" dirty="0">
                        <a:solidFill>
                          <a:srgbClr val="00FF00"/>
                        </a:solidFill>
                      </a:endParaRPr>
                    </a:p>
                  </a:txBody>
                  <a:tcPr anchor="ctr">
                    <a:solidFill>
                      <a:schemeClr val="bg2"/>
                    </a:solidFill>
                  </a:tcPr>
                </a:tc>
                <a:tc>
                  <a:txBody>
                    <a:bodyPr/>
                    <a:lstStyle/>
                    <a:p>
                      <a:endParaRPr lang="en-GB" sz="800" dirty="0"/>
                    </a:p>
                  </a:txBody>
                  <a:tcPr anchor="ctr">
                    <a:solidFill>
                      <a:schemeClr val="bg2">
                        <a:lumMod val="20000"/>
                        <a:lumOff val="80000"/>
                      </a:schemeClr>
                    </a:solidFill>
                  </a:tcPr>
                </a:tc>
                <a:tc>
                  <a:txBody>
                    <a:bodyPr/>
                    <a:lstStyle/>
                    <a:p>
                      <a:pPr marL="228600" indent="-228600" algn="just">
                        <a:buAutoNum type="arabicPeriod"/>
                      </a:pPr>
                      <a:endParaRPr lang="en-GB" sz="800" b="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extLst>
                  <a:ext uri="{0D108BD9-81ED-4DB2-BD59-A6C34878D82A}">
                    <a16:rowId xmlns:a16="http://schemas.microsoft.com/office/drawing/2014/main" val="4173481407"/>
                  </a:ext>
                </a:extLst>
              </a:tr>
              <a:tr h="828152">
                <a:tc>
                  <a:txBody>
                    <a:bodyPr/>
                    <a:lstStyle/>
                    <a:p>
                      <a:pPr algn="ctr"/>
                      <a:endParaRPr lang="en-GB" sz="1000" dirty="0">
                        <a:solidFill>
                          <a:srgbClr val="00FF00"/>
                        </a:solidFill>
                      </a:endParaRPr>
                    </a:p>
                  </a:txBody>
                  <a:tcPr anchor="ctr">
                    <a:solidFill>
                      <a:schemeClr val="bg2"/>
                    </a:solidFill>
                  </a:tcPr>
                </a:tc>
                <a:tc>
                  <a:txBody>
                    <a:bodyPr/>
                    <a:lstStyle/>
                    <a:p>
                      <a:endParaRPr lang="en-GB" sz="800" dirty="0"/>
                    </a:p>
                  </a:txBody>
                  <a:tcPr anchor="ctr">
                    <a:solidFill>
                      <a:schemeClr val="bg2">
                        <a:lumMod val="20000"/>
                        <a:lumOff val="80000"/>
                      </a:schemeClr>
                    </a:solidFill>
                  </a:tcPr>
                </a:tc>
                <a:tc>
                  <a:txBody>
                    <a:bodyPr/>
                    <a:lstStyle/>
                    <a:p>
                      <a:pPr marL="228600" marR="0" lvl="0" indent="-228600" algn="just" defTabSz="914400" rtl="0" eaLnBrk="1" fontAlgn="auto" latinLnBrk="0" hangingPunct="1">
                        <a:lnSpc>
                          <a:spcPct val="100000"/>
                        </a:lnSpc>
                        <a:spcBef>
                          <a:spcPts val="0"/>
                        </a:spcBef>
                        <a:spcAft>
                          <a:spcPts val="0"/>
                        </a:spcAft>
                        <a:buClrTx/>
                        <a:buSzTx/>
                        <a:buFontTx/>
                        <a:buAutoNum type="arabicPeriod"/>
                        <a:tabLst/>
                        <a:defRPr/>
                      </a:pPr>
                      <a:endParaRPr lang="en-GB" sz="800" b="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extLst>
                  <a:ext uri="{0D108BD9-81ED-4DB2-BD59-A6C34878D82A}">
                    <a16:rowId xmlns:a16="http://schemas.microsoft.com/office/drawing/2014/main" val="1570201018"/>
                  </a:ext>
                </a:extLst>
              </a:tr>
              <a:tr h="1318909">
                <a:tc>
                  <a:txBody>
                    <a:bodyPr/>
                    <a:lstStyle/>
                    <a:p>
                      <a:pPr algn="ctr"/>
                      <a:endParaRPr lang="en-GB" sz="1000" dirty="0">
                        <a:solidFill>
                          <a:srgbClr val="00FF00"/>
                        </a:solidFill>
                      </a:endParaRPr>
                    </a:p>
                  </a:txBody>
                  <a:tcPr anchor="ctr">
                    <a:solidFill>
                      <a:schemeClr val="bg2"/>
                    </a:solidFill>
                  </a:tcPr>
                </a:tc>
                <a:tc>
                  <a:txBody>
                    <a:bodyPr/>
                    <a:lstStyle/>
                    <a:p>
                      <a:endParaRPr lang="en-GB" sz="800" dirty="0"/>
                    </a:p>
                  </a:txBody>
                  <a:tcPr anchor="ctr">
                    <a:solidFill>
                      <a:schemeClr val="bg2">
                        <a:lumMod val="20000"/>
                        <a:lumOff val="80000"/>
                      </a:schemeClr>
                    </a:solidFill>
                  </a:tcPr>
                </a:tc>
                <a:tc>
                  <a:txBody>
                    <a:bodyPr/>
                    <a:lstStyle/>
                    <a:p>
                      <a:pPr marL="228600" indent="-228600" algn="just">
                        <a:buFont typeface="+mj-lt"/>
                        <a:buAutoNum type="arabicPeriod"/>
                      </a:pPr>
                      <a:endParaRPr lang="en-GB" sz="800" b="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extLst>
                  <a:ext uri="{0D108BD9-81ED-4DB2-BD59-A6C34878D82A}">
                    <a16:rowId xmlns:a16="http://schemas.microsoft.com/office/drawing/2014/main" val="235642476"/>
                  </a:ext>
                </a:extLst>
              </a:tr>
              <a:tr h="705463">
                <a:tc>
                  <a:txBody>
                    <a:bodyPr/>
                    <a:lstStyle/>
                    <a:p>
                      <a:pPr algn="ctr"/>
                      <a:endParaRPr lang="en-GB" sz="1000" dirty="0">
                        <a:solidFill>
                          <a:srgbClr val="00FF00"/>
                        </a:solidFill>
                      </a:endParaRPr>
                    </a:p>
                  </a:txBody>
                  <a:tcPr anchor="ctr">
                    <a:solidFill>
                      <a:schemeClr val="bg2"/>
                    </a:solidFill>
                  </a:tcPr>
                </a:tc>
                <a:tc>
                  <a:txBody>
                    <a:bodyPr/>
                    <a:lstStyle/>
                    <a:p>
                      <a:endParaRPr lang="en-GB" sz="800" dirty="0"/>
                    </a:p>
                  </a:txBody>
                  <a:tcPr anchor="ctr">
                    <a:solidFill>
                      <a:schemeClr val="bg2">
                        <a:lumMod val="20000"/>
                        <a:lumOff val="80000"/>
                      </a:schemeClr>
                    </a:solidFill>
                  </a:tcPr>
                </a:tc>
                <a:tc>
                  <a:txBody>
                    <a:bodyPr/>
                    <a:lstStyle/>
                    <a:p>
                      <a:pPr marL="228600" indent="-228600">
                        <a:buFont typeface="+mj-lt"/>
                        <a:buAutoNum type="arabicPeriod"/>
                      </a:pPr>
                      <a:endParaRPr lang="en-GB" sz="800" b="1"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extLst>
                  <a:ext uri="{0D108BD9-81ED-4DB2-BD59-A6C34878D82A}">
                    <a16:rowId xmlns:a16="http://schemas.microsoft.com/office/drawing/2014/main" val="1976507391"/>
                  </a:ext>
                </a:extLst>
              </a:tr>
              <a:tr h="590972">
                <a:tc>
                  <a:txBody>
                    <a:bodyPr/>
                    <a:lstStyle/>
                    <a:p>
                      <a:pPr algn="ctr"/>
                      <a:endParaRPr lang="en-GB" sz="1000" dirty="0">
                        <a:solidFill>
                          <a:srgbClr val="00FF00"/>
                        </a:solidFill>
                      </a:endParaRPr>
                    </a:p>
                  </a:txBody>
                  <a:tcPr anchor="ctr">
                    <a:solidFill>
                      <a:schemeClr val="bg2"/>
                    </a:solidFill>
                  </a:tcPr>
                </a:tc>
                <a:tc>
                  <a:txBody>
                    <a:bodyPr/>
                    <a:lstStyle/>
                    <a:p>
                      <a:endParaRPr lang="en-GB" sz="800" dirty="0"/>
                    </a:p>
                  </a:txBody>
                  <a:tcPr anchor="ctr">
                    <a:solidFill>
                      <a:schemeClr val="bg2">
                        <a:lumMod val="20000"/>
                        <a:lumOff val="80000"/>
                      </a:schemeClr>
                    </a:solid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GB" sz="800" b="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b="0" dirty="0"/>
                    </a:p>
                  </a:txBody>
                  <a:tcPr anchor="ctr">
                    <a:solidFill>
                      <a:schemeClr val="bg2">
                        <a:lumMod val="20000"/>
                        <a:lumOff val="80000"/>
                      </a:schemeClr>
                    </a:solidFill>
                  </a:tcPr>
                </a:tc>
                <a:extLst>
                  <a:ext uri="{0D108BD9-81ED-4DB2-BD59-A6C34878D82A}">
                    <a16:rowId xmlns:a16="http://schemas.microsoft.com/office/drawing/2014/main" val="4206209570"/>
                  </a:ext>
                </a:extLst>
              </a:tr>
            </a:tbl>
          </a:graphicData>
        </a:graphic>
      </p:graphicFrame>
      <p:sp>
        <p:nvSpPr>
          <p:cNvPr id="6" name="TextBox 5">
            <a:extLst>
              <a:ext uri="{FF2B5EF4-FFF2-40B4-BE49-F238E27FC236}">
                <a16:creationId xmlns:a16="http://schemas.microsoft.com/office/drawing/2014/main" id="{F02691FB-C211-CB8A-4BFA-0D1CB8968BC2}"/>
              </a:ext>
            </a:extLst>
          </p:cNvPr>
          <p:cNvSpPr txBox="1"/>
          <p:nvPr/>
        </p:nvSpPr>
        <p:spPr>
          <a:xfrm>
            <a:off x="780710" y="1140514"/>
            <a:ext cx="2926051" cy="2062103"/>
          </a:xfrm>
          <a:prstGeom prst="rect">
            <a:avLst/>
          </a:prstGeom>
          <a:noFill/>
        </p:spPr>
        <p:txBody>
          <a:bodyPr wrap="square" rtlCol="0">
            <a:spAutoFit/>
          </a:bodyPr>
          <a:lstStyle/>
          <a:p>
            <a:r>
              <a:rPr lang="en-GB" sz="1600" b="1" u="sng" dirty="0"/>
              <a:t>Systemic themes identified:</a:t>
            </a:r>
          </a:p>
          <a:p>
            <a:r>
              <a:rPr lang="en-GB" sz="1600" b="1" u="sng" dirty="0"/>
              <a:t> </a:t>
            </a:r>
          </a:p>
          <a:p>
            <a:endParaRPr lang="en-GB" sz="1600" dirty="0"/>
          </a:p>
          <a:p>
            <a:r>
              <a:rPr lang="en-GB" sz="1600" b="1" u="sng" dirty="0"/>
              <a:t>Further actions: </a:t>
            </a:r>
          </a:p>
          <a:p>
            <a:r>
              <a:rPr lang="en-GB" sz="1600" dirty="0"/>
              <a:t>No further actions required. No product defect issues or quality concerns.</a:t>
            </a:r>
          </a:p>
          <a:p>
            <a:pPr marL="285750" indent="-285750">
              <a:buFont typeface="Arial" panose="020B0604020202020204" pitchFamily="34" charset="0"/>
              <a:buChar char="•"/>
            </a:pPr>
            <a:endParaRPr lang="en-GB" sz="1600" dirty="0"/>
          </a:p>
        </p:txBody>
      </p:sp>
      <p:sp>
        <p:nvSpPr>
          <p:cNvPr id="4" name="Rectangle 3">
            <a:extLst>
              <a:ext uri="{FF2B5EF4-FFF2-40B4-BE49-F238E27FC236}">
                <a16:creationId xmlns:a16="http://schemas.microsoft.com/office/drawing/2014/main" id="{4A30E6B6-DBC8-2616-382F-E2E21978BAE8}"/>
              </a:ext>
            </a:extLst>
          </p:cNvPr>
          <p:cNvSpPr/>
          <p:nvPr/>
        </p:nvSpPr>
        <p:spPr>
          <a:xfrm>
            <a:off x="48202" y="224912"/>
            <a:ext cx="622927" cy="6302478"/>
          </a:xfrm>
          <a:prstGeom prst="rect">
            <a:avLst/>
          </a:prstGeom>
          <a:noFill/>
        </p:spPr>
        <p:txBody>
          <a:bodyPr vert="wordArtVert" wrap="square" lIns="91440" tIns="45720" rIns="91440" bIns="45720">
            <a:spAutoFit/>
          </a:bodyPr>
          <a:lstStyle/>
          <a:p>
            <a:pPr algn="ctr"/>
            <a:r>
              <a:rPr lang="en-US" sz="2400" b="1" cap="none" spc="0" dirty="0">
                <a:ln w="0"/>
                <a:solidFill>
                  <a:schemeClr val="tx1"/>
                </a:solidFill>
                <a:effectLst>
                  <a:outerShdw blurRad="38100" dist="38100" dir="2700000" algn="tl">
                    <a:srgbClr val="000000">
                      <a:alpha val="43137"/>
                    </a:srgbClr>
                  </a:outerShdw>
                </a:effectLst>
                <a:latin typeface="+mj-lt"/>
              </a:rPr>
              <a:t>GMP COMPLAINTS</a:t>
            </a:r>
          </a:p>
        </p:txBody>
      </p:sp>
    </p:spTree>
    <p:extLst>
      <p:ext uri="{BB962C8B-B14F-4D97-AF65-F5344CB8AC3E}">
        <p14:creationId xmlns:p14="http://schemas.microsoft.com/office/powerpoint/2010/main" val="688910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7000">
              <a:schemeClr val="bg1"/>
            </a:gs>
            <a:gs pos="46000">
              <a:schemeClr val="bg2">
                <a:lumMod val="75000"/>
              </a:schemeClr>
            </a:gs>
            <a:gs pos="94000">
              <a:srgbClr val="00B0F0"/>
            </a:gs>
          </a:gsLst>
          <a:lin ang="2700000" scaled="1"/>
        </a:gradFill>
        <a:effectLst/>
      </p:bgPr>
    </p:bg>
    <p:spTree>
      <p:nvGrpSpPr>
        <p:cNvPr id="1" name="">
          <a:extLst>
            <a:ext uri="{FF2B5EF4-FFF2-40B4-BE49-F238E27FC236}">
              <a16:creationId xmlns:a16="http://schemas.microsoft.com/office/drawing/2014/main" id="{2F34C3FD-34D4-EFF4-0433-6867710ACD9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586C1B0-9E64-46C9-B6B9-787977C2C0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3517CF5-1006-48A1-744C-C3FA6CCEE2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096867A-A433-5CB7-CD2B-B3BDA54E1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8" name="Title 1">
            <a:extLst>
              <a:ext uri="{FF2B5EF4-FFF2-40B4-BE49-F238E27FC236}">
                <a16:creationId xmlns:a16="http://schemas.microsoft.com/office/drawing/2014/main" id="{3F2148BA-627B-F99D-58C1-BBFF5689F451}"/>
              </a:ext>
            </a:extLst>
          </p:cNvPr>
          <p:cNvSpPr>
            <a:spLocks noGrp="1"/>
          </p:cNvSpPr>
          <p:nvPr>
            <p:ph type="title"/>
          </p:nvPr>
        </p:nvSpPr>
        <p:spPr>
          <a:xfrm>
            <a:off x="4059080" y="68824"/>
            <a:ext cx="8132919" cy="312177"/>
          </a:xfrm>
        </p:spPr>
        <p:txBody>
          <a:bodyPr vert="horz" lIns="91440" tIns="45720" rIns="91440" bIns="45720" rtlCol="0" anchor="ctr">
            <a:noAutofit/>
          </a:bodyPr>
          <a:lstStyle/>
          <a:p>
            <a:pPr algn="ctr">
              <a:lnSpc>
                <a:spcPct val="80000"/>
              </a:lnSpc>
            </a:pPr>
            <a:r>
              <a:rPr lang="en-US" sz="2400" b="1" spc="150" dirty="0">
                <a:solidFill>
                  <a:schemeClr val="tx2"/>
                </a:solidFill>
              </a:rPr>
              <a:t>TREND GRAPHS</a:t>
            </a:r>
          </a:p>
        </p:txBody>
      </p:sp>
      <p:sp>
        <p:nvSpPr>
          <p:cNvPr id="14" name="Rectangle 13">
            <a:extLst>
              <a:ext uri="{FF2B5EF4-FFF2-40B4-BE49-F238E27FC236}">
                <a16:creationId xmlns:a16="http://schemas.microsoft.com/office/drawing/2014/main" id="{50582AD0-E3CE-886A-215A-78F3595F4775}"/>
              </a:ext>
            </a:extLst>
          </p:cNvPr>
          <p:cNvSpPr/>
          <p:nvPr/>
        </p:nvSpPr>
        <p:spPr>
          <a:xfrm>
            <a:off x="102960" y="224912"/>
            <a:ext cx="513410" cy="6302478"/>
          </a:xfrm>
          <a:prstGeom prst="rect">
            <a:avLst/>
          </a:prstGeom>
          <a:noFill/>
        </p:spPr>
        <p:txBody>
          <a:bodyPr vert="wordArtVert" wrap="square" lIns="91440" tIns="45720" rIns="91440" bIns="45720">
            <a:spAutoFit/>
          </a:bodyPr>
          <a:lstStyle/>
          <a:p>
            <a:pPr algn="ctr"/>
            <a:r>
              <a:rPr lang="en-US" b="1" cap="none" spc="0" dirty="0">
                <a:ln w="0"/>
                <a:solidFill>
                  <a:schemeClr val="tx1"/>
                </a:solidFill>
                <a:effectLst>
                  <a:outerShdw blurRad="38100" dist="38100" dir="2700000" algn="tl">
                    <a:srgbClr val="000000">
                      <a:alpha val="43137"/>
                    </a:srgbClr>
                  </a:outerShdw>
                </a:effectLst>
                <a:latin typeface="+mj-lt"/>
              </a:rPr>
              <a:t>SUPPLIER COMPLAINTS</a:t>
            </a:r>
          </a:p>
        </p:txBody>
      </p:sp>
      <p:sp>
        <p:nvSpPr>
          <p:cNvPr id="15" name="Title 1">
            <a:extLst>
              <a:ext uri="{FF2B5EF4-FFF2-40B4-BE49-F238E27FC236}">
                <a16:creationId xmlns:a16="http://schemas.microsoft.com/office/drawing/2014/main" id="{8E6F42FB-ED4E-B04D-43C8-EE47ADA7E429}"/>
              </a:ext>
            </a:extLst>
          </p:cNvPr>
          <p:cNvSpPr txBox="1">
            <a:spLocks/>
          </p:cNvSpPr>
          <p:nvPr/>
        </p:nvSpPr>
        <p:spPr>
          <a:xfrm>
            <a:off x="719329" y="0"/>
            <a:ext cx="3339751" cy="68825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pPr algn="ctr"/>
            <a:r>
              <a:rPr lang="en-GB" sz="2800" b="1" dirty="0">
                <a:solidFill>
                  <a:schemeClr val="tx1"/>
                </a:solidFill>
              </a:rPr>
              <a:t>KPI Summary</a:t>
            </a:r>
          </a:p>
        </p:txBody>
      </p:sp>
      <p:graphicFrame>
        <p:nvGraphicFramePr>
          <p:cNvPr id="16" name="Content Placeholder 3">
            <a:extLst>
              <a:ext uri="{FF2B5EF4-FFF2-40B4-BE49-F238E27FC236}">
                <a16:creationId xmlns:a16="http://schemas.microsoft.com/office/drawing/2014/main" id="{54B4844F-F733-E411-90CD-2A2A58044ECC}"/>
              </a:ext>
            </a:extLst>
          </p:cNvPr>
          <p:cNvGraphicFramePr>
            <a:graphicFrameLocks noGrp="1"/>
          </p:cNvGraphicFramePr>
          <p:nvPr>
            <p:ph idx="1"/>
            <p:extLst>
              <p:ext uri="{D42A27DB-BD31-4B8C-83A1-F6EECF244321}">
                <p14:modId xmlns:p14="http://schemas.microsoft.com/office/powerpoint/2010/main" val="787271078"/>
              </p:ext>
            </p:extLst>
          </p:nvPr>
        </p:nvGraphicFramePr>
        <p:xfrm>
          <a:off x="820038" y="688258"/>
          <a:ext cx="3127336" cy="3749118"/>
        </p:xfrm>
        <a:graphic>
          <a:graphicData uri="http://schemas.openxmlformats.org/drawingml/2006/table">
            <a:tbl>
              <a:tblPr firstRow="1" firstCol="1">
                <a:tableStyleId>{073A0DAA-6AF3-43AB-8588-CEC1D06C72B9}</a:tableStyleId>
              </a:tblPr>
              <a:tblGrid>
                <a:gridCol w="1367362">
                  <a:extLst>
                    <a:ext uri="{9D8B030D-6E8A-4147-A177-3AD203B41FA5}">
                      <a16:colId xmlns:a16="http://schemas.microsoft.com/office/drawing/2014/main" val="3746610510"/>
                    </a:ext>
                  </a:extLst>
                </a:gridCol>
                <a:gridCol w="914400">
                  <a:extLst>
                    <a:ext uri="{9D8B030D-6E8A-4147-A177-3AD203B41FA5}">
                      <a16:colId xmlns:a16="http://schemas.microsoft.com/office/drawing/2014/main" val="1245586481"/>
                    </a:ext>
                  </a:extLst>
                </a:gridCol>
                <a:gridCol w="845574">
                  <a:extLst>
                    <a:ext uri="{9D8B030D-6E8A-4147-A177-3AD203B41FA5}">
                      <a16:colId xmlns:a16="http://schemas.microsoft.com/office/drawing/2014/main" val="420243024"/>
                    </a:ext>
                  </a:extLst>
                </a:gridCol>
              </a:tblGrid>
              <a:tr h="1002891">
                <a:tc>
                  <a:txBody>
                    <a:bodyPr/>
                    <a:lstStyle/>
                    <a:p>
                      <a:pPr algn="ctr"/>
                      <a:r>
                        <a:rPr lang="en-GB" sz="1800" b="1" kern="1200" dirty="0">
                          <a:solidFill>
                            <a:schemeClr val="lt1"/>
                          </a:solidFill>
                          <a:latin typeface="+mn-lt"/>
                          <a:ea typeface="+mn-ea"/>
                          <a:cs typeface="+mn-cs"/>
                        </a:rPr>
                        <a:t>KPI </a:t>
                      </a:r>
                    </a:p>
                  </a:txBody>
                  <a:tcPr anchor="ctr"/>
                </a:tc>
                <a:tc>
                  <a:txBody>
                    <a:bodyPr/>
                    <a:lstStyle/>
                    <a:p>
                      <a:pPr algn="ctr"/>
                      <a:r>
                        <a:rPr lang="en-GB" sz="1800" b="1" kern="1200" dirty="0">
                          <a:solidFill>
                            <a:schemeClr val="lt1"/>
                          </a:solidFill>
                          <a:latin typeface="+mn-lt"/>
                          <a:ea typeface="+mn-ea"/>
                          <a:cs typeface="+mn-cs"/>
                        </a:rPr>
                        <a:t>Q1 (2026)</a:t>
                      </a:r>
                    </a:p>
                  </a:txBody>
                  <a:tcPr anchor="ctr"/>
                </a:tc>
                <a:tc>
                  <a:txBody>
                    <a:bodyPr/>
                    <a:lstStyle/>
                    <a:p>
                      <a:pPr algn="ctr"/>
                      <a:r>
                        <a:rPr lang="en-GB" sz="1800" b="1" kern="1200" dirty="0">
                          <a:solidFill>
                            <a:schemeClr val="lt1"/>
                          </a:solidFill>
                          <a:latin typeface="+mn-lt"/>
                          <a:ea typeface="+mn-ea"/>
                          <a:cs typeface="+mn-cs"/>
                        </a:rPr>
                        <a:t>Q2 (2026)</a:t>
                      </a:r>
                    </a:p>
                  </a:txBody>
                  <a:tcPr anchor="ctr"/>
                </a:tc>
                <a:extLst>
                  <a:ext uri="{0D108BD9-81ED-4DB2-BD59-A6C34878D82A}">
                    <a16:rowId xmlns:a16="http://schemas.microsoft.com/office/drawing/2014/main" val="2811724974"/>
                  </a:ext>
                </a:extLst>
              </a:tr>
              <a:tr h="806245">
                <a:tc>
                  <a:txBody>
                    <a:bodyPr/>
                    <a:lstStyle/>
                    <a:p>
                      <a:pPr algn="ctr"/>
                      <a:r>
                        <a:rPr lang="en-GB" sz="1400" b="1" dirty="0"/>
                        <a:t>Total raised this quarter</a:t>
                      </a:r>
                    </a:p>
                  </a:txBody>
                  <a:tcPr anchor="ctr"/>
                </a:tc>
                <a:tc>
                  <a:txBody>
                    <a:bodyPr/>
                    <a:lstStyle/>
                    <a:p>
                      <a:pPr algn="ctr"/>
                      <a:r>
                        <a:rPr lang="en-GB" sz="1800" b="0" dirty="0"/>
                        <a:t>0</a:t>
                      </a:r>
                    </a:p>
                  </a:txBody>
                  <a:tcPr anchor="ctr"/>
                </a:tc>
                <a:tc>
                  <a:txBody>
                    <a:bodyPr/>
                    <a:lstStyle/>
                    <a:p>
                      <a:pPr algn="ctr"/>
                      <a:r>
                        <a:rPr lang="en-GB" sz="1800" b="0" dirty="0"/>
                        <a:t>1</a:t>
                      </a:r>
                    </a:p>
                  </a:txBody>
                  <a:tcPr anchor="ctr"/>
                </a:tc>
                <a:extLst>
                  <a:ext uri="{0D108BD9-81ED-4DB2-BD59-A6C34878D82A}">
                    <a16:rowId xmlns:a16="http://schemas.microsoft.com/office/drawing/2014/main" val="893295017"/>
                  </a:ext>
                </a:extLst>
              </a:tr>
              <a:tr h="609600">
                <a:tc>
                  <a:txBody>
                    <a:bodyPr/>
                    <a:lstStyle/>
                    <a:p>
                      <a:pPr algn="ctr"/>
                      <a:r>
                        <a:rPr lang="en-GB" sz="1400" b="1" dirty="0"/>
                        <a:t>Total closed this quarter</a:t>
                      </a:r>
                    </a:p>
                  </a:txBody>
                  <a:tcPr anchor="ctr"/>
                </a:tc>
                <a:tc>
                  <a:txBody>
                    <a:bodyPr/>
                    <a:lstStyle/>
                    <a:p>
                      <a:pPr algn="ctr"/>
                      <a:r>
                        <a:rPr lang="en-GB" sz="1800" b="0" dirty="0"/>
                        <a:t>0</a:t>
                      </a:r>
                    </a:p>
                  </a:txBody>
                  <a:tcPr anchor="ctr"/>
                </a:tc>
                <a:tc>
                  <a:txBody>
                    <a:bodyPr/>
                    <a:lstStyle/>
                    <a:p>
                      <a:pPr algn="ctr"/>
                      <a:r>
                        <a:rPr lang="en-GB" sz="1800" b="0" dirty="0"/>
                        <a:t>0</a:t>
                      </a:r>
                    </a:p>
                  </a:txBody>
                  <a:tcPr anchor="ctr"/>
                </a:tc>
                <a:extLst>
                  <a:ext uri="{0D108BD9-81ED-4DB2-BD59-A6C34878D82A}">
                    <a16:rowId xmlns:a16="http://schemas.microsoft.com/office/drawing/2014/main" val="1846249938"/>
                  </a:ext>
                </a:extLst>
              </a:tr>
              <a:tr h="530942">
                <a:tc>
                  <a:txBody>
                    <a:bodyPr/>
                    <a:lstStyle/>
                    <a:p>
                      <a:pPr algn="ctr"/>
                      <a:r>
                        <a:rPr lang="en-GB" sz="1400" b="1" dirty="0"/>
                        <a:t>Average Closure time</a:t>
                      </a:r>
                    </a:p>
                  </a:txBody>
                  <a:tcPr anchor="ctr"/>
                </a:tc>
                <a:tc>
                  <a:txBody>
                    <a:bodyPr/>
                    <a:lstStyle/>
                    <a:p>
                      <a:pPr algn="ctr"/>
                      <a:r>
                        <a:rPr lang="en-GB" sz="1800" b="0" dirty="0"/>
                        <a:t>0</a:t>
                      </a:r>
                    </a:p>
                  </a:txBody>
                  <a:tcPr anchor="ctr"/>
                </a:tc>
                <a:tc>
                  <a:txBody>
                    <a:bodyPr/>
                    <a:lstStyle/>
                    <a:p>
                      <a:pPr algn="ctr"/>
                      <a:r>
                        <a:rPr lang="en-GB" sz="1800" b="0" dirty="0"/>
                        <a:t>0</a:t>
                      </a:r>
                    </a:p>
                  </a:txBody>
                  <a:tcPr anchor="ctr"/>
                </a:tc>
                <a:extLst>
                  <a:ext uri="{0D108BD9-81ED-4DB2-BD59-A6C34878D82A}">
                    <a16:rowId xmlns:a16="http://schemas.microsoft.com/office/drawing/2014/main" val="855198943"/>
                  </a:ext>
                </a:extLst>
              </a:tr>
              <a:tr h="799440">
                <a:tc>
                  <a:txBody>
                    <a:bodyPr/>
                    <a:lstStyle/>
                    <a:p>
                      <a:pPr algn="ctr"/>
                      <a:r>
                        <a:rPr lang="en-GB" sz="1400" b="1" dirty="0"/>
                        <a:t>Major/Critical raised</a:t>
                      </a:r>
                    </a:p>
                  </a:txBody>
                  <a:tcPr anchor="ctr"/>
                </a:tc>
                <a:tc>
                  <a:txBody>
                    <a:bodyPr/>
                    <a:lstStyle/>
                    <a:p>
                      <a:pPr algn="ctr"/>
                      <a:r>
                        <a:rPr lang="en-GB" sz="1800" b="0" dirty="0"/>
                        <a:t>0</a:t>
                      </a:r>
                    </a:p>
                  </a:txBody>
                  <a:tcPr anchor="ctr"/>
                </a:tc>
                <a:tc>
                  <a:txBody>
                    <a:bodyPr/>
                    <a:lstStyle/>
                    <a:p>
                      <a:pPr algn="ctr"/>
                      <a:r>
                        <a:rPr lang="en-GB" sz="1800" b="0" dirty="0"/>
                        <a:t>0</a:t>
                      </a:r>
                    </a:p>
                  </a:txBody>
                  <a:tcPr anchor="ctr"/>
                </a:tc>
                <a:extLst>
                  <a:ext uri="{0D108BD9-81ED-4DB2-BD59-A6C34878D82A}">
                    <a16:rowId xmlns:a16="http://schemas.microsoft.com/office/drawing/2014/main" val="4060241798"/>
                  </a:ext>
                </a:extLst>
              </a:tr>
            </a:tbl>
          </a:graphicData>
        </a:graphic>
      </p:graphicFrame>
      <p:sp>
        <p:nvSpPr>
          <p:cNvPr id="2" name="Title 1">
            <a:extLst>
              <a:ext uri="{FF2B5EF4-FFF2-40B4-BE49-F238E27FC236}">
                <a16:creationId xmlns:a16="http://schemas.microsoft.com/office/drawing/2014/main" id="{08E88372-7830-4E27-FB53-BEB1C6BD6FEE}"/>
              </a:ext>
            </a:extLst>
          </p:cNvPr>
          <p:cNvSpPr txBox="1">
            <a:spLocks/>
          </p:cNvSpPr>
          <p:nvPr/>
        </p:nvSpPr>
        <p:spPr>
          <a:xfrm>
            <a:off x="634047" y="4884174"/>
            <a:ext cx="3339751" cy="1418303"/>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pPr algn="ctr"/>
            <a:r>
              <a:rPr lang="en-GB" sz="2800" b="1" cap="none" dirty="0">
                <a:solidFill>
                  <a:schemeClr val="tx1"/>
                </a:solidFill>
                <a:latin typeface="+mn-lt"/>
              </a:rPr>
              <a:t>KPI &amp; Trend Assessment: </a:t>
            </a:r>
          </a:p>
          <a:p>
            <a:pPr algn="ctr"/>
            <a:endParaRPr lang="en-GB" sz="2800" b="1" cap="none" dirty="0">
              <a:solidFill>
                <a:schemeClr val="tx1"/>
              </a:solidFill>
              <a:latin typeface="+mn-lt"/>
            </a:endParaRPr>
          </a:p>
          <a:p>
            <a:pPr algn="ctr"/>
            <a:r>
              <a:rPr lang="en-GB" sz="2800" dirty="0"/>
              <a:t>🟠</a:t>
            </a:r>
            <a:r>
              <a:rPr lang="en-GB" sz="2800" cap="none" dirty="0">
                <a:solidFill>
                  <a:schemeClr val="tx1"/>
                </a:solidFill>
              </a:rPr>
              <a:t>- Stable</a:t>
            </a:r>
            <a:endParaRPr lang="en-GB" sz="2800" cap="none" dirty="0">
              <a:solidFill>
                <a:schemeClr val="tx1"/>
              </a:solidFill>
              <a:latin typeface="+mn-lt"/>
            </a:endParaRPr>
          </a:p>
        </p:txBody>
      </p:sp>
      <p:sp>
        <p:nvSpPr>
          <p:cNvPr id="5" name="TextBox 4">
            <a:extLst>
              <a:ext uri="{FF2B5EF4-FFF2-40B4-BE49-F238E27FC236}">
                <a16:creationId xmlns:a16="http://schemas.microsoft.com/office/drawing/2014/main" id="{2CB32A6A-559F-5345-80D4-7CC661B56B4F}"/>
              </a:ext>
            </a:extLst>
          </p:cNvPr>
          <p:cNvSpPr txBox="1"/>
          <p:nvPr/>
        </p:nvSpPr>
        <p:spPr>
          <a:xfrm>
            <a:off x="4224599" y="6081290"/>
            <a:ext cx="7816645" cy="707886"/>
          </a:xfrm>
          <a:prstGeom prst="rect">
            <a:avLst/>
          </a:prstGeom>
          <a:noFill/>
        </p:spPr>
        <p:txBody>
          <a:bodyPr wrap="square" rtlCol="0">
            <a:spAutoFit/>
          </a:bodyPr>
          <a:lstStyle/>
          <a:p>
            <a:r>
              <a:rPr lang="en-GB" sz="4000" b="1" dirty="0"/>
              <a:t>No Major or Critical items to report </a:t>
            </a:r>
          </a:p>
        </p:txBody>
      </p:sp>
      <p:graphicFrame>
        <p:nvGraphicFramePr>
          <p:cNvPr id="6" name="Chart 5">
            <a:extLst>
              <a:ext uri="{FF2B5EF4-FFF2-40B4-BE49-F238E27FC236}">
                <a16:creationId xmlns:a16="http://schemas.microsoft.com/office/drawing/2014/main" id="{4882930C-85B2-41DC-B421-AB990B5A1B90}"/>
              </a:ext>
            </a:extLst>
          </p:cNvPr>
          <p:cNvGraphicFramePr>
            <a:graphicFrameLocks/>
          </p:cNvGraphicFramePr>
          <p:nvPr>
            <p:extLst>
              <p:ext uri="{D42A27DB-BD31-4B8C-83A1-F6EECF244321}">
                <p14:modId xmlns:p14="http://schemas.microsoft.com/office/powerpoint/2010/main" val="3880025587"/>
              </p:ext>
            </p:extLst>
          </p:nvPr>
        </p:nvGraphicFramePr>
        <p:xfrm>
          <a:off x="4059080" y="449825"/>
          <a:ext cx="8132919" cy="280027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D7B12765-142C-4C87-B585-31D1E8CEFEFD}"/>
              </a:ext>
            </a:extLst>
          </p:cNvPr>
          <p:cNvGraphicFramePr>
            <a:graphicFrameLocks/>
          </p:cNvGraphicFramePr>
          <p:nvPr>
            <p:extLst>
              <p:ext uri="{D42A27DB-BD31-4B8C-83A1-F6EECF244321}">
                <p14:modId xmlns:p14="http://schemas.microsoft.com/office/powerpoint/2010/main" val="3986809987"/>
              </p:ext>
            </p:extLst>
          </p:nvPr>
        </p:nvGraphicFramePr>
        <p:xfrm>
          <a:off x="4059080" y="3250096"/>
          <a:ext cx="8132919" cy="276237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81262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7000">
              <a:schemeClr val="bg1"/>
            </a:gs>
            <a:gs pos="46000">
              <a:schemeClr val="bg2">
                <a:lumMod val="75000"/>
              </a:schemeClr>
            </a:gs>
            <a:gs pos="94000">
              <a:srgbClr val="00B0F0"/>
            </a:gs>
          </a:gsLst>
          <a:lin ang="2700000" scaled="1"/>
        </a:gradFill>
        <a:effectLst/>
      </p:bgPr>
    </p:bg>
    <p:spTree>
      <p:nvGrpSpPr>
        <p:cNvPr id="1" name="">
          <a:extLst>
            <a:ext uri="{FF2B5EF4-FFF2-40B4-BE49-F238E27FC236}">
              <a16:creationId xmlns:a16="http://schemas.microsoft.com/office/drawing/2014/main" id="{CABE844E-8B7F-48B8-C835-F3CF76ED6F4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40B25DA-3CFC-84A0-11C5-C721CB656E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61BA0D8-7918-BED6-AEF8-D8CA121A8B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0535761-0008-3641-DA7F-67697BF03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8" name="Title 1">
            <a:extLst>
              <a:ext uri="{FF2B5EF4-FFF2-40B4-BE49-F238E27FC236}">
                <a16:creationId xmlns:a16="http://schemas.microsoft.com/office/drawing/2014/main" id="{F38C182F-37ED-6C37-AD37-9352519760A2}"/>
              </a:ext>
            </a:extLst>
          </p:cNvPr>
          <p:cNvSpPr>
            <a:spLocks noGrp="1"/>
          </p:cNvSpPr>
          <p:nvPr>
            <p:ph type="title"/>
          </p:nvPr>
        </p:nvSpPr>
        <p:spPr>
          <a:xfrm>
            <a:off x="4059080" y="68824"/>
            <a:ext cx="8132919" cy="312177"/>
          </a:xfrm>
        </p:spPr>
        <p:txBody>
          <a:bodyPr vert="horz" lIns="91440" tIns="45720" rIns="91440" bIns="45720" rtlCol="0" anchor="ctr">
            <a:noAutofit/>
          </a:bodyPr>
          <a:lstStyle/>
          <a:p>
            <a:pPr algn="ctr">
              <a:lnSpc>
                <a:spcPct val="80000"/>
              </a:lnSpc>
            </a:pPr>
            <a:r>
              <a:rPr lang="en-US" sz="2400" b="1" spc="150" dirty="0">
                <a:solidFill>
                  <a:schemeClr val="tx2"/>
                </a:solidFill>
              </a:rPr>
              <a:t>TREND GRAPHS</a:t>
            </a:r>
          </a:p>
        </p:txBody>
      </p:sp>
      <p:sp>
        <p:nvSpPr>
          <p:cNvPr id="14" name="Rectangle 13">
            <a:extLst>
              <a:ext uri="{FF2B5EF4-FFF2-40B4-BE49-F238E27FC236}">
                <a16:creationId xmlns:a16="http://schemas.microsoft.com/office/drawing/2014/main" id="{7EE1E720-938D-18F0-1719-01B21A29AA65}"/>
              </a:ext>
            </a:extLst>
          </p:cNvPr>
          <p:cNvSpPr/>
          <p:nvPr/>
        </p:nvSpPr>
        <p:spPr>
          <a:xfrm>
            <a:off x="-113348" y="224912"/>
            <a:ext cx="988219" cy="6302478"/>
          </a:xfrm>
          <a:prstGeom prst="rect">
            <a:avLst/>
          </a:prstGeom>
          <a:noFill/>
        </p:spPr>
        <p:txBody>
          <a:bodyPr vert="wordArtVert" wrap="square" lIns="91440" tIns="45720" rIns="91440" bIns="45720">
            <a:spAutoFit/>
          </a:bodyPr>
          <a:lstStyle/>
          <a:p>
            <a:pPr algn="ctr"/>
            <a:r>
              <a:rPr lang="en-US" sz="4400" b="1" cap="none" spc="0" dirty="0">
                <a:ln w="0"/>
                <a:solidFill>
                  <a:schemeClr val="tx1"/>
                </a:solidFill>
                <a:effectLst>
                  <a:outerShdw blurRad="38100" dist="38100" dir="2700000" algn="tl">
                    <a:srgbClr val="000000">
                      <a:alpha val="43137"/>
                    </a:srgbClr>
                  </a:outerShdw>
                </a:effectLst>
                <a:latin typeface="+mj-lt"/>
              </a:rPr>
              <a:t>OOT/OOS</a:t>
            </a:r>
          </a:p>
        </p:txBody>
      </p:sp>
      <p:sp>
        <p:nvSpPr>
          <p:cNvPr id="15" name="Title 1">
            <a:extLst>
              <a:ext uri="{FF2B5EF4-FFF2-40B4-BE49-F238E27FC236}">
                <a16:creationId xmlns:a16="http://schemas.microsoft.com/office/drawing/2014/main" id="{056092EC-2AB1-FBDE-20DD-379F9694C751}"/>
              </a:ext>
            </a:extLst>
          </p:cNvPr>
          <p:cNvSpPr txBox="1">
            <a:spLocks/>
          </p:cNvSpPr>
          <p:nvPr/>
        </p:nvSpPr>
        <p:spPr>
          <a:xfrm>
            <a:off x="719329" y="0"/>
            <a:ext cx="3339751" cy="68825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pPr algn="ctr"/>
            <a:r>
              <a:rPr lang="en-GB" sz="2800" b="1" dirty="0">
                <a:solidFill>
                  <a:schemeClr val="tx1"/>
                </a:solidFill>
              </a:rPr>
              <a:t>KPI Summary</a:t>
            </a:r>
          </a:p>
        </p:txBody>
      </p:sp>
      <p:graphicFrame>
        <p:nvGraphicFramePr>
          <p:cNvPr id="16" name="Content Placeholder 3">
            <a:extLst>
              <a:ext uri="{FF2B5EF4-FFF2-40B4-BE49-F238E27FC236}">
                <a16:creationId xmlns:a16="http://schemas.microsoft.com/office/drawing/2014/main" id="{81831060-9929-AC4F-5F21-BB502010E6B7}"/>
              </a:ext>
            </a:extLst>
          </p:cNvPr>
          <p:cNvGraphicFramePr>
            <a:graphicFrameLocks noGrp="1"/>
          </p:cNvGraphicFramePr>
          <p:nvPr>
            <p:ph idx="1"/>
            <p:extLst>
              <p:ext uri="{D42A27DB-BD31-4B8C-83A1-F6EECF244321}">
                <p14:modId xmlns:p14="http://schemas.microsoft.com/office/powerpoint/2010/main" val="145788209"/>
              </p:ext>
            </p:extLst>
          </p:nvPr>
        </p:nvGraphicFramePr>
        <p:xfrm>
          <a:off x="820038" y="688258"/>
          <a:ext cx="3127336" cy="4418972"/>
        </p:xfrm>
        <a:graphic>
          <a:graphicData uri="http://schemas.openxmlformats.org/drawingml/2006/table">
            <a:tbl>
              <a:tblPr firstRow="1" firstCol="1">
                <a:tableStyleId>{073A0DAA-6AF3-43AB-8588-CEC1D06C72B9}</a:tableStyleId>
              </a:tblPr>
              <a:tblGrid>
                <a:gridCol w="1257240">
                  <a:extLst>
                    <a:ext uri="{9D8B030D-6E8A-4147-A177-3AD203B41FA5}">
                      <a16:colId xmlns:a16="http://schemas.microsoft.com/office/drawing/2014/main" val="3746610510"/>
                    </a:ext>
                  </a:extLst>
                </a:gridCol>
                <a:gridCol w="924339">
                  <a:extLst>
                    <a:ext uri="{9D8B030D-6E8A-4147-A177-3AD203B41FA5}">
                      <a16:colId xmlns:a16="http://schemas.microsoft.com/office/drawing/2014/main" val="1245586481"/>
                    </a:ext>
                  </a:extLst>
                </a:gridCol>
                <a:gridCol w="945757">
                  <a:extLst>
                    <a:ext uri="{9D8B030D-6E8A-4147-A177-3AD203B41FA5}">
                      <a16:colId xmlns:a16="http://schemas.microsoft.com/office/drawing/2014/main" val="420243024"/>
                    </a:ext>
                  </a:extLst>
                </a:gridCol>
              </a:tblGrid>
              <a:tr h="1002891">
                <a:tc>
                  <a:txBody>
                    <a:bodyPr/>
                    <a:lstStyle/>
                    <a:p>
                      <a:pPr algn="ctr"/>
                      <a:r>
                        <a:rPr lang="en-GB" sz="1800" b="1" kern="1200" dirty="0">
                          <a:solidFill>
                            <a:schemeClr val="lt1"/>
                          </a:solidFill>
                          <a:latin typeface="+mn-lt"/>
                          <a:ea typeface="+mn-ea"/>
                          <a:cs typeface="+mn-cs"/>
                        </a:rPr>
                        <a:t>KPI </a:t>
                      </a:r>
                    </a:p>
                  </a:txBody>
                  <a:tcPr anchor="ctr"/>
                </a:tc>
                <a:tc>
                  <a:txBody>
                    <a:bodyPr/>
                    <a:lstStyle/>
                    <a:p>
                      <a:pPr algn="ctr"/>
                      <a:r>
                        <a:rPr lang="en-GB" sz="1800" b="1" kern="1200" dirty="0">
                          <a:solidFill>
                            <a:schemeClr val="lt1"/>
                          </a:solidFill>
                          <a:latin typeface="+mn-lt"/>
                          <a:ea typeface="+mn-ea"/>
                          <a:cs typeface="+mn-cs"/>
                        </a:rPr>
                        <a:t>Q1 (2026)</a:t>
                      </a:r>
                    </a:p>
                  </a:txBody>
                  <a:tcPr anchor="ctr"/>
                </a:tc>
                <a:tc>
                  <a:txBody>
                    <a:bodyPr/>
                    <a:lstStyle/>
                    <a:p>
                      <a:pPr algn="ctr"/>
                      <a:r>
                        <a:rPr lang="en-GB" sz="1800" b="1" kern="1200" dirty="0">
                          <a:solidFill>
                            <a:schemeClr val="lt1"/>
                          </a:solidFill>
                          <a:latin typeface="+mn-lt"/>
                          <a:ea typeface="+mn-ea"/>
                          <a:cs typeface="+mn-cs"/>
                        </a:rPr>
                        <a:t>Q2 (2026)</a:t>
                      </a:r>
                    </a:p>
                  </a:txBody>
                  <a:tcPr anchor="ctr"/>
                </a:tc>
                <a:extLst>
                  <a:ext uri="{0D108BD9-81ED-4DB2-BD59-A6C34878D82A}">
                    <a16:rowId xmlns:a16="http://schemas.microsoft.com/office/drawing/2014/main" val="2811724974"/>
                  </a:ext>
                </a:extLst>
              </a:tr>
              <a:tr h="647317">
                <a:tc>
                  <a:txBody>
                    <a:bodyPr/>
                    <a:lstStyle/>
                    <a:p>
                      <a:pPr algn="ctr"/>
                      <a:r>
                        <a:rPr lang="en-GB" sz="1400" b="1" dirty="0"/>
                        <a:t>Total raised this quarter</a:t>
                      </a:r>
                    </a:p>
                  </a:txBody>
                  <a:tcPr anchor="ctr"/>
                </a:tc>
                <a:tc>
                  <a:txBody>
                    <a:bodyPr/>
                    <a:lstStyle/>
                    <a:p>
                      <a:pPr algn="ctr"/>
                      <a:r>
                        <a:rPr lang="en-GB" sz="1800" b="0" dirty="0"/>
                        <a:t>2</a:t>
                      </a:r>
                    </a:p>
                  </a:txBody>
                  <a:tcPr anchor="ctr"/>
                </a:tc>
                <a:tc>
                  <a:txBody>
                    <a:bodyPr/>
                    <a:lstStyle/>
                    <a:p>
                      <a:pPr algn="ctr"/>
                      <a:r>
                        <a:rPr lang="en-GB" sz="1800" b="0" dirty="0"/>
                        <a:t>2</a:t>
                      </a:r>
                    </a:p>
                  </a:txBody>
                  <a:tcPr anchor="ctr"/>
                </a:tc>
                <a:extLst>
                  <a:ext uri="{0D108BD9-81ED-4DB2-BD59-A6C34878D82A}">
                    <a16:rowId xmlns:a16="http://schemas.microsoft.com/office/drawing/2014/main" val="893295017"/>
                  </a:ext>
                </a:extLst>
              </a:tr>
              <a:tr h="609600">
                <a:tc>
                  <a:txBody>
                    <a:bodyPr/>
                    <a:lstStyle/>
                    <a:p>
                      <a:pPr algn="ctr"/>
                      <a:r>
                        <a:rPr lang="en-GB" sz="1400" b="1" dirty="0"/>
                        <a:t>Total closed this quarter</a:t>
                      </a:r>
                    </a:p>
                  </a:txBody>
                  <a:tcPr anchor="ctr"/>
                </a:tc>
                <a:tc>
                  <a:txBody>
                    <a:bodyPr/>
                    <a:lstStyle/>
                    <a:p>
                      <a:pPr algn="ctr"/>
                      <a:r>
                        <a:rPr lang="en-GB" sz="1800" b="0" dirty="0"/>
                        <a:t>2</a:t>
                      </a:r>
                    </a:p>
                  </a:txBody>
                  <a:tcPr anchor="ctr"/>
                </a:tc>
                <a:tc>
                  <a:txBody>
                    <a:bodyPr/>
                    <a:lstStyle/>
                    <a:p>
                      <a:pPr algn="ctr"/>
                      <a:r>
                        <a:rPr lang="en-GB" sz="1800" b="0" dirty="0"/>
                        <a:t>1</a:t>
                      </a:r>
                    </a:p>
                  </a:txBody>
                  <a:tcPr anchor="ctr"/>
                </a:tc>
                <a:extLst>
                  <a:ext uri="{0D108BD9-81ED-4DB2-BD59-A6C34878D82A}">
                    <a16:rowId xmlns:a16="http://schemas.microsoft.com/office/drawing/2014/main" val="1846249938"/>
                  </a:ext>
                </a:extLst>
              </a:tr>
              <a:tr h="530942">
                <a:tc>
                  <a:txBody>
                    <a:bodyPr/>
                    <a:lstStyle/>
                    <a:p>
                      <a:pPr algn="ctr"/>
                      <a:r>
                        <a:rPr lang="en-GB" sz="1400" b="1" dirty="0"/>
                        <a:t>Average Closure time</a:t>
                      </a:r>
                    </a:p>
                  </a:txBody>
                  <a:tcPr anchor="ctr"/>
                </a:tc>
                <a:tc>
                  <a:txBody>
                    <a:bodyPr/>
                    <a:lstStyle/>
                    <a:p>
                      <a:pPr algn="ctr"/>
                      <a:r>
                        <a:rPr lang="en-GB" sz="1800" b="0" dirty="0"/>
                        <a:t>17 days</a:t>
                      </a:r>
                    </a:p>
                  </a:txBody>
                  <a:tcPr anchor="ctr"/>
                </a:tc>
                <a:tc>
                  <a:txBody>
                    <a:bodyPr/>
                    <a:lstStyle/>
                    <a:p>
                      <a:pPr algn="ctr"/>
                      <a:r>
                        <a:rPr lang="en-GB" sz="1800" b="0" dirty="0"/>
                        <a:t>12 days</a:t>
                      </a:r>
                    </a:p>
                  </a:txBody>
                  <a:tcPr anchor="ctr"/>
                </a:tc>
                <a:extLst>
                  <a:ext uri="{0D108BD9-81ED-4DB2-BD59-A6C34878D82A}">
                    <a16:rowId xmlns:a16="http://schemas.microsoft.com/office/drawing/2014/main" val="855198943"/>
                  </a:ext>
                </a:extLst>
              </a:tr>
              <a:tr h="334296">
                <a:tc>
                  <a:txBody>
                    <a:bodyPr/>
                    <a:lstStyle/>
                    <a:p>
                      <a:pPr algn="ctr"/>
                      <a:r>
                        <a:rPr lang="en-GB" sz="1400" b="1" dirty="0"/>
                        <a:t>True OOS</a:t>
                      </a:r>
                    </a:p>
                  </a:txBody>
                  <a:tcPr anchor="ctr"/>
                </a:tc>
                <a:tc>
                  <a:txBody>
                    <a:bodyPr/>
                    <a:lstStyle/>
                    <a:p>
                      <a:pPr algn="ctr"/>
                      <a:r>
                        <a:rPr lang="en-GB" sz="1800" b="0" dirty="0"/>
                        <a:t>1</a:t>
                      </a:r>
                    </a:p>
                  </a:txBody>
                  <a:tcPr anchor="ctr"/>
                </a:tc>
                <a:tc>
                  <a:txBody>
                    <a:bodyPr/>
                    <a:lstStyle/>
                    <a:p>
                      <a:pPr algn="ctr"/>
                      <a:r>
                        <a:rPr lang="en-GB" sz="1800" b="0" dirty="0"/>
                        <a:t>1</a:t>
                      </a:r>
                    </a:p>
                  </a:txBody>
                  <a:tcPr anchor="ctr"/>
                </a:tc>
                <a:extLst>
                  <a:ext uri="{0D108BD9-81ED-4DB2-BD59-A6C34878D82A}">
                    <a16:rowId xmlns:a16="http://schemas.microsoft.com/office/drawing/2014/main" val="2809523453"/>
                  </a:ext>
                </a:extLst>
              </a:tr>
              <a:tr h="334296">
                <a:tc>
                  <a:txBody>
                    <a:bodyPr/>
                    <a:lstStyle/>
                    <a:p>
                      <a:pPr algn="ctr"/>
                      <a:r>
                        <a:rPr lang="en-GB" sz="1400" b="1" dirty="0"/>
                        <a:t>True OOT</a:t>
                      </a:r>
                    </a:p>
                  </a:txBody>
                  <a:tcPr anchor="ctr"/>
                </a:tc>
                <a:tc>
                  <a:txBody>
                    <a:bodyPr/>
                    <a:lstStyle/>
                    <a:p>
                      <a:pPr algn="ctr"/>
                      <a:r>
                        <a:rPr lang="en-GB" sz="1800" b="0" dirty="0"/>
                        <a:t>0</a:t>
                      </a:r>
                    </a:p>
                  </a:txBody>
                  <a:tcPr anchor="ctr"/>
                </a:tc>
                <a:tc>
                  <a:txBody>
                    <a:bodyPr/>
                    <a:lstStyle/>
                    <a:p>
                      <a:pPr algn="ctr"/>
                      <a:r>
                        <a:rPr lang="en-GB" sz="1800" b="0" dirty="0"/>
                        <a:t>0</a:t>
                      </a:r>
                    </a:p>
                  </a:txBody>
                  <a:tcPr anchor="ctr"/>
                </a:tc>
                <a:extLst>
                  <a:ext uri="{0D108BD9-81ED-4DB2-BD59-A6C34878D82A}">
                    <a16:rowId xmlns:a16="http://schemas.microsoft.com/office/drawing/2014/main" val="3972756058"/>
                  </a:ext>
                </a:extLst>
              </a:tr>
              <a:tr h="0">
                <a:tc>
                  <a:txBody>
                    <a:bodyPr/>
                    <a:lstStyle/>
                    <a:p>
                      <a:pPr algn="ctr"/>
                      <a:r>
                        <a:rPr lang="en-GB" sz="1400" b="1" dirty="0"/>
                        <a:t>Lab Error</a:t>
                      </a:r>
                    </a:p>
                  </a:txBody>
                  <a:tcPr anchor="ctr"/>
                </a:tc>
                <a:tc>
                  <a:txBody>
                    <a:bodyPr/>
                    <a:lstStyle/>
                    <a:p>
                      <a:pPr algn="ctr"/>
                      <a:r>
                        <a:rPr lang="en-GB" sz="1800" b="0" dirty="0"/>
                        <a:t>1</a:t>
                      </a:r>
                    </a:p>
                  </a:txBody>
                  <a:tcPr anchor="ctr"/>
                </a:tc>
                <a:tc>
                  <a:txBody>
                    <a:bodyPr/>
                    <a:lstStyle/>
                    <a:p>
                      <a:pPr algn="ctr"/>
                      <a:r>
                        <a:rPr lang="en-GB" sz="1800" b="0" dirty="0"/>
                        <a:t>0</a:t>
                      </a:r>
                    </a:p>
                  </a:txBody>
                  <a:tcPr anchor="ctr"/>
                </a:tc>
                <a:extLst>
                  <a:ext uri="{0D108BD9-81ED-4DB2-BD59-A6C34878D82A}">
                    <a16:rowId xmlns:a16="http://schemas.microsoft.com/office/drawing/2014/main" val="1749336208"/>
                  </a:ext>
                </a:extLst>
              </a:tr>
              <a:tr h="530942">
                <a:tc>
                  <a:txBody>
                    <a:bodyPr/>
                    <a:lstStyle/>
                    <a:p>
                      <a:pPr algn="ctr"/>
                      <a:r>
                        <a:rPr lang="en-GB" sz="1400" b="1" dirty="0"/>
                        <a:t>Batch Rejections</a:t>
                      </a:r>
                    </a:p>
                  </a:txBody>
                  <a:tcPr anchor="ctr"/>
                </a:tc>
                <a:tc>
                  <a:txBody>
                    <a:bodyPr/>
                    <a:lstStyle/>
                    <a:p>
                      <a:pPr algn="ctr"/>
                      <a:r>
                        <a:rPr lang="en-GB" sz="1800" b="0" dirty="0"/>
                        <a:t>0</a:t>
                      </a:r>
                    </a:p>
                  </a:txBody>
                  <a:tcPr anchor="ctr"/>
                </a:tc>
                <a:tc>
                  <a:txBody>
                    <a:bodyPr/>
                    <a:lstStyle/>
                    <a:p>
                      <a:pPr algn="ctr"/>
                      <a:r>
                        <a:rPr lang="en-GB" sz="1800" b="0" dirty="0"/>
                        <a:t>1</a:t>
                      </a:r>
                    </a:p>
                  </a:txBody>
                  <a:tcPr anchor="ctr"/>
                </a:tc>
                <a:extLst>
                  <a:ext uri="{0D108BD9-81ED-4DB2-BD59-A6C34878D82A}">
                    <a16:rowId xmlns:a16="http://schemas.microsoft.com/office/drawing/2014/main" val="1746924471"/>
                  </a:ext>
                </a:extLst>
              </a:tr>
            </a:tbl>
          </a:graphicData>
        </a:graphic>
      </p:graphicFrame>
      <p:sp>
        <p:nvSpPr>
          <p:cNvPr id="2" name="Title 1">
            <a:extLst>
              <a:ext uri="{FF2B5EF4-FFF2-40B4-BE49-F238E27FC236}">
                <a16:creationId xmlns:a16="http://schemas.microsoft.com/office/drawing/2014/main" id="{7CFB2EA1-C2DB-156B-9C0B-B47B4573FBE3}"/>
              </a:ext>
            </a:extLst>
          </p:cNvPr>
          <p:cNvSpPr txBox="1">
            <a:spLocks/>
          </p:cNvSpPr>
          <p:nvPr/>
        </p:nvSpPr>
        <p:spPr>
          <a:xfrm>
            <a:off x="713830" y="5256232"/>
            <a:ext cx="3339751" cy="1418303"/>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pPr algn="ctr"/>
            <a:r>
              <a:rPr lang="en-GB" sz="2800" b="1" cap="none" dirty="0">
                <a:solidFill>
                  <a:schemeClr val="tx1"/>
                </a:solidFill>
                <a:latin typeface="+mn-lt"/>
              </a:rPr>
              <a:t>KPI &amp; Trend Assessment: </a:t>
            </a:r>
          </a:p>
          <a:p>
            <a:pPr algn="ctr"/>
            <a:endParaRPr lang="en-GB" sz="2800" b="1" cap="none" dirty="0">
              <a:solidFill>
                <a:schemeClr val="tx1"/>
              </a:solidFill>
              <a:latin typeface="+mn-lt"/>
            </a:endParaRPr>
          </a:p>
          <a:p>
            <a:pPr algn="ctr"/>
            <a:r>
              <a:rPr lang="en-GB" sz="2800" dirty="0"/>
              <a:t>🟠</a:t>
            </a:r>
            <a:r>
              <a:rPr lang="en-GB" sz="2800" cap="none" dirty="0">
                <a:solidFill>
                  <a:schemeClr val="tx1"/>
                </a:solidFill>
              </a:rPr>
              <a:t>- Stable</a:t>
            </a:r>
            <a:endParaRPr lang="en-GB" sz="2800" cap="none" dirty="0">
              <a:solidFill>
                <a:schemeClr val="tx1"/>
              </a:solidFill>
              <a:latin typeface="+mn-lt"/>
            </a:endParaRPr>
          </a:p>
        </p:txBody>
      </p:sp>
      <p:graphicFrame>
        <p:nvGraphicFramePr>
          <p:cNvPr id="4" name="Chart 3">
            <a:extLst>
              <a:ext uri="{FF2B5EF4-FFF2-40B4-BE49-F238E27FC236}">
                <a16:creationId xmlns:a16="http://schemas.microsoft.com/office/drawing/2014/main" id="{1B1B8044-C8A5-1CD3-46CF-6B371AE4119A}"/>
              </a:ext>
            </a:extLst>
          </p:cNvPr>
          <p:cNvGraphicFramePr>
            <a:graphicFrameLocks/>
          </p:cNvGraphicFramePr>
          <p:nvPr>
            <p:extLst>
              <p:ext uri="{D42A27DB-BD31-4B8C-83A1-F6EECF244321}">
                <p14:modId xmlns:p14="http://schemas.microsoft.com/office/powerpoint/2010/main" val="4001763593"/>
              </p:ext>
            </p:extLst>
          </p:nvPr>
        </p:nvGraphicFramePr>
        <p:xfrm>
          <a:off x="4048083" y="406584"/>
          <a:ext cx="8132919" cy="645141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78257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30FA33E-BEFC-7E55-F74C-59BC597366E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8C1767A-72F3-6574-1722-F1D02A0C17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65F1E04-7D8B-F9E0-14FB-F5C95C579B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E4103FD-1892-8929-7109-44FA37B6B1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6" name="TextBox 5">
            <a:extLst>
              <a:ext uri="{FF2B5EF4-FFF2-40B4-BE49-F238E27FC236}">
                <a16:creationId xmlns:a16="http://schemas.microsoft.com/office/drawing/2014/main" id="{5A80AF40-6AE3-C99A-C76D-6FF3E1AE497F}"/>
              </a:ext>
            </a:extLst>
          </p:cNvPr>
          <p:cNvSpPr txBox="1"/>
          <p:nvPr/>
        </p:nvSpPr>
        <p:spPr>
          <a:xfrm>
            <a:off x="719328" y="33726"/>
            <a:ext cx="3355136" cy="523220"/>
          </a:xfrm>
          <a:prstGeom prst="rect">
            <a:avLst/>
          </a:prstGeom>
          <a:noFill/>
        </p:spPr>
        <p:txBody>
          <a:bodyPr wrap="square" rtlCol="0">
            <a:spAutoFit/>
          </a:bodyPr>
          <a:lstStyle/>
          <a:p>
            <a:pPr algn="ctr">
              <a:defRPr/>
            </a:pPr>
            <a:r>
              <a:rPr lang="en-GB" sz="2800" b="1" dirty="0"/>
              <a:t>SIGNIFICANT ITEMS</a:t>
            </a:r>
            <a:endParaRPr lang="en-GB" sz="2800" b="1" dirty="0">
              <a:solidFill>
                <a:srgbClr val="FFFFFF"/>
              </a:solidFill>
            </a:endParaRPr>
          </a:p>
        </p:txBody>
      </p:sp>
      <p:grpSp>
        <p:nvGrpSpPr>
          <p:cNvPr id="7" name="Group 6">
            <a:extLst>
              <a:ext uri="{FF2B5EF4-FFF2-40B4-BE49-F238E27FC236}">
                <a16:creationId xmlns:a16="http://schemas.microsoft.com/office/drawing/2014/main" id="{2DA68EA8-AF0D-B337-A568-44DC7F163CC2}"/>
              </a:ext>
            </a:extLst>
          </p:cNvPr>
          <p:cNvGrpSpPr/>
          <p:nvPr/>
        </p:nvGrpSpPr>
        <p:grpSpPr>
          <a:xfrm>
            <a:off x="716875" y="542728"/>
            <a:ext cx="11475125" cy="2311900"/>
            <a:chOff x="795370" y="1759757"/>
            <a:chExt cx="11758755" cy="2378312"/>
          </a:xfrm>
          <a:solidFill>
            <a:srgbClr val="FFFF00"/>
          </a:solidFill>
        </p:grpSpPr>
        <p:graphicFrame>
          <p:nvGraphicFramePr>
            <p:cNvPr id="17" name="Table 16">
              <a:extLst>
                <a:ext uri="{FF2B5EF4-FFF2-40B4-BE49-F238E27FC236}">
                  <a16:creationId xmlns:a16="http://schemas.microsoft.com/office/drawing/2014/main" id="{7E0E1F83-1907-E36D-D605-BDE023E7EC7A}"/>
                </a:ext>
              </a:extLst>
            </p:cNvPr>
            <p:cNvGraphicFramePr>
              <a:graphicFrameLocks/>
            </p:cNvGraphicFramePr>
            <p:nvPr>
              <p:extLst>
                <p:ext uri="{D42A27DB-BD31-4B8C-83A1-F6EECF244321}">
                  <p14:modId xmlns:p14="http://schemas.microsoft.com/office/powerpoint/2010/main" val="3195667575"/>
                </p:ext>
              </p:extLst>
            </p:nvPr>
          </p:nvGraphicFramePr>
          <p:xfrm>
            <a:off x="795370" y="2896945"/>
            <a:ext cx="11756241" cy="1241124"/>
          </p:xfrm>
          <a:graphic>
            <a:graphicData uri="http://schemas.openxmlformats.org/drawingml/2006/table">
              <a:tbl>
                <a:tblPr firstRow="1" bandRow="1">
                  <a:tableStyleId>{21E4AEA4-8DFA-4A89-87EB-49C32662AFE0}</a:tableStyleId>
                </a:tblPr>
                <a:tblGrid>
                  <a:gridCol w="2468359">
                    <a:extLst>
                      <a:ext uri="{9D8B030D-6E8A-4147-A177-3AD203B41FA5}">
                        <a16:colId xmlns:a16="http://schemas.microsoft.com/office/drawing/2014/main" val="41084954"/>
                      </a:ext>
                    </a:extLst>
                  </a:gridCol>
                  <a:gridCol w="1640555">
                    <a:extLst>
                      <a:ext uri="{9D8B030D-6E8A-4147-A177-3AD203B41FA5}">
                        <a16:colId xmlns:a16="http://schemas.microsoft.com/office/drawing/2014/main" val="190224105"/>
                      </a:ext>
                    </a:extLst>
                  </a:gridCol>
                  <a:gridCol w="4017007">
                    <a:extLst>
                      <a:ext uri="{9D8B030D-6E8A-4147-A177-3AD203B41FA5}">
                        <a16:colId xmlns:a16="http://schemas.microsoft.com/office/drawing/2014/main" val="3131065920"/>
                      </a:ext>
                    </a:extLst>
                  </a:gridCol>
                  <a:gridCol w="1279330">
                    <a:extLst>
                      <a:ext uri="{9D8B030D-6E8A-4147-A177-3AD203B41FA5}">
                        <a16:colId xmlns:a16="http://schemas.microsoft.com/office/drawing/2014/main" val="2698333210"/>
                      </a:ext>
                    </a:extLst>
                  </a:gridCol>
                  <a:gridCol w="2067421">
                    <a:extLst>
                      <a:ext uri="{9D8B030D-6E8A-4147-A177-3AD203B41FA5}">
                        <a16:colId xmlns:a16="http://schemas.microsoft.com/office/drawing/2014/main" val="2585996546"/>
                      </a:ext>
                    </a:extLst>
                  </a:gridCol>
                </a:tblGrid>
                <a:tr h="0">
                  <a:tc gridSpan="5">
                    <a:txBody>
                      <a:bodyPr/>
                      <a:lstStyle>
                        <a:lvl1pPr marL="0" algn="l" defTabSz="914377" rtl="0" eaLnBrk="1" latinLnBrk="0" hangingPunct="1">
                          <a:defRPr sz="1800" b="1" kern="1200">
                            <a:solidFill>
                              <a:schemeClr val="lt1"/>
                            </a:solidFill>
                            <a:latin typeface="Corbel" panose="020B0503020204020204"/>
                          </a:defRPr>
                        </a:lvl1pPr>
                        <a:lvl2pPr marL="457189" algn="l" defTabSz="914377" rtl="0" eaLnBrk="1" latinLnBrk="0" hangingPunct="1">
                          <a:defRPr sz="1800" b="1" kern="1200">
                            <a:solidFill>
                              <a:schemeClr val="lt1"/>
                            </a:solidFill>
                            <a:latin typeface="Corbel" panose="020B0503020204020204"/>
                          </a:defRPr>
                        </a:lvl2pPr>
                        <a:lvl3pPr marL="914377" algn="l" defTabSz="914377" rtl="0" eaLnBrk="1" latinLnBrk="0" hangingPunct="1">
                          <a:defRPr sz="1800" b="1" kern="1200">
                            <a:solidFill>
                              <a:schemeClr val="lt1"/>
                            </a:solidFill>
                            <a:latin typeface="Corbel" panose="020B0503020204020204"/>
                          </a:defRPr>
                        </a:lvl3pPr>
                        <a:lvl4pPr marL="1371566" algn="l" defTabSz="914377" rtl="0" eaLnBrk="1" latinLnBrk="0" hangingPunct="1">
                          <a:defRPr sz="1800" b="1" kern="1200">
                            <a:solidFill>
                              <a:schemeClr val="lt1"/>
                            </a:solidFill>
                            <a:latin typeface="Corbel" panose="020B0503020204020204"/>
                          </a:defRPr>
                        </a:lvl4pPr>
                        <a:lvl5pPr marL="1828754" algn="l" defTabSz="914377" rtl="0" eaLnBrk="1" latinLnBrk="0" hangingPunct="1">
                          <a:defRPr sz="1800" b="1" kern="1200">
                            <a:solidFill>
                              <a:schemeClr val="lt1"/>
                            </a:solidFill>
                            <a:latin typeface="Corbel" panose="020B0503020204020204"/>
                          </a:defRPr>
                        </a:lvl5pPr>
                        <a:lvl6pPr marL="2285943" algn="l" defTabSz="914377" rtl="0" eaLnBrk="1" latinLnBrk="0" hangingPunct="1">
                          <a:defRPr sz="1800" b="1" kern="1200">
                            <a:solidFill>
                              <a:schemeClr val="lt1"/>
                            </a:solidFill>
                            <a:latin typeface="Corbel" panose="020B0503020204020204"/>
                          </a:defRPr>
                        </a:lvl6pPr>
                        <a:lvl7pPr marL="2743131" algn="l" defTabSz="914377" rtl="0" eaLnBrk="1" latinLnBrk="0" hangingPunct="1">
                          <a:defRPr sz="1800" b="1" kern="1200">
                            <a:solidFill>
                              <a:schemeClr val="lt1"/>
                            </a:solidFill>
                            <a:latin typeface="Corbel" panose="020B0503020204020204"/>
                          </a:defRPr>
                        </a:lvl7pPr>
                        <a:lvl8pPr marL="3200320" algn="l" defTabSz="914377" rtl="0" eaLnBrk="1" latinLnBrk="0" hangingPunct="1">
                          <a:defRPr sz="1800" b="1" kern="1200">
                            <a:solidFill>
                              <a:schemeClr val="lt1"/>
                            </a:solidFill>
                            <a:latin typeface="Corbel" panose="020B0503020204020204"/>
                          </a:defRPr>
                        </a:lvl8pPr>
                        <a:lvl9pPr marL="3657509" algn="l" defTabSz="914377" rtl="0" eaLnBrk="1" latinLnBrk="0" hangingPunct="1">
                          <a:defRPr sz="1800" b="1" kern="1200">
                            <a:solidFill>
                              <a:schemeClr val="lt1"/>
                            </a:solidFill>
                            <a:latin typeface="Corbel" panose="020B0503020204020204"/>
                          </a:defRPr>
                        </a:lvl9pPr>
                      </a:lstStyle>
                      <a:p>
                        <a:pPr algn="ctr"/>
                        <a:r>
                          <a:rPr lang="en-GB" sz="1600" b="1" dirty="0">
                            <a:solidFill>
                              <a:sysClr val="windowText" lastClr="000000"/>
                            </a:solidFill>
                          </a:rPr>
                          <a:t>OOS/OOT </a:t>
                        </a:r>
                        <a:r>
                          <a:rPr lang="en-GB" sz="1600" dirty="0">
                            <a:solidFill>
                              <a:sysClr val="windowText" lastClr="000000"/>
                            </a:solidFill>
                          </a:rPr>
                          <a:t>Closed</a:t>
                        </a:r>
                        <a:endParaRPr lang="en-GB" sz="1600" dirty="0">
                          <a:solidFill>
                            <a:sysClr val="windowText" lastClr="000000"/>
                          </a:solidFill>
                          <a:latin typeface="+mn-lt"/>
                        </a:endParaRP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34243998"/>
                    </a:ext>
                  </a:extLst>
                </a:tr>
                <a:tr h="210306">
                  <a:tc>
                    <a:txBody>
                      <a:bodyPr/>
                      <a:lstStyle>
                        <a:lvl1pPr marL="0" algn="l" defTabSz="914377" rtl="0" eaLnBrk="1" latinLnBrk="0" hangingPunct="1">
                          <a:defRPr sz="1800" kern="1200">
                            <a:solidFill>
                              <a:schemeClr val="dk1"/>
                            </a:solidFill>
                            <a:latin typeface="Corbel" panose="020B0503020204020204"/>
                          </a:defRPr>
                        </a:lvl1pPr>
                        <a:lvl2pPr marL="457189" algn="l" defTabSz="914377" rtl="0" eaLnBrk="1" latinLnBrk="0" hangingPunct="1">
                          <a:defRPr sz="1800" kern="1200">
                            <a:solidFill>
                              <a:schemeClr val="dk1"/>
                            </a:solidFill>
                            <a:latin typeface="Corbel" panose="020B0503020204020204"/>
                          </a:defRPr>
                        </a:lvl2pPr>
                        <a:lvl3pPr marL="914377" algn="l" defTabSz="914377" rtl="0" eaLnBrk="1" latinLnBrk="0" hangingPunct="1">
                          <a:defRPr sz="1800" kern="1200">
                            <a:solidFill>
                              <a:schemeClr val="dk1"/>
                            </a:solidFill>
                            <a:latin typeface="Corbel" panose="020B0503020204020204"/>
                          </a:defRPr>
                        </a:lvl3pPr>
                        <a:lvl4pPr marL="1371566" algn="l" defTabSz="914377" rtl="0" eaLnBrk="1" latinLnBrk="0" hangingPunct="1">
                          <a:defRPr sz="1800" kern="1200">
                            <a:solidFill>
                              <a:schemeClr val="dk1"/>
                            </a:solidFill>
                            <a:latin typeface="Corbel" panose="020B0503020204020204"/>
                          </a:defRPr>
                        </a:lvl4pPr>
                        <a:lvl5pPr marL="1828754" algn="l" defTabSz="914377" rtl="0" eaLnBrk="1" latinLnBrk="0" hangingPunct="1">
                          <a:defRPr sz="1800" kern="1200">
                            <a:solidFill>
                              <a:schemeClr val="dk1"/>
                            </a:solidFill>
                            <a:latin typeface="Corbel" panose="020B0503020204020204"/>
                          </a:defRPr>
                        </a:lvl5pPr>
                        <a:lvl6pPr marL="2285943" algn="l" defTabSz="914377" rtl="0" eaLnBrk="1" latinLnBrk="0" hangingPunct="1">
                          <a:defRPr sz="1800" kern="1200">
                            <a:solidFill>
                              <a:schemeClr val="dk1"/>
                            </a:solidFill>
                            <a:latin typeface="Corbel" panose="020B0503020204020204"/>
                          </a:defRPr>
                        </a:lvl6pPr>
                        <a:lvl7pPr marL="2743131" algn="l" defTabSz="914377" rtl="0" eaLnBrk="1" latinLnBrk="0" hangingPunct="1">
                          <a:defRPr sz="1800" kern="1200">
                            <a:solidFill>
                              <a:schemeClr val="dk1"/>
                            </a:solidFill>
                            <a:latin typeface="Corbel" panose="020B0503020204020204"/>
                          </a:defRPr>
                        </a:lvl7pPr>
                        <a:lvl8pPr marL="3200320" algn="l" defTabSz="914377" rtl="0" eaLnBrk="1" latinLnBrk="0" hangingPunct="1">
                          <a:defRPr sz="1800" kern="1200">
                            <a:solidFill>
                              <a:schemeClr val="dk1"/>
                            </a:solidFill>
                            <a:latin typeface="Corbel" panose="020B0503020204020204"/>
                          </a:defRPr>
                        </a:lvl8pPr>
                        <a:lvl9pPr marL="3657509" algn="l" defTabSz="914377" rtl="0" eaLnBrk="1" latinLnBrk="0" hangingPunct="1">
                          <a:defRPr sz="1800" kern="1200">
                            <a:solidFill>
                              <a:schemeClr val="dk1"/>
                            </a:solidFill>
                            <a:latin typeface="Corbel" panose="020B0503020204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1" dirty="0">
                            <a:solidFill>
                              <a:sysClr val="windowText" lastClr="000000"/>
                            </a:solidFill>
                          </a:rPr>
                          <a:t>OOS/OOT Number</a:t>
                        </a:r>
                        <a:endParaRPr lang="en-GB" sz="1400" b="1" kern="1200" dirty="0">
                          <a:solidFill>
                            <a:sysClr val="windowText" lastClr="000000"/>
                          </a:solidFill>
                          <a:latin typeface="Corbel" panose="020B0503020204020204"/>
                          <a:ea typeface="+mn-ea"/>
                          <a:cs typeface="+mn-cs"/>
                        </a:endParaRPr>
                      </a:p>
                    </a:txBody>
                    <a:tcPr anchor="ctr"/>
                  </a:tc>
                  <a:tc>
                    <a:txBody>
                      <a:bodyPr/>
                      <a:lstStyle/>
                      <a:p>
                        <a:pPr algn="ctr"/>
                        <a:r>
                          <a:rPr lang="en-GB" sz="1400" b="1" dirty="0">
                            <a:solidFill>
                              <a:sysClr val="windowText" lastClr="000000"/>
                            </a:solidFill>
                          </a:rPr>
                          <a:t>Date raised</a:t>
                        </a:r>
                      </a:p>
                    </a:txBody>
                    <a:tcPr anchor="ctr"/>
                  </a:tc>
                  <a:tc>
                    <a:txBody>
                      <a:bodyPr/>
                      <a:lstStyle>
                        <a:lvl1pPr marL="0" algn="l" defTabSz="914377" rtl="0" eaLnBrk="1" latinLnBrk="0" hangingPunct="1">
                          <a:defRPr sz="1800" kern="1200">
                            <a:solidFill>
                              <a:schemeClr val="dk1"/>
                            </a:solidFill>
                            <a:latin typeface="Corbel" panose="020B0503020204020204"/>
                          </a:defRPr>
                        </a:lvl1pPr>
                        <a:lvl2pPr marL="457189" algn="l" defTabSz="914377" rtl="0" eaLnBrk="1" latinLnBrk="0" hangingPunct="1">
                          <a:defRPr sz="1800" kern="1200">
                            <a:solidFill>
                              <a:schemeClr val="dk1"/>
                            </a:solidFill>
                            <a:latin typeface="Corbel" panose="020B0503020204020204"/>
                          </a:defRPr>
                        </a:lvl2pPr>
                        <a:lvl3pPr marL="914377" algn="l" defTabSz="914377" rtl="0" eaLnBrk="1" latinLnBrk="0" hangingPunct="1">
                          <a:defRPr sz="1800" kern="1200">
                            <a:solidFill>
                              <a:schemeClr val="dk1"/>
                            </a:solidFill>
                            <a:latin typeface="Corbel" panose="020B0503020204020204"/>
                          </a:defRPr>
                        </a:lvl3pPr>
                        <a:lvl4pPr marL="1371566" algn="l" defTabSz="914377" rtl="0" eaLnBrk="1" latinLnBrk="0" hangingPunct="1">
                          <a:defRPr sz="1800" kern="1200">
                            <a:solidFill>
                              <a:schemeClr val="dk1"/>
                            </a:solidFill>
                            <a:latin typeface="Corbel" panose="020B0503020204020204"/>
                          </a:defRPr>
                        </a:lvl4pPr>
                        <a:lvl5pPr marL="1828754" algn="l" defTabSz="914377" rtl="0" eaLnBrk="1" latinLnBrk="0" hangingPunct="1">
                          <a:defRPr sz="1800" kern="1200">
                            <a:solidFill>
                              <a:schemeClr val="dk1"/>
                            </a:solidFill>
                            <a:latin typeface="Corbel" panose="020B0503020204020204"/>
                          </a:defRPr>
                        </a:lvl5pPr>
                        <a:lvl6pPr marL="2285943" algn="l" defTabSz="914377" rtl="0" eaLnBrk="1" latinLnBrk="0" hangingPunct="1">
                          <a:defRPr sz="1800" kern="1200">
                            <a:solidFill>
                              <a:schemeClr val="dk1"/>
                            </a:solidFill>
                            <a:latin typeface="Corbel" panose="020B0503020204020204"/>
                          </a:defRPr>
                        </a:lvl6pPr>
                        <a:lvl7pPr marL="2743131" algn="l" defTabSz="914377" rtl="0" eaLnBrk="1" latinLnBrk="0" hangingPunct="1">
                          <a:defRPr sz="1800" kern="1200">
                            <a:solidFill>
                              <a:schemeClr val="dk1"/>
                            </a:solidFill>
                            <a:latin typeface="Corbel" panose="020B0503020204020204"/>
                          </a:defRPr>
                        </a:lvl7pPr>
                        <a:lvl8pPr marL="3200320" algn="l" defTabSz="914377" rtl="0" eaLnBrk="1" latinLnBrk="0" hangingPunct="1">
                          <a:defRPr sz="1800" kern="1200">
                            <a:solidFill>
                              <a:schemeClr val="dk1"/>
                            </a:solidFill>
                            <a:latin typeface="Corbel" panose="020B0503020204020204"/>
                          </a:defRPr>
                        </a:lvl8pPr>
                        <a:lvl9pPr marL="3657509" algn="l" defTabSz="914377" rtl="0" eaLnBrk="1" latinLnBrk="0" hangingPunct="1">
                          <a:defRPr sz="1800" kern="1200">
                            <a:solidFill>
                              <a:schemeClr val="dk1"/>
                            </a:solidFill>
                            <a:latin typeface="Corbel" panose="020B0503020204020204"/>
                          </a:defRPr>
                        </a:lvl9pPr>
                      </a:lstStyle>
                      <a:p>
                        <a:pPr algn="ctr"/>
                        <a:r>
                          <a:rPr lang="en-GB" sz="1400" b="1" dirty="0">
                            <a:solidFill>
                              <a:sysClr val="windowText" lastClr="000000"/>
                            </a:solidFill>
                          </a:rPr>
                          <a:t>OOS/OOT description</a:t>
                        </a:r>
                        <a:endParaRPr lang="en-GB" sz="1400" b="1" kern="1200" dirty="0">
                          <a:solidFill>
                            <a:sysClr val="windowText" lastClr="000000"/>
                          </a:solidFill>
                          <a:latin typeface="Corbel" panose="020B0503020204020204"/>
                          <a:ea typeface="+mn-ea"/>
                          <a:cs typeface="+mn-cs"/>
                        </a:endParaRPr>
                      </a:p>
                    </a:txBody>
                    <a:tcPr anchor="ctr"/>
                  </a:tc>
                  <a:tc>
                    <a:txBody>
                      <a:bodyPr/>
                      <a:lstStyle/>
                      <a:p>
                        <a:pPr algn="ctr"/>
                        <a:r>
                          <a:rPr lang="en-GB" sz="1400" b="1" dirty="0">
                            <a:solidFill>
                              <a:sysClr val="windowText" lastClr="000000"/>
                            </a:solidFill>
                          </a:rPr>
                          <a:t>Target date</a:t>
                        </a:r>
                      </a:p>
                    </a:txBody>
                    <a:tcPr anchor="ctr"/>
                  </a:tc>
                  <a:tc>
                    <a:txBody>
                      <a:bodyPr/>
                      <a:lstStyle/>
                      <a:p>
                        <a:pPr algn="ctr"/>
                        <a:r>
                          <a:rPr lang="en-GB" sz="1400" b="1" dirty="0">
                            <a:solidFill>
                              <a:sysClr val="windowText" lastClr="000000"/>
                            </a:solidFill>
                          </a:rPr>
                          <a:t>Completion date</a:t>
                        </a:r>
                      </a:p>
                    </a:txBody>
                    <a:tcPr anchor="ctr"/>
                  </a:tc>
                  <a:extLst>
                    <a:ext uri="{0D108BD9-81ED-4DB2-BD59-A6C34878D82A}">
                      <a16:rowId xmlns:a16="http://schemas.microsoft.com/office/drawing/2014/main" val="701549060"/>
                    </a:ext>
                  </a:extLst>
                </a:tr>
                <a:tr h="297782">
                  <a:tc>
                    <a:txBody>
                      <a:bodyPr/>
                      <a:lstStyle/>
                      <a:p>
                        <a:pPr marL="0" algn="ctr" defTabSz="914400" rtl="0" eaLnBrk="1" fontAlgn="ctr" latinLnBrk="0" hangingPunct="1">
                          <a:buNone/>
                        </a:pPr>
                        <a:r>
                          <a:rPr lang="en-GB" sz="1400" b="0" u="none" strike="noStrike" kern="1200" dirty="0">
                            <a:solidFill>
                              <a:srgbClr val="000000"/>
                            </a:solidFill>
                            <a:effectLst/>
                            <a:latin typeface="+mn-lt"/>
                            <a:ea typeface="+mn-ea"/>
                            <a:cs typeface="+mn-cs"/>
                          </a:rPr>
                          <a:t>OOS.2026.001</a:t>
                        </a:r>
                      </a:p>
                    </a:txBody>
                    <a:tcPr marL="9525" marR="9525" marT="9525" anchor="ctr"/>
                  </a:tc>
                  <a:tc>
                    <a:txBody>
                      <a:bodyPr/>
                      <a:lstStyle/>
                      <a:p>
                        <a:pPr marL="0" algn="ctr" defTabSz="914400" rtl="0" eaLnBrk="1" fontAlgn="ctr" latinLnBrk="0" hangingPunct="1">
                          <a:buNone/>
                        </a:pPr>
                        <a:r>
                          <a:rPr lang="en-US" sz="1400" b="0" u="none" strike="noStrike" kern="1200" dirty="0">
                            <a:solidFill>
                              <a:srgbClr val="000000"/>
                            </a:solidFill>
                            <a:effectLst/>
                            <a:latin typeface="+mn-lt"/>
                            <a:ea typeface="+mn-ea"/>
                            <a:cs typeface="+mn-cs"/>
                          </a:rPr>
                          <a:t>14-Jan-26</a:t>
                        </a:r>
                      </a:p>
                    </a:txBody>
                    <a:tcPr marL="9525" marR="9525" marT="9525" anchor="ctr"/>
                  </a:tc>
                  <a:tc>
                    <a:txBody>
                      <a:bodyPr/>
                      <a:lstStyle/>
                      <a:p>
                        <a:pPr marL="0" algn="ctr" defTabSz="914400" rtl="0" eaLnBrk="1" fontAlgn="ctr" latinLnBrk="0" hangingPunct="1">
                          <a:buNone/>
                        </a:pPr>
                        <a:r>
                          <a:rPr lang="en-US" sz="1400" b="0" u="none" strike="noStrike" kern="1200" dirty="0">
                            <a:solidFill>
                              <a:srgbClr val="000000"/>
                            </a:solidFill>
                            <a:effectLst/>
                            <a:latin typeface="+mn-lt"/>
                            <a:ea typeface="+mn-ea"/>
                            <a:cs typeface="+mn-cs"/>
                          </a:rPr>
                          <a:t>High Assay Levomepromazine Maleate 3mg tablets</a:t>
                        </a:r>
                      </a:p>
                    </a:txBody>
                    <a:tcPr marL="9525" marR="9525" marT="9525" anchor="ctr"/>
                  </a:tc>
                  <a:tc>
                    <a:txBody>
                      <a:bodyPr/>
                      <a:lstStyle/>
                      <a:p>
                        <a:pPr marL="0" algn="ctr" defTabSz="914400" rtl="0" eaLnBrk="1" fontAlgn="ctr" latinLnBrk="0" hangingPunct="1">
                          <a:buNone/>
                        </a:pPr>
                        <a:r>
                          <a:rPr lang="en-GB" sz="1400" b="0" u="none" strike="noStrike" kern="1200" dirty="0">
                            <a:solidFill>
                              <a:srgbClr val="000000"/>
                            </a:solidFill>
                            <a:effectLst/>
                            <a:latin typeface="+mn-lt"/>
                            <a:ea typeface="+mn-ea"/>
                            <a:cs typeface="+mn-cs"/>
                          </a:rPr>
                          <a:t>16-Feb-26</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400" b="0" u="none" strike="noStrike" kern="1200" dirty="0">
                            <a:solidFill>
                              <a:srgbClr val="000000"/>
                            </a:solidFill>
                            <a:effectLst/>
                            <a:latin typeface="+mn-lt"/>
                            <a:ea typeface="+mn-ea"/>
                            <a:cs typeface="+mn-cs"/>
                          </a:rPr>
                          <a:t>16-Feb-26</a:t>
                        </a:r>
                      </a:p>
                    </a:txBody>
                    <a:tcPr marL="9525" marR="9525" marT="9525" anchor="ctr">
                      <a:solidFill>
                        <a:srgbClr val="00B050"/>
                      </a:solidFill>
                    </a:tcPr>
                  </a:tc>
                  <a:extLst>
                    <a:ext uri="{0D108BD9-81ED-4DB2-BD59-A6C34878D82A}">
                      <a16:rowId xmlns:a16="http://schemas.microsoft.com/office/drawing/2014/main" val="2637666004"/>
                    </a:ext>
                  </a:extLst>
                </a:tr>
                <a:tr h="196223">
                  <a:tc>
                    <a:txBody>
                      <a:bodyPr/>
                      <a:lstStyle/>
                      <a:p>
                        <a:pPr marL="0" algn="ctr" defTabSz="914400" rtl="0" eaLnBrk="1" fontAlgn="ctr" latinLnBrk="0" hangingPunct="1">
                          <a:buNone/>
                        </a:pPr>
                        <a:r>
                          <a:rPr lang="en-GB" sz="1400" b="0" u="none" strike="noStrike" kern="1200" dirty="0">
                            <a:solidFill>
                              <a:srgbClr val="000000"/>
                            </a:solidFill>
                            <a:effectLst/>
                            <a:latin typeface="+mn-lt"/>
                            <a:ea typeface="+mn-ea"/>
                            <a:cs typeface="+mn-cs"/>
                          </a:rPr>
                          <a:t>OOS.2026.002</a:t>
                        </a:r>
                      </a:p>
                    </a:txBody>
                    <a:tcPr marL="9525" marR="9525" marT="9525" anchor="ctr"/>
                  </a:tc>
                  <a:tc>
                    <a:txBody>
                      <a:bodyPr/>
                      <a:lstStyle/>
                      <a:p>
                        <a:pPr marL="0" algn="ctr" defTabSz="914400" rtl="0" eaLnBrk="1" fontAlgn="ctr" latinLnBrk="0" hangingPunct="1">
                          <a:buNone/>
                        </a:pPr>
                        <a:r>
                          <a:rPr lang="en-US" sz="1400" b="0" u="none" strike="noStrike" kern="1200" dirty="0">
                            <a:solidFill>
                              <a:srgbClr val="000000"/>
                            </a:solidFill>
                            <a:effectLst/>
                            <a:latin typeface="+mn-lt"/>
                            <a:ea typeface="+mn-ea"/>
                            <a:cs typeface="+mn-cs"/>
                          </a:rPr>
                          <a:t>29-Jan-26</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kern="1200" dirty="0">
                            <a:solidFill>
                              <a:srgbClr val="000000"/>
                            </a:solidFill>
                            <a:effectLst/>
                            <a:latin typeface="+mn-lt"/>
                            <a:ea typeface="+mn-ea"/>
                            <a:cs typeface="+mn-cs"/>
                          </a:rPr>
                          <a:t>High Assay Levomepromazine Maleate 6mg tablets</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400" b="0" u="none" strike="noStrike" kern="1200" dirty="0">
                            <a:solidFill>
                              <a:srgbClr val="000000"/>
                            </a:solidFill>
                            <a:effectLst/>
                            <a:latin typeface="+mn-lt"/>
                            <a:ea typeface="+mn-ea"/>
                            <a:cs typeface="+mn-cs"/>
                          </a:rPr>
                          <a:t>01-Feb-26</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400" b="0" u="none" strike="noStrike" kern="1200" dirty="0">
                            <a:solidFill>
                              <a:srgbClr val="000000"/>
                            </a:solidFill>
                            <a:effectLst/>
                            <a:latin typeface="+mn-lt"/>
                            <a:ea typeface="+mn-ea"/>
                            <a:cs typeface="+mn-cs"/>
                          </a:rPr>
                          <a:t>30-Jan-26</a:t>
                        </a:r>
                      </a:p>
                    </a:txBody>
                    <a:tcPr marL="9525" marR="9525" marT="9525" anchor="ctr">
                      <a:solidFill>
                        <a:srgbClr val="00B050"/>
                      </a:solidFill>
                    </a:tcPr>
                  </a:tc>
                  <a:extLst>
                    <a:ext uri="{0D108BD9-81ED-4DB2-BD59-A6C34878D82A}">
                      <a16:rowId xmlns:a16="http://schemas.microsoft.com/office/drawing/2014/main" val="3856702784"/>
                    </a:ext>
                  </a:extLst>
                </a:tr>
              </a:tbl>
            </a:graphicData>
          </a:graphic>
        </p:graphicFrame>
        <p:graphicFrame>
          <p:nvGraphicFramePr>
            <p:cNvPr id="18" name="Table 17">
              <a:extLst>
                <a:ext uri="{FF2B5EF4-FFF2-40B4-BE49-F238E27FC236}">
                  <a16:creationId xmlns:a16="http://schemas.microsoft.com/office/drawing/2014/main" id="{2ACEE4DE-B028-98BF-DB25-0DAFD6976393}"/>
                </a:ext>
              </a:extLst>
            </p:cNvPr>
            <p:cNvGraphicFramePr>
              <a:graphicFrameLocks/>
            </p:cNvGraphicFramePr>
            <p:nvPr>
              <p:extLst>
                <p:ext uri="{D42A27DB-BD31-4B8C-83A1-F6EECF244321}">
                  <p14:modId xmlns:p14="http://schemas.microsoft.com/office/powerpoint/2010/main" val="545694875"/>
                </p:ext>
              </p:extLst>
            </p:nvPr>
          </p:nvGraphicFramePr>
          <p:xfrm>
            <a:off x="800394" y="1759757"/>
            <a:ext cx="11753731" cy="1137194"/>
          </p:xfrm>
          <a:graphic>
            <a:graphicData uri="http://schemas.openxmlformats.org/drawingml/2006/table">
              <a:tbl>
                <a:tblPr firstRow="1" bandRow="1">
                  <a:tableStyleId>{5C22544A-7EE6-4342-B048-85BDC9FD1C3A}</a:tableStyleId>
                </a:tblPr>
                <a:tblGrid>
                  <a:gridCol w="1666064">
                    <a:extLst>
                      <a:ext uri="{9D8B030D-6E8A-4147-A177-3AD203B41FA5}">
                        <a16:colId xmlns:a16="http://schemas.microsoft.com/office/drawing/2014/main" val="340894773"/>
                      </a:ext>
                    </a:extLst>
                  </a:gridCol>
                  <a:gridCol w="1520687">
                    <a:extLst>
                      <a:ext uri="{9D8B030D-6E8A-4147-A177-3AD203B41FA5}">
                        <a16:colId xmlns:a16="http://schemas.microsoft.com/office/drawing/2014/main" val="1544888063"/>
                      </a:ext>
                    </a:extLst>
                  </a:gridCol>
                  <a:gridCol w="4727567">
                    <a:extLst>
                      <a:ext uri="{9D8B030D-6E8A-4147-A177-3AD203B41FA5}">
                        <a16:colId xmlns:a16="http://schemas.microsoft.com/office/drawing/2014/main" val="578213674"/>
                      </a:ext>
                    </a:extLst>
                  </a:gridCol>
                  <a:gridCol w="1328236">
                    <a:extLst>
                      <a:ext uri="{9D8B030D-6E8A-4147-A177-3AD203B41FA5}">
                        <a16:colId xmlns:a16="http://schemas.microsoft.com/office/drawing/2014/main" val="2869575329"/>
                      </a:ext>
                    </a:extLst>
                  </a:gridCol>
                  <a:gridCol w="2227668">
                    <a:extLst>
                      <a:ext uri="{9D8B030D-6E8A-4147-A177-3AD203B41FA5}">
                        <a16:colId xmlns:a16="http://schemas.microsoft.com/office/drawing/2014/main" val="1571917461"/>
                      </a:ext>
                    </a:extLst>
                  </a:gridCol>
                </a:tblGrid>
                <a:tr h="335804">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dirty="0">
                            <a:solidFill>
                              <a:sysClr val="windowText" lastClr="000000"/>
                            </a:solidFill>
                          </a:rPr>
                          <a:t>OOS/OOT Open</a:t>
                        </a:r>
                        <a:endParaRPr lang="en-GB" sz="1600" b="1" dirty="0">
                          <a:solidFill>
                            <a:sysClr val="windowText" lastClr="000000"/>
                          </a:solidFill>
                          <a:latin typeface="+mn-lt"/>
                        </a:endParaRPr>
                      </a:p>
                    </a:txBody>
                    <a:tcPr marL="74309" marR="74309" marT="37155" marB="37155" anchor="ct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pPr algn="ctr"/>
                        <a:endParaRPr lang="en-GB" sz="2000" b="1" dirty="0">
                          <a:solidFill>
                            <a:schemeClr val="tx1"/>
                          </a:solidFill>
                          <a:latin typeface="+mn-lt"/>
                        </a:endParaRPr>
                      </a:p>
                    </a:txBody>
                    <a:tcPr marL="74309" marR="74309" marT="37155" marB="37155" anchor="ctr">
                      <a:solidFill>
                        <a:schemeClr val="bg1"/>
                      </a:solidFill>
                    </a:tcPr>
                  </a:tc>
                  <a:tc hMerge="1">
                    <a:txBody>
                      <a:bodyPr/>
                      <a:lstStyle/>
                      <a:p>
                        <a:pPr algn="ctr"/>
                        <a:endParaRPr lang="en-GB" sz="2000" b="1" dirty="0">
                          <a:solidFill>
                            <a:schemeClr val="tx1"/>
                          </a:solidFill>
                        </a:endParaRPr>
                      </a:p>
                    </a:txBody>
                    <a:tcPr marL="74309" marR="74309" marT="37155" marB="37155" anchor="ctr">
                      <a:solidFill>
                        <a:schemeClr val="bg1"/>
                      </a:solidFill>
                    </a:tcPr>
                  </a:tc>
                  <a:tc hMerge="1">
                    <a:txBody>
                      <a:bodyPr/>
                      <a:lstStyle/>
                      <a:p>
                        <a:pPr algn="ctr"/>
                        <a:endParaRPr lang="en-GB" sz="2000" b="1" dirty="0">
                          <a:solidFill>
                            <a:schemeClr val="tx1"/>
                          </a:solidFill>
                        </a:endParaRPr>
                      </a:p>
                    </a:txBody>
                    <a:tcPr marL="74309" marR="74309" marT="37155" marB="37155" anchor="ctr">
                      <a:solidFill>
                        <a:schemeClr val="bg1"/>
                      </a:solidFill>
                    </a:tcPr>
                  </a:tc>
                  <a:extLst>
                    <a:ext uri="{0D108BD9-81ED-4DB2-BD59-A6C34878D82A}">
                      <a16:rowId xmlns:a16="http://schemas.microsoft.com/office/drawing/2014/main" val="1452266958"/>
                    </a:ext>
                  </a:extLst>
                </a:tr>
                <a:tr h="18495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1" dirty="0">
                            <a:solidFill>
                              <a:sysClr val="windowText" lastClr="000000"/>
                            </a:solidFill>
                          </a:rPr>
                          <a:t>OOS/OOT Number</a:t>
                        </a:r>
                        <a:endParaRPr lang="en-GB" sz="1400" b="1" dirty="0">
                          <a:solidFill>
                            <a:sysClr val="windowText" lastClr="000000"/>
                          </a:solidFill>
                          <a:latin typeface="+mn-lt"/>
                        </a:endParaRPr>
                      </a:p>
                    </a:txBody>
                    <a:tcPr marL="74309" marR="74309" marT="37155" marB="37155" anchor="ctr">
                      <a:lnL w="12700" cap="flat" cmpd="sng" algn="ctr">
                        <a:solidFill>
                          <a:schemeClr val="tx1"/>
                        </a:solidFill>
                        <a:prstDash val="solid"/>
                        <a:round/>
                        <a:headEnd type="none" w="med" len="med"/>
                        <a:tailEnd type="none" w="med" len="med"/>
                      </a:lnL>
                    </a:tcPr>
                  </a:tc>
                  <a:tc>
                    <a:txBody>
                      <a:bodyPr/>
                      <a:lstStyle/>
                      <a:p>
                        <a:pPr algn="ctr"/>
                        <a:r>
                          <a:rPr lang="en-GB" sz="1400" b="1" dirty="0">
                            <a:solidFill>
                              <a:sysClr val="windowText" lastClr="000000"/>
                            </a:solidFill>
                            <a:latin typeface="+mn-lt"/>
                          </a:rPr>
                          <a:t>Date raised</a:t>
                        </a:r>
                      </a:p>
                    </a:txBody>
                    <a:tcPr marL="74309" marR="74309" marT="37155" marB="37155" anchor="ctr"/>
                  </a:tc>
                  <a:tc>
                    <a:txBody>
                      <a:bodyPr/>
                      <a:lstStyle/>
                      <a:p>
                        <a:pPr algn="ctr"/>
                        <a:r>
                          <a:rPr lang="en-GB" sz="1400" b="1" dirty="0">
                            <a:solidFill>
                              <a:sysClr val="windowText" lastClr="000000"/>
                            </a:solidFill>
                          </a:rPr>
                          <a:t>OOS/OOT description</a:t>
                        </a:r>
                        <a:endParaRPr lang="en-GB" sz="1400" b="1" dirty="0">
                          <a:solidFill>
                            <a:sysClr val="windowText" lastClr="000000"/>
                          </a:solidFill>
                          <a:latin typeface="+mn-lt"/>
                        </a:endParaRPr>
                      </a:p>
                    </a:txBody>
                    <a:tcPr marL="74309" marR="74309" marT="37155" marB="37155" anchor="ctr"/>
                  </a:tc>
                  <a:tc>
                    <a:txBody>
                      <a:bodyPr/>
                      <a:lstStyle/>
                      <a:p>
                        <a:pPr algn="ctr"/>
                        <a:r>
                          <a:rPr lang="en-GB" sz="1400" b="1" dirty="0">
                            <a:solidFill>
                              <a:sysClr val="windowText" lastClr="000000"/>
                            </a:solidFill>
                          </a:rPr>
                          <a:t>Target date</a:t>
                        </a:r>
                      </a:p>
                    </a:txBody>
                    <a:tcPr marL="74309" marR="74309" marT="37155" marB="37155" anchor="ctr"/>
                  </a:tc>
                  <a:tc>
                    <a:txBody>
                      <a:bodyPr/>
                      <a:lstStyle/>
                      <a:p>
                        <a:pPr algn="ctr"/>
                        <a:r>
                          <a:rPr lang="en-GB" sz="1400" b="1" dirty="0">
                            <a:solidFill>
                              <a:sysClr val="windowText" lastClr="000000"/>
                            </a:solidFill>
                          </a:rPr>
                          <a:t>Reason still open</a:t>
                        </a:r>
                      </a:p>
                    </a:txBody>
                    <a:tcPr marL="74309" marR="74309" marT="37155" marB="37155" anchor="ctr"/>
                  </a:tc>
                  <a:extLst>
                    <a:ext uri="{0D108BD9-81ED-4DB2-BD59-A6C34878D82A}">
                      <a16:rowId xmlns:a16="http://schemas.microsoft.com/office/drawing/2014/main" val="3379889016"/>
                    </a:ext>
                  </a:extLst>
                </a:tr>
                <a:tr h="283509">
                  <a:tc>
                    <a:txBody>
                      <a:bodyPr/>
                      <a:lstStyle/>
                      <a:p>
                        <a:pPr marL="0" algn="ctr" defTabSz="914400" rtl="0" eaLnBrk="1" fontAlgn="ctr" latinLnBrk="0" hangingPunct="1">
                          <a:buNone/>
                        </a:pPr>
                        <a:r>
                          <a:rPr lang="en-GB" sz="1400" b="0" i="0" u="none" strike="noStrike" kern="1200" dirty="0">
                            <a:solidFill>
                              <a:srgbClr val="000000"/>
                            </a:solidFill>
                            <a:effectLst/>
                            <a:latin typeface="+mn-lt"/>
                            <a:ea typeface="+mn-ea"/>
                            <a:cs typeface="+mn-cs"/>
                          </a:rPr>
                          <a:t>OOS.2026.004</a:t>
                        </a:r>
                      </a:p>
                    </a:txBody>
                    <a:tcPr marL="9525" marR="9525" marT="9525" anchor="ctr">
                      <a:lnL w="12700" cap="flat" cmpd="sng" algn="ctr">
                        <a:solidFill>
                          <a:schemeClr val="tx1"/>
                        </a:solidFill>
                        <a:prstDash val="solid"/>
                        <a:round/>
                        <a:headEnd type="none" w="med" len="med"/>
                        <a:tailEnd type="none" w="med" len="med"/>
                      </a:lnL>
                    </a:tcPr>
                  </a:tc>
                  <a:tc>
                    <a:txBody>
                      <a:bodyPr/>
                      <a:lstStyle/>
                      <a:p>
                        <a:pPr algn="ctr" fontAlgn="ctr">
                          <a:buNone/>
                        </a:pPr>
                        <a:r>
                          <a:rPr lang="en-US" sz="1400" b="0" i="0" u="none" strike="noStrike" dirty="0">
                            <a:solidFill>
                              <a:srgbClr val="000000"/>
                            </a:solidFill>
                            <a:effectLst/>
                            <a:latin typeface="+mn-lt"/>
                          </a:rPr>
                          <a:t>01</a:t>
                        </a:r>
                        <a:r>
                          <a:rPr lang="en-US" sz="1400" b="0" i="0" u="none" strike="noStrike" kern="1200" dirty="0">
                            <a:solidFill>
                              <a:srgbClr val="000000"/>
                            </a:solidFill>
                            <a:effectLst/>
                            <a:latin typeface="+mn-lt"/>
                            <a:ea typeface="+mn-ea"/>
                            <a:cs typeface="+mn-cs"/>
                          </a:rPr>
                          <a:t>-Ma</a:t>
                        </a:r>
                        <a:r>
                          <a:rPr lang="en-US" sz="1400" b="0" i="0" u="none" strike="noStrike" dirty="0">
                            <a:solidFill>
                              <a:srgbClr val="000000"/>
                            </a:solidFill>
                            <a:effectLst/>
                            <a:latin typeface="+mn-lt"/>
                          </a:rPr>
                          <a:t>y-26</a:t>
                        </a:r>
                      </a:p>
                    </a:txBody>
                    <a:tcPr marL="9525" marR="9525" marT="9525" anchor="ctr"/>
                  </a:tc>
                  <a:tc>
                    <a:txBody>
                      <a:bodyPr/>
                      <a:lstStyle/>
                      <a:p>
                        <a:pPr algn="ctr" fontAlgn="ctr">
                          <a:buNone/>
                        </a:pPr>
                        <a:r>
                          <a:rPr lang="en-GB" sz="1400" b="0" i="0" u="none" strike="noStrike" kern="1200" dirty="0">
                            <a:solidFill>
                              <a:srgbClr val="000000"/>
                            </a:solidFill>
                            <a:effectLst/>
                            <a:latin typeface="+mn-lt"/>
                            <a:ea typeface="+mn-ea"/>
                            <a:cs typeface="+mn-cs"/>
                          </a:rPr>
                          <a:t>Levomepromazine Maleate 3mg ES181485 PV1 Powder Blend - Assay is Out of specification with result of 106.647%</a:t>
                        </a:r>
                        <a:endParaRPr lang="en-US" sz="1400" b="0" i="0" u="none" strike="noStrike" kern="1200" dirty="0">
                          <a:solidFill>
                            <a:srgbClr val="000000"/>
                          </a:solidFill>
                          <a:effectLst/>
                          <a:latin typeface="+mn-lt"/>
                          <a:ea typeface="+mn-ea"/>
                          <a:cs typeface="+mn-cs"/>
                        </a:endParaRPr>
                      </a:p>
                    </a:txBody>
                    <a:tcPr marL="9525" marR="9525" marT="9525" anchor="ctr"/>
                  </a:tc>
                  <a:tc>
                    <a:txBody>
                      <a:bodyPr/>
                      <a:lstStyle/>
                      <a:p>
                        <a:pPr algn="ctr" fontAlgn="ctr">
                          <a:buNone/>
                        </a:pPr>
                        <a:r>
                          <a:rPr lang="en-GB" sz="1400" b="0" i="0" u="none" strike="noStrike" kern="1200" dirty="0">
                            <a:solidFill>
                              <a:srgbClr val="000000"/>
                            </a:solidFill>
                            <a:effectLst/>
                            <a:latin typeface="+mn-lt"/>
                            <a:ea typeface="+mn-ea"/>
                            <a:cs typeface="+mn-cs"/>
                          </a:rPr>
                          <a:t>31-Jul-26</a:t>
                        </a:r>
                      </a:p>
                    </a:txBody>
                    <a:tcPr marL="9525" marR="9525" marT="9525" anchor="ctr"/>
                  </a:tc>
                  <a:tc>
                    <a:txBody>
                      <a:bodyPr/>
                      <a:lstStyle/>
                      <a:p>
                        <a:pPr algn="ctr" fontAlgn="ctr">
                          <a:buNone/>
                        </a:pPr>
                        <a:r>
                          <a:rPr lang="en-GB" sz="1400" b="0" i="0" u="none" strike="noStrike" kern="1200" dirty="0">
                            <a:solidFill>
                              <a:srgbClr val="000000"/>
                            </a:solidFill>
                            <a:effectLst/>
                            <a:latin typeface="+mn-lt"/>
                            <a:ea typeface="+mn-ea"/>
                            <a:cs typeface="+mn-cs"/>
                          </a:rPr>
                          <a:t>Investigation in progress</a:t>
                        </a:r>
                      </a:p>
                    </a:txBody>
                    <a:tcPr marL="9525" marR="9525" marT="9525" anchor="ctr"/>
                  </a:tc>
                  <a:extLst>
                    <a:ext uri="{0D108BD9-81ED-4DB2-BD59-A6C34878D82A}">
                      <a16:rowId xmlns:a16="http://schemas.microsoft.com/office/drawing/2014/main" val="1606515999"/>
                    </a:ext>
                  </a:extLst>
                </a:tr>
              </a:tbl>
            </a:graphicData>
          </a:graphic>
        </p:graphicFrame>
      </p:grpSp>
      <p:graphicFrame>
        <p:nvGraphicFramePr>
          <p:cNvPr id="19" name="Table 18">
            <a:extLst>
              <a:ext uri="{FF2B5EF4-FFF2-40B4-BE49-F238E27FC236}">
                <a16:creationId xmlns:a16="http://schemas.microsoft.com/office/drawing/2014/main" id="{E740B11D-D699-888E-37F1-50B282EE110A}"/>
              </a:ext>
            </a:extLst>
          </p:cNvPr>
          <p:cNvGraphicFramePr>
            <a:graphicFrameLocks noGrp="1"/>
          </p:cNvGraphicFramePr>
          <p:nvPr>
            <p:extLst>
              <p:ext uri="{D42A27DB-BD31-4B8C-83A1-F6EECF244321}">
                <p14:modId xmlns:p14="http://schemas.microsoft.com/office/powerpoint/2010/main" val="3147300061"/>
              </p:ext>
            </p:extLst>
          </p:nvPr>
        </p:nvGraphicFramePr>
        <p:xfrm>
          <a:off x="719327" y="2923158"/>
          <a:ext cx="11470220" cy="1025891"/>
        </p:xfrm>
        <a:graphic>
          <a:graphicData uri="http://schemas.openxmlformats.org/drawingml/2006/table">
            <a:tbl>
              <a:tblPr/>
              <a:tblGrid>
                <a:gridCol w="1364029">
                  <a:extLst>
                    <a:ext uri="{9D8B030D-6E8A-4147-A177-3AD203B41FA5}">
                      <a16:colId xmlns:a16="http://schemas.microsoft.com/office/drawing/2014/main" val="1385492866"/>
                    </a:ext>
                  </a:extLst>
                </a:gridCol>
                <a:gridCol w="1811713">
                  <a:extLst>
                    <a:ext uri="{9D8B030D-6E8A-4147-A177-3AD203B41FA5}">
                      <a16:colId xmlns:a16="http://schemas.microsoft.com/office/drawing/2014/main" val="2322454406"/>
                    </a:ext>
                  </a:extLst>
                </a:gridCol>
                <a:gridCol w="3066117">
                  <a:extLst>
                    <a:ext uri="{9D8B030D-6E8A-4147-A177-3AD203B41FA5}">
                      <a16:colId xmlns:a16="http://schemas.microsoft.com/office/drawing/2014/main" val="3616206764"/>
                    </a:ext>
                  </a:extLst>
                </a:gridCol>
                <a:gridCol w="1806779">
                  <a:extLst>
                    <a:ext uri="{9D8B030D-6E8A-4147-A177-3AD203B41FA5}">
                      <a16:colId xmlns:a16="http://schemas.microsoft.com/office/drawing/2014/main" val="3644329512"/>
                    </a:ext>
                  </a:extLst>
                </a:gridCol>
                <a:gridCol w="1710791">
                  <a:extLst>
                    <a:ext uri="{9D8B030D-6E8A-4147-A177-3AD203B41FA5}">
                      <a16:colId xmlns:a16="http://schemas.microsoft.com/office/drawing/2014/main" val="3871842897"/>
                    </a:ext>
                  </a:extLst>
                </a:gridCol>
                <a:gridCol w="1710791">
                  <a:extLst>
                    <a:ext uri="{9D8B030D-6E8A-4147-A177-3AD203B41FA5}">
                      <a16:colId xmlns:a16="http://schemas.microsoft.com/office/drawing/2014/main" val="1883237257"/>
                    </a:ext>
                  </a:extLst>
                </a:gridCol>
              </a:tblGrid>
              <a:tr h="725422">
                <a:tc>
                  <a:txBody>
                    <a:bodyPr/>
                    <a:lstStyle>
                      <a:lvl1pPr marL="0" algn="l" defTabSz="914377" rtl="0" eaLnBrk="1" latinLnBrk="0" hangingPunct="1">
                        <a:defRPr sz="1800" kern="1200">
                          <a:solidFill>
                            <a:schemeClr val="tx1"/>
                          </a:solidFill>
                          <a:latin typeface="Corbel" panose="020B0503020204020204"/>
                        </a:defRPr>
                      </a:lvl1pPr>
                      <a:lvl2pPr marL="457189" algn="l" defTabSz="914377" rtl="0" eaLnBrk="1" latinLnBrk="0" hangingPunct="1">
                        <a:defRPr sz="1800" kern="1200">
                          <a:solidFill>
                            <a:schemeClr val="tx1"/>
                          </a:solidFill>
                          <a:latin typeface="Corbel" panose="020B0503020204020204"/>
                        </a:defRPr>
                      </a:lvl2pPr>
                      <a:lvl3pPr marL="914377" algn="l" defTabSz="914377" rtl="0" eaLnBrk="1" latinLnBrk="0" hangingPunct="1">
                        <a:defRPr sz="1800" kern="1200">
                          <a:solidFill>
                            <a:schemeClr val="tx1"/>
                          </a:solidFill>
                          <a:latin typeface="Corbel" panose="020B0503020204020204"/>
                        </a:defRPr>
                      </a:lvl3pPr>
                      <a:lvl4pPr marL="1371566" algn="l" defTabSz="914377" rtl="0" eaLnBrk="1" latinLnBrk="0" hangingPunct="1">
                        <a:defRPr sz="1800" kern="1200">
                          <a:solidFill>
                            <a:schemeClr val="tx1"/>
                          </a:solidFill>
                          <a:latin typeface="Corbel" panose="020B0503020204020204"/>
                        </a:defRPr>
                      </a:lvl4pPr>
                      <a:lvl5pPr marL="1828754" algn="l" defTabSz="914377" rtl="0" eaLnBrk="1" latinLnBrk="0" hangingPunct="1">
                        <a:defRPr sz="1800" kern="1200">
                          <a:solidFill>
                            <a:schemeClr val="tx1"/>
                          </a:solidFill>
                          <a:latin typeface="Corbel" panose="020B0503020204020204"/>
                        </a:defRPr>
                      </a:lvl5pPr>
                      <a:lvl6pPr marL="2285943" algn="l" defTabSz="914377" rtl="0" eaLnBrk="1" latinLnBrk="0" hangingPunct="1">
                        <a:defRPr sz="1800" kern="1200">
                          <a:solidFill>
                            <a:schemeClr val="tx1"/>
                          </a:solidFill>
                          <a:latin typeface="Corbel" panose="020B0503020204020204"/>
                        </a:defRPr>
                      </a:lvl6pPr>
                      <a:lvl7pPr marL="2743131" algn="l" defTabSz="914377" rtl="0" eaLnBrk="1" latinLnBrk="0" hangingPunct="1">
                        <a:defRPr sz="1800" kern="1200">
                          <a:solidFill>
                            <a:schemeClr val="tx1"/>
                          </a:solidFill>
                          <a:latin typeface="Corbel" panose="020B0503020204020204"/>
                        </a:defRPr>
                      </a:lvl7pPr>
                      <a:lvl8pPr marL="3200320" algn="l" defTabSz="914377" rtl="0" eaLnBrk="1" latinLnBrk="0" hangingPunct="1">
                        <a:defRPr sz="1800" kern="1200">
                          <a:solidFill>
                            <a:schemeClr val="tx1"/>
                          </a:solidFill>
                          <a:latin typeface="Corbel" panose="020B0503020204020204"/>
                        </a:defRPr>
                      </a:lvl8pPr>
                      <a:lvl9pPr marL="3657509" algn="l" defTabSz="914377" rtl="0" eaLnBrk="1" latinLnBrk="0" hangingPunct="1">
                        <a:defRPr sz="1800" kern="1200">
                          <a:solidFill>
                            <a:schemeClr val="tx1"/>
                          </a:solidFill>
                          <a:latin typeface="Corbel" panose="020B0503020204020204"/>
                        </a:defRPr>
                      </a:lvl9pPr>
                    </a:lstStyle>
                    <a:p>
                      <a:pPr algn="ctr" fontAlgn="ctr"/>
                      <a:r>
                        <a:rPr lang="en-US" sz="1800" b="1" i="0" u="none" strike="noStrike" dirty="0">
                          <a:solidFill>
                            <a:srgbClr val="000000"/>
                          </a:solidFill>
                          <a:effectLst/>
                          <a:latin typeface="Calibri" panose="020F0502020204030204" pitchFamily="34" charset="0"/>
                        </a:rPr>
                        <a:t>Currently Open </a:t>
                      </a:r>
                      <a:endParaRPr lang="en-GB" sz="1800" b="1" i="0" u="none" strike="noStrike" dirty="0">
                        <a:solidFill>
                          <a:srgbClr val="000000"/>
                        </a:solidFill>
                        <a:effectLst/>
                        <a:latin typeface="Calibri" panose="020F0502020204030204" pitchFamily="34" charset="0"/>
                      </a:endParaRP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dirty="0">
                          <a:solidFill>
                            <a:srgbClr val="000000"/>
                          </a:solidFill>
                          <a:effectLst/>
                          <a:latin typeface="Calibri" panose="020F0502020204030204" pitchFamily="34" charset="0"/>
                        </a:rPr>
                        <a:t>Open with an extension</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dirty="0">
                          <a:solidFill>
                            <a:srgbClr val="000000"/>
                          </a:solidFill>
                          <a:effectLst/>
                          <a:latin typeface="Calibri" panose="020F0502020204030204" pitchFamily="34" charset="0"/>
                        </a:rPr>
                        <a:t>Currently open &amp; overdue at the end of quarter</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kern="1200" dirty="0">
                          <a:solidFill>
                            <a:srgbClr val="000000"/>
                          </a:solidFill>
                          <a:effectLst/>
                          <a:latin typeface="Calibri" panose="020F0502020204030204" pitchFamily="34" charset="0"/>
                          <a:ea typeface="+mn-ea"/>
                          <a:cs typeface="+mn-cs"/>
                        </a:rPr>
                        <a:t>Closed (Q1 2026)</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kern="1200" dirty="0">
                          <a:solidFill>
                            <a:srgbClr val="000000"/>
                          </a:solidFill>
                          <a:effectLst/>
                          <a:latin typeface="Calibri" panose="020F0502020204030204" pitchFamily="34" charset="0"/>
                          <a:ea typeface="+mn-ea"/>
                          <a:cs typeface="+mn-cs"/>
                        </a:rPr>
                        <a:t>Closed after target date</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kern="1200" dirty="0">
                          <a:solidFill>
                            <a:srgbClr val="000000"/>
                          </a:solidFill>
                          <a:effectLst/>
                          <a:latin typeface="Calibri" panose="020F0502020204030204" pitchFamily="34" charset="0"/>
                          <a:ea typeface="+mn-ea"/>
                          <a:cs typeface="+mn-cs"/>
                        </a:rPr>
                        <a:t>Closed after extension</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3701969659"/>
                  </a:ext>
                </a:extLst>
              </a:tr>
              <a:tr h="300469">
                <a:tc>
                  <a:txBody>
                    <a:bodyPr/>
                    <a:lstStyle>
                      <a:lvl1pPr marL="0" algn="l" defTabSz="914377" rtl="0" eaLnBrk="1" latinLnBrk="0" hangingPunct="1">
                        <a:defRPr sz="1800" kern="1200">
                          <a:solidFill>
                            <a:schemeClr val="tx1"/>
                          </a:solidFill>
                          <a:latin typeface="Corbel" panose="020B0503020204020204"/>
                        </a:defRPr>
                      </a:lvl1pPr>
                      <a:lvl2pPr marL="457189" algn="l" defTabSz="914377" rtl="0" eaLnBrk="1" latinLnBrk="0" hangingPunct="1">
                        <a:defRPr sz="1800" kern="1200">
                          <a:solidFill>
                            <a:schemeClr val="tx1"/>
                          </a:solidFill>
                          <a:latin typeface="Corbel" panose="020B0503020204020204"/>
                        </a:defRPr>
                      </a:lvl2pPr>
                      <a:lvl3pPr marL="914377" algn="l" defTabSz="914377" rtl="0" eaLnBrk="1" latinLnBrk="0" hangingPunct="1">
                        <a:defRPr sz="1800" kern="1200">
                          <a:solidFill>
                            <a:schemeClr val="tx1"/>
                          </a:solidFill>
                          <a:latin typeface="Corbel" panose="020B0503020204020204"/>
                        </a:defRPr>
                      </a:lvl3pPr>
                      <a:lvl4pPr marL="1371566" algn="l" defTabSz="914377" rtl="0" eaLnBrk="1" latinLnBrk="0" hangingPunct="1">
                        <a:defRPr sz="1800" kern="1200">
                          <a:solidFill>
                            <a:schemeClr val="tx1"/>
                          </a:solidFill>
                          <a:latin typeface="Corbel" panose="020B0503020204020204"/>
                        </a:defRPr>
                      </a:lvl4pPr>
                      <a:lvl5pPr marL="1828754" algn="l" defTabSz="914377" rtl="0" eaLnBrk="1" latinLnBrk="0" hangingPunct="1">
                        <a:defRPr sz="1800" kern="1200">
                          <a:solidFill>
                            <a:schemeClr val="tx1"/>
                          </a:solidFill>
                          <a:latin typeface="Corbel" panose="020B0503020204020204"/>
                        </a:defRPr>
                      </a:lvl5pPr>
                      <a:lvl6pPr marL="2285943" algn="l" defTabSz="914377" rtl="0" eaLnBrk="1" latinLnBrk="0" hangingPunct="1">
                        <a:defRPr sz="1800" kern="1200">
                          <a:solidFill>
                            <a:schemeClr val="tx1"/>
                          </a:solidFill>
                          <a:latin typeface="Corbel" panose="020B0503020204020204"/>
                        </a:defRPr>
                      </a:lvl6pPr>
                      <a:lvl7pPr marL="2743131" algn="l" defTabSz="914377" rtl="0" eaLnBrk="1" latinLnBrk="0" hangingPunct="1">
                        <a:defRPr sz="1800" kern="1200">
                          <a:solidFill>
                            <a:schemeClr val="tx1"/>
                          </a:solidFill>
                          <a:latin typeface="Corbel" panose="020B0503020204020204"/>
                        </a:defRPr>
                      </a:lvl7pPr>
                      <a:lvl8pPr marL="3200320" algn="l" defTabSz="914377" rtl="0" eaLnBrk="1" latinLnBrk="0" hangingPunct="1">
                        <a:defRPr sz="1800" kern="1200">
                          <a:solidFill>
                            <a:schemeClr val="tx1"/>
                          </a:solidFill>
                          <a:latin typeface="Corbel" panose="020B0503020204020204"/>
                        </a:defRPr>
                      </a:lvl8pPr>
                      <a:lvl9pPr marL="3657509" algn="l" defTabSz="914377" rtl="0" eaLnBrk="1" latinLnBrk="0" hangingPunct="1">
                        <a:defRPr sz="1800" kern="1200">
                          <a:solidFill>
                            <a:schemeClr val="tx1"/>
                          </a:solidFill>
                          <a:latin typeface="Corbel" panose="020B0503020204020204"/>
                        </a:defRPr>
                      </a:lvl9pPr>
                    </a:lstStyle>
                    <a:p>
                      <a:pPr marL="0" algn="ctr" defTabSz="914400" rtl="0" eaLnBrk="1" fontAlgn="ctr" latinLnBrk="0" hangingPunct="1"/>
                      <a:r>
                        <a:rPr lang="en-GB" sz="1800" b="0" i="0" u="none" strike="noStrike" kern="1200" dirty="0">
                          <a:solidFill>
                            <a:srgbClr val="000000"/>
                          </a:solidFill>
                          <a:effectLst/>
                          <a:latin typeface="Calibri" panose="020F0502020204030204" pitchFamily="34" charset="0"/>
                          <a:ea typeface="+mn-ea"/>
                          <a:cs typeface="+mn-cs"/>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marL="0" algn="ctr" defTabSz="914400" rtl="0" eaLnBrk="1" fontAlgn="ctr" latinLnBrk="0" hangingPunct="1"/>
                      <a:r>
                        <a:rPr lang="en-GB" sz="1800" b="0" i="0" u="none" strike="noStrike" kern="1200" dirty="0">
                          <a:solidFill>
                            <a:srgbClr val="000000"/>
                          </a:solidFill>
                          <a:effectLst/>
                          <a:latin typeface="Calibri" panose="020F0502020204030204" pitchFamily="34" charset="0"/>
                          <a:ea typeface="+mn-ea"/>
                          <a:cs typeface="+mn-cs"/>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marL="0" algn="ctr" defTabSz="914400" rtl="0" eaLnBrk="1" fontAlgn="ctr" latinLnBrk="0" hangingPunct="1"/>
                      <a:r>
                        <a:rPr lang="en-GB" sz="1800" b="0" i="0" u="none" strike="noStrike" kern="1200" dirty="0">
                          <a:solidFill>
                            <a:srgbClr val="000000"/>
                          </a:solidFill>
                          <a:effectLst/>
                          <a:latin typeface="Calibri" panose="020F0502020204030204" pitchFamily="34" charset="0"/>
                          <a:ea typeface="+mn-ea"/>
                          <a:cs typeface="+mn-cs"/>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marL="0" algn="ctr" defTabSz="914400" rtl="0" eaLnBrk="1" fontAlgn="ctr" latinLnBrk="0" hangingPunct="1"/>
                      <a:r>
                        <a:rPr lang="en-GB" sz="1800" b="0" i="0" u="none" strike="noStrike" kern="1200" dirty="0">
                          <a:solidFill>
                            <a:srgbClr val="000000"/>
                          </a:solidFill>
                          <a:effectLst/>
                          <a:latin typeface="Calibri" panose="020F0502020204030204" pitchFamily="34" charset="0"/>
                          <a:ea typeface="+mn-ea"/>
                          <a:cs typeface="+mn-cs"/>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GB" sz="18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GB" sz="18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074620987"/>
                  </a:ext>
                </a:extLst>
              </a:tr>
            </a:tbl>
          </a:graphicData>
        </a:graphic>
      </p:graphicFrame>
      <p:sp>
        <p:nvSpPr>
          <p:cNvPr id="3" name="Rectangle 2">
            <a:extLst>
              <a:ext uri="{FF2B5EF4-FFF2-40B4-BE49-F238E27FC236}">
                <a16:creationId xmlns:a16="http://schemas.microsoft.com/office/drawing/2014/main" id="{BD112115-9B1B-F5B8-5AAA-FF4155D9360D}"/>
              </a:ext>
            </a:extLst>
          </p:cNvPr>
          <p:cNvSpPr/>
          <p:nvPr/>
        </p:nvSpPr>
        <p:spPr>
          <a:xfrm>
            <a:off x="-113348" y="224912"/>
            <a:ext cx="988219" cy="6302478"/>
          </a:xfrm>
          <a:prstGeom prst="rect">
            <a:avLst/>
          </a:prstGeom>
          <a:noFill/>
        </p:spPr>
        <p:txBody>
          <a:bodyPr vert="wordArtVert" wrap="square" lIns="91440" tIns="45720" rIns="91440" bIns="45720">
            <a:spAutoFit/>
          </a:bodyPr>
          <a:lstStyle/>
          <a:p>
            <a:pPr algn="ctr"/>
            <a:r>
              <a:rPr lang="en-US" sz="4400" b="1" cap="none" spc="0" dirty="0">
                <a:ln w="0"/>
                <a:solidFill>
                  <a:schemeClr val="tx1"/>
                </a:solidFill>
                <a:effectLst>
                  <a:outerShdw blurRad="38100" dist="38100" dir="2700000" algn="tl">
                    <a:srgbClr val="000000">
                      <a:alpha val="43137"/>
                    </a:srgbClr>
                  </a:outerShdw>
                </a:effectLst>
                <a:latin typeface="+mj-lt"/>
              </a:rPr>
              <a:t>OOT/OOS</a:t>
            </a:r>
          </a:p>
        </p:txBody>
      </p:sp>
      <p:graphicFrame>
        <p:nvGraphicFramePr>
          <p:cNvPr id="8" name="Table 7">
            <a:extLst>
              <a:ext uri="{FF2B5EF4-FFF2-40B4-BE49-F238E27FC236}">
                <a16:creationId xmlns:a16="http://schemas.microsoft.com/office/drawing/2014/main" id="{E5D91CF1-5C3B-68C9-57F8-0CD549689C6F}"/>
              </a:ext>
            </a:extLst>
          </p:cNvPr>
          <p:cNvGraphicFramePr>
            <a:graphicFrameLocks noGrp="1"/>
          </p:cNvGraphicFramePr>
          <p:nvPr>
            <p:extLst>
              <p:ext uri="{D42A27DB-BD31-4B8C-83A1-F6EECF244321}">
                <p14:modId xmlns:p14="http://schemas.microsoft.com/office/powerpoint/2010/main" val="402353620"/>
              </p:ext>
            </p:extLst>
          </p:nvPr>
        </p:nvGraphicFramePr>
        <p:xfrm>
          <a:off x="719329" y="4552277"/>
          <a:ext cx="11470220" cy="2305723"/>
        </p:xfrm>
        <a:graphic>
          <a:graphicData uri="http://schemas.openxmlformats.org/drawingml/2006/table">
            <a:tbl>
              <a:tblPr firstCol="1" bandRow="1">
                <a:tableStyleId>{E8034E78-7F5D-4C2E-B375-FC64B27BC917}</a:tableStyleId>
              </a:tblPr>
              <a:tblGrid>
                <a:gridCol w="3347062">
                  <a:extLst>
                    <a:ext uri="{9D8B030D-6E8A-4147-A177-3AD203B41FA5}">
                      <a16:colId xmlns:a16="http://schemas.microsoft.com/office/drawing/2014/main" val="1809972027"/>
                    </a:ext>
                  </a:extLst>
                </a:gridCol>
                <a:gridCol w="8123158">
                  <a:extLst>
                    <a:ext uri="{9D8B030D-6E8A-4147-A177-3AD203B41FA5}">
                      <a16:colId xmlns:a16="http://schemas.microsoft.com/office/drawing/2014/main" val="2130275747"/>
                    </a:ext>
                  </a:extLst>
                </a:gridCol>
              </a:tblGrid>
              <a:tr h="502024">
                <a:tc>
                  <a:txBody>
                    <a:bodyPr/>
                    <a:lstStyle/>
                    <a:p>
                      <a:pPr algn="ctr"/>
                      <a:r>
                        <a:rPr lang="en-GB" dirty="0"/>
                        <a:t>Trend Analysis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r>
                        <a:rPr lang="en-GB" sz="1600" dirty="0"/>
                        <a:t>No recurring OOS/OOT identified</a:t>
                      </a:r>
                    </a:p>
                    <a:p>
                      <a:r>
                        <a:rPr lang="en-GB" sz="1600" dirty="0"/>
                        <a:t>No systemic analytical performance concerns identified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3727619552"/>
                  </a:ext>
                </a:extLst>
              </a:tr>
              <a:tr h="1147483">
                <a:tc>
                  <a:txBody>
                    <a:bodyPr/>
                    <a:lstStyle/>
                    <a:p>
                      <a:pPr algn="ctr"/>
                      <a:r>
                        <a:rPr lang="en-GB" dirty="0"/>
                        <a:t>OOT Specifics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dirty="0"/>
                        <a:t>Stability OOT: </a:t>
                      </a:r>
                      <a:r>
                        <a:rPr lang="en-GB" sz="1600" dirty="0"/>
                        <a:t>One stability OOT identified (Diltiazem 2% Cream); trending monitored with no confirmed OOS at T12, awaiting T18 for final timepoint confirmation. </a:t>
                      </a:r>
                    </a:p>
                    <a:p>
                      <a:r>
                        <a:rPr lang="en-GB" sz="1600" b="1" dirty="0"/>
                        <a:t>Finished Product OOT: </a:t>
                      </a:r>
                      <a:r>
                        <a:rPr lang="en-GB" sz="1600" dirty="0"/>
                        <a:t>0</a:t>
                      </a:r>
                    </a:p>
                    <a:p>
                      <a:r>
                        <a:rPr lang="en-GB" sz="1600" b="1" dirty="0"/>
                        <a:t>Specification shifts detected</a:t>
                      </a:r>
                      <a:r>
                        <a:rPr lang="en-GB" sz="1600" dirty="0"/>
                        <a:t>: No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4001136153"/>
                  </a:ext>
                </a:extLst>
              </a:tr>
              <a:tr h="502024">
                <a:tc>
                  <a:txBody>
                    <a:bodyPr/>
                    <a:lstStyle/>
                    <a:p>
                      <a:pPr algn="ctr"/>
                      <a:r>
                        <a:rPr lang="en-GB" dirty="0"/>
                        <a:t>Regulatory Impact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r>
                        <a:rPr lang="en-GB" sz="1600" dirty="0"/>
                        <a:t>No regulatory notification required from any OOS investigations. No OOS results impacted released products.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1638246583"/>
                  </a:ext>
                </a:extLst>
              </a:tr>
            </a:tbl>
          </a:graphicData>
        </a:graphic>
      </p:graphicFrame>
      <p:sp>
        <p:nvSpPr>
          <p:cNvPr id="4" name="TextBox 3">
            <a:extLst>
              <a:ext uri="{FF2B5EF4-FFF2-40B4-BE49-F238E27FC236}">
                <a16:creationId xmlns:a16="http://schemas.microsoft.com/office/drawing/2014/main" id="{8690AB54-CE2F-D179-3A13-22DDD7DCB416}"/>
              </a:ext>
            </a:extLst>
          </p:cNvPr>
          <p:cNvSpPr txBox="1"/>
          <p:nvPr/>
        </p:nvSpPr>
        <p:spPr>
          <a:xfrm>
            <a:off x="4074464" y="3989053"/>
            <a:ext cx="8117536" cy="523220"/>
          </a:xfrm>
          <a:prstGeom prst="rect">
            <a:avLst/>
          </a:prstGeom>
          <a:noFill/>
        </p:spPr>
        <p:txBody>
          <a:bodyPr wrap="square">
            <a:spAutoFit/>
          </a:bodyPr>
          <a:lstStyle/>
          <a:p>
            <a:r>
              <a:rPr lang="en-GB" sz="2700" b="1" dirty="0"/>
              <a:t>PERFORMANCE AND PRODUCT QUALITY ANALYSIS</a:t>
            </a:r>
            <a:endParaRPr lang="en-GB" sz="2700" dirty="0"/>
          </a:p>
        </p:txBody>
      </p:sp>
    </p:spTree>
    <p:extLst>
      <p:ext uri="{BB962C8B-B14F-4D97-AF65-F5344CB8AC3E}">
        <p14:creationId xmlns:p14="http://schemas.microsoft.com/office/powerpoint/2010/main" val="1399378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ADAD208-2E23-EE19-BADF-9B32C2642B5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972E2AA3-7F8D-756E-AA10-98835BA4E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1" name="Rectangle 10">
            <a:extLst>
              <a:ext uri="{FF2B5EF4-FFF2-40B4-BE49-F238E27FC236}">
                <a16:creationId xmlns:a16="http://schemas.microsoft.com/office/drawing/2014/main" id="{21BA5739-CAD2-2740-A3C5-6822D4D10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3" name="Rectangle 12">
            <a:extLst>
              <a:ext uri="{FF2B5EF4-FFF2-40B4-BE49-F238E27FC236}">
                <a16:creationId xmlns:a16="http://schemas.microsoft.com/office/drawing/2014/main" id="{A0B7CEEF-2DE1-6C2E-D9C9-50936832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A5D028"/>
              </a:solidFill>
              <a:effectLst/>
              <a:uLnTx/>
              <a:uFillTx/>
              <a:latin typeface="Corbel" panose="020B0503020204020204"/>
              <a:ea typeface="+mn-ea"/>
              <a:cs typeface="+mn-cs"/>
            </a:endParaRPr>
          </a:p>
        </p:txBody>
      </p:sp>
      <p:sp>
        <p:nvSpPr>
          <p:cNvPr id="8" name="Title 1">
            <a:extLst>
              <a:ext uri="{FF2B5EF4-FFF2-40B4-BE49-F238E27FC236}">
                <a16:creationId xmlns:a16="http://schemas.microsoft.com/office/drawing/2014/main" id="{4FF23812-C6C5-E2F2-5770-4BCC48BF6DBA}"/>
              </a:ext>
            </a:extLst>
          </p:cNvPr>
          <p:cNvSpPr>
            <a:spLocks noGrp="1"/>
          </p:cNvSpPr>
          <p:nvPr>
            <p:ph type="title"/>
          </p:nvPr>
        </p:nvSpPr>
        <p:spPr>
          <a:xfrm>
            <a:off x="4059080" y="68824"/>
            <a:ext cx="8132919" cy="312177"/>
          </a:xfrm>
        </p:spPr>
        <p:txBody>
          <a:bodyPr vert="horz" lIns="91440" tIns="45720" rIns="91440" bIns="45720" rtlCol="0" anchor="ctr">
            <a:noAutofit/>
          </a:bodyPr>
          <a:lstStyle/>
          <a:p>
            <a:pPr algn="ctr">
              <a:lnSpc>
                <a:spcPct val="80000"/>
              </a:lnSpc>
            </a:pPr>
            <a:r>
              <a:rPr lang="en-US" sz="2400" b="1" spc="150" dirty="0">
                <a:solidFill>
                  <a:schemeClr val="tx2"/>
                </a:solidFill>
              </a:rPr>
              <a:t>TREND GRAPHS</a:t>
            </a:r>
          </a:p>
        </p:txBody>
      </p:sp>
      <p:sp>
        <p:nvSpPr>
          <p:cNvPr id="14" name="Rectangle 13">
            <a:extLst>
              <a:ext uri="{FF2B5EF4-FFF2-40B4-BE49-F238E27FC236}">
                <a16:creationId xmlns:a16="http://schemas.microsoft.com/office/drawing/2014/main" id="{91E3BF15-E3BC-AEC0-8A1A-B20EE2A11FA1}"/>
              </a:ext>
            </a:extLst>
          </p:cNvPr>
          <p:cNvSpPr/>
          <p:nvPr/>
        </p:nvSpPr>
        <p:spPr>
          <a:xfrm>
            <a:off x="-61380" y="-2"/>
            <a:ext cx="842090" cy="6847953"/>
          </a:xfrm>
          <a:prstGeom prst="rect">
            <a:avLst/>
          </a:prstGeom>
          <a:noFill/>
        </p:spPr>
        <p:txBody>
          <a:bodyPr vert="wordArtVert"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w="0"/>
                <a:solidFill>
                  <a:srgbClr val="FFFFFF"/>
                </a:solidFill>
                <a:effectLst>
                  <a:outerShdw blurRad="38100" dist="38100" dir="2700000" algn="tl">
                    <a:srgbClr val="000000">
                      <a:alpha val="43137"/>
                    </a:srgbClr>
                  </a:outerShdw>
                </a:effectLst>
                <a:uLnTx/>
                <a:uFillTx/>
                <a:latin typeface="Corbel" panose="020B0503020204020204"/>
                <a:ea typeface="+mn-ea"/>
                <a:cs typeface="+mn-cs"/>
              </a:rPr>
              <a:t>CAPAs</a:t>
            </a:r>
          </a:p>
        </p:txBody>
      </p:sp>
      <p:sp>
        <p:nvSpPr>
          <p:cNvPr id="15" name="Title 1">
            <a:extLst>
              <a:ext uri="{FF2B5EF4-FFF2-40B4-BE49-F238E27FC236}">
                <a16:creationId xmlns:a16="http://schemas.microsoft.com/office/drawing/2014/main" id="{D2C07B6E-B6C2-0F1F-E5CE-B60013797848}"/>
              </a:ext>
            </a:extLst>
          </p:cNvPr>
          <p:cNvSpPr txBox="1">
            <a:spLocks/>
          </p:cNvSpPr>
          <p:nvPr/>
        </p:nvSpPr>
        <p:spPr>
          <a:xfrm>
            <a:off x="719329" y="0"/>
            <a:ext cx="3339751" cy="68825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pPr marL="0" marR="0" lvl="0" indent="0" algn="ctr" defTabSz="914400" rtl="0" eaLnBrk="1" fontAlgn="auto" latinLnBrk="0" hangingPunct="1">
              <a:lnSpc>
                <a:spcPct val="85000"/>
              </a:lnSpc>
              <a:spcBef>
                <a:spcPct val="0"/>
              </a:spcBef>
              <a:spcAft>
                <a:spcPts val="0"/>
              </a:spcAft>
              <a:buClrTx/>
              <a:buSzTx/>
              <a:buFontTx/>
              <a:buNone/>
              <a:tabLst/>
              <a:defRPr/>
            </a:pPr>
            <a:r>
              <a:rPr kumimoji="0" lang="en-GB" sz="2800" b="1" i="0" u="none" strike="noStrike" kern="1200" cap="all" spc="0" normalizeH="0" baseline="0" noProof="0" dirty="0">
                <a:ln>
                  <a:noFill/>
                </a:ln>
                <a:solidFill>
                  <a:srgbClr val="FFFFFF"/>
                </a:solidFill>
                <a:effectLst/>
                <a:uLnTx/>
                <a:uFillTx/>
                <a:latin typeface="Corbel" panose="020B0503020204020204"/>
                <a:ea typeface="+mj-ea"/>
                <a:cs typeface="+mj-cs"/>
              </a:rPr>
              <a:t>KPI Summary</a:t>
            </a:r>
          </a:p>
        </p:txBody>
      </p:sp>
      <p:graphicFrame>
        <p:nvGraphicFramePr>
          <p:cNvPr id="16" name="Content Placeholder 3">
            <a:extLst>
              <a:ext uri="{FF2B5EF4-FFF2-40B4-BE49-F238E27FC236}">
                <a16:creationId xmlns:a16="http://schemas.microsoft.com/office/drawing/2014/main" id="{E4EAFD92-ED3B-8CEB-BDEE-DE08EF8745FC}"/>
              </a:ext>
            </a:extLst>
          </p:cNvPr>
          <p:cNvGraphicFramePr>
            <a:graphicFrameLocks noGrp="1"/>
          </p:cNvGraphicFramePr>
          <p:nvPr>
            <p:ph idx="1"/>
            <p:extLst>
              <p:ext uri="{D42A27DB-BD31-4B8C-83A1-F6EECF244321}">
                <p14:modId xmlns:p14="http://schemas.microsoft.com/office/powerpoint/2010/main" val="1779306516"/>
              </p:ext>
            </p:extLst>
          </p:nvPr>
        </p:nvGraphicFramePr>
        <p:xfrm>
          <a:off x="820038" y="688258"/>
          <a:ext cx="3127336" cy="3434834"/>
        </p:xfrm>
        <a:graphic>
          <a:graphicData uri="http://schemas.openxmlformats.org/drawingml/2006/table">
            <a:tbl>
              <a:tblPr firstRow="1" firstCol="1">
                <a:tableStyleId>{073A0DAA-6AF3-43AB-8588-CEC1D06C72B9}</a:tableStyleId>
              </a:tblPr>
              <a:tblGrid>
                <a:gridCol w="1367362">
                  <a:extLst>
                    <a:ext uri="{9D8B030D-6E8A-4147-A177-3AD203B41FA5}">
                      <a16:colId xmlns:a16="http://schemas.microsoft.com/office/drawing/2014/main" val="3746610510"/>
                    </a:ext>
                  </a:extLst>
                </a:gridCol>
                <a:gridCol w="914400">
                  <a:extLst>
                    <a:ext uri="{9D8B030D-6E8A-4147-A177-3AD203B41FA5}">
                      <a16:colId xmlns:a16="http://schemas.microsoft.com/office/drawing/2014/main" val="1245586481"/>
                    </a:ext>
                  </a:extLst>
                </a:gridCol>
                <a:gridCol w="845574">
                  <a:extLst>
                    <a:ext uri="{9D8B030D-6E8A-4147-A177-3AD203B41FA5}">
                      <a16:colId xmlns:a16="http://schemas.microsoft.com/office/drawing/2014/main" val="420243024"/>
                    </a:ext>
                  </a:extLst>
                </a:gridCol>
              </a:tblGrid>
              <a:tr h="857415">
                <a:tc>
                  <a:txBody>
                    <a:bodyPr/>
                    <a:lstStyle/>
                    <a:p>
                      <a:pPr algn="ctr"/>
                      <a:r>
                        <a:rPr lang="en-GB" sz="1800" b="1" kern="1200" dirty="0">
                          <a:solidFill>
                            <a:schemeClr val="lt1"/>
                          </a:solidFill>
                          <a:latin typeface="+mn-lt"/>
                          <a:ea typeface="+mn-ea"/>
                          <a:cs typeface="+mn-cs"/>
                        </a:rPr>
                        <a:t>KPI </a:t>
                      </a:r>
                    </a:p>
                  </a:txBody>
                  <a:tcPr anchor="ctr"/>
                </a:tc>
                <a:tc>
                  <a:txBody>
                    <a:bodyPr/>
                    <a:lstStyle/>
                    <a:p>
                      <a:pPr algn="ctr"/>
                      <a:r>
                        <a:rPr lang="en-GB" sz="1800" b="1" kern="1200" dirty="0">
                          <a:solidFill>
                            <a:schemeClr val="lt1"/>
                          </a:solidFill>
                          <a:latin typeface="+mn-lt"/>
                          <a:ea typeface="+mn-ea"/>
                          <a:cs typeface="+mn-cs"/>
                        </a:rPr>
                        <a:t>Q4 (2025)</a:t>
                      </a:r>
                    </a:p>
                  </a:txBody>
                  <a:tcPr anchor="ctr"/>
                </a:tc>
                <a:tc>
                  <a:txBody>
                    <a:bodyPr/>
                    <a:lstStyle/>
                    <a:p>
                      <a:pPr algn="ctr"/>
                      <a:r>
                        <a:rPr lang="en-GB" sz="1800" b="1" kern="1200" dirty="0">
                          <a:solidFill>
                            <a:schemeClr val="lt1"/>
                          </a:solidFill>
                          <a:latin typeface="+mn-lt"/>
                          <a:ea typeface="+mn-ea"/>
                          <a:cs typeface="+mn-cs"/>
                        </a:rPr>
                        <a:t>Q1 (2026)</a:t>
                      </a:r>
                    </a:p>
                  </a:txBody>
                  <a:tcPr anchor="ctr"/>
                </a:tc>
                <a:extLst>
                  <a:ext uri="{0D108BD9-81ED-4DB2-BD59-A6C34878D82A}">
                    <a16:rowId xmlns:a16="http://schemas.microsoft.com/office/drawing/2014/main" val="2811724974"/>
                  </a:ext>
                </a:extLst>
              </a:tr>
              <a:tr h="689294">
                <a:tc>
                  <a:txBody>
                    <a:bodyPr/>
                    <a:lstStyle/>
                    <a:p>
                      <a:pPr algn="ctr"/>
                      <a:r>
                        <a:rPr lang="en-GB" sz="1400" b="1" dirty="0"/>
                        <a:t>Total raised this quarter</a:t>
                      </a:r>
                    </a:p>
                  </a:txBody>
                  <a:tcPr anchor="ctr"/>
                </a:tc>
                <a:tc>
                  <a:txBody>
                    <a:bodyPr/>
                    <a:lstStyle/>
                    <a:p>
                      <a:pPr algn="ctr"/>
                      <a:r>
                        <a:rPr lang="en-GB" sz="1800" b="0" dirty="0"/>
                        <a:t>7</a:t>
                      </a:r>
                    </a:p>
                  </a:txBody>
                  <a:tcPr anchor="ctr"/>
                </a:tc>
                <a:tc>
                  <a:txBody>
                    <a:bodyPr/>
                    <a:lstStyle/>
                    <a:p>
                      <a:pPr algn="ctr"/>
                      <a:r>
                        <a:rPr lang="en-GB" sz="1800" b="0" dirty="0"/>
                        <a:t>10</a:t>
                      </a:r>
                    </a:p>
                  </a:txBody>
                  <a:tcPr anchor="ctr"/>
                </a:tc>
                <a:extLst>
                  <a:ext uri="{0D108BD9-81ED-4DB2-BD59-A6C34878D82A}">
                    <a16:rowId xmlns:a16="http://schemas.microsoft.com/office/drawing/2014/main" val="893295017"/>
                  </a:ext>
                </a:extLst>
              </a:tr>
              <a:tr h="521173">
                <a:tc>
                  <a:txBody>
                    <a:bodyPr/>
                    <a:lstStyle/>
                    <a:p>
                      <a:pPr algn="ctr"/>
                      <a:r>
                        <a:rPr lang="en-GB" sz="1400" b="1" dirty="0"/>
                        <a:t>Total closed this quarter</a:t>
                      </a:r>
                    </a:p>
                  </a:txBody>
                  <a:tcPr anchor="ctr"/>
                </a:tc>
                <a:tc>
                  <a:txBody>
                    <a:bodyPr/>
                    <a:lstStyle/>
                    <a:p>
                      <a:pPr algn="ctr"/>
                      <a:r>
                        <a:rPr lang="en-GB" sz="1800" b="0" dirty="0"/>
                        <a:t>10</a:t>
                      </a:r>
                    </a:p>
                  </a:txBody>
                  <a:tcPr anchor="ctr"/>
                </a:tc>
                <a:tc>
                  <a:txBody>
                    <a:bodyPr/>
                    <a:lstStyle/>
                    <a:p>
                      <a:pPr algn="ctr"/>
                      <a:r>
                        <a:rPr lang="en-GB" sz="1800" b="0" dirty="0"/>
                        <a:t>9</a:t>
                      </a:r>
                    </a:p>
                  </a:txBody>
                  <a:tcPr anchor="ctr"/>
                </a:tc>
                <a:extLst>
                  <a:ext uri="{0D108BD9-81ED-4DB2-BD59-A6C34878D82A}">
                    <a16:rowId xmlns:a16="http://schemas.microsoft.com/office/drawing/2014/main" val="1846249938"/>
                  </a:ext>
                </a:extLst>
              </a:tr>
              <a:tr h="683476">
                <a:tc>
                  <a:txBody>
                    <a:bodyPr/>
                    <a:lstStyle/>
                    <a:p>
                      <a:pPr algn="ctr"/>
                      <a:r>
                        <a:rPr lang="en-GB" sz="1400" b="1" dirty="0"/>
                        <a:t>Major/Critical raised</a:t>
                      </a:r>
                    </a:p>
                  </a:txBody>
                  <a:tcPr anchor="ctr"/>
                </a:tc>
                <a:tc>
                  <a:txBody>
                    <a:bodyPr/>
                    <a:lstStyle/>
                    <a:p>
                      <a:pPr algn="ctr"/>
                      <a:r>
                        <a:rPr lang="en-GB" sz="1800" b="0" dirty="0"/>
                        <a:t>4</a:t>
                      </a:r>
                    </a:p>
                  </a:txBody>
                  <a:tcPr anchor="ctr"/>
                </a:tc>
                <a:tc>
                  <a:txBody>
                    <a:bodyPr/>
                    <a:lstStyle/>
                    <a:p>
                      <a:pPr algn="ctr"/>
                      <a:r>
                        <a:rPr lang="en-GB" sz="1800" b="0" dirty="0"/>
                        <a:t>3</a:t>
                      </a:r>
                    </a:p>
                  </a:txBody>
                  <a:tcPr anchor="ctr"/>
                </a:tc>
                <a:extLst>
                  <a:ext uri="{0D108BD9-81ED-4DB2-BD59-A6C34878D82A}">
                    <a16:rowId xmlns:a16="http://schemas.microsoft.com/office/drawing/2014/main" val="4060241798"/>
                  </a:ext>
                </a:extLst>
              </a:tr>
              <a:tr h="683476">
                <a:tc>
                  <a:txBody>
                    <a:bodyPr/>
                    <a:lstStyle/>
                    <a:p>
                      <a:pPr algn="ctr"/>
                      <a:r>
                        <a:rPr lang="en-GB" sz="1400" b="1" dirty="0"/>
                        <a:t>Major/Critical closed</a:t>
                      </a:r>
                    </a:p>
                  </a:txBody>
                  <a:tcPr anchor="ctr"/>
                </a:tc>
                <a:tc>
                  <a:txBody>
                    <a:bodyPr/>
                    <a:lstStyle/>
                    <a:p>
                      <a:pPr algn="ctr"/>
                      <a:r>
                        <a:rPr lang="en-GB" sz="1800" b="0" dirty="0"/>
                        <a:t>6</a:t>
                      </a:r>
                    </a:p>
                  </a:txBody>
                  <a:tcPr anchor="ctr"/>
                </a:tc>
                <a:tc>
                  <a:txBody>
                    <a:bodyPr/>
                    <a:lstStyle/>
                    <a:p>
                      <a:pPr algn="ctr"/>
                      <a:r>
                        <a:rPr lang="en-GB" sz="1800" b="0" dirty="0"/>
                        <a:t>5</a:t>
                      </a:r>
                    </a:p>
                  </a:txBody>
                  <a:tcPr anchor="ctr"/>
                </a:tc>
                <a:extLst>
                  <a:ext uri="{0D108BD9-81ED-4DB2-BD59-A6C34878D82A}">
                    <a16:rowId xmlns:a16="http://schemas.microsoft.com/office/drawing/2014/main" val="2537027104"/>
                  </a:ext>
                </a:extLst>
              </a:tr>
            </a:tbl>
          </a:graphicData>
        </a:graphic>
      </p:graphicFrame>
      <p:sp>
        <p:nvSpPr>
          <p:cNvPr id="2" name="Title 1">
            <a:extLst>
              <a:ext uri="{FF2B5EF4-FFF2-40B4-BE49-F238E27FC236}">
                <a16:creationId xmlns:a16="http://schemas.microsoft.com/office/drawing/2014/main" id="{1936FAF6-109E-F7D4-9991-69AB80E51DC5}"/>
              </a:ext>
            </a:extLst>
          </p:cNvPr>
          <p:cNvSpPr txBox="1">
            <a:spLocks/>
          </p:cNvSpPr>
          <p:nvPr/>
        </p:nvSpPr>
        <p:spPr>
          <a:xfrm>
            <a:off x="713830" y="4559709"/>
            <a:ext cx="3339751" cy="1418303"/>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pPr marL="0" marR="0" lvl="0" indent="0" algn="ctr" defTabSz="914400" rtl="0" eaLnBrk="1" fontAlgn="auto" latinLnBrk="0" hangingPunct="1">
              <a:lnSpc>
                <a:spcPct val="85000"/>
              </a:lnSpc>
              <a:spcBef>
                <a:spcPct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Corbel" panose="020B0503020204020204"/>
                <a:ea typeface="+mj-ea"/>
                <a:cs typeface="+mj-cs"/>
              </a:rPr>
              <a:t>KPI &amp; Trend Assessment: </a:t>
            </a:r>
          </a:p>
          <a:p>
            <a:pPr marL="0" marR="0" lvl="0" indent="0" algn="ctr" defTabSz="914400" rtl="0" eaLnBrk="1" fontAlgn="auto" latinLnBrk="0" hangingPunct="1">
              <a:lnSpc>
                <a:spcPct val="85000"/>
              </a:lnSpc>
              <a:spcBef>
                <a:spcPct val="0"/>
              </a:spcBef>
              <a:spcAft>
                <a:spcPts val="0"/>
              </a:spcAft>
              <a:buClrTx/>
              <a:buSzTx/>
              <a:buFontTx/>
              <a:buNone/>
              <a:tabLst/>
              <a:defRPr/>
            </a:pPr>
            <a:endParaRPr kumimoji="0" lang="en-GB" sz="2800" b="1" i="0" u="none" strike="noStrike" kern="1200" cap="none" spc="0" normalizeH="0" baseline="0" noProof="0" dirty="0">
              <a:ln>
                <a:noFill/>
              </a:ln>
              <a:solidFill>
                <a:srgbClr val="FFFFFF"/>
              </a:solidFill>
              <a:effectLst/>
              <a:uLnTx/>
              <a:uFillTx/>
              <a:latin typeface="Corbel" panose="020B0503020204020204"/>
              <a:ea typeface="+mj-ea"/>
              <a:cs typeface="+mj-cs"/>
            </a:endParaRPr>
          </a:p>
          <a:p>
            <a:pPr algn="ctr"/>
            <a:r>
              <a:rPr lang="en-GB" sz="2800" dirty="0"/>
              <a:t>🟠</a:t>
            </a:r>
            <a:r>
              <a:rPr lang="en-GB" sz="2800" cap="none" dirty="0">
                <a:solidFill>
                  <a:schemeClr val="tx1"/>
                </a:solidFill>
              </a:rPr>
              <a:t>- Stable</a:t>
            </a:r>
          </a:p>
        </p:txBody>
      </p:sp>
      <p:graphicFrame>
        <p:nvGraphicFramePr>
          <p:cNvPr id="4" name="Chart 3">
            <a:extLst>
              <a:ext uri="{FF2B5EF4-FFF2-40B4-BE49-F238E27FC236}">
                <a16:creationId xmlns:a16="http://schemas.microsoft.com/office/drawing/2014/main" id="{728BA676-E26A-D8AB-3BA5-3A541B9FA8D9}"/>
              </a:ext>
            </a:extLst>
          </p:cNvPr>
          <p:cNvGraphicFramePr>
            <a:graphicFrameLocks/>
          </p:cNvGraphicFramePr>
          <p:nvPr>
            <p:extLst>
              <p:ext uri="{D42A27DB-BD31-4B8C-83A1-F6EECF244321}">
                <p14:modId xmlns:p14="http://schemas.microsoft.com/office/powerpoint/2010/main" val="1891738448"/>
              </p:ext>
            </p:extLst>
          </p:nvPr>
        </p:nvGraphicFramePr>
        <p:xfrm>
          <a:off x="4053581" y="381001"/>
          <a:ext cx="8138419" cy="374209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Table 4">
            <a:extLst>
              <a:ext uri="{FF2B5EF4-FFF2-40B4-BE49-F238E27FC236}">
                <a16:creationId xmlns:a16="http://schemas.microsoft.com/office/drawing/2014/main" id="{47C04339-BC22-D127-DB2F-0EF2174127C8}"/>
              </a:ext>
            </a:extLst>
          </p:cNvPr>
          <p:cNvGraphicFramePr>
            <a:graphicFrameLocks noGrp="1"/>
          </p:cNvGraphicFramePr>
          <p:nvPr>
            <p:extLst>
              <p:ext uri="{D42A27DB-BD31-4B8C-83A1-F6EECF244321}">
                <p14:modId xmlns:p14="http://schemas.microsoft.com/office/powerpoint/2010/main" val="2548727940"/>
              </p:ext>
            </p:extLst>
          </p:nvPr>
        </p:nvGraphicFramePr>
        <p:xfrm>
          <a:off x="4053580" y="4123090"/>
          <a:ext cx="8138419" cy="2743200"/>
        </p:xfrm>
        <a:graphic>
          <a:graphicData uri="http://schemas.openxmlformats.org/drawingml/2006/table">
            <a:tbl>
              <a:tblPr firstRow="1" firstCol="1">
                <a:tableStyleId>{E8034E78-7F5D-4C2E-B375-FC64B27BC917}</a:tableStyleId>
              </a:tblPr>
              <a:tblGrid>
                <a:gridCol w="4864278">
                  <a:extLst>
                    <a:ext uri="{9D8B030D-6E8A-4147-A177-3AD203B41FA5}">
                      <a16:colId xmlns:a16="http://schemas.microsoft.com/office/drawing/2014/main" val="2132152619"/>
                    </a:ext>
                  </a:extLst>
                </a:gridCol>
                <a:gridCol w="3274141">
                  <a:extLst>
                    <a:ext uri="{9D8B030D-6E8A-4147-A177-3AD203B41FA5}">
                      <a16:colId xmlns:a16="http://schemas.microsoft.com/office/drawing/2014/main" val="3855580305"/>
                    </a:ext>
                  </a:extLst>
                </a:gridCol>
              </a:tblGrid>
              <a:tr h="317882">
                <a:tc>
                  <a:txBody>
                    <a:bodyPr/>
                    <a:lstStyle/>
                    <a:p>
                      <a:pPr>
                        <a:buNone/>
                      </a:pPr>
                      <a:r>
                        <a:rPr lang="en-GB" sz="2000" dirty="0">
                          <a:latin typeface="+mj-lt"/>
                        </a:rPr>
                        <a:t>Source of All CAPAs </a:t>
                      </a:r>
                      <a:r>
                        <a:rPr lang="en-GB" sz="1200" dirty="0">
                          <a:latin typeface="+mj-lt"/>
                        </a:rPr>
                        <a:t>(Last 12 Months)</a:t>
                      </a:r>
                      <a:endParaRPr lang="en-GB" sz="2000" dirty="0">
                        <a:latin typeface="+mj-lt"/>
                      </a:endParaRPr>
                    </a:p>
                  </a:txBody>
                  <a:tcPr anchor="ctr"/>
                </a:tc>
                <a:tc>
                  <a:txBody>
                    <a:bodyPr/>
                    <a:lstStyle/>
                    <a:p>
                      <a:pPr algn="ctr">
                        <a:buNone/>
                      </a:pPr>
                      <a:r>
                        <a:rPr lang="en-GB" sz="2000" dirty="0">
                          <a:latin typeface="+mj-lt"/>
                        </a:rPr>
                        <a:t>CAPA Quantity raised</a:t>
                      </a:r>
                    </a:p>
                  </a:txBody>
                  <a:tcPr anchor="ctr"/>
                </a:tc>
                <a:extLst>
                  <a:ext uri="{0D108BD9-81ED-4DB2-BD59-A6C34878D82A}">
                    <a16:rowId xmlns:a16="http://schemas.microsoft.com/office/drawing/2014/main" val="2739290318"/>
                  </a:ext>
                </a:extLst>
              </a:tr>
              <a:tr h="244525">
                <a:tc>
                  <a:txBody>
                    <a:bodyPr/>
                    <a:lstStyle/>
                    <a:p>
                      <a:pPr>
                        <a:buNone/>
                      </a:pPr>
                      <a:r>
                        <a:rPr lang="en-GB" sz="1400" dirty="0">
                          <a:solidFill>
                            <a:sysClr val="windowText" lastClr="000000"/>
                          </a:solidFill>
                        </a:rPr>
                        <a:t>Deviations</a:t>
                      </a:r>
                    </a:p>
                  </a:txBody>
                  <a:tcPr anchor="ctr"/>
                </a:tc>
                <a:tc>
                  <a:txBody>
                    <a:bodyPr/>
                    <a:lstStyle/>
                    <a:p>
                      <a:pPr algn="ctr">
                        <a:buNone/>
                      </a:pPr>
                      <a:r>
                        <a:rPr lang="en-GB" sz="1400" b="1" i="0" dirty="0">
                          <a:solidFill>
                            <a:sysClr val="windowText" lastClr="000000"/>
                          </a:solidFill>
                        </a:rPr>
                        <a:t>29</a:t>
                      </a:r>
                    </a:p>
                  </a:txBody>
                  <a:tcPr anchor="ctr"/>
                </a:tc>
                <a:extLst>
                  <a:ext uri="{0D108BD9-81ED-4DB2-BD59-A6C34878D82A}">
                    <a16:rowId xmlns:a16="http://schemas.microsoft.com/office/drawing/2014/main" val="2519643443"/>
                  </a:ext>
                </a:extLst>
              </a:tr>
              <a:tr h="244525">
                <a:tc>
                  <a:txBody>
                    <a:bodyPr/>
                    <a:lstStyle/>
                    <a:p>
                      <a:pPr>
                        <a:buNone/>
                      </a:pPr>
                      <a:r>
                        <a:rPr lang="en-GB" sz="1400" dirty="0">
                          <a:solidFill>
                            <a:sysClr val="windowText" lastClr="000000"/>
                          </a:solidFill>
                        </a:rPr>
                        <a:t>Complaints</a:t>
                      </a:r>
                    </a:p>
                  </a:txBody>
                  <a:tcPr anchor="ctr"/>
                </a:tc>
                <a:tc>
                  <a:txBody>
                    <a:bodyPr/>
                    <a:lstStyle/>
                    <a:p>
                      <a:pPr algn="ctr">
                        <a:buNone/>
                      </a:pPr>
                      <a:r>
                        <a:rPr lang="en-GB" sz="1400" b="1" i="0" dirty="0">
                          <a:solidFill>
                            <a:sysClr val="windowText" lastClr="000000"/>
                          </a:solidFill>
                        </a:rPr>
                        <a:t>2</a:t>
                      </a:r>
                    </a:p>
                  </a:txBody>
                  <a:tcPr anchor="ctr"/>
                </a:tc>
                <a:extLst>
                  <a:ext uri="{0D108BD9-81ED-4DB2-BD59-A6C34878D82A}">
                    <a16:rowId xmlns:a16="http://schemas.microsoft.com/office/drawing/2014/main" val="1027396935"/>
                  </a:ext>
                </a:extLst>
              </a:tr>
              <a:tr h="244525">
                <a:tc>
                  <a:txBody>
                    <a:bodyPr/>
                    <a:lstStyle/>
                    <a:p>
                      <a:pPr>
                        <a:buNone/>
                      </a:pPr>
                      <a:r>
                        <a:rPr lang="en-GB" sz="1400" dirty="0">
                          <a:solidFill>
                            <a:sysClr val="windowText" lastClr="000000"/>
                          </a:solidFill>
                        </a:rPr>
                        <a:t>Audits</a:t>
                      </a:r>
                    </a:p>
                  </a:txBody>
                  <a:tcPr anchor="ctr"/>
                </a:tc>
                <a:tc>
                  <a:txBody>
                    <a:bodyPr/>
                    <a:lstStyle/>
                    <a:p>
                      <a:pPr algn="ctr">
                        <a:buNone/>
                      </a:pPr>
                      <a:r>
                        <a:rPr lang="en-GB" sz="1400" b="1" i="0" dirty="0">
                          <a:solidFill>
                            <a:sysClr val="windowText" lastClr="000000"/>
                          </a:solidFill>
                        </a:rPr>
                        <a:t>7</a:t>
                      </a:r>
                    </a:p>
                  </a:txBody>
                  <a:tcPr anchor="ctr"/>
                </a:tc>
                <a:extLst>
                  <a:ext uri="{0D108BD9-81ED-4DB2-BD59-A6C34878D82A}">
                    <a16:rowId xmlns:a16="http://schemas.microsoft.com/office/drawing/2014/main" val="3656083702"/>
                  </a:ext>
                </a:extLst>
              </a:tr>
              <a:tr h="244525">
                <a:tc>
                  <a:txBody>
                    <a:bodyPr/>
                    <a:lstStyle/>
                    <a:p>
                      <a:pPr>
                        <a:buNone/>
                      </a:pPr>
                      <a:r>
                        <a:rPr lang="en-GB" sz="1400" dirty="0">
                          <a:solidFill>
                            <a:sysClr val="windowText" lastClr="000000"/>
                          </a:solidFill>
                        </a:rPr>
                        <a:t>OOS/OOT</a:t>
                      </a:r>
                    </a:p>
                  </a:txBody>
                  <a:tcPr anchor="ctr"/>
                </a:tc>
                <a:tc>
                  <a:txBody>
                    <a:bodyPr/>
                    <a:lstStyle/>
                    <a:p>
                      <a:pPr algn="ctr">
                        <a:buNone/>
                      </a:pPr>
                      <a:r>
                        <a:rPr lang="en-GB" sz="1400" b="1" i="0" dirty="0">
                          <a:solidFill>
                            <a:sysClr val="windowText" lastClr="000000"/>
                          </a:solidFill>
                        </a:rPr>
                        <a:t>2</a:t>
                      </a:r>
                    </a:p>
                  </a:txBody>
                  <a:tcPr anchor="ctr"/>
                </a:tc>
                <a:extLst>
                  <a:ext uri="{0D108BD9-81ED-4DB2-BD59-A6C34878D82A}">
                    <a16:rowId xmlns:a16="http://schemas.microsoft.com/office/drawing/2014/main" val="1456696578"/>
                  </a:ext>
                </a:extLst>
              </a:tr>
              <a:tr h="384523">
                <a:tc>
                  <a:txBody>
                    <a:bodyPr/>
                    <a:lstStyle/>
                    <a:p>
                      <a:pPr>
                        <a:buNone/>
                      </a:pPr>
                      <a:r>
                        <a:rPr lang="en-GB" sz="1400" dirty="0">
                          <a:solidFill>
                            <a:sysClr val="windowText" lastClr="000000"/>
                          </a:solidFill>
                        </a:rPr>
                        <a:t>Complaints Against Suppliers/Outsourced Activity Providers (OAPs)</a:t>
                      </a:r>
                    </a:p>
                  </a:txBody>
                  <a:tcPr anchor="ctr"/>
                </a:tc>
                <a:tc>
                  <a:txBody>
                    <a:bodyPr/>
                    <a:lstStyle/>
                    <a:p>
                      <a:pPr algn="ctr">
                        <a:buNone/>
                      </a:pPr>
                      <a:r>
                        <a:rPr lang="en-GB" sz="1400" b="1" i="0" dirty="0">
                          <a:solidFill>
                            <a:sysClr val="windowText" lastClr="000000"/>
                          </a:solidFill>
                        </a:rPr>
                        <a:t>1</a:t>
                      </a:r>
                    </a:p>
                  </a:txBody>
                  <a:tcPr anchor="ctr"/>
                </a:tc>
                <a:extLst>
                  <a:ext uri="{0D108BD9-81ED-4DB2-BD59-A6C34878D82A}">
                    <a16:rowId xmlns:a16="http://schemas.microsoft.com/office/drawing/2014/main" val="1057539453"/>
                  </a:ext>
                </a:extLst>
              </a:tr>
              <a:tr h="244525">
                <a:tc>
                  <a:txBody>
                    <a:bodyPr/>
                    <a:lstStyle/>
                    <a:p>
                      <a:pPr>
                        <a:buNone/>
                      </a:pPr>
                      <a:r>
                        <a:rPr lang="en-GB" sz="1400" dirty="0">
                          <a:solidFill>
                            <a:sysClr val="windowText" lastClr="000000"/>
                          </a:solidFill>
                        </a:rPr>
                        <a:t>Effectiveness check follow-up</a:t>
                      </a:r>
                    </a:p>
                  </a:txBody>
                  <a:tcPr anchor="ctr"/>
                </a:tc>
                <a:tc>
                  <a:txBody>
                    <a:bodyPr/>
                    <a:lstStyle/>
                    <a:p>
                      <a:pPr algn="ctr">
                        <a:buNone/>
                      </a:pPr>
                      <a:r>
                        <a:rPr lang="en-GB" sz="1400" b="1" i="0" dirty="0">
                          <a:solidFill>
                            <a:sysClr val="windowText" lastClr="000000"/>
                          </a:solidFill>
                        </a:rPr>
                        <a:t>3</a:t>
                      </a:r>
                    </a:p>
                  </a:txBody>
                  <a:tcPr anchor="ctr"/>
                </a:tc>
                <a:extLst>
                  <a:ext uri="{0D108BD9-81ED-4DB2-BD59-A6C34878D82A}">
                    <a16:rowId xmlns:a16="http://schemas.microsoft.com/office/drawing/2014/main" val="74197168"/>
                  </a:ext>
                </a:extLst>
              </a:tr>
              <a:tr h="244525">
                <a:tc>
                  <a:txBody>
                    <a:bodyPr/>
                    <a:lstStyle/>
                    <a:p>
                      <a:pPr>
                        <a:buNone/>
                      </a:pPr>
                      <a:r>
                        <a:rPr lang="en-GB" sz="1400" dirty="0">
                          <a:solidFill>
                            <a:sysClr val="windowText" lastClr="000000"/>
                          </a:solidFill>
                        </a:rPr>
                        <a:t>Other</a:t>
                      </a:r>
                    </a:p>
                  </a:txBody>
                  <a:tcPr anchor="ctr"/>
                </a:tc>
                <a:tc>
                  <a:txBody>
                    <a:bodyPr/>
                    <a:lstStyle/>
                    <a:p>
                      <a:pPr algn="ctr">
                        <a:buNone/>
                      </a:pPr>
                      <a:r>
                        <a:rPr lang="en-GB" sz="1400" b="1" i="0" dirty="0">
                          <a:solidFill>
                            <a:sysClr val="windowText" lastClr="000000"/>
                          </a:solidFill>
                        </a:rPr>
                        <a:t>3</a:t>
                      </a:r>
                    </a:p>
                  </a:txBody>
                  <a:tcPr anchor="ctr"/>
                </a:tc>
                <a:extLst>
                  <a:ext uri="{0D108BD9-81ED-4DB2-BD59-A6C34878D82A}">
                    <a16:rowId xmlns:a16="http://schemas.microsoft.com/office/drawing/2014/main" val="3743502605"/>
                  </a:ext>
                </a:extLst>
              </a:tr>
            </a:tbl>
          </a:graphicData>
        </a:graphic>
      </p:graphicFrame>
    </p:spTree>
    <p:extLst>
      <p:ext uri="{BB962C8B-B14F-4D97-AF65-F5344CB8AC3E}">
        <p14:creationId xmlns:p14="http://schemas.microsoft.com/office/powerpoint/2010/main" val="2933423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82DF6F9-53D0-95D9-4807-85DD815BBAA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30BD5DA-3D72-308F-4A8C-8256ECE9A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1" name="Rectangle 10">
            <a:extLst>
              <a:ext uri="{FF2B5EF4-FFF2-40B4-BE49-F238E27FC236}">
                <a16:creationId xmlns:a16="http://schemas.microsoft.com/office/drawing/2014/main" id="{688FE341-0C0E-7B9A-1F7B-833DEDB3B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3" name="Rectangle 12">
            <a:extLst>
              <a:ext uri="{FF2B5EF4-FFF2-40B4-BE49-F238E27FC236}">
                <a16:creationId xmlns:a16="http://schemas.microsoft.com/office/drawing/2014/main" id="{C07D90A8-6D0F-440B-6096-F85B074321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A5D028"/>
              </a:solidFill>
              <a:effectLst/>
              <a:uLnTx/>
              <a:uFillTx/>
              <a:latin typeface="Corbel" panose="020B0503020204020204"/>
              <a:ea typeface="+mn-ea"/>
              <a:cs typeface="+mn-cs"/>
            </a:endParaRPr>
          </a:p>
        </p:txBody>
      </p:sp>
      <p:sp>
        <p:nvSpPr>
          <p:cNvPr id="14" name="Rectangle 13">
            <a:extLst>
              <a:ext uri="{FF2B5EF4-FFF2-40B4-BE49-F238E27FC236}">
                <a16:creationId xmlns:a16="http://schemas.microsoft.com/office/drawing/2014/main" id="{B44C019B-E395-3D65-9C69-800C0DC62EB0}"/>
              </a:ext>
            </a:extLst>
          </p:cNvPr>
          <p:cNvSpPr/>
          <p:nvPr/>
        </p:nvSpPr>
        <p:spPr>
          <a:xfrm>
            <a:off x="-61380" y="-2"/>
            <a:ext cx="842090" cy="6847953"/>
          </a:xfrm>
          <a:prstGeom prst="rect">
            <a:avLst/>
          </a:prstGeom>
          <a:noFill/>
        </p:spPr>
        <p:txBody>
          <a:bodyPr vert="wordArtVert"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w="0"/>
                <a:solidFill>
                  <a:srgbClr val="FFFFFF"/>
                </a:solidFill>
                <a:effectLst>
                  <a:outerShdw blurRad="38100" dist="38100" dir="2700000" algn="tl">
                    <a:srgbClr val="000000">
                      <a:alpha val="43137"/>
                    </a:srgbClr>
                  </a:outerShdw>
                </a:effectLst>
                <a:uLnTx/>
                <a:uFillTx/>
                <a:latin typeface="Corbel" panose="020B0503020204020204"/>
                <a:ea typeface="+mn-ea"/>
                <a:cs typeface="+mn-cs"/>
              </a:rPr>
              <a:t>CAPAs</a:t>
            </a:r>
          </a:p>
        </p:txBody>
      </p:sp>
      <p:sp>
        <p:nvSpPr>
          <p:cNvPr id="6" name="TextBox 5">
            <a:extLst>
              <a:ext uri="{FF2B5EF4-FFF2-40B4-BE49-F238E27FC236}">
                <a16:creationId xmlns:a16="http://schemas.microsoft.com/office/drawing/2014/main" id="{2CB7468B-F3C8-DBCB-BCB8-4A7AD4A81998}"/>
              </a:ext>
            </a:extLst>
          </p:cNvPr>
          <p:cNvSpPr txBox="1"/>
          <p:nvPr/>
        </p:nvSpPr>
        <p:spPr>
          <a:xfrm>
            <a:off x="4224963" y="0"/>
            <a:ext cx="7815918"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FFFFFF"/>
                </a:solidFill>
                <a:effectLst/>
                <a:uLnTx/>
                <a:uFillTx/>
                <a:latin typeface="Corbel" panose="020B0503020204020204"/>
                <a:ea typeface="+mn-ea"/>
                <a:cs typeface="+mn-cs"/>
              </a:rPr>
              <a:t>SIGNIFICANT ITEMS (MAJOR &amp; CRITICAL)</a:t>
            </a:r>
          </a:p>
        </p:txBody>
      </p:sp>
      <p:grpSp>
        <p:nvGrpSpPr>
          <p:cNvPr id="7" name="Group 6">
            <a:extLst>
              <a:ext uri="{FF2B5EF4-FFF2-40B4-BE49-F238E27FC236}">
                <a16:creationId xmlns:a16="http://schemas.microsoft.com/office/drawing/2014/main" id="{07B23738-136E-51D1-C43E-39A3AEA64305}"/>
              </a:ext>
            </a:extLst>
          </p:cNvPr>
          <p:cNvGrpSpPr/>
          <p:nvPr/>
        </p:nvGrpSpPr>
        <p:grpSpPr>
          <a:xfrm>
            <a:off x="842091" y="695572"/>
            <a:ext cx="11101643" cy="3069236"/>
            <a:chOff x="797885" y="1529658"/>
            <a:chExt cx="12278237" cy="3157392"/>
          </a:xfrm>
          <a:solidFill>
            <a:srgbClr val="FFFF00"/>
          </a:solidFill>
        </p:grpSpPr>
        <p:graphicFrame>
          <p:nvGraphicFramePr>
            <p:cNvPr id="17" name="Table 16">
              <a:extLst>
                <a:ext uri="{FF2B5EF4-FFF2-40B4-BE49-F238E27FC236}">
                  <a16:creationId xmlns:a16="http://schemas.microsoft.com/office/drawing/2014/main" id="{A28360E7-1BF1-3F57-DAC3-F36AB9D84849}"/>
                </a:ext>
              </a:extLst>
            </p:cNvPr>
            <p:cNvGraphicFramePr>
              <a:graphicFrameLocks/>
            </p:cNvGraphicFramePr>
            <p:nvPr>
              <p:extLst>
                <p:ext uri="{D42A27DB-BD31-4B8C-83A1-F6EECF244321}">
                  <p14:modId xmlns:p14="http://schemas.microsoft.com/office/powerpoint/2010/main" val="2425212539"/>
                </p:ext>
              </p:extLst>
            </p:nvPr>
          </p:nvGraphicFramePr>
          <p:xfrm>
            <a:off x="797885" y="2819440"/>
            <a:ext cx="12278237" cy="1867610"/>
          </p:xfrm>
          <a:graphic>
            <a:graphicData uri="http://schemas.openxmlformats.org/drawingml/2006/table">
              <a:tbl>
                <a:tblPr firstRow="1" bandRow="1">
                  <a:tableStyleId>{21E4AEA4-8DFA-4A89-87EB-49C32662AFE0}</a:tableStyleId>
                </a:tblPr>
                <a:tblGrid>
                  <a:gridCol w="1291509">
                    <a:extLst>
                      <a:ext uri="{9D8B030D-6E8A-4147-A177-3AD203B41FA5}">
                        <a16:colId xmlns:a16="http://schemas.microsoft.com/office/drawing/2014/main" val="41084954"/>
                      </a:ext>
                    </a:extLst>
                  </a:gridCol>
                  <a:gridCol w="1101213">
                    <a:extLst>
                      <a:ext uri="{9D8B030D-6E8A-4147-A177-3AD203B41FA5}">
                        <a16:colId xmlns:a16="http://schemas.microsoft.com/office/drawing/2014/main" val="190224105"/>
                      </a:ext>
                    </a:extLst>
                  </a:gridCol>
                  <a:gridCol w="5132439">
                    <a:extLst>
                      <a:ext uri="{9D8B030D-6E8A-4147-A177-3AD203B41FA5}">
                        <a16:colId xmlns:a16="http://schemas.microsoft.com/office/drawing/2014/main" val="3131065920"/>
                      </a:ext>
                    </a:extLst>
                  </a:gridCol>
                  <a:gridCol w="1238864">
                    <a:extLst>
                      <a:ext uri="{9D8B030D-6E8A-4147-A177-3AD203B41FA5}">
                        <a16:colId xmlns:a16="http://schemas.microsoft.com/office/drawing/2014/main" val="396103689"/>
                      </a:ext>
                    </a:extLst>
                  </a:gridCol>
                  <a:gridCol w="1061884">
                    <a:extLst>
                      <a:ext uri="{9D8B030D-6E8A-4147-A177-3AD203B41FA5}">
                        <a16:colId xmlns:a16="http://schemas.microsoft.com/office/drawing/2014/main" val="2698333210"/>
                      </a:ext>
                    </a:extLst>
                  </a:gridCol>
                  <a:gridCol w="1275734">
                    <a:extLst>
                      <a:ext uri="{9D8B030D-6E8A-4147-A177-3AD203B41FA5}">
                        <a16:colId xmlns:a16="http://schemas.microsoft.com/office/drawing/2014/main" val="2585996546"/>
                      </a:ext>
                    </a:extLst>
                  </a:gridCol>
                </a:tblGrid>
                <a:tr h="151808">
                  <a:tc gridSpan="6">
                    <a:txBody>
                      <a:bodyPr/>
                      <a:lstStyle>
                        <a:lvl1pPr marL="0" algn="l" defTabSz="914377" rtl="0" eaLnBrk="1" latinLnBrk="0" hangingPunct="1">
                          <a:defRPr sz="1800" b="1" kern="1200">
                            <a:solidFill>
                              <a:schemeClr val="lt1"/>
                            </a:solidFill>
                            <a:latin typeface="Corbel" panose="020B0503020204020204"/>
                          </a:defRPr>
                        </a:lvl1pPr>
                        <a:lvl2pPr marL="457189" algn="l" defTabSz="914377" rtl="0" eaLnBrk="1" latinLnBrk="0" hangingPunct="1">
                          <a:defRPr sz="1800" b="1" kern="1200">
                            <a:solidFill>
                              <a:schemeClr val="lt1"/>
                            </a:solidFill>
                            <a:latin typeface="Corbel" panose="020B0503020204020204"/>
                          </a:defRPr>
                        </a:lvl2pPr>
                        <a:lvl3pPr marL="914377" algn="l" defTabSz="914377" rtl="0" eaLnBrk="1" latinLnBrk="0" hangingPunct="1">
                          <a:defRPr sz="1800" b="1" kern="1200">
                            <a:solidFill>
                              <a:schemeClr val="lt1"/>
                            </a:solidFill>
                            <a:latin typeface="Corbel" panose="020B0503020204020204"/>
                          </a:defRPr>
                        </a:lvl3pPr>
                        <a:lvl4pPr marL="1371566" algn="l" defTabSz="914377" rtl="0" eaLnBrk="1" latinLnBrk="0" hangingPunct="1">
                          <a:defRPr sz="1800" b="1" kern="1200">
                            <a:solidFill>
                              <a:schemeClr val="lt1"/>
                            </a:solidFill>
                            <a:latin typeface="Corbel" panose="020B0503020204020204"/>
                          </a:defRPr>
                        </a:lvl4pPr>
                        <a:lvl5pPr marL="1828754" algn="l" defTabSz="914377" rtl="0" eaLnBrk="1" latinLnBrk="0" hangingPunct="1">
                          <a:defRPr sz="1800" b="1" kern="1200">
                            <a:solidFill>
                              <a:schemeClr val="lt1"/>
                            </a:solidFill>
                            <a:latin typeface="Corbel" panose="020B0503020204020204"/>
                          </a:defRPr>
                        </a:lvl5pPr>
                        <a:lvl6pPr marL="2285943" algn="l" defTabSz="914377" rtl="0" eaLnBrk="1" latinLnBrk="0" hangingPunct="1">
                          <a:defRPr sz="1800" b="1" kern="1200">
                            <a:solidFill>
                              <a:schemeClr val="lt1"/>
                            </a:solidFill>
                            <a:latin typeface="Corbel" panose="020B0503020204020204"/>
                          </a:defRPr>
                        </a:lvl6pPr>
                        <a:lvl7pPr marL="2743131" algn="l" defTabSz="914377" rtl="0" eaLnBrk="1" latinLnBrk="0" hangingPunct="1">
                          <a:defRPr sz="1800" b="1" kern="1200">
                            <a:solidFill>
                              <a:schemeClr val="lt1"/>
                            </a:solidFill>
                            <a:latin typeface="Corbel" panose="020B0503020204020204"/>
                          </a:defRPr>
                        </a:lvl7pPr>
                        <a:lvl8pPr marL="3200320" algn="l" defTabSz="914377" rtl="0" eaLnBrk="1" latinLnBrk="0" hangingPunct="1">
                          <a:defRPr sz="1800" b="1" kern="1200">
                            <a:solidFill>
                              <a:schemeClr val="lt1"/>
                            </a:solidFill>
                            <a:latin typeface="Corbel" panose="020B0503020204020204"/>
                          </a:defRPr>
                        </a:lvl8pPr>
                        <a:lvl9pPr marL="3657509" algn="l" defTabSz="914377" rtl="0" eaLnBrk="1" latinLnBrk="0" hangingPunct="1">
                          <a:defRPr sz="1800" b="1" kern="1200">
                            <a:solidFill>
                              <a:schemeClr val="lt1"/>
                            </a:solidFill>
                            <a:latin typeface="Corbel" panose="020B0503020204020204"/>
                          </a:defRPr>
                        </a:lvl9pPr>
                      </a:lstStyle>
                      <a:p>
                        <a:pPr algn="ctr"/>
                        <a:r>
                          <a:rPr lang="en-GB" sz="1200" b="1" dirty="0">
                            <a:solidFill>
                              <a:sysClr val="windowText" lastClr="000000"/>
                            </a:solidFill>
                          </a:rPr>
                          <a:t>Major &amp; Critical </a:t>
                        </a:r>
                        <a:r>
                          <a:rPr lang="en-GB" sz="1200" dirty="0">
                            <a:solidFill>
                              <a:sysClr val="windowText" lastClr="000000"/>
                            </a:solidFill>
                          </a:rPr>
                          <a:t>CAPAs Closed</a:t>
                        </a:r>
                        <a:endParaRPr lang="en-GB" sz="1200" dirty="0">
                          <a:solidFill>
                            <a:sysClr val="windowText" lastClr="000000"/>
                          </a:solidFill>
                          <a:latin typeface="+mn-lt"/>
                        </a:endParaRPr>
                      </a:p>
                    </a:txBody>
                    <a:tcPr/>
                  </a:tc>
                  <a:tc hMerge="1">
                    <a:txBody>
                      <a:bodyPr/>
                      <a:lstStyle/>
                      <a:p>
                        <a:endParaRPr lang="en-GB"/>
                      </a:p>
                    </a:txBody>
                    <a:tcPr/>
                  </a:tc>
                  <a:tc hMerge="1">
                    <a:txBody>
                      <a:bodyPr/>
                      <a:lstStyle/>
                      <a:p>
                        <a:endParaRPr lang="en-GB"/>
                      </a:p>
                    </a:txBody>
                    <a:tcPr/>
                  </a:tc>
                  <a:tc hMerge="1">
                    <a:txBody>
                      <a:bodyPr/>
                      <a:lstStyle/>
                      <a:p>
                        <a:endParaRPr lang="en-GB" dirty="0"/>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34243998"/>
                    </a:ext>
                  </a:extLst>
                </a:tr>
                <a:tr h="168529">
                  <a:tc>
                    <a:txBody>
                      <a:bodyPr/>
                      <a:lstStyle>
                        <a:lvl1pPr marL="0" algn="l" defTabSz="914377" rtl="0" eaLnBrk="1" latinLnBrk="0" hangingPunct="1">
                          <a:defRPr sz="1800" kern="1200">
                            <a:solidFill>
                              <a:schemeClr val="dk1"/>
                            </a:solidFill>
                            <a:latin typeface="Corbel" panose="020B0503020204020204"/>
                          </a:defRPr>
                        </a:lvl1pPr>
                        <a:lvl2pPr marL="457189" algn="l" defTabSz="914377" rtl="0" eaLnBrk="1" latinLnBrk="0" hangingPunct="1">
                          <a:defRPr sz="1800" kern="1200">
                            <a:solidFill>
                              <a:schemeClr val="dk1"/>
                            </a:solidFill>
                            <a:latin typeface="Corbel" panose="020B0503020204020204"/>
                          </a:defRPr>
                        </a:lvl2pPr>
                        <a:lvl3pPr marL="914377" algn="l" defTabSz="914377" rtl="0" eaLnBrk="1" latinLnBrk="0" hangingPunct="1">
                          <a:defRPr sz="1800" kern="1200">
                            <a:solidFill>
                              <a:schemeClr val="dk1"/>
                            </a:solidFill>
                            <a:latin typeface="Corbel" panose="020B0503020204020204"/>
                          </a:defRPr>
                        </a:lvl3pPr>
                        <a:lvl4pPr marL="1371566" algn="l" defTabSz="914377" rtl="0" eaLnBrk="1" latinLnBrk="0" hangingPunct="1">
                          <a:defRPr sz="1800" kern="1200">
                            <a:solidFill>
                              <a:schemeClr val="dk1"/>
                            </a:solidFill>
                            <a:latin typeface="Corbel" panose="020B0503020204020204"/>
                          </a:defRPr>
                        </a:lvl4pPr>
                        <a:lvl5pPr marL="1828754" algn="l" defTabSz="914377" rtl="0" eaLnBrk="1" latinLnBrk="0" hangingPunct="1">
                          <a:defRPr sz="1800" kern="1200">
                            <a:solidFill>
                              <a:schemeClr val="dk1"/>
                            </a:solidFill>
                            <a:latin typeface="Corbel" panose="020B0503020204020204"/>
                          </a:defRPr>
                        </a:lvl5pPr>
                        <a:lvl6pPr marL="2285943" algn="l" defTabSz="914377" rtl="0" eaLnBrk="1" latinLnBrk="0" hangingPunct="1">
                          <a:defRPr sz="1800" kern="1200">
                            <a:solidFill>
                              <a:schemeClr val="dk1"/>
                            </a:solidFill>
                            <a:latin typeface="Corbel" panose="020B0503020204020204"/>
                          </a:defRPr>
                        </a:lvl6pPr>
                        <a:lvl7pPr marL="2743131" algn="l" defTabSz="914377" rtl="0" eaLnBrk="1" latinLnBrk="0" hangingPunct="1">
                          <a:defRPr sz="1800" kern="1200">
                            <a:solidFill>
                              <a:schemeClr val="dk1"/>
                            </a:solidFill>
                            <a:latin typeface="Corbel" panose="020B0503020204020204"/>
                          </a:defRPr>
                        </a:lvl7pPr>
                        <a:lvl8pPr marL="3200320" algn="l" defTabSz="914377" rtl="0" eaLnBrk="1" latinLnBrk="0" hangingPunct="1">
                          <a:defRPr sz="1800" kern="1200">
                            <a:solidFill>
                              <a:schemeClr val="dk1"/>
                            </a:solidFill>
                            <a:latin typeface="Corbel" panose="020B0503020204020204"/>
                          </a:defRPr>
                        </a:lvl8pPr>
                        <a:lvl9pPr marL="3657509" algn="l" defTabSz="914377" rtl="0" eaLnBrk="1" latinLnBrk="0" hangingPunct="1">
                          <a:defRPr sz="1800" kern="1200">
                            <a:solidFill>
                              <a:schemeClr val="dk1"/>
                            </a:solidFill>
                            <a:latin typeface="Corbel" panose="020B0503020204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b="1" dirty="0">
                            <a:solidFill>
                              <a:sysClr val="windowText" lastClr="000000"/>
                            </a:solidFill>
                          </a:rPr>
                          <a:t>CAPA number</a:t>
                        </a:r>
                      </a:p>
                    </a:txBody>
                    <a:tcPr anchor="ctr"/>
                  </a:tc>
                  <a:tc>
                    <a:txBody>
                      <a:bodyPr/>
                      <a:lstStyle/>
                      <a:p>
                        <a:pPr algn="ctr"/>
                        <a:r>
                          <a:rPr lang="en-GB" sz="1100" b="1" dirty="0">
                            <a:solidFill>
                              <a:sysClr val="windowText" lastClr="000000"/>
                            </a:solidFill>
                          </a:rPr>
                          <a:t>Date raised</a:t>
                        </a:r>
                      </a:p>
                    </a:txBody>
                    <a:tcPr anchor="ctr"/>
                  </a:tc>
                  <a:tc>
                    <a:txBody>
                      <a:bodyPr/>
                      <a:lstStyle>
                        <a:lvl1pPr marL="0" algn="l" defTabSz="914377" rtl="0" eaLnBrk="1" latinLnBrk="0" hangingPunct="1">
                          <a:defRPr sz="1800" kern="1200">
                            <a:solidFill>
                              <a:schemeClr val="dk1"/>
                            </a:solidFill>
                            <a:latin typeface="Corbel" panose="020B0503020204020204"/>
                          </a:defRPr>
                        </a:lvl1pPr>
                        <a:lvl2pPr marL="457189" algn="l" defTabSz="914377" rtl="0" eaLnBrk="1" latinLnBrk="0" hangingPunct="1">
                          <a:defRPr sz="1800" kern="1200">
                            <a:solidFill>
                              <a:schemeClr val="dk1"/>
                            </a:solidFill>
                            <a:latin typeface="Corbel" panose="020B0503020204020204"/>
                          </a:defRPr>
                        </a:lvl2pPr>
                        <a:lvl3pPr marL="914377" algn="l" defTabSz="914377" rtl="0" eaLnBrk="1" latinLnBrk="0" hangingPunct="1">
                          <a:defRPr sz="1800" kern="1200">
                            <a:solidFill>
                              <a:schemeClr val="dk1"/>
                            </a:solidFill>
                            <a:latin typeface="Corbel" panose="020B0503020204020204"/>
                          </a:defRPr>
                        </a:lvl3pPr>
                        <a:lvl4pPr marL="1371566" algn="l" defTabSz="914377" rtl="0" eaLnBrk="1" latinLnBrk="0" hangingPunct="1">
                          <a:defRPr sz="1800" kern="1200">
                            <a:solidFill>
                              <a:schemeClr val="dk1"/>
                            </a:solidFill>
                            <a:latin typeface="Corbel" panose="020B0503020204020204"/>
                          </a:defRPr>
                        </a:lvl4pPr>
                        <a:lvl5pPr marL="1828754" algn="l" defTabSz="914377" rtl="0" eaLnBrk="1" latinLnBrk="0" hangingPunct="1">
                          <a:defRPr sz="1800" kern="1200">
                            <a:solidFill>
                              <a:schemeClr val="dk1"/>
                            </a:solidFill>
                            <a:latin typeface="Corbel" panose="020B0503020204020204"/>
                          </a:defRPr>
                        </a:lvl5pPr>
                        <a:lvl6pPr marL="2285943" algn="l" defTabSz="914377" rtl="0" eaLnBrk="1" latinLnBrk="0" hangingPunct="1">
                          <a:defRPr sz="1800" kern="1200">
                            <a:solidFill>
                              <a:schemeClr val="dk1"/>
                            </a:solidFill>
                            <a:latin typeface="Corbel" panose="020B0503020204020204"/>
                          </a:defRPr>
                        </a:lvl6pPr>
                        <a:lvl7pPr marL="2743131" algn="l" defTabSz="914377" rtl="0" eaLnBrk="1" latinLnBrk="0" hangingPunct="1">
                          <a:defRPr sz="1800" kern="1200">
                            <a:solidFill>
                              <a:schemeClr val="dk1"/>
                            </a:solidFill>
                            <a:latin typeface="Corbel" panose="020B0503020204020204"/>
                          </a:defRPr>
                        </a:lvl7pPr>
                        <a:lvl8pPr marL="3200320" algn="l" defTabSz="914377" rtl="0" eaLnBrk="1" latinLnBrk="0" hangingPunct="1">
                          <a:defRPr sz="1800" kern="1200">
                            <a:solidFill>
                              <a:schemeClr val="dk1"/>
                            </a:solidFill>
                            <a:latin typeface="Corbel" panose="020B0503020204020204"/>
                          </a:defRPr>
                        </a:lvl8pPr>
                        <a:lvl9pPr marL="3657509" algn="l" defTabSz="914377" rtl="0" eaLnBrk="1" latinLnBrk="0" hangingPunct="1">
                          <a:defRPr sz="1800" kern="1200">
                            <a:solidFill>
                              <a:schemeClr val="dk1"/>
                            </a:solidFill>
                            <a:latin typeface="Corbel" panose="020B0503020204020204"/>
                          </a:defRPr>
                        </a:lvl9pPr>
                      </a:lstStyle>
                      <a:p>
                        <a:pPr algn="ctr"/>
                        <a:r>
                          <a:rPr lang="en-GB" sz="1100" b="1" dirty="0">
                            <a:solidFill>
                              <a:sysClr val="windowText" lastClr="000000"/>
                            </a:solidFill>
                          </a:rPr>
                          <a:t>CAPA description</a:t>
                        </a:r>
                      </a:p>
                    </a:txBody>
                    <a:tcPr anchor="ctr"/>
                  </a:tc>
                  <a:tc>
                    <a:txBody>
                      <a:bodyPr/>
                      <a:lstStyle>
                        <a:lvl1pPr marL="0" algn="l" defTabSz="914377" rtl="0" eaLnBrk="1" latinLnBrk="0" hangingPunct="1">
                          <a:defRPr sz="1800" kern="1200">
                            <a:solidFill>
                              <a:schemeClr val="dk1"/>
                            </a:solidFill>
                            <a:latin typeface="Corbel" panose="020B0503020204020204"/>
                          </a:defRPr>
                        </a:lvl1pPr>
                        <a:lvl2pPr marL="457189" algn="l" defTabSz="914377" rtl="0" eaLnBrk="1" latinLnBrk="0" hangingPunct="1">
                          <a:defRPr sz="1800" kern="1200">
                            <a:solidFill>
                              <a:schemeClr val="dk1"/>
                            </a:solidFill>
                            <a:latin typeface="Corbel" panose="020B0503020204020204"/>
                          </a:defRPr>
                        </a:lvl2pPr>
                        <a:lvl3pPr marL="914377" algn="l" defTabSz="914377" rtl="0" eaLnBrk="1" latinLnBrk="0" hangingPunct="1">
                          <a:defRPr sz="1800" kern="1200">
                            <a:solidFill>
                              <a:schemeClr val="dk1"/>
                            </a:solidFill>
                            <a:latin typeface="Corbel" panose="020B0503020204020204"/>
                          </a:defRPr>
                        </a:lvl3pPr>
                        <a:lvl4pPr marL="1371566" algn="l" defTabSz="914377" rtl="0" eaLnBrk="1" latinLnBrk="0" hangingPunct="1">
                          <a:defRPr sz="1800" kern="1200">
                            <a:solidFill>
                              <a:schemeClr val="dk1"/>
                            </a:solidFill>
                            <a:latin typeface="Corbel" panose="020B0503020204020204"/>
                          </a:defRPr>
                        </a:lvl4pPr>
                        <a:lvl5pPr marL="1828754" algn="l" defTabSz="914377" rtl="0" eaLnBrk="1" latinLnBrk="0" hangingPunct="1">
                          <a:defRPr sz="1800" kern="1200">
                            <a:solidFill>
                              <a:schemeClr val="dk1"/>
                            </a:solidFill>
                            <a:latin typeface="Corbel" panose="020B0503020204020204"/>
                          </a:defRPr>
                        </a:lvl5pPr>
                        <a:lvl6pPr marL="2285943" algn="l" defTabSz="914377" rtl="0" eaLnBrk="1" latinLnBrk="0" hangingPunct="1">
                          <a:defRPr sz="1800" kern="1200">
                            <a:solidFill>
                              <a:schemeClr val="dk1"/>
                            </a:solidFill>
                            <a:latin typeface="Corbel" panose="020B0503020204020204"/>
                          </a:defRPr>
                        </a:lvl6pPr>
                        <a:lvl7pPr marL="2743131" algn="l" defTabSz="914377" rtl="0" eaLnBrk="1" latinLnBrk="0" hangingPunct="1">
                          <a:defRPr sz="1800" kern="1200">
                            <a:solidFill>
                              <a:schemeClr val="dk1"/>
                            </a:solidFill>
                            <a:latin typeface="Corbel" panose="020B0503020204020204"/>
                          </a:defRPr>
                        </a:lvl7pPr>
                        <a:lvl8pPr marL="3200320" algn="l" defTabSz="914377" rtl="0" eaLnBrk="1" latinLnBrk="0" hangingPunct="1">
                          <a:defRPr sz="1800" kern="1200">
                            <a:solidFill>
                              <a:schemeClr val="dk1"/>
                            </a:solidFill>
                            <a:latin typeface="Corbel" panose="020B0503020204020204"/>
                          </a:defRPr>
                        </a:lvl8pPr>
                        <a:lvl9pPr marL="3657509" algn="l" defTabSz="914377" rtl="0" eaLnBrk="1" latinLnBrk="0" hangingPunct="1">
                          <a:defRPr sz="1800" kern="1200">
                            <a:solidFill>
                              <a:schemeClr val="dk1"/>
                            </a:solidFill>
                            <a:latin typeface="Corbel" panose="020B0503020204020204"/>
                          </a:defRPr>
                        </a:lvl9pPr>
                      </a:lstStyle>
                      <a:p>
                        <a:pPr algn="ctr"/>
                        <a:r>
                          <a:rPr lang="en-GB" sz="1100" b="1" dirty="0">
                            <a:solidFill>
                              <a:sysClr val="windowText" lastClr="000000"/>
                            </a:solidFill>
                          </a:rPr>
                          <a:t>Classification </a:t>
                        </a:r>
                      </a:p>
                    </a:txBody>
                    <a:tcPr anchor="ctr"/>
                  </a:tc>
                  <a:tc>
                    <a:txBody>
                      <a:bodyPr/>
                      <a:lstStyle/>
                      <a:p>
                        <a:pPr algn="ctr"/>
                        <a:r>
                          <a:rPr lang="en-GB" sz="1100" b="1" dirty="0">
                            <a:solidFill>
                              <a:sysClr val="windowText" lastClr="000000"/>
                            </a:solidFill>
                          </a:rPr>
                          <a:t>Target date</a:t>
                        </a:r>
                      </a:p>
                    </a:txBody>
                    <a:tcPr anchor="ctr"/>
                  </a:tc>
                  <a:tc>
                    <a:txBody>
                      <a:bodyPr/>
                      <a:lstStyle/>
                      <a:p>
                        <a:pPr algn="ctr"/>
                        <a:r>
                          <a:rPr lang="en-GB" sz="1100" b="1" dirty="0">
                            <a:solidFill>
                              <a:sysClr val="windowText" lastClr="000000"/>
                            </a:solidFill>
                          </a:rPr>
                          <a:t>Completion date</a:t>
                        </a:r>
                      </a:p>
                    </a:txBody>
                    <a:tcPr anchor="ctr"/>
                  </a:tc>
                  <a:extLst>
                    <a:ext uri="{0D108BD9-81ED-4DB2-BD59-A6C34878D82A}">
                      <a16:rowId xmlns:a16="http://schemas.microsoft.com/office/drawing/2014/main" val="701549060"/>
                    </a:ext>
                  </a:extLst>
                </a:tr>
                <a:tr h="123344">
                  <a:tc>
                    <a:txBody>
                      <a:bodyPr/>
                      <a:lstStyle/>
                      <a:p>
                        <a:pPr algn="ctr" fontAlgn="ctr">
                          <a:buNone/>
                        </a:pPr>
                        <a:r>
                          <a:rPr lang="en-GB" sz="1100" b="0" u="none" strike="noStrike" kern="1200" dirty="0">
                            <a:solidFill>
                              <a:srgbClr val="000000"/>
                            </a:solidFill>
                            <a:effectLst/>
                            <a:latin typeface="+mn-lt"/>
                            <a:ea typeface="+mn-ea"/>
                            <a:cs typeface="+mn-cs"/>
                          </a:rPr>
                          <a:t>CAPA.2025.007</a:t>
                        </a:r>
                      </a:p>
                    </a:txBody>
                    <a:tcPr marL="9525" marR="9525" marT="9525" anchor="ctr"/>
                  </a:tc>
                  <a:tc>
                    <a:txBody>
                      <a:bodyPr/>
                      <a:lstStyle/>
                      <a:p>
                        <a:pPr algn="ctr" fontAlgn="ctr">
                          <a:buNone/>
                        </a:pPr>
                        <a:r>
                          <a:rPr lang="en-US" sz="1100" b="0" u="none" strike="noStrike" kern="1200" dirty="0">
                            <a:solidFill>
                              <a:srgbClr val="000000"/>
                            </a:solidFill>
                            <a:effectLst/>
                            <a:latin typeface="+mn-lt"/>
                            <a:ea typeface="+mn-ea"/>
                            <a:cs typeface="+mn-cs"/>
                          </a:rPr>
                          <a:t>10-Mar-25</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DEV.2024.013 - Gap analysis on the cleaning validation of Haloperidol</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Critical</a:t>
                        </a:r>
                      </a:p>
                    </a:txBody>
                    <a:tcPr marL="0" marR="0" marT="0" marB="0" anchor="ctr">
                      <a:solidFill>
                        <a:srgbClr val="FF00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31-Mar-26</a:t>
                        </a:r>
                      </a:p>
                    </a:txBody>
                    <a:tcPr marL="9525" marR="9525" marT="9525" anchor="ctr"/>
                  </a:tc>
                  <a:tc>
                    <a:txBody>
                      <a:bodyPr/>
                      <a:lstStyle/>
                      <a:p>
                        <a:pPr algn="ctr" fontAlgn="ctr">
                          <a:buNone/>
                        </a:pPr>
                        <a:r>
                          <a:rPr lang="en-GB" sz="1100" b="0" i="0" u="none" strike="noStrike" dirty="0">
                            <a:solidFill>
                              <a:schemeClr val="bg1"/>
                            </a:solidFill>
                            <a:effectLst/>
                            <a:latin typeface="Calibri" panose="020F0502020204030204" pitchFamily="34" charset="0"/>
                          </a:rPr>
                          <a:t>31-Mar-26</a:t>
                        </a:r>
                      </a:p>
                    </a:txBody>
                    <a:tcPr marL="9525" marR="9525" marT="9525" anchor="ctr">
                      <a:solidFill>
                        <a:srgbClr val="00B050"/>
                      </a:solidFill>
                    </a:tcPr>
                  </a:tc>
                  <a:extLst>
                    <a:ext uri="{0D108BD9-81ED-4DB2-BD59-A6C34878D82A}">
                      <a16:rowId xmlns:a16="http://schemas.microsoft.com/office/drawing/2014/main" val="3856702784"/>
                    </a:ext>
                  </a:extLst>
                </a:tr>
                <a:tr h="216116">
                  <a:tc>
                    <a:txBody>
                      <a:bodyPr/>
                      <a:lstStyle/>
                      <a:p>
                        <a:pPr marL="0" algn="ctr" defTabSz="914400" rtl="0" eaLnBrk="1" fontAlgn="ctr" latinLnBrk="0" hangingPunct="1">
                          <a:buNone/>
                        </a:pPr>
                        <a:r>
                          <a:rPr lang="en-GB" sz="1100" b="0" u="none" strike="noStrike" kern="1200" dirty="0">
                            <a:solidFill>
                              <a:srgbClr val="000000"/>
                            </a:solidFill>
                            <a:effectLst/>
                            <a:latin typeface="+mn-lt"/>
                            <a:ea typeface="+mn-ea"/>
                            <a:cs typeface="+mn-cs"/>
                          </a:rPr>
                          <a:t>CAPA.2025.020</a:t>
                        </a:r>
                      </a:p>
                    </a:txBody>
                    <a:tcPr marL="9525" marR="9525" marT="9525" anchor="ctr"/>
                  </a:tc>
                  <a:tc>
                    <a:txBody>
                      <a:bodyPr/>
                      <a:lstStyle/>
                      <a:p>
                        <a:pPr marL="0" algn="ctr" defTabSz="914400" rtl="0" eaLnBrk="1" fontAlgn="ctr" latinLnBrk="0" hangingPunct="1">
                          <a:buNone/>
                        </a:pPr>
                        <a:r>
                          <a:rPr lang="en-US" sz="1100" b="0" u="none" strike="noStrike" kern="1200" dirty="0">
                            <a:solidFill>
                              <a:srgbClr val="000000"/>
                            </a:solidFill>
                            <a:effectLst/>
                            <a:latin typeface="+mn-lt"/>
                            <a:ea typeface="+mn-ea"/>
                            <a:cs typeface="+mn-cs"/>
                          </a:rPr>
                          <a:t>02-Jun-25</a:t>
                        </a:r>
                      </a:p>
                    </a:txBody>
                    <a:tcPr marL="9525" marR="9525" marT="9525" anchor="ctr"/>
                  </a:tc>
                  <a:tc>
                    <a:txBody>
                      <a:bodyPr/>
                      <a:lstStyle/>
                      <a:p>
                        <a:pPr algn="ctr" fontAlgn="ctr">
                          <a:buNone/>
                        </a:pPr>
                        <a:r>
                          <a:rPr lang="en-US" sz="1100" b="0" u="none" strike="noStrike" kern="1200" dirty="0">
                            <a:solidFill>
                              <a:srgbClr val="000000"/>
                            </a:solidFill>
                            <a:effectLst/>
                            <a:latin typeface="+mn-lt"/>
                            <a:ea typeface="+mn-ea"/>
                            <a:cs typeface="+mn-cs"/>
                          </a:rPr>
                          <a:t>Dev.2025.017 –  Rejected batch investigation identified a deficiency in the customer enquiries process with regards to R&amp;D trials</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Major</a:t>
                        </a:r>
                      </a:p>
                    </a:txBody>
                    <a:tcPr marL="0" marR="0" marT="0" marB="0" anchor="ctr">
                      <a:solidFill>
                        <a:srgbClr val="FFFF00"/>
                      </a:solidFill>
                    </a:tcPr>
                  </a:tc>
                  <a:tc>
                    <a:txBody>
                      <a:bodyPr/>
                      <a:lstStyle/>
                      <a:p>
                        <a:pPr algn="ctr" fontAlgn="ctr">
                          <a:buNone/>
                        </a:pPr>
                        <a:r>
                          <a:rPr lang="en-GB" sz="1100" b="0" u="none" strike="noStrike" kern="1200" dirty="0">
                            <a:solidFill>
                              <a:srgbClr val="000000"/>
                            </a:solidFill>
                            <a:effectLst/>
                            <a:latin typeface="+mn-lt"/>
                            <a:ea typeface="+mn-ea"/>
                            <a:cs typeface="+mn-cs"/>
                          </a:rPr>
                          <a:t>27-Feb-26</a:t>
                        </a:r>
                      </a:p>
                    </a:txBody>
                    <a:tcPr marL="9525" marR="9525" marT="9525" anchor="ctr"/>
                  </a:tc>
                  <a:tc>
                    <a:txBody>
                      <a:bodyPr/>
                      <a:lstStyle/>
                      <a:p>
                        <a:pPr algn="ctr" fontAlgn="ctr">
                          <a:buNone/>
                        </a:pPr>
                        <a:r>
                          <a:rPr lang="en-GB" sz="1100" b="0" u="none" strike="noStrike" kern="1200" dirty="0">
                            <a:solidFill>
                              <a:srgbClr val="000000"/>
                            </a:solidFill>
                            <a:effectLst/>
                            <a:latin typeface="+mn-lt"/>
                            <a:ea typeface="+mn-ea"/>
                            <a:cs typeface="+mn-cs"/>
                          </a:rPr>
                          <a:t>27-Feb-26</a:t>
                        </a:r>
                      </a:p>
                    </a:txBody>
                    <a:tcPr marL="9525" marR="9525" marT="9525" anchor="ctr">
                      <a:solidFill>
                        <a:srgbClr val="00B050"/>
                      </a:solidFill>
                    </a:tcPr>
                  </a:tc>
                  <a:extLst>
                    <a:ext uri="{0D108BD9-81ED-4DB2-BD59-A6C34878D82A}">
                      <a16:rowId xmlns:a16="http://schemas.microsoft.com/office/drawing/2014/main" val="2380056315"/>
                    </a:ext>
                  </a:extLst>
                </a:tr>
                <a:tr h="123344">
                  <a:tc>
                    <a:txBody>
                      <a:bodyPr/>
                      <a:lstStyle/>
                      <a:p>
                        <a:pPr marL="0" algn="ctr" defTabSz="914400" rtl="0" eaLnBrk="1" fontAlgn="ctr" latinLnBrk="0" hangingPunct="1">
                          <a:buNone/>
                        </a:pPr>
                        <a:r>
                          <a:rPr lang="en-GB" sz="1100" b="0" u="none" strike="noStrike" kern="1200" dirty="0">
                            <a:solidFill>
                              <a:srgbClr val="000000"/>
                            </a:solidFill>
                            <a:effectLst/>
                            <a:latin typeface="+mn-lt"/>
                            <a:ea typeface="+mn-ea"/>
                            <a:cs typeface="+mn-cs"/>
                          </a:rPr>
                          <a:t>CAPA.2025.040</a:t>
                        </a:r>
                      </a:p>
                    </a:txBody>
                    <a:tcPr marL="9525" marR="9525" marT="9525" anchor="ctr"/>
                  </a:tc>
                  <a:tc>
                    <a:txBody>
                      <a:bodyPr/>
                      <a:lstStyle/>
                      <a:p>
                        <a:pPr marL="0" algn="ctr" defTabSz="914400" rtl="0" eaLnBrk="1" fontAlgn="ctr" latinLnBrk="0" hangingPunct="1">
                          <a:buNone/>
                        </a:pPr>
                        <a:r>
                          <a:rPr lang="en-US" sz="1100" b="0" u="none" strike="noStrike" kern="1200" dirty="0">
                            <a:solidFill>
                              <a:srgbClr val="000000"/>
                            </a:solidFill>
                            <a:effectLst/>
                            <a:latin typeface="+mn-lt"/>
                            <a:ea typeface="+mn-ea"/>
                            <a:cs typeface="+mn-cs"/>
                          </a:rPr>
                          <a:t>23-Sep-25</a:t>
                        </a:r>
                      </a:p>
                    </a:txBody>
                    <a:tcPr marL="9525" marR="9525" marT="9525" anchor="ctr"/>
                  </a:tc>
                  <a:tc>
                    <a:txBody>
                      <a:bodyPr/>
                      <a:lstStyle/>
                      <a:p>
                        <a:pPr algn="ctr" fontAlgn="ctr">
                          <a:buNone/>
                        </a:pPr>
                        <a:r>
                          <a:rPr lang="en-US" sz="1100" b="0" u="none" strike="noStrike" kern="1200" dirty="0">
                            <a:solidFill>
                              <a:srgbClr val="000000"/>
                            </a:solidFill>
                            <a:effectLst/>
                            <a:latin typeface="+mn-lt"/>
                            <a:ea typeface="+mn-ea"/>
                            <a:cs typeface="+mn-cs"/>
                          </a:rPr>
                          <a:t>SI.25.TRANS1 – Transport Audit CAPA</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Major</a:t>
                        </a:r>
                      </a:p>
                    </a:txBody>
                    <a:tcPr marL="0" marR="0" marT="0" marB="0" anchor="ctr">
                      <a:solidFill>
                        <a:srgbClr val="FFFF66"/>
                      </a:solidFill>
                    </a:tcPr>
                  </a:tc>
                  <a:tc>
                    <a:txBody>
                      <a:bodyPr/>
                      <a:lstStyle/>
                      <a:p>
                        <a:pPr algn="ctr" fontAlgn="ctr">
                          <a:buNone/>
                        </a:pPr>
                        <a:r>
                          <a:rPr lang="en-GB" sz="1100" b="0" u="none" strike="noStrike" kern="1200" dirty="0">
                            <a:solidFill>
                              <a:srgbClr val="000000"/>
                            </a:solidFill>
                            <a:effectLst/>
                            <a:latin typeface="+mn-lt"/>
                            <a:ea typeface="+mn-ea"/>
                            <a:cs typeface="+mn-cs"/>
                          </a:rPr>
                          <a:t>28-Feb-26</a:t>
                        </a:r>
                      </a:p>
                    </a:txBody>
                    <a:tcPr marL="9525" marR="9525" marT="9525" anchor="ctr"/>
                  </a:tc>
                  <a:tc>
                    <a:txBody>
                      <a:bodyPr/>
                      <a:lstStyle/>
                      <a:p>
                        <a:pPr algn="ctr" fontAlgn="ctr">
                          <a:buNone/>
                        </a:pPr>
                        <a:r>
                          <a:rPr lang="en-GB" sz="1100" b="0" u="none" strike="noStrike" kern="1200" dirty="0">
                            <a:solidFill>
                              <a:srgbClr val="000000"/>
                            </a:solidFill>
                            <a:effectLst/>
                            <a:latin typeface="+mn-lt"/>
                            <a:ea typeface="+mn-ea"/>
                            <a:cs typeface="+mn-cs"/>
                          </a:rPr>
                          <a:t>27-Feb-26</a:t>
                        </a:r>
                      </a:p>
                    </a:txBody>
                    <a:tcPr marL="9525" marR="9525" marT="9525" anchor="ctr">
                      <a:solidFill>
                        <a:srgbClr val="00B050"/>
                      </a:solidFill>
                    </a:tcPr>
                  </a:tc>
                  <a:extLst>
                    <a:ext uri="{0D108BD9-81ED-4DB2-BD59-A6C34878D82A}">
                      <a16:rowId xmlns:a16="http://schemas.microsoft.com/office/drawing/2014/main" val="3421361796"/>
                    </a:ext>
                  </a:extLst>
                </a:tr>
                <a:tr h="123344">
                  <a:tc>
                    <a:txBody>
                      <a:bodyPr/>
                      <a:lstStyle/>
                      <a:p>
                        <a:pPr marL="0" algn="ctr" defTabSz="914400" rtl="0" eaLnBrk="1" fontAlgn="ctr" latinLnBrk="0" hangingPunct="1">
                          <a:buNone/>
                        </a:pPr>
                        <a:r>
                          <a:rPr lang="en-GB" sz="1100" b="0" u="none" strike="noStrike" kern="1200" dirty="0">
                            <a:solidFill>
                              <a:srgbClr val="000000"/>
                            </a:solidFill>
                            <a:effectLst/>
                            <a:latin typeface="+mn-lt"/>
                            <a:ea typeface="+mn-ea"/>
                            <a:cs typeface="+mn-cs"/>
                          </a:rPr>
                          <a:t>CAPA.2026.001</a:t>
                        </a:r>
                      </a:p>
                    </a:txBody>
                    <a:tcPr marL="9525" marR="9525" marT="9525" anchor="ctr"/>
                  </a:tc>
                  <a:tc>
                    <a:txBody>
                      <a:bodyPr/>
                      <a:lstStyle/>
                      <a:p>
                        <a:pPr marL="0" algn="ctr" defTabSz="914400" rtl="0" eaLnBrk="1" fontAlgn="ctr" latinLnBrk="0" hangingPunct="1">
                          <a:buNone/>
                        </a:pPr>
                        <a:r>
                          <a:rPr lang="en-US" sz="1100" b="0" u="none" strike="noStrike" kern="1200" dirty="0">
                            <a:solidFill>
                              <a:srgbClr val="000000"/>
                            </a:solidFill>
                            <a:effectLst/>
                            <a:latin typeface="+mn-lt"/>
                            <a:ea typeface="+mn-ea"/>
                            <a:cs typeface="+mn-cs"/>
                          </a:rPr>
                          <a:t>02-Jan-26</a:t>
                        </a:r>
                      </a:p>
                    </a:txBody>
                    <a:tcPr marL="9525" marR="9525" marT="9525" anchor="ctr"/>
                  </a:tc>
                  <a:tc>
                    <a:txBody>
                      <a:bodyPr/>
                      <a:lstStyle/>
                      <a:p>
                        <a:pPr algn="ctr" fontAlgn="ctr">
                          <a:buNone/>
                        </a:pPr>
                        <a:r>
                          <a:rPr lang="en-GB" sz="1100" b="0" u="none" strike="noStrike" kern="1200" dirty="0">
                            <a:solidFill>
                              <a:srgbClr val="000000"/>
                            </a:solidFill>
                            <a:effectLst/>
                            <a:latin typeface="+mn-lt"/>
                            <a:ea typeface="+mn-ea"/>
                            <a:cs typeface="+mn-cs"/>
                          </a:rPr>
                          <a:t>DEV.2025.039 - Batch of duloxetine rejected due to excessive foaming</a:t>
                        </a:r>
                        <a:endParaRPr lang="en-US" sz="1100" b="0" u="none" strike="noStrike" kern="1200" dirty="0">
                          <a:solidFill>
                            <a:srgbClr val="000000"/>
                          </a:solidFill>
                          <a:effectLst/>
                          <a:latin typeface="+mn-lt"/>
                          <a:ea typeface="+mn-ea"/>
                          <a:cs typeface="+mn-cs"/>
                        </a:endParaRP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Major</a:t>
                        </a:r>
                      </a:p>
                    </a:txBody>
                    <a:tcPr marL="0" marR="0" marT="0" marB="0" anchor="ctr">
                      <a:solidFill>
                        <a:srgbClr val="FFFF66"/>
                      </a:solidFill>
                    </a:tcPr>
                  </a:tc>
                  <a:tc>
                    <a:txBody>
                      <a:bodyPr/>
                      <a:lstStyle/>
                      <a:p>
                        <a:pPr algn="ctr" fontAlgn="ctr">
                          <a:buNone/>
                        </a:pPr>
                        <a:r>
                          <a:rPr lang="en-GB" sz="1100" b="0" u="none" strike="noStrike" kern="1200" dirty="0">
                            <a:solidFill>
                              <a:srgbClr val="000000"/>
                            </a:solidFill>
                            <a:effectLst/>
                            <a:latin typeface="+mn-lt"/>
                            <a:ea typeface="+mn-ea"/>
                            <a:cs typeface="+mn-cs"/>
                          </a:rPr>
                          <a:t>05-Feb-26</a:t>
                        </a:r>
                      </a:p>
                    </a:txBody>
                    <a:tcPr marL="9525" marR="9525" marT="9525" anchor="ctr"/>
                  </a:tc>
                  <a:tc>
                    <a:txBody>
                      <a:bodyPr/>
                      <a:lstStyle/>
                      <a:p>
                        <a:pPr algn="ctr" fontAlgn="ctr">
                          <a:buNone/>
                        </a:pPr>
                        <a:r>
                          <a:rPr lang="en-GB" sz="1100" b="0" u="none" strike="noStrike" kern="1200" dirty="0">
                            <a:solidFill>
                              <a:srgbClr val="000000"/>
                            </a:solidFill>
                            <a:effectLst/>
                            <a:latin typeface="+mn-lt"/>
                            <a:ea typeface="+mn-ea"/>
                            <a:cs typeface="+mn-cs"/>
                          </a:rPr>
                          <a:t>03-Feb-26</a:t>
                        </a:r>
                      </a:p>
                    </a:txBody>
                    <a:tcPr marL="9525" marR="9525" marT="9525" anchor="ctr">
                      <a:solidFill>
                        <a:srgbClr val="00B050"/>
                      </a:solidFill>
                    </a:tcPr>
                  </a:tc>
                  <a:extLst>
                    <a:ext uri="{0D108BD9-81ED-4DB2-BD59-A6C34878D82A}">
                      <a16:rowId xmlns:a16="http://schemas.microsoft.com/office/drawing/2014/main" val="3864793149"/>
                    </a:ext>
                  </a:extLst>
                </a:tr>
                <a:tr h="123344">
                  <a:tc>
                    <a:txBody>
                      <a:bodyPr/>
                      <a:lstStyle/>
                      <a:p>
                        <a:pPr marL="0" algn="ctr" defTabSz="914400" rtl="0" eaLnBrk="1" fontAlgn="ctr" latinLnBrk="0" hangingPunct="1">
                          <a:buNone/>
                        </a:pPr>
                        <a:r>
                          <a:rPr lang="en-GB" sz="1100" b="0" u="none" strike="noStrike" kern="1200" dirty="0">
                            <a:solidFill>
                              <a:srgbClr val="000000"/>
                            </a:solidFill>
                            <a:effectLst/>
                            <a:latin typeface="+mn-lt"/>
                            <a:ea typeface="+mn-ea"/>
                            <a:cs typeface="+mn-cs"/>
                          </a:rPr>
                          <a:t>CAPA.2026.007</a:t>
                        </a:r>
                      </a:p>
                    </a:txBody>
                    <a:tcPr marL="9525" marR="9525" marT="9525" anchor="ctr"/>
                  </a:tc>
                  <a:tc>
                    <a:txBody>
                      <a:bodyPr/>
                      <a:lstStyle/>
                      <a:p>
                        <a:pPr marL="0" algn="ctr" defTabSz="914400" rtl="0" eaLnBrk="1" fontAlgn="ctr" latinLnBrk="0" hangingPunct="1">
                          <a:buNone/>
                        </a:pPr>
                        <a:r>
                          <a:rPr lang="en-US" sz="1100" b="0" u="none" strike="noStrike" kern="1200" dirty="0">
                            <a:solidFill>
                              <a:srgbClr val="000000"/>
                            </a:solidFill>
                            <a:effectLst/>
                            <a:latin typeface="+mn-lt"/>
                            <a:ea typeface="+mn-ea"/>
                            <a:cs typeface="+mn-cs"/>
                          </a:rPr>
                          <a:t>28-Jan-26</a:t>
                        </a:r>
                      </a:p>
                    </a:txBody>
                    <a:tcPr marL="9525" marR="9525" marT="9525" anchor="ctr"/>
                  </a:tc>
                  <a:tc>
                    <a:txBody>
                      <a:bodyPr/>
                      <a:lstStyle/>
                      <a:p>
                        <a:pPr algn="ctr" fontAlgn="ctr">
                          <a:buNone/>
                        </a:pPr>
                        <a:r>
                          <a:rPr lang="en-US" sz="1100" b="0" u="none" strike="noStrike" kern="1200" dirty="0">
                            <a:solidFill>
                              <a:srgbClr val="000000"/>
                            </a:solidFill>
                            <a:effectLst/>
                            <a:latin typeface="+mn-lt"/>
                            <a:ea typeface="+mn-ea"/>
                            <a:cs typeface="+mn-cs"/>
                          </a:rPr>
                          <a:t>DEV.2026.004 - Quetiapine Oral Suspensions Double strength supplied / REC.2026.001</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Critical</a:t>
                        </a:r>
                      </a:p>
                    </a:txBody>
                    <a:tcPr marL="0" marR="0" marT="0" marB="0" anchor="ctr">
                      <a:solidFill>
                        <a:srgbClr val="FF0000"/>
                      </a:solidFill>
                    </a:tcPr>
                  </a:tc>
                  <a:tc>
                    <a:txBody>
                      <a:bodyPr/>
                      <a:lstStyle/>
                      <a:p>
                        <a:pPr algn="ctr" fontAlgn="ctr">
                          <a:buNone/>
                        </a:pPr>
                        <a:r>
                          <a:rPr lang="en-GB" sz="1100" b="0" u="none" strike="noStrike" kern="1200" dirty="0">
                            <a:solidFill>
                              <a:srgbClr val="000000"/>
                            </a:solidFill>
                            <a:effectLst/>
                            <a:latin typeface="+mn-lt"/>
                            <a:ea typeface="+mn-ea"/>
                            <a:cs typeface="+mn-cs"/>
                          </a:rPr>
                          <a:t>28-Feb-26</a:t>
                        </a:r>
                      </a:p>
                    </a:txBody>
                    <a:tcPr marL="9525" marR="9525" marT="9525" anchor="ctr"/>
                  </a:tc>
                  <a:tc>
                    <a:txBody>
                      <a:bodyPr/>
                      <a:lstStyle/>
                      <a:p>
                        <a:pPr algn="ctr" fontAlgn="ctr">
                          <a:buNone/>
                        </a:pPr>
                        <a:r>
                          <a:rPr lang="en-GB" sz="1100" b="0" u="none" strike="noStrike" kern="1200" dirty="0">
                            <a:solidFill>
                              <a:srgbClr val="000000"/>
                            </a:solidFill>
                            <a:effectLst/>
                            <a:latin typeface="+mn-lt"/>
                            <a:ea typeface="+mn-ea"/>
                            <a:cs typeface="+mn-cs"/>
                          </a:rPr>
                          <a:t>27-Feb-26</a:t>
                        </a:r>
                      </a:p>
                    </a:txBody>
                    <a:tcPr marL="9525" marR="9525" marT="9525" anchor="ctr">
                      <a:solidFill>
                        <a:srgbClr val="00B050"/>
                      </a:solidFill>
                    </a:tcPr>
                  </a:tc>
                  <a:extLst>
                    <a:ext uri="{0D108BD9-81ED-4DB2-BD59-A6C34878D82A}">
                      <a16:rowId xmlns:a16="http://schemas.microsoft.com/office/drawing/2014/main" val="941054110"/>
                    </a:ext>
                  </a:extLst>
                </a:tr>
              </a:tbl>
            </a:graphicData>
          </a:graphic>
        </p:graphicFrame>
        <p:graphicFrame>
          <p:nvGraphicFramePr>
            <p:cNvPr id="18" name="Table 17">
              <a:extLst>
                <a:ext uri="{FF2B5EF4-FFF2-40B4-BE49-F238E27FC236}">
                  <a16:creationId xmlns:a16="http://schemas.microsoft.com/office/drawing/2014/main" id="{5CCD08CC-CA15-BA26-3D4B-80759CB4AC6E}"/>
                </a:ext>
              </a:extLst>
            </p:cNvPr>
            <p:cNvGraphicFramePr>
              <a:graphicFrameLocks/>
            </p:cNvGraphicFramePr>
            <p:nvPr>
              <p:extLst>
                <p:ext uri="{D42A27DB-BD31-4B8C-83A1-F6EECF244321}">
                  <p14:modId xmlns:p14="http://schemas.microsoft.com/office/powerpoint/2010/main" val="3464777148"/>
                </p:ext>
              </p:extLst>
            </p:nvPr>
          </p:nvGraphicFramePr>
          <p:xfrm>
            <a:off x="797886" y="1529658"/>
            <a:ext cx="12278235" cy="972050"/>
          </p:xfrm>
          <a:graphic>
            <a:graphicData uri="http://schemas.openxmlformats.org/drawingml/2006/table">
              <a:tbl>
                <a:tblPr firstRow="1" bandRow="1">
                  <a:tableStyleId>{5C22544A-7EE6-4342-B048-85BDC9FD1C3A}</a:tableStyleId>
                </a:tblPr>
                <a:tblGrid>
                  <a:gridCol w="1409253">
                    <a:extLst>
                      <a:ext uri="{9D8B030D-6E8A-4147-A177-3AD203B41FA5}">
                        <a16:colId xmlns:a16="http://schemas.microsoft.com/office/drawing/2014/main" val="340894773"/>
                      </a:ext>
                    </a:extLst>
                  </a:gridCol>
                  <a:gridCol w="1392437">
                    <a:extLst>
                      <a:ext uri="{9D8B030D-6E8A-4147-A177-3AD203B41FA5}">
                        <a16:colId xmlns:a16="http://schemas.microsoft.com/office/drawing/2014/main" val="1544888063"/>
                      </a:ext>
                    </a:extLst>
                  </a:gridCol>
                  <a:gridCol w="3371238">
                    <a:extLst>
                      <a:ext uri="{9D8B030D-6E8A-4147-A177-3AD203B41FA5}">
                        <a16:colId xmlns:a16="http://schemas.microsoft.com/office/drawing/2014/main" val="578213674"/>
                      </a:ext>
                    </a:extLst>
                  </a:gridCol>
                  <a:gridCol w="2155216">
                    <a:extLst>
                      <a:ext uri="{9D8B030D-6E8A-4147-A177-3AD203B41FA5}">
                        <a16:colId xmlns:a16="http://schemas.microsoft.com/office/drawing/2014/main" val="2330183767"/>
                      </a:ext>
                    </a:extLst>
                  </a:gridCol>
                  <a:gridCol w="1035984">
                    <a:extLst>
                      <a:ext uri="{9D8B030D-6E8A-4147-A177-3AD203B41FA5}">
                        <a16:colId xmlns:a16="http://schemas.microsoft.com/office/drawing/2014/main" val="2869575329"/>
                      </a:ext>
                    </a:extLst>
                  </a:gridCol>
                  <a:gridCol w="1737513">
                    <a:extLst>
                      <a:ext uri="{9D8B030D-6E8A-4147-A177-3AD203B41FA5}">
                        <a16:colId xmlns:a16="http://schemas.microsoft.com/office/drawing/2014/main" val="1571917461"/>
                      </a:ext>
                    </a:extLst>
                  </a:gridCol>
                </a:tblGrid>
                <a:tr h="139762">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dirty="0">
                            <a:solidFill>
                              <a:sysClr val="windowText" lastClr="000000"/>
                            </a:solidFill>
                          </a:rPr>
                          <a:t>Major &amp; Critical CAPAs Open</a:t>
                        </a:r>
                        <a:endParaRPr lang="en-GB" sz="1200" b="1" dirty="0">
                          <a:solidFill>
                            <a:sysClr val="windowText" lastClr="000000"/>
                          </a:solidFill>
                          <a:latin typeface="+mn-lt"/>
                        </a:endParaRPr>
                      </a:p>
                    </a:txBody>
                    <a:tcPr marL="74309" marR="74309" marT="37155" marB="37155" anchor="ctr"/>
                  </a:tc>
                  <a:tc hMerge="1">
                    <a:txBody>
                      <a:bodyPr/>
                      <a:lstStyle/>
                      <a:p>
                        <a:endParaRPr lang="en-GB"/>
                      </a:p>
                    </a:txBody>
                    <a:tcPr/>
                  </a:tc>
                  <a:tc hMerge="1">
                    <a:txBody>
                      <a:bodyPr/>
                      <a:lstStyle/>
                      <a:p>
                        <a:pPr algn="ctr"/>
                        <a:endParaRPr lang="en-GB" sz="2000" b="1" dirty="0">
                          <a:solidFill>
                            <a:schemeClr val="tx1"/>
                          </a:solidFill>
                          <a:latin typeface="+mn-lt"/>
                        </a:endParaRPr>
                      </a:p>
                    </a:txBody>
                    <a:tcPr marL="74309" marR="74309" marT="37155" marB="37155" anchor="ctr">
                      <a:solidFill>
                        <a:schemeClr val="bg1"/>
                      </a:solidFill>
                    </a:tcPr>
                  </a:tc>
                  <a:tc hMerge="1">
                    <a:txBody>
                      <a:bodyPr/>
                      <a:lstStyle/>
                      <a:p>
                        <a:pPr algn="ctr"/>
                        <a:endParaRPr lang="en-GB" sz="2000" b="1" dirty="0">
                          <a:solidFill>
                            <a:schemeClr val="tx1"/>
                          </a:solidFill>
                          <a:latin typeface="+mn-lt"/>
                        </a:endParaRPr>
                      </a:p>
                    </a:txBody>
                    <a:tcPr marL="74309" marR="74309" marT="37155" marB="37155" anchor="ctr">
                      <a:solidFill>
                        <a:schemeClr val="bg1"/>
                      </a:solidFill>
                    </a:tcPr>
                  </a:tc>
                  <a:tc hMerge="1">
                    <a:txBody>
                      <a:bodyPr/>
                      <a:lstStyle/>
                      <a:p>
                        <a:pPr algn="ctr"/>
                        <a:endParaRPr lang="en-GB" sz="2000" b="1" dirty="0">
                          <a:solidFill>
                            <a:schemeClr val="tx1"/>
                          </a:solidFill>
                        </a:endParaRPr>
                      </a:p>
                    </a:txBody>
                    <a:tcPr marL="74309" marR="74309" marT="37155" marB="37155" anchor="ctr">
                      <a:solidFill>
                        <a:schemeClr val="bg1"/>
                      </a:solidFill>
                    </a:tcPr>
                  </a:tc>
                  <a:tc hMerge="1">
                    <a:txBody>
                      <a:bodyPr/>
                      <a:lstStyle/>
                      <a:p>
                        <a:pPr algn="ctr"/>
                        <a:endParaRPr lang="en-GB" sz="2000" b="1" dirty="0">
                          <a:solidFill>
                            <a:schemeClr val="tx1"/>
                          </a:solidFill>
                        </a:endParaRPr>
                      </a:p>
                    </a:txBody>
                    <a:tcPr marL="74309" marR="74309" marT="37155" marB="37155" anchor="ctr">
                      <a:solidFill>
                        <a:schemeClr val="bg1"/>
                      </a:solidFill>
                    </a:tcPr>
                  </a:tc>
                  <a:extLst>
                    <a:ext uri="{0D108BD9-81ED-4DB2-BD59-A6C34878D82A}">
                      <a16:rowId xmlns:a16="http://schemas.microsoft.com/office/drawing/2014/main" val="1452266958"/>
                    </a:ext>
                  </a:extLst>
                </a:tr>
                <a:tr h="15149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b="1" dirty="0">
                            <a:solidFill>
                              <a:sysClr val="windowText" lastClr="000000"/>
                            </a:solidFill>
                          </a:rPr>
                          <a:t>CAPA number</a:t>
                        </a:r>
                        <a:endParaRPr lang="en-GB" sz="1100" b="1" dirty="0">
                          <a:solidFill>
                            <a:sysClr val="windowText" lastClr="000000"/>
                          </a:solidFill>
                          <a:latin typeface="+mn-lt"/>
                        </a:endParaRPr>
                      </a:p>
                    </a:txBody>
                    <a:tcPr marL="74309" marR="74309" marT="37155" marB="37155" anchor="ctr"/>
                  </a:tc>
                  <a:tc>
                    <a:txBody>
                      <a:bodyPr/>
                      <a:lstStyle/>
                      <a:p>
                        <a:pPr algn="ctr"/>
                        <a:r>
                          <a:rPr lang="en-GB" sz="1100" b="1" dirty="0">
                            <a:solidFill>
                              <a:sysClr val="windowText" lastClr="000000"/>
                            </a:solidFill>
                            <a:latin typeface="+mn-lt"/>
                          </a:rPr>
                          <a:t>Date raised</a:t>
                        </a:r>
                      </a:p>
                    </a:txBody>
                    <a:tcPr marL="74309" marR="74309" marT="37155" marB="37155" anchor="ctr"/>
                  </a:tc>
                  <a:tc>
                    <a:txBody>
                      <a:bodyPr/>
                      <a:lstStyle/>
                      <a:p>
                        <a:pPr algn="ctr"/>
                        <a:r>
                          <a:rPr lang="en-GB" sz="1100" b="1" dirty="0">
                            <a:solidFill>
                              <a:sysClr val="windowText" lastClr="000000"/>
                            </a:solidFill>
                          </a:rPr>
                          <a:t>CAPA description</a:t>
                        </a:r>
                        <a:endParaRPr lang="en-GB" sz="1100" b="1" dirty="0">
                          <a:solidFill>
                            <a:sysClr val="windowText" lastClr="000000"/>
                          </a:solidFill>
                          <a:latin typeface="+mn-lt"/>
                        </a:endParaRPr>
                      </a:p>
                    </a:txBody>
                    <a:tcPr marL="74309" marR="74309" marT="37155" marB="37155" anchor="ctr"/>
                  </a:tc>
                  <a:tc>
                    <a:txBody>
                      <a:bodyPr/>
                      <a:lstStyle/>
                      <a:p>
                        <a:pPr algn="ctr"/>
                        <a:r>
                          <a:rPr lang="en-GB" sz="1100" b="1" dirty="0">
                            <a:solidFill>
                              <a:sysClr val="windowText" lastClr="000000"/>
                            </a:solidFill>
                          </a:rPr>
                          <a:t>Classification</a:t>
                        </a:r>
                        <a:endParaRPr lang="en-GB" sz="1100" b="1" dirty="0">
                          <a:solidFill>
                            <a:sysClr val="windowText" lastClr="000000"/>
                          </a:solidFill>
                          <a:latin typeface="+mn-lt"/>
                        </a:endParaRPr>
                      </a:p>
                    </a:txBody>
                    <a:tcPr marL="74309" marR="74309" marT="37155" marB="37155" anchor="ctr"/>
                  </a:tc>
                  <a:tc>
                    <a:txBody>
                      <a:bodyPr/>
                      <a:lstStyle/>
                      <a:p>
                        <a:pPr algn="ctr"/>
                        <a:r>
                          <a:rPr lang="en-GB" sz="1100" b="1" dirty="0">
                            <a:solidFill>
                              <a:sysClr val="windowText" lastClr="000000"/>
                            </a:solidFill>
                          </a:rPr>
                          <a:t>Target date</a:t>
                        </a:r>
                      </a:p>
                    </a:txBody>
                    <a:tcPr marL="74309" marR="74309" marT="37155" marB="37155" anchor="ctr"/>
                  </a:tc>
                  <a:tc>
                    <a:txBody>
                      <a:bodyPr/>
                      <a:lstStyle/>
                      <a:p>
                        <a:pPr algn="ctr"/>
                        <a:r>
                          <a:rPr lang="en-GB" sz="1100" b="1" dirty="0">
                            <a:solidFill>
                              <a:sysClr val="windowText" lastClr="000000"/>
                            </a:solidFill>
                          </a:rPr>
                          <a:t>Reason still open</a:t>
                        </a:r>
                      </a:p>
                    </a:txBody>
                    <a:tcPr marL="74309" marR="74309" marT="37155" marB="37155" anchor="ctr"/>
                  </a:tc>
                  <a:extLst>
                    <a:ext uri="{0D108BD9-81ED-4DB2-BD59-A6C34878D82A}">
                      <a16:rowId xmlns:a16="http://schemas.microsoft.com/office/drawing/2014/main" val="3379889016"/>
                    </a:ext>
                  </a:extLst>
                </a:tr>
                <a:tr h="121120">
                  <a:tc>
                    <a:txBody>
                      <a:bodyPr/>
                      <a:lstStyle/>
                      <a:p>
                        <a:pPr algn="ctr" fontAlgn="ctr">
                          <a:buNone/>
                        </a:pPr>
                        <a:r>
                          <a:rPr lang="en-GB" sz="1100" b="0" i="0" u="none" strike="noStrike" dirty="0">
                            <a:solidFill>
                              <a:srgbClr val="000000"/>
                            </a:solidFill>
                            <a:effectLst/>
                            <a:latin typeface="Calibri" panose="020F0502020204030204" pitchFamily="34" charset="0"/>
                          </a:rPr>
                          <a:t>CAPA.2025.047</a:t>
                        </a:r>
                      </a:p>
                    </a:txBody>
                    <a:tcPr marL="9525" marR="9525" marT="9525" anchor="ctr"/>
                  </a:tc>
                  <a:tc>
                    <a:txBody>
                      <a:bodyPr/>
                      <a:lstStyle/>
                      <a:p>
                        <a:pPr algn="ctr" fontAlgn="ctr">
                          <a:buNone/>
                        </a:pPr>
                        <a:r>
                          <a:rPr lang="en-US" sz="1100" b="0" i="0" u="none" strike="noStrike" dirty="0">
                            <a:solidFill>
                              <a:srgbClr val="000000"/>
                            </a:solidFill>
                            <a:effectLst/>
                            <a:latin typeface="+mn-lt"/>
                          </a:rPr>
                          <a:t>29-Dec-25</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Production Internal Audit</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Major</a:t>
                        </a: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31-May-26</a:t>
                        </a:r>
                      </a:p>
                    </a:txBody>
                    <a:tcPr marL="9525" marR="9525" marT="9525" anchor="ctr"/>
                  </a:tc>
                  <a:tc>
                    <a:txBody>
                      <a:bodyPr/>
                      <a:lstStyle/>
                      <a:p>
                        <a:pPr algn="ctr" fontAlgn="ctr">
                          <a:buNone/>
                        </a:pPr>
                        <a:r>
                          <a:rPr lang="en-GB" sz="1100" b="0" i="0" u="none" strike="noStrike" dirty="0">
                            <a:solidFill>
                              <a:schemeClr val="bg1"/>
                            </a:solidFill>
                            <a:effectLst/>
                            <a:latin typeface="Calibri" panose="020F0502020204030204" pitchFamily="34" charset="0"/>
                          </a:rPr>
                          <a:t>Actions Outstanding</a:t>
                        </a:r>
                      </a:p>
                    </a:txBody>
                    <a:tcPr marL="9525" marR="9525" marT="9525" anchor="ctr"/>
                  </a:tc>
                  <a:extLst>
                    <a:ext uri="{0D108BD9-81ED-4DB2-BD59-A6C34878D82A}">
                      <a16:rowId xmlns:a16="http://schemas.microsoft.com/office/drawing/2014/main" val="1112242460"/>
                    </a:ext>
                  </a:extLst>
                </a:tr>
                <a:tr h="121120">
                  <a:tc>
                    <a:txBody>
                      <a:bodyPr/>
                      <a:lstStyle/>
                      <a:p>
                        <a:pPr algn="ctr" fontAlgn="ctr">
                          <a:buNone/>
                        </a:pPr>
                        <a:r>
                          <a:rPr lang="en-GB" sz="1100" b="0" i="0" u="none" strike="noStrike" dirty="0">
                            <a:solidFill>
                              <a:srgbClr val="000000"/>
                            </a:solidFill>
                            <a:effectLst/>
                            <a:latin typeface="Calibri" panose="020F0502020204030204" pitchFamily="34" charset="0"/>
                          </a:rPr>
                          <a:t>CAPA.2026.004</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22-Jan-26</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Mock Inspection CAPA</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Major</a:t>
                        </a: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31-Jul-26</a:t>
                        </a:r>
                      </a:p>
                    </a:txBody>
                    <a:tcPr marL="9525" marR="9525" marT="9525" anchor="ctr"/>
                  </a:tc>
                  <a:tc>
                    <a:txBody>
                      <a:bodyPr/>
                      <a:lstStyle/>
                      <a:p>
                        <a:pPr algn="ctr" fontAlgn="ctr">
                          <a:buNone/>
                        </a:pPr>
                        <a:r>
                          <a:rPr lang="en-GB" sz="1100" b="0" i="0" u="none" strike="noStrike" dirty="0">
                            <a:solidFill>
                              <a:schemeClr val="bg1"/>
                            </a:solidFill>
                            <a:effectLst/>
                            <a:latin typeface="Calibri" panose="020F0502020204030204" pitchFamily="34" charset="0"/>
                          </a:rPr>
                          <a:t>Actions Outstanding</a:t>
                        </a:r>
                      </a:p>
                    </a:txBody>
                    <a:tcPr marL="9525" marR="9525" marT="9525" anchor="ctr"/>
                  </a:tc>
                  <a:extLst>
                    <a:ext uri="{0D108BD9-81ED-4DB2-BD59-A6C34878D82A}">
                      <a16:rowId xmlns:a16="http://schemas.microsoft.com/office/drawing/2014/main" val="2936806730"/>
                    </a:ext>
                  </a:extLst>
                </a:tr>
              </a:tbl>
            </a:graphicData>
          </a:graphic>
        </p:graphicFrame>
      </p:grpSp>
      <p:graphicFrame>
        <p:nvGraphicFramePr>
          <p:cNvPr id="19" name="Table 18">
            <a:extLst>
              <a:ext uri="{FF2B5EF4-FFF2-40B4-BE49-F238E27FC236}">
                <a16:creationId xmlns:a16="http://schemas.microsoft.com/office/drawing/2014/main" id="{5339D63E-8FC4-A871-1DCB-1143CE686A29}"/>
              </a:ext>
            </a:extLst>
          </p:cNvPr>
          <p:cNvGraphicFramePr>
            <a:graphicFrameLocks noGrp="1"/>
          </p:cNvGraphicFramePr>
          <p:nvPr>
            <p:extLst>
              <p:ext uri="{D42A27DB-BD31-4B8C-83A1-F6EECF244321}">
                <p14:modId xmlns:p14="http://schemas.microsoft.com/office/powerpoint/2010/main" val="449054226"/>
              </p:ext>
            </p:extLst>
          </p:nvPr>
        </p:nvGraphicFramePr>
        <p:xfrm>
          <a:off x="842091" y="3861635"/>
          <a:ext cx="11101645" cy="1241410"/>
        </p:xfrm>
        <a:graphic>
          <a:graphicData uri="http://schemas.openxmlformats.org/drawingml/2006/table">
            <a:tbl>
              <a:tblPr/>
              <a:tblGrid>
                <a:gridCol w="1774241">
                  <a:extLst>
                    <a:ext uri="{9D8B030D-6E8A-4147-A177-3AD203B41FA5}">
                      <a16:colId xmlns:a16="http://schemas.microsoft.com/office/drawing/2014/main" val="1385492866"/>
                    </a:ext>
                  </a:extLst>
                </a:gridCol>
                <a:gridCol w="2133523">
                  <a:extLst>
                    <a:ext uri="{9D8B030D-6E8A-4147-A177-3AD203B41FA5}">
                      <a16:colId xmlns:a16="http://schemas.microsoft.com/office/drawing/2014/main" val="3694548484"/>
                    </a:ext>
                  </a:extLst>
                </a:gridCol>
                <a:gridCol w="2133523">
                  <a:extLst>
                    <a:ext uri="{9D8B030D-6E8A-4147-A177-3AD203B41FA5}">
                      <a16:colId xmlns:a16="http://schemas.microsoft.com/office/drawing/2014/main" val="3616206764"/>
                    </a:ext>
                  </a:extLst>
                </a:gridCol>
                <a:gridCol w="1748722">
                  <a:extLst>
                    <a:ext uri="{9D8B030D-6E8A-4147-A177-3AD203B41FA5}">
                      <a16:colId xmlns:a16="http://schemas.microsoft.com/office/drawing/2014/main" val="3644329512"/>
                    </a:ext>
                  </a:extLst>
                </a:gridCol>
                <a:gridCol w="1655818">
                  <a:extLst>
                    <a:ext uri="{9D8B030D-6E8A-4147-A177-3AD203B41FA5}">
                      <a16:colId xmlns:a16="http://schemas.microsoft.com/office/drawing/2014/main" val="3871842897"/>
                    </a:ext>
                  </a:extLst>
                </a:gridCol>
                <a:gridCol w="1655818">
                  <a:extLst>
                    <a:ext uri="{9D8B030D-6E8A-4147-A177-3AD203B41FA5}">
                      <a16:colId xmlns:a16="http://schemas.microsoft.com/office/drawing/2014/main" val="1883237257"/>
                    </a:ext>
                  </a:extLst>
                </a:gridCol>
              </a:tblGrid>
              <a:tr h="342491">
                <a:tc>
                  <a:txBody>
                    <a:bodyPr/>
                    <a:lstStyle>
                      <a:lvl1pPr marL="0" algn="l" defTabSz="914377" rtl="0" eaLnBrk="1" latinLnBrk="0" hangingPunct="1">
                        <a:defRPr sz="1800" kern="1200">
                          <a:solidFill>
                            <a:schemeClr val="tx1"/>
                          </a:solidFill>
                          <a:latin typeface="Corbel" panose="020B0503020204020204"/>
                        </a:defRPr>
                      </a:lvl1pPr>
                      <a:lvl2pPr marL="457189" algn="l" defTabSz="914377" rtl="0" eaLnBrk="1" latinLnBrk="0" hangingPunct="1">
                        <a:defRPr sz="1800" kern="1200">
                          <a:solidFill>
                            <a:schemeClr val="tx1"/>
                          </a:solidFill>
                          <a:latin typeface="Corbel" panose="020B0503020204020204"/>
                        </a:defRPr>
                      </a:lvl2pPr>
                      <a:lvl3pPr marL="914377" algn="l" defTabSz="914377" rtl="0" eaLnBrk="1" latinLnBrk="0" hangingPunct="1">
                        <a:defRPr sz="1800" kern="1200">
                          <a:solidFill>
                            <a:schemeClr val="tx1"/>
                          </a:solidFill>
                          <a:latin typeface="Corbel" panose="020B0503020204020204"/>
                        </a:defRPr>
                      </a:lvl3pPr>
                      <a:lvl4pPr marL="1371566" algn="l" defTabSz="914377" rtl="0" eaLnBrk="1" latinLnBrk="0" hangingPunct="1">
                        <a:defRPr sz="1800" kern="1200">
                          <a:solidFill>
                            <a:schemeClr val="tx1"/>
                          </a:solidFill>
                          <a:latin typeface="Corbel" panose="020B0503020204020204"/>
                        </a:defRPr>
                      </a:lvl4pPr>
                      <a:lvl5pPr marL="1828754" algn="l" defTabSz="914377" rtl="0" eaLnBrk="1" latinLnBrk="0" hangingPunct="1">
                        <a:defRPr sz="1800" kern="1200">
                          <a:solidFill>
                            <a:schemeClr val="tx1"/>
                          </a:solidFill>
                          <a:latin typeface="Corbel" panose="020B0503020204020204"/>
                        </a:defRPr>
                      </a:lvl5pPr>
                      <a:lvl6pPr marL="2285943" algn="l" defTabSz="914377" rtl="0" eaLnBrk="1" latinLnBrk="0" hangingPunct="1">
                        <a:defRPr sz="1800" kern="1200">
                          <a:solidFill>
                            <a:schemeClr val="tx1"/>
                          </a:solidFill>
                          <a:latin typeface="Corbel" panose="020B0503020204020204"/>
                        </a:defRPr>
                      </a:lvl6pPr>
                      <a:lvl7pPr marL="2743131" algn="l" defTabSz="914377" rtl="0" eaLnBrk="1" latinLnBrk="0" hangingPunct="1">
                        <a:defRPr sz="1800" kern="1200">
                          <a:solidFill>
                            <a:schemeClr val="tx1"/>
                          </a:solidFill>
                          <a:latin typeface="Corbel" panose="020B0503020204020204"/>
                        </a:defRPr>
                      </a:lvl7pPr>
                      <a:lvl8pPr marL="3200320" algn="l" defTabSz="914377" rtl="0" eaLnBrk="1" latinLnBrk="0" hangingPunct="1">
                        <a:defRPr sz="1800" kern="1200">
                          <a:solidFill>
                            <a:schemeClr val="tx1"/>
                          </a:solidFill>
                          <a:latin typeface="Corbel" panose="020B0503020204020204"/>
                        </a:defRPr>
                      </a:lvl8pPr>
                      <a:lvl9pPr marL="3657509" algn="l" defTabSz="914377" rtl="0" eaLnBrk="1" latinLnBrk="0" hangingPunct="1">
                        <a:defRPr sz="1800" kern="1200">
                          <a:solidFill>
                            <a:schemeClr val="tx1"/>
                          </a:solidFill>
                          <a:latin typeface="Corbel" panose="020B0503020204020204"/>
                        </a:defRPr>
                      </a:lvl9pPr>
                    </a:lstStyle>
                    <a:p>
                      <a:pPr algn="ctr" fontAlgn="ctr"/>
                      <a:r>
                        <a:rPr lang="en-US" sz="1800" b="1" i="0" u="none" strike="noStrike" dirty="0">
                          <a:solidFill>
                            <a:srgbClr val="000000"/>
                          </a:solidFill>
                          <a:effectLst/>
                          <a:latin typeface="Calibri" panose="020F0502020204030204" pitchFamily="34" charset="0"/>
                        </a:rPr>
                        <a:t>Currently Open </a:t>
                      </a:r>
                      <a:endParaRPr lang="en-GB" sz="1800" b="1" i="0" u="none" strike="noStrike" dirty="0">
                        <a:solidFill>
                          <a:srgbClr val="000000"/>
                        </a:solidFill>
                        <a:effectLst/>
                        <a:latin typeface="Calibri" panose="020F0502020204030204" pitchFamily="34" charset="0"/>
                      </a:endParaRP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dirty="0">
                          <a:solidFill>
                            <a:srgbClr val="000000"/>
                          </a:solidFill>
                          <a:effectLst/>
                          <a:latin typeface="Calibri" panose="020F0502020204030204" pitchFamily="34" charset="0"/>
                        </a:rPr>
                        <a:t>Open with extension</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dirty="0">
                          <a:solidFill>
                            <a:srgbClr val="000000"/>
                          </a:solidFill>
                          <a:effectLst/>
                          <a:latin typeface="Calibri" panose="020F0502020204030204" pitchFamily="34" charset="0"/>
                        </a:rPr>
                        <a:t>Currently open &amp; overdue at the end of quarter</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kern="1200" dirty="0">
                          <a:solidFill>
                            <a:srgbClr val="000000"/>
                          </a:solidFill>
                          <a:effectLst/>
                          <a:latin typeface="Calibri" panose="020F0502020204030204" pitchFamily="34" charset="0"/>
                          <a:ea typeface="+mn-ea"/>
                          <a:cs typeface="+mn-cs"/>
                        </a:rPr>
                        <a:t>Closed (Q1 2026)</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kern="1200" dirty="0">
                          <a:solidFill>
                            <a:srgbClr val="000000"/>
                          </a:solidFill>
                          <a:effectLst/>
                          <a:latin typeface="Calibri" panose="020F0502020204030204" pitchFamily="34" charset="0"/>
                          <a:ea typeface="+mn-ea"/>
                          <a:cs typeface="+mn-cs"/>
                        </a:rPr>
                        <a:t>Closed after target date</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kern="1200" dirty="0">
                          <a:solidFill>
                            <a:srgbClr val="000000"/>
                          </a:solidFill>
                          <a:effectLst/>
                          <a:latin typeface="Calibri" panose="020F0502020204030204" pitchFamily="34" charset="0"/>
                          <a:ea typeface="+mn-ea"/>
                          <a:cs typeface="+mn-cs"/>
                        </a:rPr>
                        <a:t>Closed after extension</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3701969659"/>
                  </a:ext>
                </a:extLst>
              </a:tr>
              <a:tr h="253873">
                <a:tc>
                  <a:txBody>
                    <a:bodyPr/>
                    <a:lstStyle>
                      <a:lvl1pPr marL="0" algn="l" defTabSz="914377" rtl="0" eaLnBrk="1" latinLnBrk="0" hangingPunct="1">
                        <a:defRPr sz="1800" kern="1200">
                          <a:solidFill>
                            <a:schemeClr val="tx1"/>
                          </a:solidFill>
                          <a:latin typeface="Corbel" panose="020B0503020204020204"/>
                        </a:defRPr>
                      </a:lvl1pPr>
                      <a:lvl2pPr marL="457189" algn="l" defTabSz="914377" rtl="0" eaLnBrk="1" latinLnBrk="0" hangingPunct="1">
                        <a:defRPr sz="1800" kern="1200">
                          <a:solidFill>
                            <a:schemeClr val="tx1"/>
                          </a:solidFill>
                          <a:latin typeface="Corbel" panose="020B0503020204020204"/>
                        </a:defRPr>
                      </a:lvl2pPr>
                      <a:lvl3pPr marL="914377" algn="l" defTabSz="914377" rtl="0" eaLnBrk="1" latinLnBrk="0" hangingPunct="1">
                        <a:defRPr sz="1800" kern="1200">
                          <a:solidFill>
                            <a:schemeClr val="tx1"/>
                          </a:solidFill>
                          <a:latin typeface="Corbel" panose="020B0503020204020204"/>
                        </a:defRPr>
                      </a:lvl3pPr>
                      <a:lvl4pPr marL="1371566" algn="l" defTabSz="914377" rtl="0" eaLnBrk="1" latinLnBrk="0" hangingPunct="1">
                        <a:defRPr sz="1800" kern="1200">
                          <a:solidFill>
                            <a:schemeClr val="tx1"/>
                          </a:solidFill>
                          <a:latin typeface="Corbel" panose="020B0503020204020204"/>
                        </a:defRPr>
                      </a:lvl4pPr>
                      <a:lvl5pPr marL="1828754" algn="l" defTabSz="914377" rtl="0" eaLnBrk="1" latinLnBrk="0" hangingPunct="1">
                        <a:defRPr sz="1800" kern="1200">
                          <a:solidFill>
                            <a:schemeClr val="tx1"/>
                          </a:solidFill>
                          <a:latin typeface="Corbel" panose="020B0503020204020204"/>
                        </a:defRPr>
                      </a:lvl5pPr>
                      <a:lvl6pPr marL="2285943" algn="l" defTabSz="914377" rtl="0" eaLnBrk="1" latinLnBrk="0" hangingPunct="1">
                        <a:defRPr sz="1800" kern="1200">
                          <a:solidFill>
                            <a:schemeClr val="tx1"/>
                          </a:solidFill>
                          <a:latin typeface="Corbel" panose="020B0503020204020204"/>
                        </a:defRPr>
                      </a:lvl6pPr>
                      <a:lvl7pPr marL="2743131" algn="l" defTabSz="914377" rtl="0" eaLnBrk="1" latinLnBrk="0" hangingPunct="1">
                        <a:defRPr sz="1800" kern="1200">
                          <a:solidFill>
                            <a:schemeClr val="tx1"/>
                          </a:solidFill>
                          <a:latin typeface="Corbel" panose="020B0503020204020204"/>
                        </a:defRPr>
                      </a:lvl7pPr>
                      <a:lvl8pPr marL="3200320" algn="l" defTabSz="914377" rtl="0" eaLnBrk="1" latinLnBrk="0" hangingPunct="1">
                        <a:defRPr sz="1800" kern="1200">
                          <a:solidFill>
                            <a:schemeClr val="tx1"/>
                          </a:solidFill>
                          <a:latin typeface="Corbel" panose="020B0503020204020204"/>
                        </a:defRPr>
                      </a:lvl8pPr>
                      <a:lvl9pPr marL="3657509" algn="l" defTabSz="914377" rtl="0" eaLnBrk="1" latinLnBrk="0" hangingPunct="1">
                        <a:defRPr sz="1800" kern="1200">
                          <a:solidFill>
                            <a:schemeClr val="tx1"/>
                          </a:solidFill>
                          <a:latin typeface="Corbel" panose="020B0503020204020204"/>
                        </a:defRPr>
                      </a:lvl9pPr>
                    </a:lstStyle>
                    <a:p>
                      <a:pPr algn="ctr" fontAlgn="ctr"/>
                      <a:r>
                        <a:rPr lang="en-GB" sz="1800" b="0" i="0" u="none" strike="noStrike" kern="1200" dirty="0">
                          <a:solidFill>
                            <a:srgbClr val="000000"/>
                          </a:solidFill>
                          <a:effectLst/>
                          <a:latin typeface="Calibri" panose="020F0502020204030204" pitchFamily="34" charset="0"/>
                          <a:ea typeface="+mn-ea"/>
                          <a:cs typeface="+mn-cs"/>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GB" sz="20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GB" sz="20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GB" sz="1800" b="0" i="0" u="none" strike="noStrike" dirty="0">
                          <a:solidFill>
                            <a:srgbClr val="000000"/>
                          </a:solidFill>
                          <a:effectLst/>
                          <a:latin typeface="Calibri" panose="020F0502020204030204" pitchFamily="34" charset="0"/>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GB" sz="18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GB" sz="1800" b="0" i="0" u="none" strike="noStrike" dirty="0">
                          <a:solidFill>
                            <a:srgbClr val="000000"/>
                          </a:solidFill>
                          <a:effectLst/>
                          <a:latin typeface="Calibri" panose="020F0502020204030204" pitchFamily="34" charset="0"/>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74620987"/>
                  </a:ext>
                </a:extLst>
              </a:tr>
            </a:tbl>
          </a:graphicData>
        </a:graphic>
      </p:graphicFrame>
      <p:graphicFrame>
        <p:nvGraphicFramePr>
          <p:cNvPr id="2" name="Table 1">
            <a:extLst>
              <a:ext uri="{FF2B5EF4-FFF2-40B4-BE49-F238E27FC236}">
                <a16:creationId xmlns:a16="http://schemas.microsoft.com/office/drawing/2014/main" id="{24176243-452B-F81B-06F9-528556D43D67}"/>
              </a:ext>
            </a:extLst>
          </p:cNvPr>
          <p:cNvGraphicFramePr>
            <a:graphicFrameLocks noGrp="1"/>
          </p:cNvGraphicFramePr>
          <p:nvPr>
            <p:extLst>
              <p:ext uri="{D42A27DB-BD31-4B8C-83A1-F6EECF244321}">
                <p14:modId xmlns:p14="http://schemas.microsoft.com/office/powerpoint/2010/main" val="2381275903"/>
              </p:ext>
            </p:extLst>
          </p:nvPr>
        </p:nvGraphicFramePr>
        <p:xfrm>
          <a:off x="842088" y="5199872"/>
          <a:ext cx="11101642" cy="807638"/>
        </p:xfrm>
        <a:graphic>
          <a:graphicData uri="http://schemas.openxmlformats.org/drawingml/2006/table">
            <a:tbl>
              <a:tblPr firstRow="1">
                <a:tableStyleId>{7DF18680-E054-41AD-8BC1-D1AEF772440D}</a:tableStyleId>
              </a:tblPr>
              <a:tblGrid>
                <a:gridCol w="4457499">
                  <a:extLst>
                    <a:ext uri="{9D8B030D-6E8A-4147-A177-3AD203B41FA5}">
                      <a16:colId xmlns:a16="http://schemas.microsoft.com/office/drawing/2014/main" val="1385492866"/>
                    </a:ext>
                  </a:extLst>
                </a:gridCol>
                <a:gridCol w="953729">
                  <a:extLst>
                    <a:ext uri="{9D8B030D-6E8A-4147-A177-3AD203B41FA5}">
                      <a16:colId xmlns:a16="http://schemas.microsoft.com/office/drawing/2014/main" val="3616206764"/>
                    </a:ext>
                  </a:extLst>
                </a:gridCol>
                <a:gridCol w="875071">
                  <a:extLst>
                    <a:ext uri="{9D8B030D-6E8A-4147-A177-3AD203B41FA5}">
                      <a16:colId xmlns:a16="http://schemas.microsoft.com/office/drawing/2014/main" val="3644329512"/>
                    </a:ext>
                  </a:extLst>
                </a:gridCol>
                <a:gridCol w="4815343">
                  <a:extLst>
                    <a:ext uri="{9D8B030D-6E8A-4147-A177-3AD203B41FA5}">
                      <a16:colId xmlns:a16="http://schemas.microsoft.com/office/drawing/2014/main" val="3871842897"/>
                    </a:ext>
                  </a:extLst>
                </a:gridCol>
              </a:tblGrid>
              <a:tr h="452299">
                <a:tc>
                  <a:txBody>
                    <a:bodyPr/>
                    <a:lstStyle>
                      <a:lvl1pPr marL="0" algn="l" defTabSz="914377" rtl="0" eaLnBrk="1" latinLnBrk="0" hangingPunct="1">
                        <a:defRPr sz="1800" kern="1200">
                          <a:solidFill>
                            <a:schemeClr val="tx1"/>
                          </a:solidFill>
                          <a:latin typeface="Corbel" panose="020B0503020204020204"/>
                        </a:defRPr>
                      </a:lvl1pPr>
                      <a:lvl2pPr marL="457189" algn="l" defTabSz="914377" rtl="0" eaLnBrk="1" latinLnBrk="0" hangingPunct="1">
                        <a:defRPr sz="1800" kern="1200">
                          <a:solidFill>
                            <a:schemeClr val="tx1"/>
                          </a:solidFill>
                          <a:latin typeface="Corbel" panose="020B0503020204020204"/>
                        </a:defRPr>
                      </a:lvl2pPr>
                      <a:lvl3pPr marL="914377" algn="l" defTabSz="914377" rtl="0" eaLnBrk="1" latinLnBrk="0" hangingPunct="1">
                        <a:defRPr sz="1800" kern="1200">
                          <a:solidFill>
                            <a:schemeClr val="tx1"/>
                          </a:solidFill>
                          <a:latin typeface="Corbel" panose="020B0503020204020204"/>
                        </a:defRPr>
                      </a:lvl3pPr>
                      <a:lvl4pPr marL="1371566" algn="l" defTabSz="914377" rtl="0" eaLnBrk="1" latinLnBrk="0" hangingPunct="1">
                        <a:defRPr sz="1800" kern="1200">
                          <a:solidFill>
                            <a:schemeClr val="tx1"/>
                          </a:solidFill>
                          <a:latin typeface="Corbel" panose="020B0503020204020204"/>
                        </a:defRPr>
                      </a:lvl4pPr>
                      <a:lvl5pPr marL="1828754" algn="l" defTabSz="914377" rtl="0" eaLnBrk="1" latinLnBrk="0" hangingPunct="1">
                        <a:defRPr sz="1800" kern="1200">
                          <a:solidFill>
                            <a:schemeClr val="tx1"/>
                          </a:solidFill>
                          <a:latin typeface="Corbel" panose="020B0503020204020204"/>
                        </a:defRPr>
                      </a:lvl5pPr>
                      <a:lvl6pPr marL="2285943" algn="l" defTabSz="914377" rtl="0" eaLnBrk="1" latinLnBrk="0" hangingPunct="1">
                        <a:defRPr sz="1800" kern="1200">
                          <a:solidFill>
                            <a:schemeClr val="tx1"/>
                          </a:solidFill>
                          <a:latin typeface="Corbel" panose="020B0503020204020204"/>
                        </a:defRPr>
                      </a:lvl6pPr>
                      <a:lvl7pPr marL="2743131" algn="l" defTabSz="914377" rtl="0" eaLnBrk="1" latinLnBrk="0" hangingPunct="1">
                        <a:defRPr sz="1800" kern="1200">
                          <a:solidFill>
                            <a:schemeClr val="tx1"/>
                          </a:solidFill>
                          <a:latin typeface="Corbel" panose="020B0503020204020204"/>
                        </a:defRPr>
                      </a:lvl7pPr>
                      <a:lvl8pPr marL="3200320" algn="l" defTabSz="914377" rtl="0" eaLnBrk="1" latinLnBrk="0" hangingPunct="1">
                        <a:defRPr sz="1800" kern="1200">
                          <a:solidFill>
                            <a:schemeClr val="tx1"/>
                          </a:solidFill>
                          <a:latin typeface="Corbel" panose="020B0503020204020204"/>
                        </a:defRPr>
                      </a:lvl8pPr>
                      <a:lvl9pPr marL="3657509" algn="l" defTabSz="914377" rtl="0" eaLnBrk="1" latinLnBrk="0" hangingPunct="1">
                        <a:defRPr sz="1800" kern="1200">
                          <a:solidFill>
                            <a:schemeClr val="tx1"/>
                          </a:solidFill>
                          <a:latin typeface="Corbel" panose="020B0503020204020204"/>
                        </a:defRPr>
                      </a:lvl9pPr>
                    </a:lstStyle>
                    <a:p>
                      <a:pPr algn="ctr" fontAlgn="ctr"/>
                      <a:r>
                        <a:rPr lang="en-GB" sz="1800" b="1" u="none" strike="noStrike" dirty="0">
                          <a:solidFill>
                            <a:srgbClr val="000000"/>
                          </a:solidFill>
                          <a:effectLst/>
                        </a:rPr>
                        <a:t>Completed Effectiveness Checks (Q1 2026)</a:t>
                      </a:r>
                      <a:endParaRPr lang="en-GB" sz="1800" b="1" i="0" u="none" strike="noStrike" dirty="0">
                        <a:solidFill>
                          <a:srgbClr val="000000"/>
                        </a:solidFill>
                        <a:effectLst/>
                        <a:latin typeface="Calibri" panose="020F0502020204030204" pitchFamily="34" charset="0"/>
                      </a:endParaRPr>
                    </a:p>
                  </a:txBody>
                  <a:tcPr marL="113651" marR="113651" marT="56825" marB="56825"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u="none" strike="noStrike" dirty="0">
                          <a:solidFill>
                            <a:srgbClr val="000000"/>
                          </a:solidFill>
                          <a:effectLst/>
                        </a:rPr>
                        <a:t>Passed</a:t>
                      </a:r>
                      <a:endParaRPr lang="en-GB" sz="1800" b="1" i="0" u="none" strike="noStrike" dirty="0">
                        <a:solidFill>
                          <a:srgbClr val="000000"/>
                        </a:solidFill>
                        <a:effectLst/>
                        <a:latin typeface="Calibri" panose="020F0502020204030204" pitchFamily="34" charset="0"/>
                      </a:endParaRPr>
                    </a:p>
                  </a:txBody>
                  <a:tcPr marL="113651" marR="113651" marT="56825" marB="56825"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u="none" strike="noStrike" kern="1200" dirty="0">
                          <a:solidFill>
                            <a:srgbClr val="000000"/>
                          </a:solidFill>
                          <a:effectLst/>
                        </a:rPr>
                        <a:t>Failed</a:t>
                      </a:r>
                      <a:endParaRPr lang="en-GB" sz="1800" b="1" i="0" u="none" strike="noStrike" kern="1200" dirty="0">
                        <a:solidFill>
                          <a:srgbClr val="000000"/>
                        </a:solidFill>
                        <a:effectLst/>
                        <a:latin typeface="Calibri" panose="020F0502020204030204" pitchFamily="34" charset="0"/>
                        <a:ea typeface="+mn-ea"/>
                        <a:cs typeface="+mn-cs"/>
                      </a:endParaRPr>
                    </a:p>
                  </a:txBody>
                  <a:tcPr marL="113651" marR="113651" marT="56825" marB="56825"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u="none" strike="noStrike" kern="1200" dirty="0">
                          <a:solidFill>
                            <a:srgbClr val="000000"/>
                          </a:solidFill>
                          <a:effectLst/>
                        </a:rPr>
                        <a:t>Do failures require follow-up?</a:t>
                      </a:r>
                      <a:endParaRPr lang="en-GB" sz="1800" b="1" i="0" u="none" strike="noStrike" kern="1200" dirty="0">
                        <a:solidFill>
                          <a:srgbClr val="000000"/>
                        </a:solidFill>
                        <a:effectLst/>
                        <a:latin typeface="Calibri" panose="020F0502020204030204" pitchFamily="34" charset="0"/>
                        <a:ea typeface="+mn-ea"/>
                        <a:cs typeface="+mn-cs"/>
                      </a:endParaRPr>
                    </a:p>
                  </a:txBody>
                  <a:tcPr marL="113651" marR="113651" marT="56825" marB="56825" anchor="ctr"/>
                </a:tc>
                <a:extLst>
                  <a:ext uri="{0D108BD9-81ED-4DB2-BD59-A6C34878D82A}">
                    <a16:rowId xmlns:a16="http://schemas.microsoft.com/office/drawing/2014/main" val="3701969659"/>
                  </a:ext>
                </a:extLst>
              </a:tr>
              <a:tr h="355339">
                <a:tc>
                  <a:txBody>
                    <a:bodyPr/>
                    <a:lstStyle>
                      <a:lvl1pPr marL="0" algn="l" defTabSz="914377" rtl="0" eaLnBrk="1" latinLnBrk="0" hangingPunct="1">
                        <a:defRPr sz="1800" kern="1200">
                          <a:solidFill>
                            <a:schemeClr val="tx1"/>
                          </a:solidFill>
                          <a:latin typeface="Corbel" panose="020B0503020204020204"/>
                        </a:defRPr>
                      </a:lvl1pPr>
                      <a:lvl2pPr marL="457189" algn="l" defTabSz="914377" rtl="0" eaLnBrk="1" latinLnBrk="0" hangingPunct="1">
                        <a:defRPr sz="1800" kern="1200">
                          <a:solidFill>
                            <a:schemeClr val="tx1"/>
                          </a:solidFill>
                          <a:latin typeface="Corbel" panose="020B0503020204020204"/>
                        </a:defRPr>
                      </a:lvl2pPr>
                      <a:lvl3pPr marL="914377" algn="l" defTabSz="914377" rtl="0" eaLnBrk="1" latinLnBrk="0" hangingPunct="1">
                        <a:defRPr sz="1800" kern="1200">
                          <a:solidFill>
                            <a:schemeClr val="tx1"/>
                          </a:solidFill>
                          <a:latin typeface="Corbel" panose="020B0503020204020204"/>
                        </a:defRPr>
                      </a:lvl3pPr>
                      <a:lvl4pPr marL="1371566" algn="l" defTabSz="914377" rtl="0" eaLnBrk="1" latinLnBrk="0" hangingPunct="1">
                        <a:defRPr sz="1800" kern="1200">
                          <a:solidFill>
                            <a:schemeClr val="tx1"/>
                          </a:solidFill>
                          <a:latin typeface="Corbel" panose="020B0503020204020204"/>
                        </a:defRPr>
                      </a:lvl4pPr>
                      <a:lvl5pPr marL="1828754" algn="l" defTabSz="914377" rtl="0" eaLnBrk="1" latinLnBrk="0" hangingPunct="1">
                        <a:defRPr sz="1800" kern="1200">
                          <a:solidFill>
                            <a:schemeClr val="tx1"/>
                          </a:solidFill>
                          <a:latin typeface="Corbel" panose="020B0503020204020204"/>
                        </a:defRPr>
                      </a:lvl5pPr>
                      <a:lvl6pPr marL="2285943" algn="l" defTabSz="914377" rtl="0" eaLnBrk="1" latinLnBrk="0" hangingPunct="1">
                        <a:defRPr sz="1800" kern="1200">
                          <a:solidFill>
                            <a:schemeClr val="tx1"/>
                          </a:solidFill>
                          <a:latin typeface="Corbel" panose="020B0503020204020204"/>
                        </a:defRPr>
                      </a:lvl6pPr>
                      <a:lvl7pPr marL="2743131" algn="l" defTabSz="914377" rtl="0" eaLnBrk="1" latinLnBrk="0" hangingPunct="1">
                        <a:defRPr sz="1800" kern="1200">
                          <a:solidFill>
                            <a:schemeClr val="tx1"/>
                          </a:solidFill>
                          <a:latin typeface="Corbel" panose="020B0503020204020204"/>
                        </a:defRPr>
                      </a:lvl7pPr>
                      <a:lvl8pPr marL="3200320" algn="l" defTabSz="914377" rtl="0" eaLnBrk="1" latinLnBrk="0" hangingPunct="1">
                        <a:defRPr sz="1800" kern="1200">
                          <a:solidFill>
                            <a:schemeClr val="tx1"/>
                          </a:solidFill>
                          <a:latin typeface="Corbel" panose="020B0503020204020204"/>
                        </a:defRPr>
                      </a:lvl8pPr>
                      <a:lvl9pPr marL="3657509" algn="l" defTabSz="914377" rtl="0" eaLnBrk="1" latinLnBrk="0" hangingPunct="1">
                        <a:defRPr sz="1800" kern="1200">
                          <a:solidFill>
                            <a:schemeClr val="tx1"/>
                          </a:solidFill>
                          <a:latin typeface="Corbel" panose="020B0503020204020204"/>
                        </a:defRPr>
                      </a:lvl9pPr>
                    </a:lstStyle>
                    <a:p>
                      <a:pPr algn="ctr" fontAlgn="ctr"/>
                      <a:r>
                        <a:rPr lang="en-GB" sz="1800" b="0" i="0" u="none" strike="noStrike" kern="1200" dirty="0">
                          <a:solidFill>
                            <a:srgbClr val="000000"/>
                          </a:solidFill>
                          <a:effectLst/>
                          <a:latin typeface="Calibri" panose="020F0502020204030204" pitchFamily="34" charset="0"/>
                          <a:ea typeface="+mn-ea"/>
                          <a:cs typeface="+mn-cs"/>
                        </a:rPr>
                        <a:t>9</a:t>
                      </a:r>
                    </a:p>
                  </a:txBody>
                  <a:tcPr marL="0" marR="0" marT="0" marB="0" anchor="ctr"/>
                </a:tc>
                <a:tc>
                  <a:txBody>
                    <a:bodyPr/>
                    <a:lstStyle/>
                    <a:p>
                      <a:pPr algn="ctr" fontAlgn="ctr"/>
                      <a:r>
                        <a:rPr lang="en-GB" sz="2000" b="0" i="0" u="none" strike="noStrike" dirty="0">
                          <a:solidFill>
                            <a:srgbClr val="000000"/>
                          </a:solidFill>
                          <a:effectLst/>
                          <a:latin typeface="Calibri" panose="020F0502020204030204" pitchFamily="34" charset="0"/>
                        </a:rPr>
                        <a:t>9</a:t>
                      </a:r>
                    </a:p>
                  </a:txBody>
                  <a:tcPr marL="0" marR="0" marT="0" marB="0" anchor="ctr"/>
                </a:tc>
                <a:tc>
                  <a:txBody>
                    <a:bodyPr/>
                    <a:lstStyle/>
                    <a:p>
                      <a:pPr algn="ctr" fontAlgn="ctr"/>
                      <a:r>
                        <a:rPr lang="en-GB" sz="1800" b="0" i="0" u="none" strike="noStrike" dirty="0">
                          <a:solidFill>
                            <a:srgbClr val="000000"/>
                          </a:solidFill>
                          <a:effectLst/>
                          <a:latin typeface="Calibri" panose="020F0502020204030204" pitchFamily="34" charset="0"/>
                        </a:rPr>
                        <a:t>0</a:t>
                      </a:r>
                    </a:p>
                  </a:txBody>
                  <a:tcPr marL="0" marR="0" marT="0" marB="0" anchor="ctr"/>
                </a:tc>
                <a:tc>
                  <a:txBody>
                    <a:bodyPr/>
                    <a:lstStyle/>
                    <a:p>
                      <a:pPr algn="ctr" fontAlgn="ctr"/>
                      <a:r>
                        <a:rPr lang="en-GB" sz="1800" b="0" i="0" u="none" strike="noStrike" dirty="0">
                          <a:solidFill>
                            <a:srgbClr val="000000"/>
                          </a:solidFill>
                          <a:effectLst/>
                          <a:latin typeface="Calibri" panose="020F0502020204030204" pitchFamily="34" charset="0"/>
                        </a:rPr>
                        <a:t>No failures to report!</a:t>
                      </a:r>
                    </a:p>
                  </a:txBody>
                  <a:tcPr marL="0" marR="0" marT="0" marB="0" anchor="ctr"/>
                </a:tc>
                <a:extLst>
                  <a:ext uri="{0D108BD9-81ED-4DB2-BD59-A6C34878D82A}">
                    <a16:rowId xmlns:a16="http://schemas.microsoft.com/office/drawing/2014/main" val="1074620987"/>
                  </a:ext>
                </a:extLst>
              </a:tr>
            </a:tbl>
          </a:graphicData>
        </a:graphic>
      </p:graphicFrame>
    </p:spTree>
    <p:extLst>
      <p:ext uri="{BB962C8B-B14F-4D97-AF65-F5344CB8AC3E}">
        <p14:creationId xmlns:p14="http://schemas.microsoft.com/office/powerpoint/2010/main" val="1532633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1FD2005-6B3A-01C1-ECBE-E7FA5F5263E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AA72D42-1502-CE71-4D62-8C4A77D1D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1" name="Rectangle 10">
            <a:extLst>
              <a:ext uri="{FF2B5EF4-FFF2-40B4-BE49-F238E27FC236}">
                <a16:creationId xmlns:a16="http://schemas.microsoft.com/office/drawing/2014/main" id="{959332CC-7004-DCC2-82E7-58C87A4348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3" name="Rectangle 12">
            <a:extLst>
              <a:ext uri="{FF2B5EF4-FFF2-40B4-BE49-F238E27FC236}">
                <a16:creationId xmlns:a16="http://schemas.microsoft.com/office/drawing/2014/main" id="{DC3187BD-C70F-2047-355B-FCC0A6B42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A5D028"/>
              </a:solidFill>
              <a:effectLst/>
              <a:uLnTx/>
              <a:uFillTx/>
              <a:latin typeface="Corbel" panose="020B0503020204020204"/>
              <a:ea typeface="+mn-ea"/>
              <a:cs typeface="+mn-cs"/>
            </a:endParaRPr>
          </a:p>
        </p:txBody>
      </p:sp>
      <p:sp>
        <p:nvSpPr>
          <p:cNvPr id="8" name="Title 1">
            <a:extLst>
              <a:ext uri="{FF2B5EF4-FFF2-40B4-BE49-F238E27FC236}">
                <a16:creationId xmlns:a16="http://schemas.microsoft.com/office/drawing/2014/main" id="{BB88D0FA-1C21-C6DB-B84C-8A02D8E495B4}"/>
              </a:ext>
            </a:extLst>
          </p:cNvPr>
          <p:cNvSpPr>
            <a:spLocks noGrp="1"/>
          </p:cNvSpPr>
          <p:nvPr>
            <p:ph type="title"/>
          </p:nvPr>
        </p:nvSpPr>
        <p:spPr>
          <a:xfrm>
            <a:off x="4059080" y="68824"/>
            <a:ext cx="8132919" cy="312177"/>
          </a:xfrm>
        </p:spPr>
        <p:txBody>
          <a:bodyPr vert="horz" lIns="91440" tIns="45720" rIns="91440" bIns="45720" rtlCol="0" anchor="ctr">
            <a:noAutofit/>
          </a:bodyPr>
          <a:lstStyle/>
          <a:p>
            <a:pPr algn="ctr">
              <a:lnSpc>
                <a:spcPct val="80000"/>
              </a:lnSpc>
            </a:pPr>
            <a:r>
              <a:rPr lang="en-US" sz="2400" b="1" spc="150" dirty="0">
                <a:solidFill>
                  <a:schemeClr val="tx2"/>
                </a:solidFill>
              </a:rPr>
              <a:t>TREND GRAPHS</a:t>
            </a:r>
          </a:p>
        </p:txBody>
      </p:sp>
      <p:sp>
        <p:nvSpPr>
          <p:cNvPr id="14" name="Rectangle 13">
            <a:extLst>
              <a:ext uri="{FF2B5EF4-FFF2-40B4-BE49-F238E27FC236}">
                <a16:creationId xmlns:a16="http://schemas.microsoft.com/office/drawing/2014/main" id="{E70B2290-AADF-946F-33E6-5C53589FA02A}"/>
              </a:ext>
            </a:extLst>
          </p:cNvPr>
          <p:cNvSpPr/>
          <p:nvPr/>
        </p:nvSpPr>
        <p:spPr>
          <a:xfrm>
            <a:off x="46774" y="-2"/>
            <a:ext cx="622927" cy="6847953"/>
          </a:xfrm>
          <a:prstGeom prst="rect">
            <a:avLst/>
          </a:prstGeom>
          <a:noFill/>
        </p:spPr>
        <p:txBody>
          <a:bodyPr vert="wordArtVert"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w="0"/>
                <a:solidFill>
                  <a:srgbClr val="FFFFFF"/>
                </a:solidFill>
                <a:effectLst>
                  <a:outerShdw blurRad="38100" dist="38100" dir="2700000" algn="tl">
                    <a:srgbClr val="000000">
                      <a:alpha val="43137"/>
                    </a:srgbClr>
                  </a:outerShdw>
                </a:effectLst>
                <a:uLnTx/>
                <a:uFillTx/>
                <a:latin typeface="Corbel" panose="020B0503020204020204"/>
                <a:ea typeface="+mn-ea"/>
                <a:cs typeface="+mn-cs"/>
              </a:rPr>
              <a:t>CHANGE CONTROLS</a:t>
            </a:r>
          </a:p>
        </p:txBody>
      </p:sp>
      <p:sp>
        <p:nvSpPr>
          <p:cNvPr id="15" name="Title 1">
            <a:extLst>
              <a:ext uri="{FF2B5EF4-FFF2-40B4-BE49-F238E27FC236}">
                <a16:creationId xmlns:a16="http://schemas.microsoft.com/office/drawing/2014/main" id="{676FBF1C-11A1-6049-F1D6-0F5781BC3AB6}"/>
              </a:ext>
            </a:extLst>
          </p:cNvPr>
          <p:cNvSpPr txBox="1">
            <a:spLocks/>
          </p:cNvSpPr>
          <p:nvPr/>
        </p:nvSpPr>
        <p:spPr>
          <a:xfrm>
            <a:off x="719329" y="0"/>
            <a:ext cx="3339751" cy="68825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pPr marL="0" marR="0" lvl="0" indent="0" algn="ctr" defTabSz="914400" rtl="0" eaLnBrk="1" fontAlgn="auto" latinLnBrk="0" hangingPunct="1">
              <a:lnSpc>
                <a:spcPct val="85000"/>
              </a:lnSpc>
              <a:spcBef>
                <a:spcPct val="0"/>
              </a:spcBef>
              <a:spcAft>
                <a:spcPts val="0"/>
              </a:spcAft>
              <a:buClrTx/>
              <a:buSzTx/>
              <a:buFontTx/>
              <a:buNone/>
              <a:tabLst/>
              <a:defRPr/>
            </a:pPr>
            <a:r>
              <a:rPr kumimoji="0" lang="en-GB" sz="2800" b="1" i="0" u="none" strike="noStrike" kern="1200" cap="all" spc="0" normalizeH="0" baseline="0" noProof="0" dirty="0">
                <a:ln>
                  <a:noFill/>
                </a:ln>
                <a:solidFill>
                  <a:srgbClr val="FFFFFF"/>
                </a:solidFill>
                <a:effectLst/>
                <a:uLnTx/>
                <a:uFillTx/>
                <a:latin typeface="Corbel" panose="020B0503020204020204"/>
                <a:ea typeface="+mj-ea"/>
                <a:cs typeface="+mj-cs"/>
              </a:rPr>
              <a:t>KPI Summary</a:t>
            </a:r>
          </a:p>
        </p:txBody>
      </p:sp>
      <p:graphicFrame>
        <p:nvGraphicFramePr>
          <p:cNvPr id="16" name="Content Placeholder 3">
            <a:extLst>
              <a:ext uri="{FF2B5EF4-FFF2-40B4-BE49-F238E27FC236}">
                <a16:creationId xmlns:a16="http://schemas.microsoft.com/office/drawing/2014/main" id="{2B73139E-EA67-268C-088A-3171DA74C0F3}"/>
              </a:ext>
            </a:extLst>
          </p:cNvPr>
          <p:cNvGraphicFramePr>
            <a:graphicFrameLocks noGrp="1"/>
          </p:cNvGraphicFramePr>
          <p:nvPr>
            <p:ph idx="1"/>
            <p:extLst>
              <p:ext uri="{D42A27DB-BD31-4B8C-83A1-F6EECF244321}">
                <p14:modId xmlns:p14="http://schemas.microsoft.com/office/powerpoint/2010/main" val="3899409040"/>
              </p:ext>
            </p:extLst>
          </p:nvPr>
        </p:nvGraphicFramePr>
        <p:xfrm>
          <a:off x="820038" y="688258"/>
          <a:ext cx="3127336" cy="3434834"/>
        </p:xfrm>
        <a:graphic>
          <a:graphicData uri="http://schemas.openxmlformats.org/drawingml/2006/table">
            <a:tbl>
              <a:tblPr firstRow="1" firstCol="1">
                <a:tableStyleId>{073A0DAA-6AF3-43AB-8588-CEC1D06C72B9}</a:tableStyleId>
              </a:tblPr>
              <a:tblGrid>
                <a:gridCol w="1367362">
                  <a:extLst>
                    <a:ext uri="{9D8B030D-6E8A-4147-A177-3AD203B41FA5}">
                      <a16:colId xmlns:a16="http://schemas.microsoft.com/office/drawing/2014/main" val="3746610510"/>
                    </a:ext>
                  </a:extLst>
                </a:gridCol>
                <a:gridCol w="914400">
                  <a:extLst>
                    <a:ext uri="{9D8B030D-6E8A-4147-A177-3AD203B41FA5}">
                      <a16:colId xmlns:a16="http://schemas.microsoft.com/office/drawing/2014/main" val="1245586481"/>
                    </a:ext>
                  </a:extLst>
                </a:gridCol>
                <a:gridCol w="845574">
                  <a:extLst>
                    <a:ext uri="{9D8B030D-6E8A-4147-A177-3AD203B41FA5}">
                      <a16:colId xmlns:a16="http://schemas.microsoft.com/office/drawing/2014/main" val="420243024"/>
                    </a:ext>
                  </a:extLst>
                </a:gridCol>
              </a:tblGrid>
              <a:tr h="857415">
                <a:tc>
                  <a:txBody>
                    <a:bodyPr/>
                    <a:lstStyle/>
                    <a:p>
                      <a:pPr algn="ctr"/>
                      <a:r>
                        <a:rPr lang="en-GB" sz="1800" b="1" kern="1200" dirty="0">
                          <a:solidFill>
                            <a:schemeClr val="lt1"/>
                          </a:solidFill>
                          <a:latin typeface="+mn-lt"/>
                          <a:ea typeface="+mn-ea"/>
                          <a:cs typeface="+mn-cs"/>
                        </a:rPr>
                        <a:t>KPI </a:t>
                      </a:r>
                    </a:p>
                  </a:txBody>
                  <a:tcPr anchor="ctr"/>
                </a:tc>
                <a:tc>
                  <a:txBody>
                    <a:bodyPr/>
                    <a:lstStyle/>
                    <a:p>
                      <a:pPr algn="ctr"/>
                      <a:r>
                        <a:rPr lang="en-GB" sz="1800" b="1" kern="1200" dirty="0">
                          <a:solidFill>
                            <a:schemeClr val="lt1"/>
                          </a:solidFill>
                          <a:latin typeface="+mn-lt"/>
                          <a:ea typeface="+mn-ea"/>
                          <a:cs typeface="+mn-cs"/>
                        </a:rPr>
                        <a:t>Q4 (2025)</a:t>
                      </a:r>
                    </a:p>
                  </a:txBody>
                  <a:tcPr anchor="ctr"/>
                </a:tc>
                <a:tc>
                  <a:txBody>
                    <a:bodyPr/>
                    <a:lstStyle/>
                    <a:p>
                      <a:pPr algn="ctr"/>
                      <a:r>
                        <a:rPr lang="en-GB" sz="1800" b="1" kern="1200" dirty="0">
                          <a:solidFill>
                            <a:schemeClr val="lt1"/>
                          </a:solidFill>
                          <a:latin typeface="+mn-lt"/>
                          <a:ea typeface="+mn-ea"/>
                          <a:cs typeface="+mn-cs"/>
                        </a:rPr>
                        <a:t>Q1 (2026)</a:t>
                      </a:r>
                    </a:p>
                  </a:txBody>
                  <a:tcPr anchor="ctr"/>
                </a:tc>
                <a:extLst>
                  <a:ext uri="{0D108BD9-81ED-4DB2-BD59-A6C34878D82A}">
                    <a16:rowId xmlns:a16="http://schemas.microsoft.com/office/drawing/2014/main" val="2811724974"/>
                  </a:ext>
                </a:extLst>
              </a:tr>
              <a:tr h="689294">
                <a:tc>
                  <a:txBody>
                    <a:bodyPr/>
                    <a:lstStyle/>
                    <a:p>
                      <a:pPr algn="ctr"/>
                      <a:r>
                        <a:rPr lang="en-GB" sz="1400" b="1" dirty="0"/>
                        <a:t>Total raised this quarter</a:t>
                      </a:r>
                    </a:p>
                  </a:txBody>
                  <a:tcPr anchor="ctr"/>
                </a:tc>
                <a:tc>
                  <a:txBody>
                    <a:bodyPr/>
                    <a:lstStyle/>
                    <a:p>
                      <a:pPr algn="ctr"/>
                      <a:r>
                        <a:rPr lang="en-GB" sz="1800" b="0" dirty="0"/>
                        <a:t>36</a:t>
                      </a:r>
                    </a:p>
                  </a:txBody>
                  <a:tcPr anchor="ctr"/>
                </a:tc>
                <a:tc>
                  <a:txBody>
                    <a:bodyPr/>
                    <a:lstStyle/>
                    <a:p>
                      <a:pPr algn="ctr"/>
                      <a:r>
                        <a:rPr lang="en-GB" sz="1800" b="0" dirty="0"/>
                        <a:t>35</a:t>
                      </a:r>
                    </a:p>
                  </a:txBody>
                  <a:tcPr anchor="ctr"/>
                </a:tc>
                <a:extLst>
                  <a:ext uri="{0D108BD9-81ED-4DB2-BD59-A6C34878D82A}">
                    <a16:rowId xmlns:a16="http://schemas.microsoft.com/office/drawing/2014/main" val="893295017"/>
                  </a:ext>
                </a:extLst>
              </a:tr>
              <a:tr h="521173">
                <a:tc>
                  <a:txBody>
                    <a:bodyPr/>
                    <a:lstStyle/>
                    <a:p>
                      <a:pPr algn="ctr"/>
                      <a:r>
                        <a:rPr lang="en-GB" sz="1400" b="1" dirty="0"/>
                        <a:t>Total closed this quarter</a:t>
                      </a:r>
                    </a:p>
                  </a:txBody>
                  <a:tcPr anchor="ctr"/>
                </a:tc>
                <a:tc>
                  <a:txBody>
                    <a:bodyPr/>
                    <a:lstStyle/>
                    <a:p>
                      <a:pPr algn="ctr"/>
                      <a:r>
                        <a:rPr lang="en-GB" sz="1800" b="0" dirty="0"/>
                        <a:t>23</a:t>
                      </a:r>
                    </a:p>
                  </a:txBody>
                  <a:tcPr anchor="ctr"/>
                </a:tc>
                <a:tc>
                  <a:txBody>
                    <a:bodyPr/>
                    <a:lstStyle/>
                    <a:p>
                      <a:pPr algn="ctr"/>
                      <a:r>
                        <a:rPr lang="en-GB" sz="1800" b="0" dirty="0"/>
                        <a:t>23</a:t>
                      </a:r>
                    </a:p>
                  </a:txBody>
                  <a:tcPr anchor="ctr"/>
                </a:tc>
                <a:extLst>
                  <a:ext uri="{0D108BD9-81ED-4DB2-BD59-A6C34878D82A}">
                    <a16:rowId xmlns:a16="http://schemas.microsoft.com/office/drawing/2014/main" val="1846249938"/>
                  </a:ext>
                </a:extLst>
              </a:tr>
              <a:tr h="683476">
                <a:tc>
                  <a:txBody>
                    <a:bodyPr/>
                    <a:lstStyle/>
                    <a:p>
                      <a:pPr algn="ctr"/>
                      <a:r>
                        <a:rPr lang="en-GB" sz="1400" b="1" dirty="0"/>
                        <a:t>Major/Critical raised</a:t>
                      </a:r>
                    </a:p>
                  </a:txBody>
                  <a:tcPr anchor="ctr"/>
                </a:tc>
                <a:tc>
                  <a:txBody>
                    <a:bodyPr/>
                    <a:lstStyle/>
                    <a:p>
                      <a:pPr algn="ctr"/>
                      <a:r>
                        <a:rPr lang="en-GB" sz="1800" b="0" dirty="0"/>
                        <a:t>9</a:t>
                      </a:r>
                    </a:p>
                  </a:txBody>
                  <a:tcPr anchor="ctr"/>
                </a:tc>
                <a:tc>
                  <a:txBody>
                    <a:bodyPr/>
                    <a:lstStyle/>
                    <a:p>
                      <a:pPr algn="ctr"/>
                      <a:r>
                        <a:rPr lang="en-GB" sz="1800" b="0" dirty="0"/>
                        <a:t>12</a:t>
                      </a:r>
                    </a:p>
                  </a:txBody>
                  <a:tcPr anchor="ctr"/>
                </a:tc>
                <a:extLst>
                  <a:ext uri="{0D108BD9-81ED-4DB2-BD59-A6C34878D82A}">
                    <a16:rowId xmlns:a16="http://schemas.microsoft.com/office/drawing/2014/main" val="4060241798"/>
                  </a:ext>
                </a:extLst>
              </a:tr>
              <a:tr h="683476">
                <a:tc>
                  <a:txBody>
                    <a:bodyPr/>
                    <a:lstStyle/>
                    <a:p>
                      <a:pPr algn="ctr"/>
                      <a:r>
                        <a:rPr lang="en-GB" sz="1400" b="1" dirty="0"/>
                        <a:t>Major/Critical closed</a:t>
                      </a:r>
                    </a:p>
                  </a:txBody>
                  <a:tcPr anchor="ctr"/>
                </a:tc>
                <a:tc>
                  <a:txBody>
                    <a:bodyPr/>
                    <a:lstStyle/>
                    <a:p>
                      <a:pPr algn="ctr"/>
                      <a:r>
                        <a:rPr lang="en-GB" sz="1800" b="0" dirty="0"/>
                        <a:t>1</a:t>
                      </a:r>
                    </a:p>
                  </a:txBody>
                  <a:tcPr anchor="ctr"/>
                </a:tc>
                <a:tc>
                  <a:txBody>
                    <a:bodyPr/>
                    <a:lstStyle/>
                    <a:p>
                      <a:pPr algn="ctr"/>
                      <a:r>
                        <a:rPr lang="en-GB" sz="1800" b="0" dirty="0"/>
                        <a:t>2</a:t>
                      </a:r>
                    </a:p>
                  </a:txBody>
                  <a:tcPr anchor="ctr"/>
                </a:tc>
                <a:extLst>
                  <a:ext uri="{0D108BD9-81ED-4DB2-BD59-A6C34878D82A}">
                    <a16:rowId xmlns:a16="http://schemas.microsoft.com/office/drawing/2014/main" val="2537027104"/>
                  </a:ext>
                </a:extLst>
              </a:tr>
            </a:tbl>
          </a:graphicData>
        </a:graphic>
      </p:graphicFrame>
      <p:sp>
        <p:nvSpPr>
          <p:cNvPr id="2" name="Title 1">
            <a:extLst>
              <a:ext uri="{FF2B5EF4-FFF2-40B4-BE49-F238E27FC236}">
                <a16:creationId xmlns:a16="http://schemas.microsoft.com/office/drawing/2014/main" id="{0AA5E451-5D2B-2056-1D89-D2DBFD9F9F40}"/>
              </a:ext>
            </a:extLst>
          </p:cNvPr>
          <p:cNvSpPr txBox="1">
            <a:spLocks/>
          </p:cNvSpPr>
          <p:nvPr/>
        </p:nvSpPr>
        <p:spPr>
          <a:xfrm>
            <a:off x="713830" y="4559709"/>
            <a:ext cx="3339751" cy="1418303"/>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pPr marL="0" marR="0" lvl="0" indent="0" algn="ctr" defTabSz="914400" rtl="0" eaLnBrk="1" fontAlgn="auto" latinLnBrk="0" hangingPunct="1">
              <a:lnSpc>
                <a:spcPct val="85000"/>
              </a:lnSpc>
              <a:spcBef>
                <a:spcPct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Corbel" panose="020B0503020204020204"/>
                <a:ea typeface="+mj-ea"/>
                <a:cs typeface="+mj-cs"/>
              </a:rPr>
              <a:t>KPI &amp; Trend Assessment: </a:t>
            </a:r>
          </a:p>
          <a:p>
            <a:pPr marL="0" marR="0" lvl="0" indent="0" algn="ctr" defTabSz="914400" rtl="0" eaLnBrk="1" fontAlgn="auto" latinLnBrk="0" hangingPunct="1">
              <a:lnSpc>
                <a:spcPct val="85000"/>
              </a:lnSpc>
              <a:spcBef>
                <a:spcPct val="0"/>
              </a:spcBef>
              <a:spcAft>
                <a:spcPts val="0"/>
              </a:spcAft>
              <a:buClrTx/>
              <a:buSzTx/>
              <a:buFontTx/>
              <a:buNone/>
              <a:tabLst/>
              <a:defRPr/>
            </a:pPr>
            <a:endParaRPr kumimoji="0" lang="en-GB" sz="2800" b="1" i="0" u="none" strike="noStrike" kern="1200" cap="none" spc="0" normalizeH="0" baseline="0" noProof="0" dirty="0">
              <a:ln>
                <a:noFill/>
              </a:ln>
              <a:solidFill>
                <a:srgbClr val="FFFFFF"/>
              </a:solidFill>
              <a:effectLst/>
              <a:uLnTx/>
              <a:uFillTx/>
              <a:latin typeface="Corbel" panose="020B0503020204020204"/>
              <a:ea typeface="+mj-ea"/>
              <a:cs typeface="+mj-cs"/>
            </a:endParaRPr>
          </a:p>
          <a:p>
            <a:pPr algn="ctr"/>
            <a:r>
              <a:rPr lang="en-GB" sz="2800" dirty="0"/>
              <a:t>🟠</a:t>
            </a:r>
            <a:r>
              <a:rPr lang="en-GB" sz="2800" cap="none" dirty="0">
                <a:solidFill>
                  <a:schemeClr val="tx1"/>
                </a:solidFill>
              </a:rPr>
              <a:t>- Stable</a:t>
            </a:r>
          </a:p>
        </p:txBody>
      </p:sp>
      <p:graphicFrame>
        <p:nvGraphicFramePr>
          <p:cNvPr id="4" name="Chart 3">
            <a:extLst>
              <a:ext uri="{FF2B5EF4-FFF2-40B4-BE49-F238E27FC236}">
                <a16:creationId xmlns:a16="http://schemas.microsoft.com/office/drawing/2014/main" id="{A844B4F9-8B82-4AF3-9015-AA39F589D6CA}"/>
              </a:ext>
            </a:extLst>
          </p:cNvPr>
          <p:cNvGraphicFramePr>
            <a:graphicFrameLocks/>
          </p:cNvGraphicFramePr>
          <p:nvPr>
            <p:extLst>
              <p:ext uri="{D42A27DB-BD31-4B8C-83A1-F6EECF244321}">
                <p14:modId xmlns:p14="http://schemas.microsoft.com/office/powerpoint/2010/main" val="683094293"/>
              </p:ext>
            </p:extLst>
          </p:nvPr>
        </p:nvGraphicFramePr>
        <p:xfrm>
          <a:off x="4048083" y="381001"/>
          <a:ext cx="8132919" cy="374209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Table 4">
            <a:extLst>
              <a:ext uri="{FF2B5EF4-FFF2-40B4-BE49-F238E27FC236}">
                <a16:creationId xmlns:a16="http://schemas.microsoft.com/office/drawing/2014/main" id="{E59B8A8E-FDBE-C6B3-88DE-1B471AE2DFC3}"/>
              </a:ext>
            </a:extLst>
          </p:cNvPr>
          <p:cNvGraphicFramePr>
            <a:graphicFrameLocks noGrp="1"/>
          </p:cNvGraphicFramePr>
          <p:nvPr>
            <p:extLst>
              <p:ext uri="{D42A27DB-BD31-4B8C-83A1-F6EECF244321}">
                <p14:modId xmlns:p14="http://schemas.microsoft.com/office/powerpoint/2010/main" val="65705373"/>
              </p:ext>
            </p:extLst>
          </p:nvPr>
        </p:nvGraphicFramePr>
        <p:xfrm>
          <a:off x="4053581" y="4123093"/>
          <a:ext cx="8138418" cy="2724860"/>
        </p:xfrm>
        <a:graphic>
          <a:graphicData uri="http://schemas.openxmlformats.org/drawingml/2006/table">
            <a:tbl>
              <a:tblPr firstRow="1" firstCol="1">
                <a:tableStyleId>{E8034E78-7F5D-4C2E-B375-FC64B27BC917}</a:tableStyleId>
              </a:tblPr>
              <a:tblGrid>
                <a:gridCol w="5473877">
                  <a:extLst>
                    <a:ext uri="{9D8B030D-6E8A-4147-A177-3AD203B41FA5}">
                      <a16:colId xmlns:a16="http://schemas.microsoft.com/office/drawing/2014/main" val="2132152619"/>
                    </a:ext>
                  </a:extLst>
                </a:gridCol>
                <a:gridCol w="2664541">
                  <a:extLst>
                    <a:ext uri="{9D8B030D-6E8A-4147-A177-3AD203B41FA5}">
                      <a16:colId xmlns:a16="http://schemas.microsoft.com/office/drawing/2014/main" val="3855580305"/>
                    </a:ext>
                  </a:extLst>
                </a:gridCol>
              </a:tblGrid>
              <a:tr h="448394">
                <a:tc>
                  <a:txBody>
                    <a:bodyPr/>
                    <a:lstStyle/>
                    <a:p>
                      <a:pPr>
                        <a:buNone/>
                      </a:pPr>
                      <a:r>
                        <a:rPr lang="en-GB" sz="2000" dirty="0">
                          <a:latin typeface="+mj-lt"/>
                        </a:rPr>
                        <a:t>Source of All CCs </a:t>
                      </a:r>
                      <a:r>
                        <a:rPr lang="en-GB" sz="1200" dirty="0">
                          <a:latin typeface="+mj-lt"/>
                        </a:rPr>
                        <a:t>(Last 12 Months)</a:t>
                      </a:r>
                      <a:endParaRPr lang="en-GB" sz="2000" dirty="0">
                        <a:latin typeface="+mj-lt"/>
                      </a:endParaRPr>
                    </a:p>
                  </a:txBody>
                  <a:tcPr anchor="ctr"/>
                </a:tc>
                <a:tc>
                  <a:txBody>
                    <a:bodyPr/>
                    <a:lstStyle/>
                    <a:p>
                      <a:pPr>
                        <a:buNone/>
                      </a:pPr>
                      <a:r>
                        <a:rPr lang="en-GB" sz="2000" dirty="0">
                          <a:latin typeface="+mj-lt"/>
                        </a:rPr>
                        <a:t>CC Quantity raised</a:t>
                      </a:r>
                    </a:p>
                  </a:txBody>
                  <a:tcPr anchor="ctr"/>
                </a:tc>
                <a:extLst>
                  <a:ext uri="{0D108BD9-81ED-4DB2-BD59-A6C34878D82A}">
                    <a16:rowId xmlns:a16="http://schemas.microsoft.com/office/drawing/2014/main" val="2739290318"/>
                  </a:ext>
                </a:extLst>
              </a:tr>
              <a:tr h="379411">
                <a:tc>
                  <a:txBody>
                    <a:bodyPr/>
                    <a:lstStyle/>
                    <a:p>
                      <a:pPr>
                        <a:buNone/>
                      </a:pPr>
                      <a:r>
                        <a:rPr lang="en-GB" sz="1600" dirty="0">
                          <a:solidFill>
                            <a:sysClr val="windowText" lastClr="000000"/>
                          </a:solidFill>
                        </a:rPr>
                        <a:t>Process/Manufacturing changes</a:t>
                      </a:r>
                    </a:p>
                  </a:txBody>
                  <a:tcPr anchor="ctr"/>
                </a:tc>
                <a:tc>
                  <a:txBody>
                    <a:bodyPr/>
                    <a:lstStyle/>
                    <a:p>
                      <a:pPr>
                        <a:buNone/>
                      </a:pPr>
                      <a:r>
                        <a:rPr lang="en-GB" sz="1600" b="1" i="0" dirty="0">
                          <a:solidFill>
                            <a:sysClr val="windowText" lastClr="000000"/>
                          </a:solidFill>
                        </a:rPr>
                        <a:t>4</a:t>
                      </a:r>
                    </a:p>
                  </a:txBody>
                  <a:tcPr anchor="ctr"/>
                </a:tc>
                <a:extLst>
                  <a:ext uri="{0D108BD9-81ED-4DB2-BD59-A6C34878D82A}">
                    <a16:rowId xmlns:a16="http://schemas.microsoft.com/office/drawing/2014/main" val="1027396935"/>
                  </a:ext>
                </a:extLst>
              </a:tr>
              <a:tr h="379411">
                <a:tc>
                  <a:txBody>
                    <a:bodyPr/>
                    <a:lstStyle/>
                    <a:p>
                      <a:pPr>
                        <a:buNone/>
                      </a:pPr>
                      <a:r>
                        <a:rPr lang="en-GB" sz="1600" dirty="0">
                          <a:solidFill>
                            <a:sysClr val="windowText" lastClr="000000"/>
                          </a:solidFill>
                        </a:rPr>
                        <a:t>Documentation/SOP Changes</a:t>
                      </a:r>
                    </a:p>
                  </a:txBody>
                  <a:tcPr anchor="ctr"/>
                </a:tc>
                <a:tc>
                  <a:txBody>
                    <a:bodyPr/>
                    <a:lstStyle/>
                    <a:p>
                      <a:pPr>
                        <a:buNone/>
                      </a:pPr>
                      <a:r>
                        <a:rPr lang="en-GB" sz="1600" b="1" i="0" dirty="0">
                          <a:solidFill>
                            <a:sysClr val="windowText" lastClr="000000"/>
                          </a:solidFill>
                        </a:rPr>
                        <a:t>8</a:t>
                      </a:r>
                    </a:p>
                  </a:txBody>
                  <a:tcPr anchor="ctr"/>
                </a:tc>
                <a:extLst>
                  <a:ext uri="{0D108BD9-81ED-4DB2-BD59-A6C34878D82A}">
                    <a16:rowId xmlns:a16="http://schemas.microsoft.com/office/drawing/2014/main" val="3656083702"/>
                  </a:ext>
                </a:extLst>
              </a:tr>
              <a:tr h="379411">
                <a:tc>
                  <a:txBody>
                    <a:bodyPr/>
                    <a:lstStyle/>
                    <a:p>
                      <a:pPr>
                        <a:buNone/>
                      </a:pPr>
                      <a:r>
                        <a:rPr lang="en-GB" sz="1600" dirty="0">
                          <a:solidFill>
                            <a:sysClr val="windowText" lastClr="000000"/>
                          </a:solidFill>
                        </a:rPr>
                        <a:t>Equipment/Facility Changes</a:t>
                      </a:r>
                    </a:p>
                  </a:txBody>
                  <a:tcPr anchor="ctr"/>
                </a:tc>
                <a:tc>
                  <a:txBody>
                    <a:bodyPr/>
                    <a:lstStyle/>
                    <a:p>
                      <a:pPr>
                        <a:buNone/>
                      </a:pPr>
                      <a:r>
                        <a:rPr lang="en-GB" sz="1600" b="1" i="0" dirty="0">
                          <a:solidFill>
                            <a:sysClr val="windowText" lastClr="000000"/>
                          </a:solidFill>
                        </a:rPr>
                        <a:t>11</a:t>
                      </a:r>
                    </a:p>
                  </a:txBody>
                  <a:tcPr anchor="ctr"/>
                </a:tc>
                <a:extLst>
                  <a:ext uri="{0D108BD9-81ED-4DB2-BD59-A6C34878D82A}">
                    <a16:rowId xmlns:a16="http://schemas.microsoft.com/office/drawing/2014/main" val="1456696578"/>
                  </a:ext>
                </a:extLst>
              </a:tr>
              <a:tr h="379411">
                <a:tc>
                  <a:txBody>
                    <a:bodyPr/>
                    <a:lstStyle/>
                    <a:p>
                      <a:pPr>
                        <a:buNone/>
                      </a:pPr>
                      <a:r>
                        <a:rPr lang="en-GB" sz="1600" dirty="0">
                          <a:solidFill>
                            <a:sysClr val="windowText" lastClr="000000"/>
                          </a:solidFill>
                        </a:rPr>
                        <a:t>Material &amp; Supplier Changes</a:t>
                      </a:r>
                    </a:p>
                  </a:txBody>
                  <a:tcPr anchor="ctr"/>
                </a:tc>
                <a:tc>
                  <a:txBody>
                    <a:bodyPr/>
                    <a:lstStyle/>
                    <a:p>
                      <a:pPr>
                        <a:buNone/>
                      </a:pPr>
                      <a:r>
                        <a:rPr lang="en-GB" sz="1600" b="1" i="0" dirty="0">
                          <a:solidFill>
                            <a:sysClr val="windowText" lastClr="000000"/>
                          </a:solidFill>
                        </a:rPr>
                        <a:t>73</a:t>
                      </a:r>
                    </a:p>
                  </a:txBody>
                  <a:tcPr anchor="ctr"/>
                </a:tc>
                <a:extLst>
                  <a:ext uri="{0D108BD9-81ED-4DB2-BD59-A6C34878D82A}">
                    <a16:rowId xmlns:a16="http://schemas.microsoft.com/office/drawing/2014/main" val="1057539453"/>
                  </a:ext>
                </a:extLst>
              </a:tr>
              <a:tr h="379411">
                <a:tc>
                  <a:txBody>
                    <a:bodyPr/>
                    <a:lstStyle/>
                    <a:p>
                      <a:pPr>
                        <a:buNone/>
                      </a:pPr>
                      <a:r>
                        <a:rPr lang="en-GB" sz="1600" dirty="0">
                          <a:solidFill>
                            <a:sysClr val="windowText" lastClr="000000"/>
                          </a:solidFill>
                        </a:rPr>
                        <a:t>Regulatory driven Changes</a:t>
                      </a:r>
                    </a:p>
                  </a:txBody>
                  <a:tcPr anchor="ctr"/>
                </a:tc>
                <a:tc>
                  <a:txBody>
                    <a:bodyPr/>
                    <a:lstStyle/>
                    <a:p>
                      <a:pPr>
                        <a:buNone/>
                      </a:pPr>
                      <a:r>
                        <a:rPr lang="en-GB" sz="1600" b="1" i="0" dirty="0">
                          <a:solidFill>
                            <a:sysClr val="windowText" lastClr="000000"/>
                          </a:solidFill>
                        </a:rPr>
                        <a:t>3</a:t>
                      </a:r>
                    </a:p>
                  </a:txBody>
                  <a:tcPr anchor="ctr"/>
                </a:tc>
                <a:extLst>
                  <a:ext uri="{0D108BD9-81ED-4DB2-BD59-A6C34878D82A}">
                    <a16:rowId xmlns:a16="http://schemas.microsoft.com/office/drawing/2014/main" val="144537586"/>
                  </a:ext>
                </a:extLst>
              </a:tr>
              <a:tr h="379411">
                <a:tc>
                  <a:txBody>
                    <a:bodyPr/>
                    <a:lstStyle/>
                    <a:p>
                      <a:pPr>
                        <a:buNone/>
                      </a:pPr>
                      <a:r>
                        <a:rPr lang="en-GB" sz="1600" dirty="0">
                          <a:solidFill>
                            <a:sysClr val="windowText" lastClr="000000"/>
                          </a:solidFill>
                        </a:rPr>
                        <a:t>Other</a:t>
                      </a:r>
                    </a:p>
                  </a:txBody>
                  <a:tcPr anchor="ctr"/>
                </a:tc>
                <a:tc>
                  <a:txBody>
                    <a:bodyPr/>
                    <a:lstStyle/>
                    <a:p>
                      <a:pPr>
                        <a:buNone/>
                      </a:pPr>
                      <a:r>
                        <a:rPr lang="en-GB" sz="1600" b="1" i="0" dirty="0">
                          <a:solidFill>
                            <a:sysClr val="windowText" lastClr="000000"/>
                          </a:solidFill>
                        </a:rPr>
                        <a:t>9</a:t>
                      </a:r>
                    </a:p>
                  </a:txBody>
                  <a:tcPr anchor="ctr"/>
                </a:tc>
                <a:extLst>
                  <a:ext uri="{0D108BD9-81ED-4DB2-BD59-A6C34878D82A}">
                    <a16:rowId xmlns:a16="http://schemas.microsoft.com/office/drawing/2014/main" val="3743502605"/>
                  </a:ext>
                </a:extLst>
              </a:tr>
            </a:tbl>
          </a:graphicData>
        </a:graphic>
      </p:graphicFrame>
    </p:spTree>
    <p:extLst>
      <p:ext uri="{BB962C8B-B14F-4D97-AF65-F5344CB8AC3E}">
        <p14:creationId xmlns:p14="http://schemas.microsoft.com/office/powerpoint/2010/main" val="10472833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74D1972-DFA1-3A8D-F19E-1673BF0E566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3DED8EE-E337-23F2-716F-A30F2DBCF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1" name="Rectangle 10">
            <a:extLst>
              <a:ext uri="{FF2B5EF4-FFF2-40B4-BE49-F238E27FC236}">
                <a16:creationId xmlns:a16="http://schemas.microsoft.com/office/drawing/2014/main" id="{705B1CCF-3363-0584-FE96-FAE7C5105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3" name="Rectangle 12">
            <a:extLst>
              <a:ext uri="{FF2B5EF4-FFF2-40B4-BE49-F238E27FC236}">
                <a16:creationId xmlns:a16="http://schemas.microsoft.com/office/drawing/2014/main" id="{ABE264D8-3330-E58A-BE6A-C131DDBFA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A5D028"/>
              </a:solidFill>
              <a:effectLst/>
              <a:uLnTx/>
              <a:uFillTx/>
              <a:latin typeface="Corbel" panose="020B0503020204020204"/>
              <a:ea typeface="+mn-ea"/>
              <a:cs typeface="+mn-cs"/>
            </a:endParaRPr>
          </a:p>
        </p:txBody>
      </p:sp>
      <p:sp>
        <p:nvSpPr>
          <p:cNvPr id="6" name="TextBox 5">
            <a:extLst>
              <a:ext uri="{FF2B5EF4-FFF2-40B4-BE49-F238E27FC236}">
                <a16:creationId xmlns:a16="http://schemas.microsoft.com/office/drawing/2014/main" id="{EC32F3FA-C603-A58E-EF46-71F41A215F7D}"/>
              </a:ext>
            </a:extLst>
          </p:cNvPr>
          <p:cNvSpPr txBox="1"/>
          <p:nvPr/>
        </p:nvSpPr>
        <p:spPr>
          <a:xfrm>
            <a:off x="4224963" y="0"/>
            <a:ext cx="7815918"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FFFFFF"/>
                </a:solidFill>
                <a:effectLst/>
                <a:uLnTx/>
                <a:uFillTx/>
                <a:latin typeface="Corbel" panose="020B0503020204020204"/>
                <a:ea typeface="+mn-ea"/>
                <a:cs typeface="+mn-cs"/>
              </a:rPr>
              <a:t>SIGNIFICANT ITEMS (MAJOR &amp; CRITICAL)</a:t>
            </a:r>
          </a:p>
        </p:txBody>
      </p:sp>
      <p:graphicFrame>
        <p:nvGraphicFramePr>
          <p:cNvPr id="17" name="Table 16">
            <a:extLst>
              <a:ext uri="{FF2B5EF4-FFF2-40B4-BE49-F238E27FC236}">
                <a16:creationId xmlns:a16="http://schemas.microsoft.com/office/drawing/2014/main" id="{EB567FAF-F208-AEE6-864D-FA642FD3F60C}"/>
              </a:ext>
            </a:extLst>
          </p:cNvPr>
          <p:cNvGraphicFramePr>
            <a:graphicFrameLocks/>
          </p:cNvGraphicFramePr>
          <p:nvPr>
            <p:extLst>
              <p:ext uri="{D42A27DB-BD31-4B8C-83A1-F6EECF244321}">
                <p14:modId xmlns:p14="http://schemas.microsoft.com/office/powerpoint/2010/main" val="215404126"/>
              </p:ext>
            </p:extLst>
          </p:nvPr>
        </p:nvGraphicFramePr>
        <p:xfrm>
          <a:off x="865336" y="4160430"/>
          <a:ext cx="11177628" cy="979170"/>
        </p:xfrm>
        <a:graphic>
          <a:graphicData uri="http://schemas.openxmlformats.org/drawingml/2006/table">
            <a:tbl>
              <a:tblPr firstRow="1" bandRow="1">
                <a:tableStyleId>{21E4AEA4-8DFA-4A89-87EB-49C32662AFE0}</a:tableStyleId>
              </a:tblPr>
              <a:tblGrid>
                <a:gridCol w="1752406">
                  <a:extLst>
                    <a:ext uri="{9D8B030D-6E8A-4147-A177-3AD203B41FA5}">
                      <a16:colId xmlns:a16="http://schemas.microsoft.com/office/drawing/2014/main" val="41084954"/>
                    </a:ext>
                  </a:extLst>
                </a:gridCol>
                <a:gridCol w="1935480">
                  <a:extLst>
                    <a:ext uri="{9D8B030D-6E8A-4147-A177-3AD203B41FA5}">
                      <a16:colId xmlns:a16="http://schemas.microsoft.com/office/drawing/2014/main" val="190224105"/>
                    </a:ext>
                  </a:extLst>
                </a:gridCol>
                <a:gridCol w="3888781">
                  <a:extLst>
                    <a:ext uri="{9D8B030D-6E8A-4147-A177-3AD203B41FA5}">
                      <a16:colId xmlns:a16="http://schemas.microsoft.com/office/drawing/2014/main" val="3131065920"/>
                    </a:ext>
                  </a:extLst>
                </a:gridCol>
                <a:gridCol w="1247343">
                  <a:extLst>
                    <a:ext uri="{9D8B030D-6E8A-4147-A177-3AD203B41FA5}">
                      <a16:colId xmlns:a16="http://schemas.microsoft.com/office/drawing/2014/main" val="396103689"/>
                    </a:ext>
                  </a:extLst>
                </a:gridCol>
                <a:gridCol w="1069152">
                  <a:extLst>
                    <a:ext uri="{9D8B030D-6E8A-4147-A177-3AD203B41FA5}">
                      <a16:colId xmlns:a16="http://schemas.microsoft.com/office/drawing/2014/main" val="2698333210"/>
                    </a:ext>
                  </a:extLst>
                </a:gridCol>
                <a:gridCol w="1284466">
                  <a:extLst>
                    <a:ext uri="{9D8B030D-6E8A-4147-A177-3AD203B41FA5}">
                      <a16:colId xmlns:a16="http://schemas.microsoft.com/office/drawing/2014/main" val="2585996546"/>
                    </a:ext>
                  </a:extLst>
                </a:gridCol>
              </a:tblGrid>
              <a:tr h="0">
                <a:tc gridSpan="6">
                  <a:txBody>
                    <a:bodyPr/>
                    <a:lstStyle>
                      <a:lvl1pPr marL="0" algn="l" defTabSz="914377" rtl="0" eaLnBrk="1" latinLnBrk="0" hangingPunct="1">
                        <a:defRPr sz="1800" b="1" kern="1200">
                          <a:solidFill>
                            <a:schemeClr val="lt1"/>
                          </a:solidFill>
                          <a:latin typeface="Corbel" panose="020B0503020204020204"/>
                        </a:defRPr>
                      </a:lvl1pPr>
                      <a:lvl2pPr marL="457189" algn="l" defTabSz="914377" rtl="0" eaLnBrk="1" latinLnBrk="0" hangingPunct="1">
                        <a:defRPr sz="1800" b="1" kern="1200">
                          <a:solidFill>
                            <a:schemeClr val="lt1"/>
                          </a:solidFill>
                          <a:latin typeface="Corbel" panose="020B0503020204020204"/>
                        </a:defRPr>
                      </a:lvl2pPr>
                      <a:lvl3pPr marL="914377" algn="l" defTabSz="914377" rtl="0" eaLnBrk="1" latinLnBrk="0" hangingPunct="1">
                        <a:defRPr sz="1800" b="1" kern="1200">
                          <a:solidFill>
                            <a:schemeClr val="lt1"/>
                          </a:solidFill>
                          <a:latin typeface="Corbel" panose="020B0503020204020204"/>
                        </a:defRPr>
                      </a:lvl3pPr>
                      <a:lvl4pPr marL="1371566" algn="l" defTabSz="914377" rtl="0" eaLnBrk="1" latinLnBrk="0" hangingPunct="1">
                        <a:defRPr sz="1800" b="1" kern="1200">
                          <a:solidFill>
                            <a:schemeClr val="lt1"/>
                          </a:solidFill>
                          <a:latin typeface="Corbel" panose="020B0503020204020204"/>
                        </a:defRPr>
                      </a:lvl4pPr>
                      <a:lvl5pPr marL="1828754" algn="l" defTabSz="914377" rtl="0" eaLnBrk="1" latinLnBrk="0" hangingPunct="1">
                        <a:defRPr sz="1800" b="1" kern="1200">
                          <a:solidFill>
                            <a:schemeClr val="lt1"/>
                          </a:solidFill>
                          <a:latin typeface="Corbel" panose="020B0503020204020204"/>
                        </a:defRPr>
                      </a:lvl5pPr>
                      <a:lvl6pPr marL="2285943" algn="l" defTabSz="914377" rtl="0" eaLnBrk="1" latinLnBrk="0" hangingPunct="1">
                        <a:defRPr sz="1800" b="1" kern="1200">
                          <a:solidFill>
                            <a:schemeClr val="lt1"/>
                          </a:solidFill>
                          <a:latin typeface="Corbel" panose="020B0503020204020204"/>
                        </a:defRPr>
                      </a:lvl6pPr>
                      <a:lvl7pPr marL="2743131" algn="l" defTabSz="914377" rtl="0" eaLnBrk="1" latinLnBrk="0" hangingPunct="1">
                        <a:defRPr sz="1800" b="1" kern="1200">
                          <a:solidFill>
                            <a:schemeClr val="lt1"/>
                          </a:solidFill>
                          <a:latin typeface="Corbel" panose="020B0503020204020204"/>
                        </a:defRPr>
                      </a:lvl7pPr>
                      <a:lvl8pPr marL="3200320" algn="l" defTabSz="914377" rtl="0" eaLnBrk="1" latinLnBrk="0" hangingPunct="1">
                        <a:defRPr sz="1800" b="1" kern="1200">
                          <a:solidFill>
                            <a:schemeClr val="lt1"/>
                          </a:solidFill>
                          <a:latin typeface="Corbel" panose="020B0503020204020204"/>
                        </a:defRPr>
                      </a:lvl8pPr>
                      <a:lvl9pPr marL="3657509" algn="l" defTabSz="914377" rtl="0" eaLnBrk="1" latinLnBrk="0" hangingPunct="1">
                        <a:defRPr sz="1800" b="1" kern="1200">
                          <a:solidFill>
                            <a:schemeClr val="lt1"/>
                          </a:solidFill>
                          <a:latin typeface="Corbel" panose="020B0503020204020204"/>
                        </a:defRPr>
                      </a:lvl9pPr>
                    </a:lstStyle>
                    <a:p>
                      <a:pPr algn="ctr"/>
                      <a:r>
                        <a:rPr lang="en-GB" sz="1200" b="1" dirty="0">
                          <a:solidFill>
                            <a:sysClr val="windowText" lastClr="000000"/>
                          </a:solidFill>
                        </a:rPr>
                        <a:t>Major &amp; Critical Change Controls </a:t>
                      </a:r>
                      <a:r>
                        <a:rPr lang="en-GB" sz="1200" dirty="0">
                          <a:solidFill>
                            <a:sysClr val="windowText" lastClr="000000"/>
                          </a:solidFill>
                        </a:rPr>
                        <a:t> Closed</a:t>
                      </a:r>
                      <a:endParaRPr lang="en-GB" sz="1200" dirty="0">
                        <a:solidFill>
                          <a:sysClr val="windowText" lastClr="000000"/>
                        </a:solidFill>
                        <a:latin typeface="+mn-lt"/>
                      </a:endParaRPr>
                    </a:p>
                  </a:txBody>
                  <a:tcPr/>
                </a:tc>
                <a:tc hMerge="1">
                  <a:txBody>
                    <a:bodyPr/>
                    <a:lstStyle/>
                    <a:p>
                      <a:endParaRPr lang="en-GB"/>
                    </a:p>
                  </a:txBody>
                  <a:tcPr/>
                </a:tc>
                <a:tc hMerge="1">
                  <a:txBody>
                    <a:bodyPr/>
                    <a:lstStyle/>
                    <a:p>
                      <a:endParaRPr lang="en-GB"/>
                    </a:p>
                  </a:txBody>
                  <a:tcPr/>
                </a:tc>
                <a:tc hMerge="1">
                  <a:txBody>
                    <a:bodyPr/>
                    <a:lstStyle/>
                    <a:p>
                      <a:endParaRPr lang="en-GB" dirty="0"/>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34243998"/>
                  </a:ext>
                </a:extLst>
              </a:tr>
              <a:tr h="170541">
                <a:tc>
                  <a:txBody>
                    <a:bodyPr/>
                    <a:lstStyle>
                      <a:lvl1pPr marL="0" algn="l" defTabSz="914377" rtl="0" eaLnBrk="1" latinLnBrk="0" hangingPunct="1">
                        <a:defRPr sz="1800" kern="1200">
                          <a:solidFill>
                            <a:schemeClr val="dk1"/>
                          </a:solidFill>
                          <a:latin typeface="Corbel" panose="020B0503020204020204"/>
                        </a:defRPr>
                      </a:lvl1pPr>
                      <a:lvl2pPr marL="457189" algn="l" defTabSz="914377" rtl="0" eaLnBrk="1" latinLnBrk="0" hangingPunct="1">
                        <a:defRPr sz="1800" kern="1200">
                          <a:solidFill>
                            <a:schemeClr val="dk1"/>
                          </a:solidFill>
                          <a:latin typeface="Corbel" panose="020B0503020204020204"/>
                        </a:defRPr>
                      </a:lvl2pPr>
                      <a:lvl3pPr marL="914377" algn="l" defTabSz="914377" rtl="0" eaLnBrk="1" latinLnBrk="0" hangingPunct="1">
                        <a:defRPr sz="1800" kern="1200">
                          <a:solidFill>
                            <a:schemeClr val="dk1"/>
                          </a:solidFill>
                          <a:latin typeface="Corbel" panose="020B0503020204020204"/>
                        </a:defRPr>
                      </a:lvl3pPr>
                      <a:lvl4pPr marL="1371566" algn="l" defTabSz="914377" rtl="0" eaLnBrk="1" latinLnBrk="0" hangingPunct="1">
                        <a:defRPr sz="1800" kern="1200">
                          <a:solidFill>
                            <a:schemeClr val="dk1"/>
                          </a:solidFill>
                          <a:latin typeface="Corbel" panose="020B0503020204020204"/>
                        </a:defRPr>
                      </a:lvl4pPr>
                      <a:lvl5pPr marL="1828754" algn="l" defTabSz="914377" rtl="0" eaLnBrk="1" latinLnBrk="0" hangingPunct="1">
                        <a:defRPr sz="1800" kern="1200">
                          <a:solidFill>
                            <a:schemeClr val="dk1"/>
                          </a:solidFill>
                          <a:latin typeface="Corbel" panose="020B0503020204020204"/>
                        </a:defRPr>
                      </a:lvl5pPr>
                      <a:lvl6pPr marL="2285943" algn="l" defTabSz="914377" rtl="0" eaLnBrk="1" latinLnBrk="0" hangingPunct="1">
                        <a:defRPr sz="1800" kern="1200">
                          <a:solidFill>
                            <a:schemeClr val="dk1"/>
                          </a:solidFill>
                          <a:latin typeface="Corbel" panose="020B0503020204020204"/>
                        </a:defRPr>
                      </a:lvl6pPr>
                      <a:lvl7pPr marL="2743131" algn="l" defTabSz="914377" rtl="0" eaLnBrk="1" latinLnBrk="0" hangingPunct="1">
                        <a:defRPr sz="1800" kern="1200">
                          <a:solidFill>
                            <a:schemeClr val="dk1"/>
                          </a:solidFill>
                          <a:latin typeface="Corbel" panose="020B0503020204020204"/>
                        </a:defRPr>
                      </a:lvl7pPr>
                      <a:lvl8pPr marL="3200320" algn="l" defTabSz="914377" rtl="0" eaLnBrk="1" latinLnBrk="0" hangingPunct="1">
                        <a:defRPr sz="1800" kern="1200">
                          <a:solidFill>
                            <a:schemeClr val="dk1"/>
                          </a:solidFill>
                          <a:latin typeface="Corbel" panose="020B0503020204020204"/>
                        </a:defRPr>
                      </a:lvl8pPr>
                      <a:lvl9pPr marL="3657509" algn="l" defTabSz="914377" rtl="0" eaLnBrk="1" latinLnBrk="0" hangingPunct="1">
                        <a:defRPr sz="1800" kern="1200">
                          <a:solidFill>
                            <a:schemeClr val="dk1"/>
                          </a:solidFill>
                          <a:latin typeface="Corbel" panose="020B0503020204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b="1" dirty="0">
                          <a:solidFill>
                            <a:sysClr val="windowText" lastClr="000000"/>
                          </a:solidFill>
                        </a:rPr>
                        <a:t>Change Control number</a:t>
                      </a:r>
                      <a:endParaRPr lang="en-GB" sz="1100" b="1" kern="1200" dirty="0">
                        <a:solidFill>
                          <a:sysClr val="windowText" lastClr="000000"/>
                        </a:solidFill>
                        <a:latin typeface="Corbel" panose="020B0503020204020204"/>
                        <a:ea typeface="+mn-ea"/>
                        <a:cs typeface="+mn-cs"/>
                      </a:endParaRPr>
                    </a:p>
                  </a:txBody>
                  <a:tcPr anchor="ctr"/>
                </a:tc>
                <a:tc>
                  <a:txBody>
                    <a:bodyPr/>
                    <a:lstStyle/>
                    <a:p>
                      <a:pPr algn="ctr"/>
                      <a:r>
                        <a:rPr lang="en-GB" sz="1100" b="1" dirty="0">
                          <a:solidFill>
                            <a:sysClr val="windowText" lastClr="000000"/>
                          </a:solidFill>
                        </a:rPr>
                        <a:t>Date raised</a:t>
                      </a:r>
                    </a:p>
                  </a:txBody>
                  <a:tcPr anchor="ctr"/>
                </a:tc>
                <a:tc>
                  <a:txBody>
                    <a:bodyPr/>
                    <a:lstStyle>
                      <a:lvl1pPr marL="0" algn="l" defTabSz="914377" rtl="0" eaLnBrk="1" latinLnBrk="0" hangingPunct="1">
                        <a:defRPr sz="1800" kern="1200">
                          <a:solidFill>
                            <a:schemeClr val="dk1"/>
                          </a:solidFill>
                          <a:latin typeface="Corbel" panose="020B0503020204020204"/>
                        </a:defRPr>
                      </a:lvl1pPr>
                      <a:lvl2pPr marL="457189" algn="l" defTabSz="914377" rtl="0" eaLnBrk="1" latinLnBrk="0" hangingPunct="1">
                        <a:defRPr sz="1800" kern="1200">
                          <a:solidFill>
                            <a:schemeClr val="dk1"/>
                          </a:solidFill>
                          <a:latin typeface="Corbel" panose="020B0503020204020204"/>
                        </a:defRPr>
                      </a:lvl2pPr>
                      <a:lvl3pPr marL="914377" algn="l" defTabSz="914377" rtl="0" eaLnBrk="1" latinLnBrk="0" hangingPunct="1">
                        <a:defRPr sz="1800" kern="1200">
                          <a:solidFill>
                            <a:schemeClr val="dk1"/>
                          </a:solidFill>
                          <a:latin typeface="Corbel" panose="020B0503020204020204"/>
                        </a:defRPr>
                      </a:lvl3pPr>
                      <a:lvl4pPr marL="1371566" algn="l" defTabSz="914377" rtl="0" eaLnBrk="1" latinLnBrk="0" hangingPunct="1">
                        <a:defRPr sz="1800" kern="1200">
                          <a:solidFill>
                            <a:schemeClr val="dk1"/>
                          </a:solidFill>
                          <a:latin typeface="Corbel" panose="020B0503020204020204"/>
                        </a:defRPr>
                      </a:lvl4pPr>
                      <a:lvl5pPr marL="1828754" algn="l" defTabSz="914377" rtl="0" eaLnBrk="1" latinLnBrk="0" hangingPunct="1">
                        <a:defRPr sz="1800" kern="1200">
                          <a:solidFill>
                            <a:schemeClr val="dk1"/>
                          </a:solidFill>
                          <a:latin typeface="Corbel" panose="020B0503020204020204"/>
                        </a:defRPr>
                      </a:lvl5pPr>
                      <a:lvl6pPr marL="2285943" algn="l" defTabSz="914377" rtl="0" eaLnBrk="1" latinLnBrk="0" hangingPunct="1">
                        <a:defRPr sz="1800" kern="1200">
                          <a:solidFill>
                            <a:schemeClr val="dk1"/>
                          </a:solidFill>
                          <a:latin typeface="Corbel" panose="020B0503020204020204"/>
                        </a:defRPr>
                      </a:lvl6pPr>
                      <a:lvl7pPr marL="2743131" algn="l" defTabSz="914377" rtl="0" eaLnBrk="1" latinLnBrk="0" hangingPunct="1">
                        <a:defRPr sz="1800" kern="1200">
                          <a:solidFill>
                            <a:schemeClr val="dk1"/>
                          </a:solidFill>
                          <a:latin typeface="Corbel" panose="020B0503020204020204"/>
                        </a:defRPr>
                      </a:lvl7pPr>
                      <a:lvl8pPr marL="3200320" algn="l" defTabSz="914377" rtl="0" eaLnBrk="1" latinLnBrk="0" hangingPunct="1">
                        <a:defRPr sz="1800" kern="1200">
                          <a:solidFill>
                            <a:schemeClr val="dk1"/>
                          </a:solidFill>
                          <a:latin typeface="Corbel" panose="020B0503020204020204"/>
                        </a:defRPr>
                      </a:lvl8pPr>
                      <a:lvl9pPr marL="3657509" algn="l" defTabSz="914377" rtl="0" eaLnBrk="1" latinLnBrk="0" hangingPunct="1">
                        <a:defRPr sz="1800" kern="1200">
                          <a:solidFill>
                            <a:schemeClr val="dk1"/>
                          </a:solidFill>
                          <a:latin typeface="Corbel" panose="020B0503020204020204"/>
                        </a:defRPr>
                      </a:lvl9pPr>
                    </a:lstStyle>
                    <a:p>
                      <a:pPr algn="ctr"/>
                      <a:r>
                        <a:rPr lang="en-GB" sz="1100" b="1" dirty="0">
                          <a:solidFill>
                            <a:sysClr val="windowText" lastClr="000000"/>
                          </a:solidFill>
                        </a:rPr>
                        <a:t>Change Control  description</a:t>
                      </a:r>
                    </a:p>
                  </a:txBody>
                  <a:tcPr anchor="ctr"/>
                </a:tc>
                <a:tc>
                  <a:txBody>
                    <a:bodyPr/>
                    <a:lstStyle>
                      <a:lvl1pPr marL="0" algn="l" defTabSz="914377" rtl="0" eaLnBrk="1" latinLnBrk="0" hangingPunct="1">
                        <a:defRPr sz="1800" kern="1200">
                          <a:solidFill>
                            <a:schemeClr val="dk1"/>
                          </a:solidFill>
                          <a:latin typeface="Corbel" panose="020B0503020204020204"/>
                        </a:defRPr>
                      </a:lvl1pPr>
                      <a:lvl2pPr marL="457189" algn="l" defTabSz="914377" rtl="0" eaLnBrk="1" latinLnBrk="0" hangingPunct="1">
                        <a:defRPr sz="1800" kern="1200">
                          <a:solidFill>
                            <a:schemeClr val="dk1"/>
                          </a:solidFill>
                          <a:latin typeface="Corbel" panose="020B0503020204020204"/>
                        </a:defRPr>
                      </a:lvl2pPr>
                      <a:lvl3pPr marL="914377" algn="l" defTabSz="914377" rtl="0" eaLnBrk="1" latinLnBrk="0" hangingPunct="1">
                        <a:defRPr sz="1800" kern="1200">
                          <a:solidFill>
                            <a:schemeClr val="dk1"/>
                          </a:solidFill>
                          <a:latin typeface="Corbel" panose="020B0503020204020204"/>
                        </a:defRPr>
                      </a:lvl3pPr>
                      <a:lvl4pPr marL="1371566" algn="l" defTabSz="914377" rtl="0" eaLnBrk="1" latinLnBrk="0" hangingPunct="1">
                        <a:defRPr sz="1800" kern="1200">
                          <a:solidFill>
                            <a:schemeClr val="dk1"/>
                          </a:solidFill>
                          <a:latin typeface="Corbel" panose="020B0503020204020204"/>
                        </a:defRPr>
                      </a:lvl4pPr>
                      <a:lvl5pPr marL="1828754" algn="l" defTabSz="914377" rtl="0" eaLnBrk="1" latinLnBrk="0" hangingPunct="1">
                        <a:defRPr sz="1800" kern="1200">
                          <a:solidFill>
                            <a:schemeClr val="dk1"/>
                          </a:solidFill>
                          <a:latin typeface="Corbel" panose="020B0503020204020204"/>
                        </a:defRPr>
                      </a:lvl5pPr>
                      <a:lvl6pPr marL="2285943" algn="l" defTabSz="914377" rtl="0" eaLnBrk="1" latinLnBrk="0" hangingPunct="1">
                        <a:defRPr sz="1800" kern="1200">
                          <a:solidFill>
                            <a:schemeClr val="dk1"/>
                          </a:solidFill>
                          <a:latin typeface="Corbel" panose="020B0503020204020204"/>
                        </a:defRPr>
                      </a:lvl6pPr>
                      <a:lvl7pPr marL="2743131" algn="l" defTabSz="914377" rtl="0" eaLnBrk="1" latinLnBrk="0" hangingPunct="1">
                        <a:defRPr sz="1800" kern="1200">
                          <a:solidFill>
                            <a:schemeClr val="dk1"/>
                          </a:solidFill>
                          <a:latin typeface="Corbel" panose="020B0503020204020204"/>
                        </a:defRPr>
                      </a:lvl7pPr>
                      <a:lvl8pPr marL="3200320" algn="l" defTabSz="914377" rtl="0" eaLnBrk="1" latinLnBrk="0" hangingPunct="1">
                        <a:defRPr sz="1800" kern="1200">
                          <a:solidFill>
                            <a:schemeClr val="dk1"/>
                          </a:solidFill>
                          <a:latin typeface="Corbel" panose="020B0503020204020204"/>
                        </a:defRPr>
                      </a:lvl8pPr>
                      <a:lvl9pPr marL="3657509" algn="l" defTabSz="914377" rtl="0" eaLnBrk="1" latinLnBrk="0" hangingPunct="1">
                        <a:defRPr sz="1800" kern="1200">
                          <a:solidFill>
                            <a:schemeClr val="dk1"/>
                          </a:solidFill>
                          <a:latin typeface="Corbel" panose="020B0503020204020204"/>
                        </a:defRPr>
                      </a:lvl9pPr>
                    </a:lstStyle>
                    <a:p>
                      <a:pPr algn="ctr"/>
                      <a:r>
                        <a:rPr lang="en-GB" sz="1100" b="1" dirty="0">
                          <a:solidFill>
                            <a:sysClr val="windowText" lastClr="000000"/>
                          </a:solidFill>
                        </a:rPr>
                        <a:t>Classification </a:t>
                      </a:r>
                    </a:p>
                  </a:txBody>
                  <a:tcPr anchor="ctr"/>
                </a:tc>
                <a:tc>
                  <a:txBody>
                    <a:bodyPr/>
                    <a:lstStyle/>
                    <a:p>
                      <a:pPr algn="ctr"/>
                      <a:r>
                        <a:rPr lang="en-GB" sz="1100" b="1" dirty="0">
                          <a:solidFill>
                            <a:sysClr val="windowText" lastClr="000000"/>
                          </a:solidFill>
                        </a:rPr>
                        <a:t>Target date</a:t>
                      </a:r>
                    </a:p>
                  </a:txBody>
                  <a:tcPr anchor="ctr"/>
                </a:tc>
                <a:tc>
                  <a:txBody>
                    <a:bodyPr/>
                    <a:lstStyle/>
                    <a:p>
                      <a:pPr algn="ctr"/>
                      <a:r>
                        <a:rPr lang="en-GB" sz="1100" b="1" dirty="0">
                          <a:solidFill>
                            <a:sysClr val="windowText" lastClr="000000"/>
                          </a:solidFill>
                        </a:rPr>
                        <a:t>Completion date</a:t>
                      </a:r>
                    </a:p>
                  </a:txBody>
                  <a:tcPr anchor="ctr"/>
                </a:tc>
                <a:extLst>
                  <a:ext uri="{0D108BD9-81ED-4DB2-BD59-A6C34878D82A}">
                    <a16:rowId xmlns:a16="http://schemas.microsoft.com/office/drawing/2014/main" val="701549060"/>
                  </a:ext>
                </a:extLst>
              </a:tr>
              <a:tr h="89077">
                <a:tc>
                  <a:txBody>
                    <a:bodyPr/>
                    <a:lstStyle/>
                    <a:p>
                      <a:pPr algn="ctr" fontAlgn="ctr">
                        <a:buNone/>
                      </a:pPr>
                      <a:r>
                        <a:rPr lang="en-GB" sz="1100" b="0" u="none" strike="noStrike" kern="1200" dirty="0">
                          <a:solidFill>
                            <a:srgbClr val="000000"/>
                          </a:solidFill>
                          <a:effectLst/>
                          <a:latin typeface="+mn-lt"/>
                          <a:ea typeface="+mn-ea"/>
                          <a:cs typeface="+mn-cs"/>
                        </a:rPr>
                        <a:t>CC.2025.070</a:t>
                      </a:r>
                    </a:p>
                  </a:txBody>
                  <a:tcPr marL="9525" marR="9525" marT="9525" anchor="ctr"/>
                </a:tc>
                <a:tc>
                  <a:txBody>
                    <a:bodyPr/>
                    <a:lstStyle/>
                    <a:p>
                      <a:pPr algn="ctr" fontAlgn="ctr">
                        <a:buNone/>
                      </a:pPr>
                      <a:r>
                        <a:rPr lang="en-US" sz="1100" b="0" u="none" strike="noStrike" kern="1200" dirty="0">
                          <a:solidFill>
                            <a:srgbClr val="000000"/>
                          </a:solidFill>
                          <a:effectLst/>
                          <a:latin typeface="+mn-lt"/>
                          <a:ea typeface="+mn-ea"/>
                          <a:cs typeface="+mn-cs"/>
                        </a:rPr>
                        <a:t>28-OCT-25</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Update to scientific rationale process</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Major</a:t>
                      </a: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31-Jan-26</a:t>
                      </a:r>
                    </a:p>
                  </a:txBody>
                  <a:tcPr marL="9525" marR="9525" marT="9525" anchor="ctr"/>
                </a:tc>
                <a:tc>
                  <a:txBody>
                    <a:bodyPr/>
                    <a:lstStyle/>
                    <a:p>
                      <a:pPr algn="ctr" fontAlgn="ctr">
                        <a:buNone/>
                      </a:pPr>
                      <a:r>
                        <a:rPr lang="en-GB" sz="1100" b="0" i="0" u="none" strike="noStrike" dirty="0">
                          <a:solidFill>
                            <a:schemeClr val="bg1"/>
                          </a:solidFill>
                          <a:effectLst/>
                          <a:latin typeface="Calibri" panose="020F0502020204030204" pitchFamily="34" charset="0"/>
                        </a:rPr>
                        <a:t>30-Jan-26</a:t>
                      </a:r>
                    </a:p>
                  </a:txBody>
                  <a:tcPr marL="9525" marR="9525" marT="9525" anchor="ctr">
                    <a:solidFill>
                      <a:srgbClr val="00B050"/>
                    </a:solidFill>
                  </a:tcPr>
                </a:tc>
                <a:extLst>
                  <a:ext uri="{0D108BD9-81ED-4DB2-BD59-A6C34878D82A}">
                    <a16:rowId xmlns:a16="http://schemas.microsoft.com/office/drawing/2014/main" val="3856702784"/>
                  </a:ext>
                </a:extLst>
              </a:tr>
              <a:tr h="89077">
                <a:tc>
                  <a:txBody>
                    <a:bodyPr/>
                    <a:lstStyle/>
                    <a:p>
                      <a:pPr marL="0" algn="ctr" defTabSz="914400" rtl="0" eaLnBrk="1" fontAlgn="ctr" latinLnBrk="0" hangingPunct="1">
                        <a:buNone/>
                      </a:pPr>
                      <a:r>
                        <a:rPr lang="en-GB" sz="1100" b="0" u="none" strike="noStrike" kern="1200" dirty="0">
                          <a:solidFill>
                            <a:srgbClr val="000000"/>
                          </a:solidFill>
                          <a:effectLst/>
                          <a:latin typeface="+mn-lt"/>
                          <a:ea typeface="+mn-ea"/>
                          <a:cs typeface="+mn-cs"/>
                        </a:rPr>
                        <a:t>CC.2025.076</a:t>
                      </a:r>
                    </a:p>
                  </a:txBody>
                  <a:tcPr marL="9525" marR="9525" marT="9525" anchor="ctr"/>
                </a:tc>
                <a:tc>
                  <a:txBody>
                    <a:bodyPr/>
                    <a:lstStyle/>
                    <a:p>
                      <a:pPr marL="0" algn="ctr" defTabSz="914400" rtl="0" eaLnBrk="1" fontAlgn="ctr" latinLnBrk="0" hangingPunct="1">
                        <a:buNone/>
                      </a:pPr>
                      <a:r>
                        <a:rPr lang="en-US" sz="1100" b="0" u="none" strike="noStrike" kern="1200" dirty="0">
                          <a:solidFill>
                            <a:srgbClr val="000000"/>
                          </a:solidFill>
                          <a:effectLst/>
                          <a:latin typeface="+mn-lt"/>
                          <a:ea typeface="+mn-ea"/>
                          <a:cs typeface="+mn-cs"/>
                        </a:rPr>
                        <a:t>05-NOV-25</a:t>
                      </a:r>
                    </a:p>
                  </a:txBody>
                  <a:tcPr marL="9525" marR="9525" marT="9525" anchor="ctr"/>
                </a:tc>
                <a:tc>
                  <a:txBody>
                    <a:bodyPr/>
                    <a:lstStyle/>
                    <a:p>
                      <a:pPr algn="ctr" fontAlgn="ctr">
                        <a:buNone/>
                      </a:pPr>
                      <a:r>
                        <a:rPr lang="en-US" sz="1100" b="0" u="none" strike="noStrike" kern="1200" dirty="0">
                          <a:solidFill>
                            <a:srgbClr val="000000"/>
                          </a:solidFill>
                          <a:effectLst/>
                          <a:latin typeface="+mn-lt"/>
                          <a:ea typeface="+mn-ea"/>
                          <a:cs typeface="+mn-cs"/>
                        </a:rPr>
                        <a:t>Introduction of new friability machine</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Major</a:t>
                      </a:r>
                    </a:p>
                  </a:txBody>
                  <a:tcPr marL="0" marR="0" marT="0" marB="0" anchor="ctr">
                    <a:solidFill>
                      <a:srgbClr val="FFFF00"/>
                    </a:solidFill>
                  </a:tcPr>
                </a:tc>
                <a:tc>
                  <a:txBody>
                    <a:bodyPr/>
                    <a:lstStyle/>
                    <a:p>
                      <a:pPr algn="ctr" fontAlgn="ctr">
                        <a:buNone/>
                      </a:pPr>
                      <a:r>
                        <a:rPr lang="en-GB" sz="1100" b="0" u="none" strike="noStrike" kern="1200" dirty="0">
                          <a:solidFill>
                            <a:srgbClr val="000000"/>
                          </a:solidFill>
                          <a:effectLst/>
                          <a:latin typeface="+mn-lt"/>
                          <a:ea typeface="+mn-ea"/>
                          <a:cs typeface="+mn-cs"/>
                        </a:rPr>
                        <a:t>31-Mar-26</a:t>
                      </a:r>
                    </a:p>
                  </a:txBody>
                  <a:tcPr marL="9525" marR="9525" marT="9525" anchor="ctr"/>
                </a:tc>
                <a:tc>
                  <a:txBody>
                    <a:bodyPr/>
                    <a:lstStyle/>
                    <a:p>
                      <a:pPr algn="ctr" fontAlgn="ctr">
                        <a:buNone/>
                      </a:pPr>
                      <a:r>
                        <a:rPr lang="en-GB" sz="1100" b="0" u="none" strike="noStrike" kern="1200" dirty="0">
                          <a:solidFill>
                            <a:srgbClr val="000000"/>
                          </a:solidFill>
                          <a:effectLst/>
                          <a:latin typeface="+mn-lt"/>
                          <a:ea typeface="+mn-ea"/>
                          <a:cs typeface="+mn-cs"/>
                        </a:rPr>
                        <a:t>23-Mar-26</a:t>
                      </a:r>
                    </a:p>
                  </a:txBody>
                  <a:tcPr marL="9525" marR="9525" marT="9525" anchor="ctr">
                    <a:solidFill>
                      <a:srgbClr val="00B050"/>
                    </a:solidFill>
                  </a:tcPr>
                </a:tc>
                <a:extLst>
                  <a:ext uri="{0D108BD9-81ED-4DB2-BD59-A6C34878D82A}">
                    <a16:rowId xmlns:a16="http://schemas.microsoft.com/office/drawing/2014/main" val="2380056315"/>
                  </a:ext>
                </a:extLst>
              </a:tr>
            </a:tbl>
          </a:graphicData>
        </a:graphic>
      </p:graphicFrame>
      <p:graphicFrame>
        <p:nvGraphicFramePr>
          <p:cNvPr id="18" name="Table 17">
            <a:extLst>
              <a:ext uri="{FF2B5EF4-FFF2-40B4-BE49-F238E27FC236}">
                <a16:creationId xmlns:a16="http://schemas.microsoft.com/office/drawing/2014/main" id="{FDC2892A-8294-3D2A-94D6-1F0603472C98}"/>
              </a:ext>
            </a:extLst>
          </p:cNvPr>
          <p:cNvGraphicFramePr>
            <a:graphicFrameLocks/>
          </p:cNvGraphicFramePr>
          <p:nvPr>
            <p:extLst>
              <p:ext uri="{D42A27DB-BD31-4B8C-83A1-F6EECF244321}">
                <p14:modId xmlns:p14="http://schemas.microsoft.com/office/powerpoint/2010/main" val="4211530771"/>
              </p:ext>
            </p:extLst>
          </p:nvPr>
        </p:nvGraphicFramePr>
        <p:xfrm>
          <a:off x="865337" y="584775"/>
          <a:ext cx="11177628" cy="3564285"/>
        </p:xfrm>
        <a:graphic>
          <a:graphicData uri="http://schemas.openxmlformats.org/drawingml/2006/table">
            <a:tbl>
              <a:tblPr firstRow="1" bandRow="1">
                <a:tableStyleId>{5C22544A-7EE6-4342-B048-85BDC9FD1C3A}</a:tableStyleId>
              </a:tblPr>
              <a:tblGrid>
                <a:gridCol w="1418899">
                  <a:extLst>
                    <a:ext uri="{9D8B030D-6E8A-4147-A177-3AD203B41FA5}">
                      <a16:colId xmlns:a16="http://schemas.microsoft.com/office/drawing/2014/main" val="340894773"/>
                    </a:ext>
                  </a:extLst>
                </a:gridCol>
                <a:gridCol w="1401968">
                  <a:extLst>
                    <a:ext uri="{9D8B030D-6E8A-4147-A177-3AD203B41FA5}">
                      <a16:colId xmlns:a16="http://schemas.microsoft.com/office/drawing/2014/main" val="1544888063"/>
                    </a:ext>
                  </a:extLst>
                </a:gridCol>
                <a:gridCol w="3394313">
                  <a:extLst>
                    <a:ext uri="{9D8B030D-6E8A-4147-A177-3AD203B41FA5}">
                      <a16:colId xmlns:a16="http://schemas.microsoft.com/office/drawing/2014/main" val="578213674"/>
                    </a:ext>
                  </a:extLst>
                </a:gridCol>
                <a:gridCol w="2169968">
                  <a:extLst>
                    <a:ext uri="{9D8B030D-6E8A-4147-A177-3AD203B41FA5}">
                      <a16:colId xmlns:a16="http://schemas.microsoft.com/office/drawing/2014/main" val="2330183767"/>
                    </a:ext>
                  </a:extLst>
                </a:gridCol>
                <a:gridCol w="1043075">
                  <a:extLst>
                    <a:ext uri="{9D8B030D-6E8A-4147-A177-3AD203B41FA5}">
                      <a16:colId xmlns:a16="http://schemas.microsoft.com/office/drawing/2014/main" val="2869575329"/>
                    </a:ext>
                  </a:extLst>
                </a:gridCol>
                <a:gridCol w="1749405">
                  <a:extLst>
                    <a:ext uri="{9D8B030D-6E8A-4147-A177-3AD203B41FA5}">
                      <a16:colId xmlns:a16="http://schemas.microsoft.com/office/drawing/2014/main" val="1571917461"/>
                    </a:ext>
                  </a:extLst>
                </a:gridCol>
              </a:tblGrid>
              <a:tr h="164544">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dirty="0">
                          <a:solidFill>
                            <a:sysClr val="windowText" lastClr="000000"/>
                          </a:solidFill>
                        </a:rPr>
                        <a:t>Major &amp; Critical Change Controls Open</a:t>
                      </a:r>
                      <a:endParaRPr lang="en-GB" sz="1200" b="1" dirty="0">
                        <a:solidFill>
                          <a:sysClr val="windowText" lastClr="000000"/>
                        </a:solidFill>
                        <a:latin typeface="+mn-lt"/>
                      </a:endParaRPr>
                    </a:p>
                  </a:txBody>
                  <a:tcPr marL="74309" marR="74309" marT="37155" marB="37155" anchor="ctr"/>
                </a:tc>
                <a:tc hMerge="1">
                  <a:txBody>
                    <a:bodyPr/>
                    <a:lstStyle/>
                    <a:p>
                      <a:endParaRPr lang="en-GB"/>
                    </a:p>
                  </a:txBody>
                  <a:tcPr/>
                </a:tc>
                <a:tc hMerge="1">
                  <a:txBody>
                    <a:bodyPr/>
                    <a:lstStyle/>
                    <a:p>
                      <a:pPr algn="ctr"/>
                      <a:endParaRPr lang="en-GB" sz="2000" b="1" dirty="0">
                        <a:solidFill>
                          <a:schemeClr val="tx1"/>
                        </a:solidFill>
                        <a:latin typeface="+mn-lt"/>
                      </a:endParaRPr>
                    </a:p>
                  </a:txBody>
                  <a:tcPr marL="74309" marR="74309" marT="37155" marB="37155" anchor="ctr">
                    <a:solidFill>
                      <a:schemeClr val="bg1"/>
                    </a:solidFill>
                  </a:tcPr>
                </a:tc>
                <a:tc hMerge="1">
                  <a:txBody>
                    <a:bodyPr/>
                    <a:lstStyle/>
                    <a:p>
                      <a:pPr algn="ctr"/>
                      <a:endParaRPr lang="en-GB" sz="2000" b="1" dirty="0">
                        <a:solidFill>
                          <a:schemeClr val="tx1"/>
                        </a:solidFill>
                        <a:latin typeface="+mn-lt"/>
                      </a:endParaRPr>
                    </a:p>
                  </a:txBody>
                  <a:tcPr marL="74309" marR="74309" marT="37155" marB="37155" anchor="ctr">
                    <a:solidFill>
                      <a:schemeClr val="bg1"/>
                    </a:solidFill>
                  </a:tcPr>
                </a:tc>
                <a:tc hMerge="1">
                  <a:txBody>
                    <a:bodyPr/>
                    <a:lstStyle/>
                    <a:p>
                      <a:pPr algn="ctr"/>
                      <a:endParaRPr lang="en-GB" sz="2000" b="1" dirty="0">
                        <a:solidFill>
                          <a:schemeClr val="tx1"/>
                        </a:solidFill>
                      </a:endParaRPr>
                    </a:p>
                  </a:txBody>
                  <a:tcPr marL="74309" marR="74309" marT="37155" marB="37155" anchor="ctr">
                    <a:solidFill>
                      <a:schemeClr val="bg1"/>
                    </a:solidFill>
                  </a:tcPr>
                </a:tc>
                <a:tc hMerge="1">
                  <a:txBody>
                    <a:bodyPr/>
                    <a:lstStyle/>
                    <a:p>
                      <a:pPr algn="ctr"/>
                      <a:endParaRPr lang="en-GB" sz="2000" b="1" dirty="0">
                        <a:solidFill>
                          <a:schemeClr val="tx1"/>
                        </a:solidFill>
                      </a:endParaRPr>
                    </a:p>
                  </a:txBody>
                  <a:tcPr marL="74309" marR="74309" marT="37155" marB="37155" anchor="ctr">
                    <a:solidFill>
                      <a:schemeClr val="bg1"/>
                    </a:solidFill>
                  </a:tcPr>
                </a:tc>
                <a:extLst>
                  <a:ext uri="{0D108BD9-81ED-4DB2-BD59-A6C34878D82A}">
                    <a16:rowId xmlns:a16="http://schemas.microsoft.com/office/drawing/2014/main" val="1452266958"/>
                  </a:ext>
                </a:extLst>
              </a:tr>
              <a:tr h="2620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b="1" dirty="0">
                          <a:solidFill>
                            <a:sysClr val="windowText" lastClr="000000"/>
                          </a:solidFill>
                        </a:rPr>
                        <a:t>Change Control number</a:t>
                      </a:r>
                      <a:endParaRPr lang="en-GB" sz="1100" b="1" dirty="0">
                        <a:solidFill>
                          <a:sysClr val="windowText" lastClr="000000"/>
                        </a:solidFill>
                        <a:latin typeface="+mn-lt"/>
                      </a:endParaRPr>
                    </a:p>
                  </a:txBody>
                  <a:tcPr marL="74309" marR="74309" marT="37155" marB="37155" anchor="ctr"/>
                </a:tc>
                <a:tc>
                  <a:txBody>
                    <a:bodyPr/>
                    <a:lstStyle/>
                    <a:p>
                      <a:pPr algn="ctr"/>
                      <a:r>
                        <a:rPr lang="en-GB" sz="1100" b="1" dirty="0">
                          <a:solidFill>
                            <a:sysClr val="windowText" lastClr="000000"/>
                          </a:solidFill>
                          <a:latin typeface="+mn-lt"/>
                        </a:rPr>
                        <a:t>Date raised</a:t>
                      </a:r>
                    </a:p>
                  </a:txBody>
                  <a:tcPr marL="74309" marR="74309" marT="37155" marB="37155" anchor="ctr"/>
                </a:tc>
                <a:tc>
                  <a:txBody>
                    <a:bodyPr/>
                    <a:lstStyle/>
                    <a:p>
                      <a:pPr algn="ctr"/>
                      <a:r>
                        <a:rPr lang="en-GB" sz="1100" b="1" dirty="0">
                          <a:solidFill>
                            <a:sysClr val="windowText" lastClr="000000"/>
                          </a:solidFill>
                        </a:rPr>
                        <a:t>Change Control  description</a:t>
                      </a:r>
                      <a:endParaRPr lang="en-GB" sz="1100" b="1" dirty="0">
                        <a:solidFill>
                          <a:sysClr val="windowText" lastClr="000000"/>
                        </a:solidFill>
                        <a:latin typeface="+mn-lt"/>
                      </a:endParaRPr>
                    </a:p>
                  </a:txBody>
                  <a:tcPr marL="74309" marR="74309" marT="37155" marB="37155" anchor="ctr"/>
                </a:tc>
                <a:tc>
                  <a:txBody>
                    <a:bodyPr/>
                    <a:lstStyle/>
                    <a:p>
                      <a:pPr algn="ctr"/>
                      <a:r>
                        <a:rPr lang="en-GB" sz="1100" b="1" dirty="0">
                          <a:solidFill>
                            <a:sysClr val="windowText" lastClr="000000"/>
                          </a:solidFill>
                        </a:rPr>
                        <a:t>Classification</a:t>
                      </a:r>
                      <a:endParaRPr lang="en-GB" sz="1100" b="1" dirty="0">
                        <a:solidFill>
                          <a:sysClr val="windowText" lastClr="000000"/>
                        </a:solidFill>
                        <a:latin typeface="+mn-lt"/>
                      </a:endParaRPr>
                    </a:p>
                  </a:txBody>
                  <a:tcPr marL="74309" marR="74309" marT="37155" marB="37155" anchor="ctr"/>
                </a:tc>
                <a:tc>
                  <a:txBody>
                    <a:bodyPr/>
                    <a:lstStyle/>
                    <a:p>
                      <a:pPr algn="ctr"/>
                      <a:r>
                        <a:rPr lang="en-GB" sz="1100" b="1" dirty="0">
                          <a:solidFill>
                            <a:sysClr val="windowText" lastClr="000000"/>
                          </a:solidFill>
                        </a:rPr>
                        <a:t>Target date</a:t>
                      </a:r>
                    </a:p>
                  </a:txBody>
                  <a:tcPr marL="74309" marR="74309" marT="37155" marB="37155" anchor="ctr"/>
                </a:tc>
                <a:tc>
                  <a:txBody>
                    <a:bodyPr/>
                    <a:lstStyle/>
                    <a:p>
                      <a:pPr algn="ctr"/>
                      <a:r>
                        <a:rPr lang="en-GB" sz="1100" b="1" dirty="0">
                          <a:solidFill>
                            <a:sysClr val="windowText" lastClr="000000"/>
                          </a:solidFill>
                        </a:rPr>
                        <a:t>Reason still open</a:t>
                      </a:r>
                    </a:p>
                  </a:txBody>
                  <a:tcPr marL="74309" marR="74309" marT="37155" marB="37155" anchor="ctr"/>
                </a:tc>
                <a:extLst>
                  <a:ext uri="{0D108BD9-81ED-4DB2-BD59-A6C34878D82A}">
                    <a16:rowId xmlns:a16="http://schemas.microsoft.com/office/drawing/2014/main" val="3379889016"/>
                  </a:ext>
                </a:extLst>
              </a:tr>
              <a:tr h="142597">
                <a:tc>
                  <a:txBody>
                    <a:bodyPr/>
                    <a:lstStyle/>
                    <a:p>
                      <a:pPr algn="ctr" fontAlgn="ctr">
                        <a:buNone/>
                      </a:pPr>
                      <a:r>
                        <a:rPr lang="en-GB" sz="1100" b="0" i="0" u="none" strike="noStrike" dirty="0">
                          <a:solidFill>
                            <a:srgbClr val="000000"/>
                          </a:solidFill>
                          <a:effectLst/>
                          <a:latin typeface="Calibri" panose="020F0502020204030204" pitchFamily="34" charset="0"/>
                        </a:rPr>
                        <a:t>CC.2024.028</a:t>
                      </a:r>
                    </a:p>
                  </a:txBody>
                  <a:tcPr marL="9525" marR="9525" marT="9525" anchor="ctr"/>
                </a:tc>
                <a:tc>
                  <a:txBody>
                    <a:bodyPr/>
                    <a:lstStyle/>
                    <a:p>
                      <a:pPr algn="ctr" fontAlgn="ctr">
                        <a:buNone/>
                      </a:pPr>
                      <a:r>
                        <a:rPr lang="en-US" sz="1100" b="0" i="0" u="none" strike="noStrike" dirty="0">
                          <a:solidFill>
                            <a:srgbClr val="000000"/>
                          </a:solidFill>
                          <a:effectLst/>
                          <a:latin typeface="+mn-lt"/>
                        </a:rPr>
                        <a:t>20-May-24</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Update of Deviation and complaint process</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Major</a:t>
                      </a: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30-Jun-26</a:t>
                      </a:r>
                    </a:p>
                  </a:txBody>
                  <a:tcPr marL="9525" marR="9525" marT="9525" anchor="ctr"/>
                </a:tc>
                <a:tc>
                  <a:txBody>
                    <a:bodyPr/>
                    <a:lstStyle/>
                    <a:p>
                      <a:pPr algn="ctr" fontAlgn="ctr">
                        <a:buNone/>
                      </a:pPr>
                      <a:r>
                        <a:rPr lang="en-GB" sz="1100" b="0" i="0" u="none" strike="noStrike" dirty="0">
                          <a:solidFill>
                            <a:schemeClr val="bg1"/>
                          </a:solidFill>
                          <a:effectLst/>
                          <a:latin typeface="Calibri" panose="020F0502020204030204" pitchFamily="34" charset="0"/>
                        </a:rPr>
                        <a:t>Actions Outstanding</a:t>
                      </a:r>
                    </a:p>
                  </a:txBody>
                  <a:tcPr marL="9525" marR="9525" marT="9525" anchor="ctr"/>
                </a:tc>
                <a:extLst>
                  <a:ext uri="{0D108BD9-81ED-4DB2-BD59-A6C34878D82A}">
                    <a16:rowId xmlns:a16="http://schemas.microsoft.com/office/drawing/2014/main" val="1606515999"/>
                  </a:ext>
                </a:extLst>
              </a:tr>
              <a:tr h="142597">
                <a:tc>
                  <a:txBody>
                    <a:bodyPr/>
                    <a:lstStyle/>
                    <a:p>
                      <a:pPr algn="ctr" fontAlgn="ctr">
                        <a:buNone/>
                      </a:pPr>
                      <a:r>
                        <a:rPr lang="en-GB" sz="1100" b="0" i="0" u="none" strike="noStrike" dirty="0">
                          <a:solidFill>
                            <a:srgbClr val="000000"/>
                          </a:solidFill>
                          <a:effectLst/>
                          <a:latin typeface="Calibri" panose="020F0502020204030204" pitchFamily="34" charset="0"/>
                        </a:rPr>
                        <a:t>CC.2024.046</a:t>
                      </a:r>
                    </a:p>
                  </a:txBody>
                  <a:tcPr marL="9525" marR="9525" marT="9525" anchor="ctr"/>
                </a:tc>
                <a:tc>
                  <a:txBody>
                    <a:bodyPr/>
                    <a:lstStyle/>
                    <a:p>
                      <a:pPr algn="ctr" fontAlgn="ctr">
                        <a:buNone/>
                      </a:pPr>
                      <a:r>
                        <a:rPr lang="en-US" sz="1100" b="0" i="0" u="none" strike="noStrike" dirty="0">
                          <a:solidFill>
                            <a:srgbClr val="000000"/>
                          </a:solidFill>
                          <a:effectLst/>
                          <a:latin typeface="+mn-lt"/>
                        </a:rPr>
                        <a:t>01-Oct-24</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Implementation of BC for wholesale activity</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Major</a:t>
                      </a: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31-Aug-26</a:t>
                      </a:r>
                    </a:p>
                  </a:txBody>
                  <a:tcPr marL="9525" marR="9525" marT="9525" anchor="ctr"/>
                </a:tc>
                <a:tc>
                  <a:txBody>
                    <a:bodyPr/>
                    <a:lstStyle/>
                    <a:p>
                      <a:pPr algn="ctr" fontAlgn="ctr">
                        <a:buNone/>
                      </a:pPr>
                      <a:r>
                        <a:rPr lang="en-GB" sz="1100" b="0" i="0" u="none" strike="noStrike" dirty="0">
                          <a:solidFill>
                            <a:schemeClr val="bg1"/>
                          </a:solidFill>
                          <a:effectLst/>
                          <a:latin typeface="Calibri" panose="020F0502020204030204" pitchFamily="34" charset="0"/>
                        </a:rPr>
                        <a:t>Actions Outstanding</a:t>
                      </a:r>
                    </a:p>
                  </a:txBody>
                  <a:tcPr marL="9525" marR="9525" marT="9525" anchor="ctr"/>
                </a:tc>
                <a:extLst>
                  <a:ext uri="{0D108BD9-81ED-4DB2-BD59-A6C34878D82A}">
                    <a16:rowId xmlns:a16="http://schemas.microsoft.com/office/drawing/2014/main" val="1112242460"/>
                  </a:ext>
                </a:extLst>
              </a:tr>
              <a:tr h="142597">
                <a:tc>
                  <a:txBody>
                    <a:bodyPr/>
                    <a:lstStyle/>
                    <a:p>
                      <a:pPr algn="ctr" fontAlgn="ctr">
                        <a:buNone/>
                      </a:pPr>
                      <a:r>
                        <a:rPr lang="en-GB" sz="1100" b="0" i="0" u="none" strike="noStrike" dirty="0">
                          <a:solidFill>
                            <a:srgbClr val="000000"/>
                          </a:solidFill>
                          <a:effectLst/>
                          <a:latin typeface="Calibri" panose="020F0502020204030204" pitchFamily="34" charset="0"/>
                        </a:rPr>
                        <a:t>CC.2025.062</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21-Oct-25</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Introduction of new Stability Chamber</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Major</a:t>
                      </a: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30-Jun-26</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C2C2C"/>
                          </a:solidFill>
                          <a:effectLst/>
                          <a:uLnTx/>
                          <a:uFillTx/>
                          <a:latin typeface="Calibri" panose="020F0502020204030204" pitchFamily="34" charset="0"/>
                          <a:ea typeface="+mn-ea"/>
                          <a:cs typeface="+mn-cs"/>
                        </a:rPr>
                        <a:t>Actions Outstanding</a:t>
                      </a:r>
                      <a:endParaRPr kumimoji="0" lang="en-GB" sz="1100" b="0" i="0" u="none" strike="noStrike" kern="1200" cap="none" spc="0" normalizeH="0" baseline="0" noProof="0" dirty="0">
                        <a:ln>
                          <a:noFill/>
                        </a:ln>
                        <a:solidFill>
                          <a:srgbClr val="2C2C2C"/>
                        </a:solidFill>
                        <a:effectLst/>
                        <a:uLnTx/>
                        <a:uFillTx/>
                        <a:latin typeface="Calibri" panose="020F0502020204030204" pitchFamily="34" charset="0"/>
                        <a:ea typeface="+mn-ea"/>
                        <a:cs typeface="+mn-cs"/>
                      </a:endParaRPr>
                    </a:p>
                  </a:txBody>
                  <a:tcPr marL="9525" marR="9525" marT="9525" anchor="ctr"/>
                </a:tc>
                <a:extLst>
                  <a:ext uri="{0D108BD9-81ED-4DB2-BD59-A6C34878D82A}">
                    <a16:rowId xmlns:a16="http://schemas.microsoft.com/office/drawing/2014/main" val="2936806730"/>
                  </a:ext>
                </a:extLst>
              </a:tr>
              <a:tr h="142597">
                <a:tc>
                  <a:txBody>
                    <a:bodyPr/>
                    <a:lstStyle/>
                    <a:p>
                      <a:pPr algn="ctr" fontAlgn="ctr">
                        <a:buNone/>
                      </a:pPr>
                      <a:r>
                        <a:rPr lang="en-GB" sz="1100" b="0" i="0" u="none" strike="noStrike" dirty="0">
                          <a:solidFill>
                            <a:srgbClr val="000000"/>
                          </a:solidFill>
                          <a:effectLst/>
                          <a:latin typeface="Calibri" panose="020F0502020204030204" pitchFamily="34" charset="0"/>
                        </a:rPr>
                        <a:t>CC.2025.079</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24-Nov-25</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Introduction of Levomepromazine Maleate 3mg tablets</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Major</a:t>
                      </a: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30-Oct-26</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C2C2C"/>
                          </a:solidFill>
                          <a:effectLst/>
                          <a:uLnTx/>
                          <a:uFillTx/>
                          <a:latin typeface="Calibri" panose="020F0502020204030204" pitchFamily="34" charset="0"/>
                          <a:ea typeface="+mn-ea"/>
                          <a:cs typeface="+mn-cs"/>
                        </a:rPr>
                        <a:t>Actions Outstanding</a:t>
                      </a:r>
                      <a:endParaRPr kumimoji="0" lang="en-GB" sz="1100" b="0" i="0" u="none" strike="noStrike" kern="1200" cap="none" spc="0" normalizeH="0" baseline="0" noProof="0" dirty="0">
                        <a:ln>
                          <a:noFill/>
                        </a:ln>
                        <a:solidFill>
                          <a:srgbClr val="2C2C2C"/>
                        </a:solidFill>
                        <a:effectLst/>
                        <a:uLnTx/>
                        <a:uFillTx/>
                        <a:latin typeface="Calibri" panose="020F0502020204030204" pitchFamily="34" charset="0"/>
                        <a:ea typeface="+mn-ea"/>
                        <a:cs typeface="+mn-cs"/>
                      </a:endParaRPr>
                    </a:p>
                  </a:txBody>
                  <a:tcPr marL="9525" marR="9525" marT="9525" anchor="ctr"/>
                </a:tc>
                <a:extLst>
                  <a:ext uri="{0D108BD9-81ED-4DB2-BD59-A6C34878D82A}">
                    <a16:rowId xmlns:a16="http://schemas.microsoft.com/office/drawing/2014/main" val="1169787089"/>
                  </a:ext>
                </a:extLst>
              </a:tr>
              <a:tr h="142597">
                <a:tc>
                  <a:txBody>
                    <a:bodyPr/>
                    <a:lstStyle/>
                    <a:p>
                      <a:pPr algn="ctr" fontAlgn="ctr">
                        <a:buNone/>
                      </a:pPr>
                      <a:r>
                        <a:rPr lang="en-GB" sz="1100" b="0" i="0" u="none" strike="noStrike" dirty="0">
                          <a:solidFill>
                            <a:srgbClr val="000000"/>
                          </a:solidFill>
                          <a:effectLst/>
                          <a:latin typeface="Calibri" panose="020F0502020204030204" pitchFamily="34" charset="0"/>
                        </a:rPr>
                        <a:t>CC.2026.004</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08-Jan-26</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Trihexyphenidyl Suspension formulation update</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orbel" panose="020B0503020204020204"/>
                          <a:ea typeface="+mn-ea"/>
                          <a:cs typeface="+mn-cs"/>
                        </a:rPr>
                        <a:t>Major</a:t>
                      </a:r>
                      <a:endParaRPr kumimoji="0" lang="en-GB" sz="1100" b="0" i="0" u="none" strike="noStrike" kern="1200" cap="none" spc="0" normalizeH="0" baseline="0" noProof="0" dirty="0">
                        <a:ln>
                          <a:noFill/>
                        </a:ln>
                        <a:solidFill>
                          <a:srgbClr val="000000"/>
                        </a:solidFill>
                        <a:effectLst/>
                        <a:uLnTx/>
                        <a:uFillTx/>
                        <a:latin typeface="Corbel" panose="020B0503020204020204"/>
                        <a:ea typeface="+mn-ea"/>
                        <a:cs typeface="+mn-cs"/>
                      </a:endParaRP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30-Apr-26</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C2C2C"/>
                          </a:solidFill>
                          <a:effectLst/>
                          <a:uLnTx/>
                          <a:uFillTx/>
                          <a:latin typeface="Calibri" panose="020F0502020204030204" pitchFamily="34" charset="0"/>
                          <a:ea typeface="+mn-ea"/>
                          <a:cs typeface="+mn-cs"/>
                        </a:rPr>
                        <a:t>Actions Outstanding</a:t>
                      </a:r>
                      <a:endParaRPr kumimoji="0" lang="en-GB" sz="1100" b="0" i="0" u="none" strike="noStrike" kern="1200" cap="none" spc="0" normalizeH="0" baseline="0" noProof="0" dirty="0">
                        <a:ln>
                          <a:noFill/>
                        </a:ln>
                        <a:solidFill>
                          <a:srgbClr val="2C2C2C"/>
                        </a:solidFill>
                        <a:effectLst/>
                        <a:uLnTx/>
                        <a:uFillTx/>
                        <a:latin typeface="Calibri" panose="020F0502020204030204" pitchFamily="34" charset="0"/>
                        <a:ea typeface="+mn-ea"/>
                        <a:cs typeface="+mn-cs"/>
                      </a:endParaRPr>
                    </a:p>
                  </a:txBody>
                  <a:tcPr marL="9525" marR="9525" marT="9525" anchor="ctr"/>
                </a:tc>
                <a:extLst>
                  <a:ext uri="{0D108BD9-81ED-4DB2-BD59-A6C34878D82A}">
                    <a16:rowId xmlns:a16="http://schemas.microsoft.com/office/drawing/2014/main" val="1218216044"/>
                  </a:ext>
                </a:extLst>
              </a:tr>
              <a:tr h="142597">
                <a:tc>
                  <a:txBody>
                    <a:bodyPr/>
                    <a:lstStyle/>
                    <a:p>
                      <a:pPr algn="ctr" fontAlgn="ctr">
                        <a:buNone/>
                      </a:pPr>
                      <a:r>
                        <a:rPr lang="en-GB" sz="1100" b="0" i="0" u="none" strike="noStrike" dirty="0">
                          <a:solidFill>
                            <a:srgbClr val="000000"/>
                          </a:solidFill>
                          <a:effectLst/>
                          <a:latin typeface="Calibri" panose="020F0502020204030204" pitchFamily="34" charset="0"/>
                        </a:rPr>
                        <a:t>CC.2026.006</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13-Jan-26</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Introduction of ribbon blender</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000000"/>
                          </a:solidFill>
                          <a:effectLst/>
                          <a:uLnTx/>
                          <a:uFillTx/>
                          <a:latin typeface="Corbel" panose="020B0503020204020204"/>
                          <a:ea typeface="+mn-ea"/>
                          <a:cs typeface="+mn-cs"/>
                        </a:rPr>
                        <a:t>Major</a:t>
                      </a: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30-Nov-26</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C2C2C"/>
                          </a:solidFill>
                          <a:effectLst/>
                          <a:uLnTx/>
                          <a:uFillTx/>
                          <a:latin typeface="Calibri" panose="020F0502020204030204" pitchFamily="34" charset="0"/>
                          <a:ea typeface="+mn-ea"/>
                          <a:cs typeface="+mn-cs"/>
                        </a:rPr>
                        <a:t>Actions Outstanding</a:t>
                      </a:r>
                      <a:endParaRPr kumimoji="0" lang="en-GB" sz="1100" b="0" i="0" u="none" strike="noStrike" kern="1200" cap="none" spc="0" normalizeH="0" baseline="0" noProof="0" dirty="0">
                        <a:ln>
                          <a:noFill/>
                        </a:ln>
                        <a:solidFill>
                          <a:srgbClr val="2C2C2C"/>
                        </a:solidFill>
                        <a:effectLst/>
                        <a:uLnTx/>
                        <a:uFillTx/>
                        <a:latin typeface="Calibri" panose="020F0502020204030204" pitchFamily="34" charset="0"/>
                        <a:ea typeface="+mn-ea"/>
                        <a:cs typeface="+mn-cs"/>
                      </a:endParaRPr>
                    </a:p>
                  </a:txBody>
                  <a:tcPr marL="9525" marR="9525" marT="9525" anchor="ctr"/>
                </a:tc>
                <a:extLst>
                  <a:ext uri="{0D108BD9-81ED-4DB2-BD59-A6C34878D82A}">
                    <a16:rowId xmlns:a16="http://schemas.microsoft.com/office/drawing/2014/main" val="715844487"/>
                  </a:ext>
                </a:extLst>
              </a:tr>
              <a:tr h="142597">
                <a:tc>
                  <a:txBody>
                    <a:bodyPr/>
                    <a:lstStyle/>
                    <a:p>
                      <a:pPr algn="ctr" fontAlgn="ctr">
                        <a:buNone/>
                      </a:pPr>
                      <a:r>
                        <a:rPr lang="en-GB" sz="1100" b="0" i="0" u="none" strike="noStrike" dirty="0">
                          <a:solidFill>
                            <a:srgbClr val="000000"/>
                          </a:solidFill>
                          <a:effectLst/>
                          <a:latin typeface="Calibri" panose="020F0502020204030204" pitchFamily="34" charset="0"/>
                        </a:rPr>
                        <a:t>CC.2026.007</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13-Jan-26</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Introduction of Oscillating Granulator</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orbel" panose="020B0503020204020204"/>
                          <a:ea typeface="+mn-ea"/>
                          <a:cs typeface="+mn-cs"/>
                        </a:rPr>
                        <a:t>Major</a:t>
                      </a:r>
                      <a:endParaRPr kumimoji="0" lang="en-GB" sz="1100" b="0" i="0" u="none" strike="noStrike" kern="1200" cap="none" spc="0" normalizeH="0" baseline="0" noProof="0" dirty="0">
                        <a:ln>
                          <a:noFill/>
                        </a:ln>
                        <a:solidFill>
                          <a:srgbClr val="000000"/>
                        </a:solidFill>
                        <a:effectLst/>
                        <a:uLnTx/>
                        <a:uFillTx/>
                        <a:latin typeface="Corbel" panose="020B0503020204020204"/>
                        <a:ea typeface="+mn-ea"/>
                        <a:cs typeface="+mn-cs"/>
                      </a:endParaRP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30-Nov-26</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C2C2C"/>
                          </a:solidFill>
                          <a:effectLst/>
                          <a:uLnTx/>
                          <a:uFillTx/>
                          <a:latin typeface="Calibri" panose="020F0502020204030204" pitchFamily="34" charset="0"/>
                          <a:ea typeface="+mn-ea"/>
                          <a:cs typeface="+mn-cs"/>
                        </a:rPr>
                        <a:t>Actions Outstanding</a:t>
                      </a:r>
                      <a:endParaRPr kumimoji="0" lang="en-GB" sz="1100" b="0" i="0" u="none" strike="noStrike" kern="1200" cap="none" spc="0" normalizeH="0" baseline="0" noProof="0" dirty="0">
                        <a:ln>
                          <a:noFill/>
                        </a:ln>
                        <a:solidFill>
                          <a:srgbClr val="2C2C2C"/>
                        </a:solidFill>
                        <a:effectLst/>
                        <a:uLnTx/>
                        <a:uFillTx/>
                        <a:latin typeface="Calibri" panose="020F0502020204030204" pitchFamily="34" charset="0"/>
                        <a:ea typeface="+mn-ea"/>
                        <a:cs typeface="+mn-cs"/>
                      </a:endParaRPr>
                    </a:p>
                  </a:txBody>
                  <a:tcPr marL="9525" marR="9525" marT="9525" anchor="ctr"/>
                </a:tc>
                <a:extLst>
                  <a:ext uri="{0D108BD9-81ED-4DB2-BD59-A6C34878D82A}">
                    <a16:rowId xmlns:a16="http://schemas.microsoft.com/office/drawing/2014/main" val="3271169842"/>
                  </a:ext>
                </a:extLst>
              </a:tr>
              <a:tr h="142597">
                <a:tc>
                  <a:txBody>
                    <a:bodyPr/>
                    <a:lstStyle/>
                    <a:p>
                      <a:pPr algn="ctr" fontAlgn="ctr">
                        <a:buNone/>
                      </a:pPr>
                      <a:r>
                        <a:rPr lang="en-GB" sz="1100" b="0" i="0" u="none" strike="noStrike" dirty="0">
                          <a:solidFill>
                            <a:srgbClr val="000000"/>
                          </a:solidFill>
                          <a:effectLst/>
                          <a:latin typeface="Calibri" panose="020F0502020204030204" pitchFamily="34" charset="0"/>
                        </a:rPr>
                        <a:t>CC.2026.011</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30-Jan-26</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Introduction of Metal detector</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orbel" panose="020B0503020204020204"/>
                          <a:ea typeface="+mn-ea"/>
                          <a:cs typeface="+mn-cs"/>
                        </a:rPr>
                        <a:t>Major</a:t>
                      </a:r>
                      <a:endParaRPr kumimoji="0" lang="en-GB" sz="1100" b="0" i="0" u="none" strike="noStrike" kern="1200" cap="none" spc="0" normalizeH="0" baseline="0" noProof="0" dirty="0">
                        <a:ln>
                          <a:noFill/>
                        </a:ln>
                        <a:solidFill>
                          <a:srgbClr val="000000"/>
                        </a:solidFill>
                        <a:effectLst/>
                        <a:uLnTx/>
                        <a:uFillTx/>
                        <a:latin typeface="Corbel" panose="020B0503020204020204"/>
                        <a:ea typeface="+mn-ea"/>
                        <a:cs typeface="+mn-cs"/>
                      </a:endParaRP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30-Jun-26</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C2C2C"/>
                          </a:solidFill>
                          <a:effectLst/>
                          <a:uLnTx/>
                          <a:uFillTx/>
                          <a:latin typeface="Calibri" panose="020F0502020204030204" pitchFamily="34" charset="0"/>
                          <a:ea typeface="+mn-ea"/>
                          <a:cs typeface="+mn-cs"/>
                        </a:rPr>
                        <a:t>Actions Outstanding</a:t>
                      </a:r>
                      <a:endParaRPr kumimoji="0" lang="en-GB" sz="1100" b="0" i="0" u="none" strike="noStrike" kern="1200" cap="none" spc="0" normalizeH="0" baseline="0" noProof="0" dirty="0">
                        <a:ln>
                          <a:noFill/>
                        </a:ln>
                        <a:solidFill>
                          <a:srgbClr val="2C2C2C"/>
                        </a:solidFill>
                        <a:effectLst/>
                        <a:uLnTx/>
                        <a:uFillTx/>
                        <a:latin typeface="Calibri" panose="020F0502020204030204" pitchFamily="34" charset="0"/>
                        <a:ea typeface="+mn-ea"/>
                        <a:cs typeface="+mn-cs"/>
                      </a:endParaRPr>
                    </a:p>
                  </a:txBody>
                  <a:tcPr marL="9525" marR="9525" marT="9525" anchor="ctr"/>
                </a:tc>
                <a:extLst>
                  <a:ext uri="{0D108BD9-81ED-4DB2-BD59-A6C34878D82A}">
                    <a16:rowId xmlns:a16="http://schemas.microsoft.com/office/drawing/2014/main" val="2323430858"/>
                  </a:ext>
                </a:extLst>
              </a:tr>
              <a:tr h="142597">
                <a:tc>
                  <a:txBody>
                    <a:bodyPr/>
                    <a:lstStyle/>
                    <a:p>
                      <a:pPr algn="ctr" fontAlgn="ctr">
                        <a:buNone/>
                      </a:pPr>
                      <a:r>
                        <a:rPr lang="en-GB" sz="1100" b="0" i="0" u="none" strike="noStrike" dirty="0">
                          <a:solidFill>
                            <a:srgbClr val="000000"/>
                          </a:solidFill>
                          <a:effectLst/>
                          <a:latin typeface="Calibri" panose="020F0502020204030204" pitchFamily="34" charset="0"/>
                        </a:rPr>
                        <a:t>CC.2026.014</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05-Feb-26</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Introduction of Logbook review procedure</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orbel" panose="020B0503020204020204"/>
                          <a:ea typeface="+mn-ea"/>
                          <a:cs typeface="+mn-cs"/>
                        </a:rPr>
                        <a:t>Major</a:t>
                      </a:r>
                      <a:endParaRPr kumimoji="0" lang="en-GB" sz="1100" b="0" i="0" u="none" strike="noStrike" kern="1200" cap="none" spc="0" normalizeH="0" baseline="0" noProof="0" dirty="0">
                        <a:ln>
                          <a:noFill/>
                        </a:ln>
                        <a:solidFill>
                          <a:srgbClr val="000000"/>
                        </a:solidFill>
                        <a:effectLst/>
                        <a:uLnTx/>
                        <a:uFillTx/>
                        <a:latin typeface="Corbel" panose="020B0503020204020204"/>
                        <a:ea typeface="+mn-ea"/>
                        <a:cs typeface="+mn-cs"/>
                      </a:endParaRP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30-Jun-26</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C2C2C"/>
                          </a:solidFill>
                          <a:effectLst/>
                          <a:uLnTx/>
                          <a:uFillTx/>
                          <a:latin typeface="Calibri" panose="020F0502020204030204" pitchFamily="34" charset="0"/>
                          <a:ea typeface="+mn-ea"/>
                          <a:cs typeface="+mn-cs"/>
                        </a:rPr>
                        <a:t>Actions Outstanding</a:t>
                      </a:r>
                      <a:endParaRPr kumimoji="0" lang="en-GB" sz="1100" b="0" i="0" u="none" strike="noStrike" kern="1200" cap="none" spc="0" normalizeH="0" baseline="0" noProof="0" dirty="0">
                        <a:ln>
                          <a:noFill/>
                        </a:ln>
                        <a:solidFill>
                          <a:srgbClr val="2C2C2C"/>
                        </a:solidFill>
                        <a:effectLst/>
                        <a:uLnTx/>
                        <a:uFillTx/>
                        <a:latin typeface="Calibri" panose="020F0502020204030204" pitchFamily="34" charset="0"/>
                        <a:ea typeface="+mn-ea"/>
                        <a:cs typeface="+mn-cs"/>
                      </a:endParaRPr>
                    </a:p>
                  </a:txBody>
                  <a:tcPr marL="9525" marR="9525" marT="9525" anchor="ctr"/>
                </a:tc>
                <a:extLst>
                  <a:ext uri="{0D108BD9-81ED-4DB2-BD59-A6C34878D82A}">
                    <a16:rowId xmlns:a16="http://schemas.microsoft.com/office/drawing/2014/main" val="4035361438"/>
                  </a:ext>
                </a:extLst>
              </a:tr>
              <a:tr h="142597">
                <a:tc>
                  <a:txBody>
                    <a:bodyPr/>
                    <a:lstStyle/>
                    <a:p>
                      <a:pPr algn="ctr" fontAlgn="ctr">
                        <a:buNone/>
                      </a:pPr>
                      <a:r>
                        <a:rPr lang="en-GB" sz="1100" b="0" i="0" u="none" strike="noStrike" dirty="0">
                          <a:solidFill>
                            <a:srgbClr val="000000"/>
                          </a:solidFill>
                          <a:effectLst/>
                          <a:latin typeface="Calibri" panose="020F0502020204030204" pitchFamily="34" charset="0"/>
                        </a:rPr>
                        <a:t>CC.2026.016</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06-Feb-26</a:t>
                      </a:r>
                    </a:p>
                  </a:txBody>
                  <a:tcPr marL="9525" marR="9525" marT="9525" anchor="ctr"/>
                </a:tc>
                <a:tc>
                  <a:txBody>
                    <a:bodyPr/>
                    <a:lstStyle/>
                    <a:p>
                      <a:pPr algn="ctr" fontAlgn="ctr">
                        <a:buNone/>
                      </a:pPr>
                      <a:r>
                        <a:rPr lang="en-GB" sz="1100" b="0" i="0" u="none" strike="noStrike" dirty="0">
                          <a:solidFill>
                            <a:srgbClr val="000000"/>
                          </a:solidFill>
                          <a:effectLst/>
                          <a:latin typeface="Calibri" panose="020F0502020204030204" pitchFamily="34" charset="0"/>
                        </a:rPr>
                        <a:t>Material Hazard &amp; cleanability assessment process</a:t>
                      </a:r>
                      <a:endParaRPr lang="en-US" sz="1100" b="0" i="0" u="none" strike="noStrike" dirty="0">
                        <a:solidFill>
                          <a:srgbClr val="000000"/>
                        </a:solidFill>
                        <a:effectLst/>
                        <a:latin typeface="Calibri" panose="020F0502020204030204" pitchFamily="34" charset="0"/>
                      </a:endParaRP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000000"/>
                          </a:solidFill>
                          <a:effectLst/>
                          <a:uLnTx/>
                          <a:uFillTx/>
                          <a:latin typeface="Corbel" panose="020B0503020204020204"/>
                          <a:ea typeface="+mn-ea"/>
                          <a:cs typeface="+mn-cs"/>
                        </a:rPr>
                        <a:t>Major</a:t>
                      </a: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30-Apr-26</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C2C2C"/>
                          </a:solidFill>
                          <a:effectLst/>
                          <a:uLnTx/>
                          <a:uFillTx/>
                          <a:latin typeface="Calibri" panose="020F0502020204030204" pitchFamily="34" charset="0"/>
                          <a:ea typeface="+mn-ea"/>
                          <a:cs typeface="+mn-cs"/>
                        </a:rPr>
                        <a:t>Actions Outstanding</a:t>
                      </a:r>
                      <a:endParaRPr kumimoji="0" lang="en-GB" sz="1100" b="0" i="0" u="none" strike="noStrike" kern="1200" cap="none" spc="0" normalizeH="0" baseline="0" noProof="0" dirty="0">
                        <a:ln>
                          <a:noFill/>
                        </a:ln>
                        <a:solidFill>
                          <a:srgbClr val="2C2C2C"/>
                        </a:solidFill>
                        <a:effectLst/>
                        <a:uLnTx/>
                        <a:uFillTx/>
                        <a:latin typeface="Calibri" panose="020F0502020204030204" pitchFamily="34" charset="0"/>
                        <a:ea typeface="+mn-ea"/>
                        <a:cs typeface="+mn-cs"/>
                      </a:endParaRPr>
                    </a:p>
                  </a:txBody>
                  <a:tcPr marL="9525" marR="9525" marT="9525" anchor="ctr"/>
                </a:tc>
                <a:extLst>
                  <a:ext uri="{0D108BD9-81ED-4DB2-BD59-A6C34878D82A}">
                    <a16:rowId xmlns:a16="http://schemas.microsoft.com/office/drawing/2014/main" val="83371843"/>
                  </a:ext>
                </a:extLst>
              </a:tr>
              <a:tr h="142597">
                <a:tc>
                  <a:txBody>
                    <a:bodyPr/>
                    <a:lstStyle/>
                    <a:p>
                      <a:pPr algn="ctr" fontAlgn="ctr">
                        <a:buNone/>
                      </a:pPr>
                      <a:r>
                        <a:rPr lang="en-GB" sz="1100" b="0" i="0" u="none" strike="noStrike" dirty="0">
                          <a:solidFill>
                            <a:srgbClr val="000000"/>
                          </a:solidFill>
                          <a:effectLst/>
                          <a:latin typeface="Calibri" panose="020F0502020204030204" pitchFamily="34" charset="0"/>
                        </a:rPr>
                        <a:t>CC.2026.017</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09-Feb-26</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MA provided to Tolterodine </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orbel" panose="020B0503020204020204"/>
                          <a:ea typeface="+mn-ea"/>
                          <a:cs typeface="+mn-cs"/>
                        </a:rPr>
                        <a:t>Major</a:t>
                      </a:r>
                      <a:endParaRPr kumimoji="0" lang="en-GB" sz="1100" b="0" i="0" u="none" strike="noStrike" kern="1200" cap="none" spc="0" normalizeH="0" baseline="0" noProof="0" dirty="0">
                        <a:ln>
                          <a:noFill/>
                        </a:ln>
                        <a:solidFill>
                          <a:srgbClr val="000000"/>
                        </a:solidFill>
                        <a:effectLst/>
                        <a:uLnTx/>
                        <a:uFillTx/>
                        <a:latin typeface="Corbel" panose="020B0503020204020204"/>
                        <a:ea typeface="+mn-ea"/>
                        <a:cs typeface="+mn-cs"/>
                      </a:endParaRP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30-May-26</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C2C2C"/>
                          </a:solidFill>
                          <a:effectLst/>
                          <a:uLnTx/>
                          <a:uFillTx/>
                          <a:latin typeface="Calibri" panose="020F0502020204030204" pitchFamily="34" charset="0"/>
                          <a:ea typeface="+mn-ea"/>
                          <a:cs typeface="+mn-cs"/>
                        </a:rPr>
                        <a:t>Actions Outstanding</a:t>
                      </a:r>
                      <a:endParaRPr kumimoji="0" lang="en-GB" sz="1100" b="0" i="0" u="none" strike="noStrike" kern="1200" cap="none" spc="0" normalizeH="0" baseline="0" noProof="0" dirty="0">
                        <a:ln>
                          <a:noFill/>
                        </a:ln>
                        <a:solidFill>
                          <a:srgbClr val="2C2C2C"/>
                        </a:solidFill>
                        <a:effectLst/>
                        <a:uLnTx/>
                        <a:uFillTx/>
                        <a:latin typeface="Calibri" panose="020F0502020204030204" pitchFamily="34" charset="0"/>
                        <a:ea typeface="+mn-ea"/>
                        <a:cs typeface="+mn-cs"/>
                      </a:endParaRPr>
                    </a:p>
                  </a:txBody>
                  <a:tcPr marL="9525" marR="9525" marT="9525" anchor="ctr"/>
                </a:tc>
                <a:extLst>
                  <a:ext uri="{0D108BD9-81ED-4DB2-BD59-A6C34878D82A}">
                    <a16:rowId xmlns:a16="http://schemas.microsoft.com/office/drawing/2014/main" val="189523052"/>
                  </a:ext>
                </a:extLst>
              </a:tr>
              <a:tr h="142597">
                <a:tc>
                  <a:txBody>
                    <a:bodyPr/>
                    <a:lstStyle/>
                    <a:p>
                      <a:pPr algn="ctr" fontAlgn="ctr">
                        <a:buNone/>
                      </a:pPr>
                      <a:r>
                        <a:rPr lang="en-GB" sz="1100" b="0" i="0" u="none" strike="noStrike" dirty="0">
                          <a:solidFill>
                            <a:srgbClr val="000000"/>
                          </a:solidFill>
                          <a:effectLst/>
                          <a:latin typeface="Calibri" panose="020F0502020204030204" pitchFamily="34" charset="0"/>
                        </a:rPr>
                        <a:t>CC.2026.025</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26-Feb-26</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BMR Updates</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orbel" panose="020B0503020204020204"/>
                          <a:ea typeface="+mn-ea"/>
                          <a:cs typeface="+mn-cs"/>
                        </a:rPr>
                        <a:t>Major</a:t>
                      </a:r>
                      <a:endParaRPr kumimoji="0" lang="en-GB" sz="1100" b="0" i="0" u="none" strike="noStrike" kern="1200" cap="none" spc="0" normalizeH="0" baseline="0" noProof="0" dirty="0">
                        <a:ln>
                          <a:noFill/>
                        </a:ln>
                        <a:solidFill>
                          <a:srgbClr val="000000"/>
                        </a:solidFill>
                        <a:effectLst/>
                        <a:uLnTx/>
                        <a:uFillTx/>
                        <a:latin typeface="Corbel" panose="020B0503020204020204"/>
                        <a:ea typeface="+mn-ea"/>
                        <a:cs typeface="+mn-cs"/>
                      </a:endParaRP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30-Jun-26</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C2C2C"/>
                          </a:solidFill>
                          <a:effectLst/>
                          <a:uLnTx/>
                          <a:uFillTx/>
                          <a:latin typeface="Calibri" panose="020F0502020204030204" pitchFamily="34" charset="0"/>
                          <a:ea typeface="+mn-ea"/>
                          <a:cs typeface="+mn-cs"/>
                        </a:rPr>
                        <a:t>Actions Outstanding</a:t>
                      </a:r>
                      <a:endParaRPr kumimoji="0" lang="en-GB" sz="1100" b="0" i="0" u="none" strike="noStrike" kern="1200" cap="none" spc="0" normalizeH="0" baseline="0" noProof="0" dirty="0">
                        <a:ln>
                          <a:noFill/>
                        </a:ln>
                        <a:solidFill>
                          <a:srgbClr val="2C2C2C"/>
                        </a:solidFill>
                        <a:effectLst/>
                        <a:uLnTx/>
                        <a:uFillTx/>
                        <a:latin typeface="Calibri" panose="020F0502020204030204" pitchFamily="34" charset="0"/>
                        <a:ea typeface="+mn-ea"/>
                        <a:cs typeface="+mn-cs"/>
                      </a:endParaRPr>
                    </a:p>
                  </a:txBody>
                  <a:tcPr marL="9525" marR="9525" marT="9525" anchor="ctr"/>
                </a:tc>
                <a:extLst>
                  <a:ext uri="{0D108BD9-81ED-4DB2-BD59-A6C34878D82A}">
                    <a16:rowId xmlns:a16="http://schemas.microsoft.com/office/drawing/2014/main" val="2844281541"/>
                  </a:ext>
                </a:extLst>
              </a:tr>
              <a:tr h="142597">
                <a:tc>
                  <a:txBody>
                    <a:bodyPr/>
                    <a:lstStyle/>
                    <a:p>
                      <a:pPr algn="ctr" fontAlgn="ctr">
                        <a:buNone/>
                      </a:pPr>
                      <a:r>
                        <a:rPr lang="en-GB" sz="1100" b="0" i="0" u="none" strike="noStrike" dirty="0">
                          <a:solidFill>
                            <a:srgbClr val="000000"/>
                          </a:solidFill>
                          <a:effectLst/>
                          <a:latin typeface="Calibri" panose="020F0502020204030204" pitchFamily="34" charset="0"/>
                        </a:rPr>
                        <a:t>CC.2026.031</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11-Mar-26</a:t>
                      </a:r>
                    </a:p>
                  </a:txBody>
                  <a:tcPr marL="9525" marR="9525" marT="9525" anchor="ctr"/>
                </a:tc>
                <a:tc>
                  <a:txBody>
                    <a:bodyPr/>
                    <a:lstStyle/>
                    <a:p>
                      <a:pPr algn="ctr" fontAlgn="ctr">
                        <a:buNone/>
                      </a:pPr>
                      <a:r>
                        <a:rPr lang="en-GB" sz="1100" b="0" i="0" u="none" strike="noStrike" dirty="0">
                          <a:solidFill>
                            <a:srgbClr val="000000"/>
                          </a:solidFill>
                          <a:effectLst/>
                          <a:latin typeface="Calibri" panose="020F0502020204030204" pitchFamily="34" charset="0"/>
                        </a:rPr>
                        <a:t>Validation of QC spreadsheets used for batch release </a:t>
                      </a:r>
                      <a:endParaRPr lang="en-US" sz="1100" b="0" i="0" u="none" strike="noStrike" dirty="0">
                        <a:solidFill>
                          <a:srgbClr val="000000"/>
                        </a:solidFill>
                        <a:effectLst/>
                        <a:latin typeface="Calibri" panose="020F0502020204030204" pitchFamily="34" charset="0"/>
                      </a:endParaRP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000000"/>
                          </a:solidFill>
                          <a:effectLst/>
                          <a:uLnTx/>
                          <a:uFillTx/>
                          <a:latin typeface="Corbel" panose="020B0503020204020204"/>
                          <a:ea typeface="+mn-ea"/>
                          <a:cs typeface="+mn-cs"/>
                        </a:rPr>
                        <a:t>Major</a:t>
                      </a: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30-Jun-26</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2C2C2C"/>
                          </a:solidFill>
                          <a:effectLst/>
                          <a:uLnTx/>
                          <a:uFillTx/>
                          <a:latin typeface="Calibri" panose="020F0502020204030204" pitchFamily="34" charset="0"/>
                          <a:ea typeface="+mn-ea"/>
                          <a:cs typeface="+mn-cs"/>
                        </a:rPr>
                        <a:t>Actions Outstanding</a:t>
                      </a:r>
                    </a:p>
                  </a:txBody>
                  <a:tcPr marL="9525" marR="9525" marT="9525" anchor="ctr"/>
                </a:tc>
                <a:extLst>
                  <a:ext uri="{0D108BD9-81ED-4DB2-BD59-A6C34878D82A}">
                    <a16:rowId xmlns:a16="http://schemas.microsoft.com/office/drawing/2014/main" val="2326096862"/>
                  </a:ext>
                </a:extLst>
              </a:tr>
            </a:tbl>
          </a:graphicData>
        </a:graphic>
      </p:graphicFrame>
      <p:graphicFrame>
        <p:nvGraphicFramePr>
          <p:cNvPr id="19" name="Table 18">
            <a:extLst>
              <a:ext uri="{FF2B5EF4-FFF2-40B4-BE49-F238E27FC236}">
                <a16:creationId xmlns:a16="http://schemas.microsoft.com/office/drawing/2014/main" id="{5B975990-29F6-A952-5EA7-5BE63A520CDC}"/>
              </a:ext>
            </a:extLst>
          </p:cNvPr>
          <p:cNvGraphicFramePr>
            <a:graphicFrameLocks noGrp="1"/>
          </p:cNvGraphicFramePr>
          <p:nvPr>
            <p:extLst>
              <p:ext uri="{D42A27DB-BD31-4B8C-83A1-F6EECF244321}">
                <p14:modId xmlns:p14="http://schemas.microsoft.com/office/powerpoint/2010/main" val="1691313767"/>
              </p:ext>
            </p:extLst>
          </p:nvPr>
        </p:nvGraphicFramePr>
        <p:xfrm>
          <a:off x="849042" y="5182623"/>
          <a:ext cx="11204555" cy="906728"/>
        </p:xfrm>
        <a:graphic>
          <a:graphicData uri="http://schemas.openxmlformats.org/drawingml/2006/table">
            <a:tbl>
              <a:tblPr/>
              <a:tblGrid>
                <a:gridCol w="1353575">
                  <a:extLst>
                    <a:ext uri="{9D8B030D-6E8A-4147-A177-3AD203B41FA5}">
                      <a16:colId xmlns:a16="http://schemas.microsoft.com/office/drawing/2014/main" val="1385492866"/>
                    </a:ext>
                  </a:extLst>
                </a:gridCol>
                <a:gridCol w="1845753">
                  <a:extLst>
                    <a:ext uri="{9D8B030D-6E8A-4147-A177-3AD203B41FA5}">
                      <a16:colId xmlns:a16="http://schemas.microsoft.com/office/drawing/2014/main" val="3686491478"/>
                    </a:ext>
                  </a:extLst>
                </a:gridCol>
                <a:gridCol w="3337736">
                  <a:extLst>
                    <a:ext uri="{9D8B030D-6E8A-4147-A177-3AD203B41FA5}">
                      <a16:colId xmlns:a16="http://schemas.microsoft.com/office/drawing/2014/main" val="3616206764"/>
                    </a:ext>
                  </a:extLst>
                </a:gridCol>
                <a:gridCol w="1325158">
                  <a:extLst>
                    <a:ext uri="{9D8B030D-6E8A-4147-A177-3AD203B41FA5}">
                      <a16:colId xmlns:a16="http://schemas.microsoft.com/office/drawing/2014/main" val="3644329512"/>
                    </a:ext>
                  </a:extLst>
                </a:gridCol>
                <a:gridCol w="1766477">
                  <a:extLst>
                    <a:ext uri="{9D8B030D-6E8A-4147-A177-3AD203B41FA5}">
                      <a16:colId xmlns:a16="http://schemas.microsoft.com/office/drawing/2014/main" val="3871842897"/>
                    </a:ext>
                  </a:extLst>
                </a:gridCol>
                <a:gridCol w="1575856">
                  <a:extLst>
                    <a:ext uri="{9D8B030D-6E8A-4147-A177-3AD203B41FA5}">
                      <a16:colId xmlns:a16="http://schemas.microsoft.com/office/drawing/2014/main" val="1883237257"/>
                    </a:ext>
                  </a:extLst>
                </a:gridCol>
              </a:tblGrid>
              <a:tr h="0">
                <a:tc>
                  <a:txBody>
                    <a:bodyPr/>
                    <a:lstStyle>
                      <a:lvl1pPr marL="0" algn="l" defTabSz="914377" rtl="0" eaLnBrk="1" latinLnBrk="0" hangingPunct="1">
                        <a:defRPr sz="1800" kern="1200">
                          <a:solidFill>
                            <a:schemeClr val="tx1"/>
                          </a:solidFill>
                          <a:latin typeface="Corbel" panose="020B0503020204020204"/>
                        </a:defRPr>
                      </a:lvl1pPr>
                      <a:lvl2pPr marL="457189" algn="l" defTabSz="914377" rtl="0" eaLnBrk="1" latinLnBrk="0" hangingPunct="1">
                        <a:defRPr sz="1800" kern="1200">
                          <a:solidFill>
                            <a:schemeClr val="tx1"/>
                          </a:solidFill>
                          <a:latin typeface="Corbel" panose="020B0503020204020204"/>
                        </a:defRPr>
                      </a:lvl2pPr>
                      <a:lvl3pPr marL="914377" algn="l" defTabSz="914377" rtl="0" eaLnBrk="1" latinLnBrk="0" hangingPunct="1">
                        <a:defRPr sz="1800" kern="1200">
                          <a:solidFill>
                            <a:schemeClr val="tx1"/>
                          </a:solidFill>
                          <a:latin typeface="Corbel" panose="020B0503020204020204"/>
                        </a:defRPr>
                      </a:lvl3pPr>
                      <a:lvl4pPr marL="1371566" algn="l" defTabSz="914377" rtl="0" eaLnBrk="1" latinLnBrk="0" hangingPunct="1">
                        <a:defRPr sz="1800" kern="1200">
                          <a:solidFill>
                            <a:schemeClr val="tx1"/>
                          </a:solidFill>
                          <a:latin typeface="Corbel" panose="020B0503020204020204"/>
                        </a:defRPr>
                      </a:lvl4pPr>
                      <a:lvl5pPr marL="1828754" algn="l" defTabSz="914377" rtl="0" eaLnBrk="1" latinLnBrk="0" hangingPunct="1">
                        <a:defRPr sz="1800" kern="1200">
                          <a:solidFill>
                            <a:schemeClr val="tx1"/>
                          </a:solidFill>
                          <a:latin typeface="Corbel" panose="020B0503020204020204"/>
                        </a:defRPr>
                      </a:lvl5pPr>
                      <a:lvl6pPr marL="2285943" algn="l" defTabSz="914377" rtl="0" eaLnBrk="1" latinLnBrk="0" hangingPunct="1">
                        <a:defRPr sz="1800" kern="1200">
                          <a:solidFill>
                            <a:schemeClr val="tx1"/>
                          </a:solidFill>
                          <a:latin typeface="Corbel" panose="020B0503020204020204"/>
                        </a:defRPr>
                      </a:lvl6pPr>
                      <a:lvl7pPr marL="2743131" algn="l" defTabSz="914377" rtl="0" eaLnBrk="1" latinLnBrk="0" hangingPunct="1">
                        <a:defRPr sz="1800" kern="1200">
                          <a:solidFill>
                            <a:schemeClr val="tx1"/>
                          </a:solidFill>
                          <a:latin typeface="Corbel" panose="020B0503020204020204"/>
                        </a:defRPr>
                      </a:lvl7pPr>
                      <a:lvl8pPr marL="3200320" algn="l" defTabSz="914377" rtl="0" eaLnBrk="1" latinLnBrk="0" hangingPunct="1">
                        <a:defRPr sz="1800" kern="1200">
                          <a:solidFill>
                            <a:schemeClr val="tx1"/>
                          </a:solidFill>
                          <a:latin typeface="Corbel" panose="020B0503020204020204"/>
                        </a:defRPr>
                      </a:lvl8pPr>
                      <a:lvl9pPr marL="3657509" algn="l" defTabSz="914377" rtl="0" eaLnBrk="1" latinLnBrk="0" hangingPunct="1">
                        <a:defRPr sz="1800" kern="1200">
                          <a:solidFill>
                            <a:schemeClr val="tx1"/>
                          </a:solidFill>
                          <a:latin typeface="Corbel" panose="020B0503020204020204"/>
                        </a:defRPr>
                      </a:lvl9pPr>
                    </a:lstStyle>
                    <a:p>
                      <a:pPr algn="ctr" fontAlgn="ctr"/>
                      <a:r>
                        <a:rPr lang="en-US" sz="1600" b="1" i="0" u="none" strike="noStrike" dirty="0">
                          <a:solidFill>
                            <a:srgbClr val="000000"/>
                          </a:solidFill>
                          <a:effectLst/>
                          <a:latin typeface="Calibri" panose="020F0502020204030204" pitchFamily="34" charset="0"/>
                        </a:rPr>
                        <a:t>Currently Open </a:t>
                      </a:r>
                      <a:endParaRPr lang="en-GB" sz="1600" b="1" i="0" u="none" strike="noStrike" dirty="0">
                        <a:solidFill>
                          <a:srgbClr val="000000"/>
                        </a:solidFill>
                        <a:effectLst/>
                        <a:latin typeface="Calibri" panose="020F0502020204030204" pitchFamily="34" charset="0"/>
                      </a:endParaRP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600" b="1" i="0" u="none" strike="noStrike" dirty="0">
                          <a:solidFill>
                            <a:srgbClr val="000000"/>
                          </a:solidFill>
                          <a:effectLst/>
                          <a:latin typeface="Calibri" panose="020F0502020204030204" pitchFamily="34" charset="0"/>
                        </a:rPr>
                        <a:t>Open with an Extension</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600" b="1" i="0" u="none" strike="noStrike" dirty="0">
                          <a:solidFill>
                            <a:srgbClr val="000000"/>
                          </a:solidFill>
                          <a:effectLst/>
                          <a:latin typeface="Calibri" panose="020F0502020204030204" pitchFamily="34" charset="0"/>
                        </a:rPr>
                        <a:t>Currently open &amp; overdue at the end of quarter</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600" b="1" i="0" u="none" strike="noStrike" kern="1200" dirty="0">
                          <a:solidFill>
                            <a:srgbClr val="000000"/>
                          </a:solidFill>
                          <a:effectLst/>
                          <a:latin typeface="Calibri" panose="020F0502020204030204" pitchFamily="34" charset="0"/>
                          <a:ea typeface="+mn-ea"/>
                          <a:cs typeface="+mn-cs"/>
                        </a:rPr>
                        <a:t>Closed (Q1 2026)</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600" b="1" i="0" u="none" strike="noStrike" kern="1200" dirty="0">
                          <a:solidFill>
                            <a:srgbClr val="000000"/>
                          </a:solidFill>
                          <a:effectLst/>
                          <a:latin typeface="Calibri" panose="020F0502020204030204" pitchFamily="34" charset="0"/>
                          <a:ea typeface="+mn-ea"/>
                          <a:cs typeface="+mn-cs"/>
                        </a:rPr>
                        <a:t>Closed after target date</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600" b="1" i="0" u="none" strike="noStrike" kern="1200" dirty="0">
                          <a:solidFill>
                            <a:srgbClr val="000000"/>
                          </a:solidFill>
                          <a:effectLst/>
                          <a:latin typeface="Calibri" panose="020F0502020204030204" pitchFamily="34" charset="0"/>
                          <a:ea typeface="+mn-ea"/>
                          <a:cs typeface="+mn-cs"/>
                        </a:rPr>
                        <a:t>Closed after extension</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3701969659"/>
                  </a:ext>
                </a:extLst>
              </a:tr>
              <a:tr h="305398">
                <a:tc>
                  <a:txBody>
                    <a:bodyPr/>
                    <a:lstStyle>
                      <a:lvl1pPr marL="0" algn="l" defTabSz="914377" rtl="0" eaLnBrk="1" latinLnBrk="0" hangingPunct="1">
                        <a:defRPr sz="1800" kern="1200">
                          <a:solidFill>
                            <a:schemeClr val="tx1"/>
                          </a:solidFill>
                          <a:latin typeface="Corbel" panose="020B0503020204020204"/>
                        </a:defRPr>
                      </a:lvl1pPr>
                      <a:lvl2pPr marL="457189" algn="l" defTabSz="914377" rtl="0" eaLnBrk="1" latinLnBrk="0" hangingPunct="1">
                        <a:defRPr sz="1800" kern="1200">
                          <a:solidFill>
                            <a:schemeClr val="tx1"/>
                          </a:solidFill>
                          <a:latin typeface="Corbel" panose="020B0503020204020204"/>
                        </a:defRPr>
                      </a:lvl2pPr>
                      <a:lvl3pPr marL="914377" algn="l" defTabSz="914377" rtl="0" eaLnBrk="1" latinLnBrk="0" hangingPunct="1">
                        <a:defRPr sz="1800" kern="1200">
                          <a:solidFill>
                            <a:schemeClr val="tx1"/>
                          </a:solidFill>
                          <a:latin typeface="Corbel" panose="020B0503020204020204"/>
                        </a:defRPr>
                      </a:lvl3pPr>
                      <a:lvl4pPr marL="1371566" algn="l" defTabSz="914377" rtl="0" eaLnBrk="1" latinLnBrk="0" hangingPunct="1">
                        <a:defRPr sz="1800" kern="1200">
                          <a:solidFill>
                            <a:schemeClr val="tx1"/>
                          </a:solidFill>
                          <a:latin typeface="Corbel" panose="020B0503020204020204"/>
                        </a:defRPr>
                      </a:lvl4pPr>
                      <a:lvl5pPr marL="1828754" algn="l" defTabSz="914377" rtl="0" eaLnBrk="1" latinLnBrk="0" hangingPunct="1">
                        <a:defRPr sz="1800" kern="1200">
                          <a:solidFill>
                            <a:schemeClr val="tx1"/>
                          </a:solidFill>
                          <a:latin typeface="Corbel" panose="020B0503020204020204"/>
                        </a:defRPr>
                      </a:lvl5pPr>
                      <a:lvl6pPr marL="2285943" algn="l" defTabSz="914377" rtl="0" eaLnBrk="1" latinLnBrk="0" hangingPunct="1">
                        <a:defRPr sz="1800" kern="1200">
                          <a:solidFill>
                            <a:schemeClr val="tx1"/>
                          </a:solidFill>
                          <a:latin typeface="Corbel" panose="020B0503020204020204"/>
                        </a:defRPr>
                      </a:lvl6pPr>
                      <a:lvl7pPr marL="2743131" algn="l" defTabSz="914377" rtl="0" eaLnBrk="1" latinLnBrk="0" hangingPunct="1">
                        <a:defRPr sz="1800" kern="1200">
                          <a:solidFill>
                            <a:schemeClr val="tx1"/>
                          </a:solidFill>
                          <a:latin typeface="Corbel" panose="020B0503020204020204"/>
                        </a:defRPr>
                      </a:lvl7pPr>
                      <a:lvl8pPr marL="3200320" algn="l" defTabSz="914377" rtl="0" eaLnBrk="1" latinLnBrk="0" hangingPunct="1">
                        <a:defRPr sz="1800" kern="1200">
                          <a:solidFill>
                            <a:schemeClr val="tx1"/>
                          </a:solidFill>
                          <a:latin typeface="Corbel" panose="020B0503020204020204"/>
                        </a:defRPr>
                      </a:lvl8pPr>
                      <a:lvl9pPr marL="3657509" algn="l" defTabSz="914377" rtl="0" eaLnBrk="1" latinLnBrk="0" hangingPunct="1">
                        <a:defRPr sz="1800" kern="1200">
                          <a:solidFill>
                            <a:schemeClr val="tx1"/>
                          </a:solidFill>
                          <a:latin typeface="Corbel" panose="020B0503020204020204"/>
                        </a:defRPr>
                      </a:lvl9pPr>
                    </a:lstStyle>
                    <a:p>
                      <a:pPr algn="ctr" fontAlgn="ctr"/>
                      <a:r>
                        <a:rPr lang="en-GB" sz="1800" b="0" i="0" u="none" strike="noStrike" kern="1200" dirty="0">
                          <a:solidFill>
                            <a:srgbClr val="000000"/>
                          </a:solidFill>
                          <a:effectLst/>
                          <a:latin typeface="Calibri" panose="020F0502020204030204" pitchFamily="34" charset="0"/>
                          <a:ea typeface="+mn-ea"/>
                          <a:cs typeface="+mn-cs"/>
                        </a:rPr>
                        <a:t>13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GB" sz="2000" b="0" i="0" u="none" strike="noStrike" dirty="0">
                          <a:solidFill>
                            <a:srgbClr val="000000"/>
                          </a:solidFill>
                          <a:effectLst/>
                          <a:latin typeface="Calibri" panose="020F0502020204030204" pitchFamily="34" charset="0"/>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GB" sz="20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GB" sz="1800" b="0" i="0" u="none" strike="noStrike" dirty="0">
                          <a:solidFill>
                            <a:srgbClr val="000000"/>
                          </a:solidFill>
                          <a:effectLst/>
                          <a:latin typeface="Calibri" panose="020F0502020204030204" pitchFamily="34" charset="0"/>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GB" sz="18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GB" sz="1800" b="0" i="0" u="none" strike="noStrike" dirty="0">
                          <a:solidFill>
                            <a:srgbClr val="000000"/>
                          </a:solidFill>
                          <a:effectLst/>
                          <a:latin typeface="Calibri" panose="020F0502020204030204" pitchFamily="34" charset="0"/>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74620987"/>
                  </a:ext>
                </a:extLst>
              </a:tr>
            </a:tbl>
          </a:graphicData>
        </a:graphic>
      </p:graphicFrame>
      <p:sp>
        <p:nvSpPr>
          <p:cNvPr id="2" name="Rectangle 1">
            <a:extLst>
              <a:ext uri="{FF2B5EF4-FFF2-40B4-BE49-F238E27FC236}">
                <a16:creationId xmlns:a16="http://schemas.microsoft.com/office/drawing/2014/main" id="{57FEFB96-02AB-494C-4101-3D243C29A2D8}"/>
              </a:ext>
            </a:extLst>
          </p:cNvPr>
          <p:cNvSpPr/>
          <p:nvPr/>
        </p:nvSpPr>
        <p:spPr>
          <a:xfrm>
            <a:off x="46774" y="-2"/>
            <a:ext cx="622927" cy="6847953"/>
          </a:xfrm>
          <a:prstGeom prst="rect">
            <a:avLst/>
          </a:prstGeom>
          <a:noFill/>
        </p:spPr>
        <p:txBody>
          <a:bodyPr vert="wordArtVert"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w="0"/>
                <a:solidFill>
                  <a:srgbClr val="FFFFFF"/>
                </a:solidFill>
                <a:effectLst>
                  <a:outerShdw blurRad="38100" dist="38100" dir="2700000" algn="tl">
                    <a:srgbClr val="000000">
                      <a:alpha val="43137"/>
                    </a:srgbClr>
                  </a:outerShdw>
                </a:effectLst>
                <a:uLnTx/>
                <a:uFillTx/>
                <a:latin typeface="Corbel" panose="020B0503020204020204"/>
                <a:ea typeface="+mn-ea"/>
                <a:cs typeface="+mn-cs"/>
              </a:rPr>
              <a:t>CHANGE CONTROLS</a:t>
            </a:r>
          </a:p>
        </p:txBody>
      </p:sp>
      <p:graphicFrame>
        <p:nvGraphicFramePr>
          <p:cNvPr id="3" name="Table 2">
            <a:extLst>
              <a:ext uri="{FF2B5EF4-FFF2-40B4-BE49-F238E27FC236}">
                <a16:creationId xmlns:a16="http://schemas.microsoft.com/office/drawing/2014/main" id="{B338F82B-68DA-5525-0039-FC1617C355D5}"/>
              </a:ext>
            </a:extLst>
          </p:cNvPr>
          <p:cNvGraphicFramePr>
            <a:graphicFrameLocks noGrp="1"/>
          </p:cNvGraphicFramePr>
          <p:nvPr>
            <p:extLst>
              <p:ext uri="{D42A27DB-BD31-4B8C-83A1-F6EECF244321}">
                <p14:modId xmlns:p14="http://schemas.microsoft.com/office/powerpoint/2010/main" val="1065384274"/>
              </p:ext>
            </p:extLst>
          </p:nvPr>
        </p:nvGraphicFramePr>
        <p:xfrm>
          <a:off x="849042" y="6132374"/>
          <a:ext cx="11193922" cy="570850"/>
        </p:xfrm>
        <a:graphic>
          <a:graphicData uri="http://schemas.openxmlformats.org/drawingml/2006/table">
            <a:tbl>
              <a:tblPr firstRow="1">
                <a:tableStyleId>{7DF18680-E054-41AD-8BC1-D1AEF772440D}</a:tableStyleId>
              </a:tblPr>
              <a:tblGrid>
                <a:gridCol w="4494551">
                  <a:extLst>
                    <a:ext uri="{9D8B030D-6E8A-4147-A177-3AD203B41FA5}">
                      <a16:colId xmlns:a16="http://schemas.microsoft.com/office/drawing/2014/main" val="674720568"/>
                    </a:ext>
                  </a:extLst>
                </a:gridCol>
                <a:gridCol w="961657">
                  <a:extLst>
                    <a:ext uri="{9D8B030D-6E8A-4147-A177-3AD203B41FA5}">
                      <a16:colId xmlns:a16="http://schemas.microsoft.com/office/drawing/2014/main" val="2106674631"/>
                    </a:ext>
                  </a:extLst>
                </a:gridCol>
                <a:gridCol w="882345">
                  <a:extLst>
                    <a:ext uri="{9D8B030D-6E8A-4147-A177-3AD203B41FA5}">
                      <a16:colId xmlns:a16="http://schemas.microsoft.com/office/drawing/2014/main" val="4099352937"/>
                    </a:ext>
                  </a:extLst>
                </a:gridCol>
                <a:gridCol w="4855369">
                  <a:extLst>
                    <a:ext uri="{9D8B030D-6E8A-4147-A177-3AD203B41FA5}">
                      <a16:colId xmlns:a16="http://schemas.microsoft.com/office/drawing/2014/main" val="4239126374"/>
                    </a:ext>
                  </a:extLst>
                </a:gridCol>
              </a:tblGrid>
              <a:tr h="0">
                <a:tc>
                  <a:txBody>
                    <a:bodyPr/>
                    <a:lstStyle>
                      <a:lvl1pPr marL="0" algn="l" defTabSz="914377" rtl="0" eaLnBrk="1" latinLnBrk="0" hangingPunct="1">
                        <a:defRPr sz="1800" kern="1200">
                          <a:solidFill>
                            <a:schemeClr val="tx1"/>
                          </a:solidFill>
                          <a:latin typeface="Corbel" panose="020B0503020204020204"/>
                        </a:defRPr>
                      </a:lvl1pPr>
                      <a:lvl2pPr marL="457189" algn="l" defTabSz="914377" rtl="0" eaLnBrk="1" latinLnBrk="0" hangingPunct="1">
                        <a:defRPr sz="1800" kern="1200">
                          <a:solidFill>
                            <a:schemeClr val="tx1"/>
                          </a:solidFill>
                          <a:latin typeface="Corbel" panose="020B0503020204020204"/>
                        </a:defRPr>
                      </a:lvl2pPr>
                      <a:lvl3pPr marL="914377" algn="l" defTabSz="914377" rtl="0" eaLnBrk="1" latinLnBrk="0" hangingPunct="1">
                        <a:defRPr sz="1800" kern="1200">
                          <a:solidFill>
                            <a:schemeClr val="tx1"/>
                          </a:solidFill>
                          <a:latin typeface="Corbel" panose="020B0503020204020204"/>
                        </a:defRPr>
                      </a:lvl3pPr>
                      <a:lvl4pPr marL="1371566" algn="l" defTabSz="914377" rtl="0" eaLnBrk="1" latinLnBrk="0" hangingPunct="1">
                        <a:defRPr sz="1800" kern="1200">
                          <a:solidFill>
                            <a:schemeClr val="tx1"/>
                          </a:solidFill>
                          <a:latin typeface="Corbel" panose="020B0503020204020204"/>
                        </a:defRPr>
                      </a:lvl4pPr>
                      <a:lvl5pPr marL="1828754" algn="l" defTabSz="914377" rtl="0" eaLnBrk="1" latinLnBrk="0" hangingPunct="1">
                        <a:defRPr sz="1800" kern="1200">
                          <a:solidFill>
                            <a:schemeClr val="tx1"/>
                          </a:solidFill>
                          <a:latin typeface="Corbel" panose="020B0503020204020204"/>
                        </a:defRPr>
                      </a:lvl5pPr>
                      <a:lvl6pPr marL="2285943" algn="l" defTabSz="914377" rtl="0" eaLnBrk="1" latinLnBrk="0" hangingPunct="1">
                        <a:defRPr sz="1800" kern="1200">
                          <a:solidFill>
                            <a:schemeClr val="tx1"/>
                          </a:solidFill>
                          <a:latin typeface="Corbel" panose="020B0503020204020204"/>
                        </a:defRPr>
                      </a:lvl6pPr>
                      <a:lvl7pPr marL="2743131" algn="l" defTabSz="914377" rtl="0" eaLnBrk="1" latinLnBrk="0" hangingPunct="1">
                        <a:defRPr sz="1800" kern="1200">
                          <a:solidFill>
                            <a:schemeClr val="tx1"/>
                          </a:solidFill>
                          <a:latin typeface="Corbel" panose="020B0503020204020204"/>
                        </a:defRPr>
                      </a:lvl7pPr>
                      <a:lvl8pPr marL="3200320" algn="l" defTabSz="914377" rtl="0" eaLnBrk="1" latinLnBrk="0" hangingPunct="1">
                        <a:defRPr sz="1800" kern="1200">
                          <a:solidFill>
                            <a:schemeClr val="tx1"/>
                          </a:solidFill>
                          <a:latin typeface="Corbel" panose="020B0503020204020204"/>
                        </a:defRPr>
                      </a:lvl8pPr>
                      <a:lvl9pPr marL="3657509" algn="l" defTabSz="914377" rtl="0" eaLnBrk="1" latinLnBrk="0" hangingPunct="1">
                        <a:defRPr sz="1800" kern="1200">
                          <a:solidFill>
                            <a:schemeClr val="tx1"/>
                          </a:solidFill>
                          <a:latin typeface="Corbel" panose="020B0503020204020204"/>
                        </a:defRPr>
                      </a:lvl9pPr>
                    </a:lstStyle>
                    <a:p>
                      <a:pPr algn="ctr" fontAlgn="ctr"/>
                      <a:r>
                        <a:rPr lang="en-GB" sz="1400" b="1" u="none" strike="noStrike" dirty="0">
                          <a:solidFill>
                            <a:srgbClr val="000000"/>
                          </a:solidFill>
                          <a:effectLst/>
                        </a:rPr>
                        <a:t>Completed Effectiveness Checks (Q1 2026)</a:t>
                      </a:r>
                      <a:endParaRPr lang="en-GB" sz="1400" b="1" i="0" u="none" strike="noStrike" dirty="0">
                        <a:solidFill>
                          <a:srgbClr val="000000"/>
                        </a:solidFill>
                        <a:effectLst/>
                        <a:latin typeface="Calibri" panose="020F0502020204030204" pitchFamily="34" charset="0"/>
                      </a:endParaRPr>
                    </a:p>
                  </a:txBody>
                  <a:tcPr marL="113651" marR="113651" marT="56825" marB="56825"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400" b="1" u="none" strike="noStrike" dirty="0">
                          <a:solidFill>
                            <a:srgbClr val="000000"/>
                          </a:solidFill>
                          <a:effectLst/>
                        </a:rPr>
                        <a:t>Passed</a:t>
                      </a:r>
                      <a:endParaRPr lang="en-GB" sz="1400" b="1" i="0" u="none" strike="noStrike" dirty="0">
                        <a:solidFill>
                          <a:srgbClr val="000000"/>
                        </a:solidFill>
                        <a:effectLst/>
                        <a:latin typeface="Calibri" panose="020F0502020204030204" pitchFamily="34" charset="0"/>
                      </a:endParaRPr>
                    </a:p>
                  </a:txBody>
                  <a:tcPr marL="113651" marR="113651" marT="56825" marB="56825"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400" b="1" u="none" strike="noStrike" kern="1200" dirty="0">
                          <a:solidFill>
                            <a:srgbClr val="000000"/>
                          </a:solidFill>
                          <a:effectLst/>
                        </a:rPr>
                        <a:t>Failed</a:t>
                      </a:r>
                      <a:endParaRPr lang="en-GB" sz="1400" b="1" i="0" u="none" strike="noStrike" kern="1200" dirty="0">
                        <a:solidFill>
                          <a:srgbClr val="000000"/>
                        </a:solidFill>
                        <a:effectLst/>
                        <a:latin typeface="Calibri" panose="020F0502020204030204" pitchFamily="34" charset="0"/>
                        <a:ea typeface="+mn-ea"/>
                        <a:cs typeface="+mn-cs"/>
                      </a:endParaRPr>
                    </a:p>
                  </a:txBody>
                  <a:tcPr marL="113651" marR="113651" marT="56825" marB="56825"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400" b="1" u="none" strike="noStrike" kern="1200" dirty="0">
                          <a:solidFill>
                            <a:srgbClr val="000000"/>
                          </a:solidFill>
                          <a:effectLst/>
                        </a:rPr>
                        <a:t>Do failures require follow-up?</a:t>
                      </a:r>
                      <a:endParaRPr lang="en-GB" sz="1400" b="1" i="0" u="none" strike="noStrike" kern="1200" dirty="0">
                        <a:solidFill>
                          <a:srgbClr val="000000"/>
                        </a:solidFill>
                        <a:effectLst/>
                        <a:latin typeface="Calibri" panose="020F0502020204030204" pitchFamily="34" charset="0"/>
                        <a:ea typeface="+mn-ea"/>
                        <a:cs typeface="+mn-cs"/>
                      </a:endParaRPr>
                    </a:p>
                  </a:txBody>
                  <a:tcPr marL="113651" marR="113651" marT="56825" marB="56825" anchor="ctr"/>
                </a:tc>
                <a:extLst>
                  <a:ext uri="{0D108BD9-81ED-4DB2-BD59-A6C34878D82A}">
                    <a16:rowId xmlns:a16="http://schemas.microsoft.com/office/drawing/2014/main" val="513525763"/>
                  </a:ext>
                </a:extLst>
              </a:tr>
              <a:tr h="0">
                <a:tc>
                  <a:txBody>
                    <a:bodyPr/>
                    <a:lstStyle>
                      <a:lvl1pPr marL="0" algn="l" defTabSz="914377" rtl="0" eaLnBrk="1" latinLnBrk="0" hangingPunct="1">
                        <a:defRPr sz="1800" kern="1200">
                          <a:solidFill>
                            <a:schemeClr val="tx1"/>
                          </a:solidFill>
                          <a:latin typeface="Corbel" panose="020B0503020204020204"/>
                        </a:defRPr>
                      </a:lvl1pPr>
                      <a:lvl2pPr marL="457189" algn="l" defTabSz="914377" rtl="0" eaLnBrk="1" latinLnBrk="0" hangingPunct="1">
                        <a:defRPr sz="1800" kern="1200">
                          <a:solidFill>
                            <a:schemeClr val="tx1"/>
                          </a:solidFill>
                          <a:latin typeface="Corbel" panose="020B0503020204020204"/>
                        </a:defRPr>
                      </a:lvl2pPr>
                      <a:lvl3pPr marL="914377" algn="l" defTabSz="914377" rtl="0" eaLnBrk="1" latinLnBrk="0" hangingPunct="1">
                        <a:defRPr sz="1800" kern="1200">
                          <a:solidFill>
                            <a:schemeClr val="tx1"/>
                          </a:solidFill>
                          <a:latin typeface="Corbel" panose="020B0503020204020204"/>
                        </a:defRPr>
                      </a:lvl3pPr>
                      <a:lvl4pPr marL="1371566" algn="l" defTabSz="914377" rtl="0" eaLnBrk="1" latinLnBrk="0" hangingPunct="1">
                        <a:defRPr sz="1800" kern="1200">
                          <a:solidFill>
                            <a:schemeClr val="tx1"/>
                          </a:solidFill>
                          <a:latin typeface="Corbel" panose="020B0503020204020204"/>
                        </a:defRPr>
                      </a:lvl4pPr>
                      <a:lvl5pPr marL="1828754" algn="l" defTabSz="914377" rtl="0" eaLnBrk="1" latinLnBrk="0" hangingPunct="1">
                        <a:defRPr sz="1800" kern="1200">
                          <a:solidFill>
                            <a:schemeClr val="tx1"/>
                          </a:solidFill>
                          <a:latin typeface="Corbel" panose="020B0503020204020204"/>
                        </a:defRPr>
                      </a:lvl5pPr>
                      <a:lvl6pPr marL="2285943" algn="l" defTabSz="914377" rtl="0" eaLnBrk="1" latinLnBrk="0" hangingPunct="1">
                        <a:defRPr sz="1800" kern="1200">
                          <a:solidFill>
                            <a:schemeClr val="tx1"/>
                          </a:solidFill>
                          <a:latin typeface="Corbel" panose="020B0503020204020204"/>
                        </a:defRPr>
                      </a:lvl6pPr>
                      <a:lvl7pPr marL="2743131" algn="l" defTabSz="914377" rtl="0" eaLnBrk="1" latinLnBrk="0" hangingPunct="1">
                        <a:defRPr sz="1800" kern="1200">
                          <a:solidFill>
                            <a:schemeClr val="tx1"/>
                          </a:solidFill>
                          <a:latin typeface="Corbel" panose="020B0503020204020204"/>
                        </a:defRPr>
                      </a:lvl7pPr>
                      <a:lvl8pPr marL="3200320" algn="l" defTabSz="914377" rtl="0" eaLnBrk="1" latinLnBrk="0" hangingPunct="1">
                        <a:defRPr sz="1800" kern="1200">
                          <a:solidFill>
                            <a:schemeClr val="tx1"/>
                          </a:solidFill>
                          <a:latin typeface="Corbel" panose="020B0503020204020204"/>
                        </a:defRPr>
                      </a:lvl8pPr>
                      <a:lvl9pPr marL="3657509" algn="l" defTabSz="914377" rtl="0" eaLnBrk="1" latinLnBrk="0" hangingPunct="1">
                        <a:defRPr sz="1800" kern="1200">
                          <a:solidFill>
                            <a:schemeClr val="tx1"/>
                          </a:solidFill>
                          <a:latin typeface="Corbel" panose="020B0503020204020204"/>
                        </a:defRPr>
                      </a:lvl9pPr>
                    </a:lstStyle>
                    <a:p>
                      <a:pPr algn="ctr" fontAlgn="ctr"/>
                      <a:r>
                        <a:rPr lang="en-GB" sz="1400" b="0" i="0" u="none" strike="noStrike" kern="1200" dirty="0">
                          <a:solidFill>
                            <a:srgbClr val="000000"/>
                          </a:solidFill>
                          <a:effectLst/>
                          <a:latin typeface="Calibri" panose="020F0502020204030204" pitchFamily="34" charset="0"/>
                          <a:ea typeface="+mn-ea"/>
                          <a:cs typeface="+mn-cs"/>
                        </a:rPr>
                        <a:t>7</a:t>
                      </a:r>
                    </a:p>
                  </a:txBody>
                  <a:tcPr marL="0" marR="0" marT="0" marB="0" anchor="ctr"/>
                </a:tc>
                <a:tc>
                  <a:txBody>
                    <a:bodyPr/>
                    <a:lstStyle/>
                    <a:p>
                      <a:pPr algn="ctr" fontAlgn="ctr"/>
                      <a:r>
                        <a:rPr lang="en-GB" sz="1600" b="0" i="0" u="none" strike="noStrike" dirty="0">
                          <a:solidFill>
                            <a:srgbClr val="000000"/>
                          </a:solidFill>
                          <a:effectLst/>
                          <a:latin typeface="Calibri" panose="020F0502020204030204" pitchFamily="34" charset="0"/>
                        </a:rPr>
                        <a:t>7</a:t>
                      </a:r>
                    </a:p>
                  </a:txBody>
                  <a:tcPr marL="0" marR="0" marT="0" marB="0" anchor="ctr"/>
                </a:tc>
                <a:tc>
                  <a:txBody>
                    <a:bodyPr/>
                    <a:lstStyle/>
                    <a:p>
                      <a:pPr algn="ctr" fontAlgn="ctr"/>
                      <a:r>
                        <a:rPr lang="en-GB" sz="1400" b="0" i="0" u="none" strike="noStrike" dirty="0">
                          <a:solidFill>
                            <a:srgbClr val="000000"/>
                          </a:solidFill>
                          <a:effectLst/>
                          <a:latin typeface="Calibri" panose="020F0502020204030204" pitchFamily="34" charset="0"/>
                        </a:rPr>
                        <a:t>0</a:t>
                      </a:r>
                    </a:p>
                  </a:txBody>
                  <a:tcPr marL="0" marR="0" marT="0" marB="0" anchor="ctr"/>
                </a:tc>
                <a:tc>
                  <a:txBody>
                    <a:bodyPr/>
                    <a:lstStyle/>
                    <a:p>
                      <a:pPr algn="ctr" fontAlgn="ctr"/>
                      <a:r>
                        <a:rPr lang="en-GB" sz="1400" b="0" i="0" u="none" strike="noStrike" dirty="0">
                          <a:solidFill>
                            <a:srgbClr val="000000"/>
                          </a:solidFill>
                          <a:effectLst/>
                          <a:latin typeface="Calibri" panose="020F0502020204030204" pitchFamily="34" charset="0"/>
                        </a:rPr>
                        <a:t>No failures to report!</a:t>
                      </a:r>
                    </a:p>
                  </a:txBody>
                  <a:tcPr marL="0" marR="0" marT="0" marB="0" anchor="ctr"/>
                </a:tc>
                <a:extLst>
                  <a:ext uri="{0D108BD9-81ED-4DB2-BD59-A6C34878D82A}">
                    <a16:rowId xmlns:a16="http://schemas.microsoft.com/office/drawing/2014/main" val="3014970167"/>
                  </a:ext>
                </a:extLst>
              </a:tr>
            </a:tbl>
          </a:graphicData>
        </a:graphic>
      </p:graphicFrame>
    </p:spTree>
    <p:extLst>
      <p:ext uri="{BB962C8B-B14F-4D97-AF65-F5344CB8AC3E}">
        <p14:creationId xmlns:p14="http://schemas.microsoft.com/office/powerpoint/2010/main" val="801696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62CE348-0A34-B9A0-7FEC-60B4E99FE5C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F3848EF-3E10-A481-9F30-A2E290CAF1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1" name="Rectangle 10">
            <a:extLst>
              <a:ext uri="{FF2B5EF4-FFF2-40B4-BE49-F238E27FC236}">
                <a16:creationId xmlns:a16="http://schemas.microsoft.com/office/drawing/2014/main" id="{4C199D4C-5B50-5493-140D-EF3E0B9E24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3" name="Rectangle 12">
            <a:extLst>
              <a:ext uri="{FF2B5EF4-FFF2-40B4-BE49-F238E27FC236}">
                <a16:creationId xmlns:a16="http://schemas.microsoft.com/office/drawing/2014/main" id="{1C9D0318-324B-35C1-5607-89B609B1B1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A5D028"/>
              </a:solidFill>
              <a:effectLst/>
              <a:uLnTx/>
              <a:uFillTx/>
              <a:latin typeface="Corbel" panose="020B0503020204020204"/>
              <a:ea typeface="+mn-ea"/>
              <a:cs typeface="+mn-cs"/>
            </a:endParaRPr>
          </a:p>
        </p:txBody>
      </p:sp>
      <p:sp>
        <p:nvSpPr>
          <p:cNvPr id="8" name="Title 1">
            <a:extLst>
              <a:ext uri="{FF2B5EF4-FFF2-40B4-BE49-F238E27FC236}">
                <a16:creationId xmlns:a16="http://schemas.microsoft.com/office/drawing/2014/main" id="{A8AA910D-E0D8-CEE5-1CA3-334DD390E481}"/>
              </a:ext>
            </a:extLst>
          </p:cNvPr>
          <p:cNvSpPr>
            <a:spLocks noGrp="1"/>
          </p:cNvSpPr>
          <p:nvPr>
            <p:ph type="title"/>
          </p:nvPr>
        </p:nvSpPr>
        <p:spPr>
          <a:xfrm>
            <a:off x="4059080" y="99304"/>
            <a:ext cx="8132919" cy="312177"/>
          </a:xfrm>
        </p:spPr>
        <p:txBody>
          <a:bodyPr vert="horz" lIns="91440" tIns="45720" rIns="91440" bIns="45720" rtlCol="0" anchor="ctr">
            <a:noAutofit/>
          </a:bodyPr>
          <a:lstStyle/>
          <a:p>
            <a:pPr algn="ctr">
              <a:lnSpc>
                <a:spcPct val="80000"/>
              </a:lnSpc>
            </a:pPr>
            <a:r>
              <a:rPr lang="en-US" sz="2400" b="1" spc="150" dirty="0">
                <a:solidFill>
                  <a:schemeClr val="tx2"/>
                </a:solidFill>
              </a:rPr>
              <a:t>TREND GRAPHS</a:t>
            </a:r>
          </a:p>
        </p:txBody>
      </p:sp>
      <p:sp>
        <p:nvSpPr>
          <p:cNvPr id="14" name="Rectangle 13">
            <a:extLst>
              <a:ext uri="{FF2B5EF4-FFF2-40B4-BE49-F238E27FC236}">
                <a16:creationId xmlns:a16="http://schemas.microsoft.com/office/drawing/2014/main" id="{4082DC32-8258-7043-803D-06466E952F62}"/>
              </a:ext>
            </a:extLst>
          </p:cNvPr>
          <p:cNvSpPr/>
          <p:nvPr/>
        </p:nvSpPr>
        <p:spPr>
          <a:xfrm>
            <a:off x="46774" y="-2"/>
            <a:ext cx="549894" cy="6858002"/>
          </a:xfrm>
          <a:prstGeom prst="rect">
            <a:avLst/>
          </a:prstGeom>
          <a:noFill/>
        </p:spPr>
        <p:txBody>
          <a:bodyPr vert="wordArtVert"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b="1" dirty="0">
                <a:ln w="0"/>
                <a:solidFill>
                  <a:srgbClr val="FFFFFF"/>
                </a:solidFill>
                <a:effectLst>
                  <a:outerShdw blurRad="38100" dist="38100" dir="2700000" algn="tl">
                    <a:srgbClr val="000000">
                      <a:alpha val="43137"/>
                    </a:srgbClr>
                  </a:outerShdw>
                </a:effectLst>
                <a:latin typeface="Corbel" panose="020B0503020204020204"/>
              </a:rPr>
              <a:t>RISK ASSESSMENTS</a:t>
            </a:r>
            <a:endParaRPr kumimoji="0" lang="en-US" sz="2000" b="1" i="0" u="none" strike="noStrike" kern="1200" cap="none" spc="0" normalizeH="0" baseline="0" noProof="0" dirty="0">
              <a:ln w="0"/>
              <a:solidFill>
                <a:srgbClr val="FFFFFF"/>
              </a:solidFill>
              <a:effectLst>
                <a:outerShdw blurRad="38100" dist="38100" dir="2700000" algn="tl">
                  <a:srgbClr val="000000">
                    <a:alpha val="43137"/>
                  </a:srgbClr>
                </a:outerShdw>
              </a:effectLst>
              <a:uLnTx/>
              <a:uFillTx/>
              <a:latin typeface="Corbel" panose="020B0503020204020204"/>
              <a:ea typeface="+mn-ea"/>
              <a:cs typeface="+mn-cs"/>
            </a:endParaRPr>
          </a:p>
        </p:txBody>
      </p:sp>
      <p:sp>
        <p:nvSpPr>
          <p:cNvPr id="15" name="Title 1">
            <a:extLst>
              <a:ext uri="{FF2B5EF4-FFF2-40B4-BE49-F238E27FC236}">
                <a16:creationId xmlns:a16="http://schemas.microsoft.com/office/drawing/2014/main" id="{4E7D8AC8-5406-5BAE-8888-9FDEF2333320}"/>
              </a:ext>
            </a:extLst>
          </p:cNvPr>
          <p:cNvSpPr txBox="1">
            <a:spLocks/>
          </p:cNvSpPr>
          <p:nvPr/>
        </p:nvSpPr>
        <p:spPr>
          <a:xfrm>
            <a:off x="719329" y="0"/>
            <a:ext cx="3339751" cy="68825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pPr marL="0" marR="0" lvl="0" indent="0" algn="ctr" defTabSz="914400" rtl="0" eaLnBrk="1" fontAlgn="auto" latinLnBrk="0" hangingPunct="1">
              <a:lnSpc>
                <a:spcPct val="85000"/>
              </a:lnSpc>
              <a:spcBef>
                <a:spcPct val="0"/>
              </a:spcBef>
              <a:spcAft>
                <a:spcPts val="0"/>
              </a:spcAft>
              <a:buClrTx/>
              <a:buSzTx/>
              <a:buFontTx/>
              <a:buNone/>
              <a:tabLst/>
              <a:defRPr/>
            </a:pPr>
            <a:r>
              <a:rPr kumimoji="0" lang="en-GB" sz="2800" b="1" i="0" u="none" strike="noStrike" kern="1200" cap="all" spc="0" normalizeH="0" baseline="0" noProof="0" dirty="0">
                <a:ln>
                  <a:noFill/>
                </a:ln>
                <a:solidFill>
                  <a:srgbClr val="FFFFFF"/>
                </a:solidFill>
                <a:effectLst/>
                <a:uLnTx/>
                <a:uFillTx/>
                <a:latin typeface="Corbel" panose="020B0503020204020204"/>
                <a:ea typeface="+mj-ea"/>
                <a:cs typeface="+mj-cs"/>
              </a:rPr>
              <a:t>KPI Summary</a:t>
            </a:r>
          </a:p>
        </p:txBody>
      </p:sp>
      <p:graphicFrame>
        <p:nvGraphicFramePr>
          <p:cNvPr id="16" name="Content Placeholder 3">
            <a:extLst>
              <a:ext uri="{FF2B5EF4-FFF2-40B4-BE49-F238E27FC236}">
                <a16:creationId xmlns:a16="http://schemas.microsoft.com/office/drawing/2014/main" id="{D698A9F6-29A8-9698-C469-00C8912A426C}"/>
              </a:ext>
            </a:extLst>
          </p:cNvPr>
          <p:cNvGraphicFramePr>
            <a:graphicFrameLocks noGrp="1"/>
          </p:cNvGraphicFramePr>
          <p:nvPr>
            <p:ph idx="1"/>
            <p:extLst>
              <p:ext uri="{D42A27DB-BD31-4B8C-83A1-F6EECF244321}">
                <p14:modId xmlns:p14="http://schemas.microsoft.com/office/powerpoint/2010/main" val="1098963547"/>
              </p:ext>
            </p:extLst>
          </p:nvPr>
        </p:nvGraphicFramePr>
        <p:xfrm>
          <a:off x="820038" y="688258"/>
          <a:ext cx="3127336" cy="3434834"/>
        </p:xfrm>
        <a:graphic>
          <a:graphicData uri="http://schemas.openxmlformats.org/drawingml/2006/table">
            <a:tbl>
              <a:tblPr firstRow="1" firstCol="1">
                <a:tableStyleId>{073A0DAA-6AF3-43AB-8588-CEC1D06C72B9}</a:tableStyleId>
              </a:tblPr>
              <a:tblGrid>
                <a:gridCol w="1367362">
                  <a:extLst>
                    <a:ext uri="{9D8B030D-6E8A-4147-A177-3AD203B41FA5}">
                      <a16:colId xmlns:a16="http://schemas.microsoft.com/office/drawing/2014/main" val="3746610510"/>
                    </a:ext>
                  </a:extLst>
                </a:gridCol>
                <a:gridCol w="914400">
                  <a:extLst>
                    <a:ext uri="{9D8B030D-6E8A-4147-A177-3AD203B41FA5}">
                      <a16:colId xmlns:a16="http://schemas.microsoft.com/office/drawing/2014/main" val="1245586481"/>
                    </a:ext>
                  </a:extLst>
                </a:gridCol>
                <a:gridCol w="845574">
                  <a:extLst>
                    <a:ext uri="{9D8B030D-6E8A-4147-A177-3AD203B41FA5}">
                      <a16:colId xmlns:a16="http://schemas.microsoft.com/office/drawing/2014/main" val="420243024"/>
                    </a:ext>
                  </a:extLst>
                </a:gridCol>
              </a:tblGrid>
              <a:tr h="857415">
                <a:tc>
                  <a:txBody>
                    <a:bodyPr/>
                    <a:lstStyle/>
                    <a:p>
                      <a:pPr algn="ctr"/>
                      <a:r>
                        <a:rPr lang="en-GB" sz="1800" b="1" kern="1200" dirty="0">
                          <a:solidFill>
                            <a:schemeClr val="lt1"/>
                          </a:solidFill>
                          <a:latin typeface="+mn-lt"/>
                          <a:ea typeface="+mn-ea"/>
                          <a:cs typeface="+mn-cs"/>
                        </a:rPr>
                        <a:t>KPI </a:t>
                      </a:r>
                    </a:p>
                  </a:txBody>
                  <a:tcPr anchor="ctr"/>
                </a:tc>
                <a:tc>
                  <a:txBody>
                    <a:bodyPr/>
                    <a:lstStyle/>
                    <a:p>
                      <a:pPr algn="ctr"/>
                      <a:r>
                        <a:rPr lang="en-GB" sz="1800" b="1" kern="1200" dirty="0">
                          <a:solidFill>
                            <a:schemeClr val="lt1"/>
                          </a:solidFill>
                          <a:latin typeface="+mn-lt"/>
                          <a:ea typeface="+mn-ea"/>
                          <a:cs typeface="+mn-cs"/>
                        </a:rPr>
                        <a:t>Q4 (2025)</a:t>
                      </a:r>
                    </a:p>
                  </a:txBody>
                  <a:tcPr anchor="ctr"/>
                </a:tc>
                <a:tc>
                  <a:txBody>
                    <a:bodyPr/>
                    <a:lstStyle/>
                    <a:p>
                      <a:pPr algn="ctr"/>
                      <a:r>
                        <a:rPr lang="en-GB" sz="1800" b="1" kern="1200" dirty="0">
                          <a:solidFill>
                            <a:schemeClr val="lt1"/>
                          </a:solidFill>
                          <a:latin typeface="+mn-lt"/>
                          <a:ea typeface="+mn-ea"/>
                          <a:cs typeface="+mn-cs"/>
                        </a:rPr>
                        <a:t>Q1 (2026)</a:t>
                      </a:r>
                    </a:p>
                  </a:txBody>
                  <a:tcPr anchor="ctr"/>
                </a:tc>
                <a:extLst>
                  <a:ext uri="{0D108BD9-81ED-4DB2-BD59-A6C34878D82A}">
                    <a16:rowId xmlns:a16="http://schemas.microsoft.com/office/drawing/2014/main" val="2811724974"/>
                  </a:ext>
                </a:extLst>
              </a:tr>
              <a:tr h="689294">
                <a:tc>
                  <a:txBody>
                    <a:bodyPr/>
                    <a:lstStyle/>
                    <a:p>
                      <a:pPr algn="ctr"/>
                      <a:r>
                        <a:rPr lang="en-GB" sz="1400" b="1" dirty="0"/>
                        <a:t>Total raised this quarter</a:t>
                      </a:r>
                    </a:p>
                  </a:txBody>
                  <a:tcPr anchor="ctr"/>
                </a:tc>
                <a:tc>
                  <a:txBody>
                    <a:bodyPr/>
                    <a:lstStyle/>
                    <a:p>
                      <a:pPr algn="ctr"/>
                      <a:r>
                        <a:rPr lang="en-GB" sz="1800" b="0" dirty="0"/>
                        <a:t>3</a:t>
                      </a:r>
                    </a:p>
                  </a:txBody>
                  <a:tcPr anchor="ctr"/>
                </a:tc>
                <a:tc>
                  <a:txBody>
                    <a:bodyPr/>
                    <a:lstStyle/>
                    <a:p>
                      <a:pPr algn="ctr"/>
                      <a:r>
                        <a:rPr lang="en-GB" sz="1800" b="0" dirty="0"/>
                        <a:t>12</a:t>
                      </a:r>
                    </a:p>
                  </a:txBody>
                  <a:tcPr anchor="ctr"/>
                </a:tc>
                <a:extLst>
                  <a:ext uri="{0D108BD9-81ED-4DB2-BD59-A6C34878D82A}">
                    <a16:rowId xmlns:a16="http://schemas.microsoft.com/office/drawing/2014/main" val="893295017"/>
                  </a:ext>
                </a:extLst>
              </a:tr>
              <a:tr h="521173">
                <a:tc>
                  <a:txBody>
                    <a:bodyPr/>
                    <a:lstStyle/>
                    <a:p>
                      <a:pPr algn="ctr"/>
                      <a:r>
                        <a:rPr lang="en-GB" sz="1400" b="1" dirty="0"/>
                        <a:t>Total closed this quarter</a:t>
                      </a:r>
                    </a:p>
                  </a:txBody>
                  <a:tcPr anchor="ctr"/>
                </a:tc>
                <a:tc>
                  <a:txBody>
                    <a:bodyPr/>
                    <a:lstStyle/>
                    <a:p>
                      <a:pPr algn="ctr"/>
                      <a:r>
                        <a:rPr lang="en-GB" sz="1800" b="0" dirty="0"/>
                        <a:t>5</a:t>
                      </a:r>
                    </a:p>
                  </a:txBody>
                  <a:tcPr anchor="ctr"/>
                </a:tc>
                <a:tc>
                  <a:txBody>
                    <a:bodyPr/>
                    <a:lstStyle/>
                    <a:p>
                      <a:pPr algn="ctr"/>
                      <a:r>
                        <a:rPr lang="en-GB" sz="1800" b="0" dirty="0"/>
                        <a:t>4</a:t>
                      </a:r>
                    </a:p>
                  </a:txBody>
                  <a:tcPr anchor="ctr"/>
                </a:tc>
                <a:extLst>
                  <a:ext uri="{0D108BD9-81ED-4DB2-BD59-A6C34878D82A}">
                    <a16:rowId xmlns:a16="http://schemas.microsoft.com/office/drawing/2014/main" val="1846249938"/>
                  </a:ext>
                </a:extLst>
              </a:tr>
              <a:tr h="683476">
                <a:tc>
                  <a:txBody>
                    <a:bodyPr/>
                    <a:lstStyle/>
                    <a:p>
                      <a:pPr algn="ctr"/>
                      <a:r>
                        <a:rPr lang="en-GB" sz="1400" b="1" dirty="0"/>
                        <a:t>Major/Critical raised</a:t>
                      </a:r>
                    </a:p>
                  </a:txBody>
                  <a:tcPr anchor="ctr"/>
                </a:tc>
                <a:tc>
                  <a:txBody>
                    <a:bodyPr/>
                    <a:lstStyle/>
                    <a:p>
                      <a:pPr algn="ctr"/>
                      <a:r>
                        <a:rPr lang="en-GB" sz="1800" b="0" dirty="0"/>
                        <a:t>1</a:t>
                      </a:r>
                    </a:p>
                  </a:txBody>
                  <a:tcPr anchor="ctr"/>
                </a:tc>
                <a:tc>
                  <a:txBody>
                    <a:bodyPr/>
                    <a:lstStyle/>
                    <a:p>
                      <a:pPr algn="ctr"/>
                      <a:r>
                        <a:rPr lang="en-GB" sz="1800" b="0" dirty="0"/>
                        <a:t>8</a:t>
                      </a:r>
                    </a:p>
                  </a:txBody>
                  <a:tcPr anchor="ctr"/>
                </a:tc>
                <a:extLst>
                  <a:ext uri="{0D108BD9-81ED-4DB2-BD59-A6C34878D82A}">
                    <a16:rowId xmlns:a16="http://schemas.microsoft.com/office/drawing/2014/main" val="4060241798"/>
                  </a:ext>
                </a:extLst>
              </a:tr>
              <a:tr h="683476">
                <a:tc>
                  <a:txBody>
                    <a:bodyPr/>
                    <a:lstStyle/>
                    <a:p>
                      <a:pPr algn="ctr"/>
                      <a:r>
                        <a:rPr lang="en-GB" sz="1400" b="1" dirty="0"/>
                        <a:t>Major/Critical closed</a:t>
                      </a:r>
                    </a:p>
                  </a:txBody>
                  <a:tcPr anchor="ctr"/>
                </a:tc>
                <a:tc>
                  <a:txBody>
                    <a:bodyPr/>
                    <a:lstStyle/>
                    <a:p>
                      <a:pPr algn="ctr"/>
                      <a:r>
                        <a:rPr lang="en-GB" sz="1800" b="0" dirty="0"/>
                        <a:t>5</a:t>
                      </a:r>
                    </a:p>
                  </a:txBody>
                  <a:tcPr anchor="ctr"/>
                </a:tc>
                <a:tc>
                  <a:txBody>
                    <a:bodyPr/>
                    <a:lstStyle/>
                    <a:p>
                      <a:pPr algn="ctr"/>
                      <a:r>
                        <a:rPr lang="en-GB" sz="1800" b="0" dirty="0"/>
                        <a:t>4</a:t>
                      </a:r>
                    </a:p>
                  </a:txBody>
                  <a:tcPr anchor="ctr"/>
                </a:tc>
                <a:extLst>
                  <a:ext uri="{0D108BD9-81ED-4DB2-BD59-A6C34878D82A}">
                    <a16:rowId xmlns:a16="http://schemas.microsoft.com/office/drawing/2014/main" val="2537027104"/>
                  </a:ext>
                </a:extLst>
              </a:tr>
            </a:tbl>
          </a:graphicData>
        </a:graphic>
      </p:graphicFrame>
      <p:sp>
        <p:nvSpPr>
          <p:cNvPr id="2" name="Title 1">
            <a:extLst>
              <a:ext uri="{FF2B5EF4-FFF2-40B4-BE49-F238E27FC236}">
                <a16:creationId xmlns:a16="http://schemas.microsoft.com/office/drawing/2014/main" id="{6CEDF800-F0BE-BE39-97E0-75E87AC4A1D2}"/>
              </a:ext>
            </a:extLst>
          </p:cNvPr>
          <p:cNvSpPr txBox="1">
            <a:spLocks/>
          </p:cNvSpPr>
          <p:nvPr/>
        </p:nvSpPr>
        <p:spPr>
          <a:xfrm>
            <a:off x="713830" y="4559709"/>
            <a:ext cx="3339751" cy="1418303"/>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pPr marL="0" marR="0" lvl="0" indent="0" algn="ctr" defTabSz="914400" rtl="0" eaLnBrk="1" fontAlgn="auto" latinLnBrk="0" hangingPunct="1">
              <a:lnSpc>
                <a:spcPct val="85000"/>
              </a:lnSpc>
              <a:spcBef>
                <a:spcPct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Corbel" panose="020B0503020204020204"/>
                <a:ea typeface="+mj-ea"/>
                <a:cs typeface="+mj-cs"/>
              </a:rPr>
              <a:t>KPI &amp; Trend Assessment: </a:t>
            </a:r>
          </a:p>
          <a:p>
            <a:pPr marL="0" marR="0" lvl="0" indent="0" algn="ctr" defTabSz="914400" rtl="0" eaLnBrk="1" fontAlgn="auto" latinLnBrk="0" hangingPunct="1">
              <a:lnSpc>
                <a:spcPct val="85000"/>
              </a:lnSpc>
              <a:spcBef>
                <a:spcPct val="0"/>
              </a:spcBef>
              <a:spcAft>
                <a:spcPts val="0"/>
              </a:spcAft>
              <a:buClrTx/>
              <a:buSzTx/>
              <a:buFontTx/>
              <a:buNone/>
              <a:tabLst/>
              <a:defRPr/>
            </a:pPr>
            <a:endParaRPr kumimoji="0" lang="en-GB" sz="2800" b="1" i="0" u="none" strike="noStrike" kern="1200" cap="none" spc="0" normalizeH="0" baseline="0" noProof="0" dirty="0">
              <a:ln>
                <a:noFill/>
              </a:ln>
              <a:solidFill>
                <a:srgbClr val="FFFFFF"/>
              </a:solidFill>
              <a:effectLst/>
              <a:uLnTx/>
              <a:uFillTx/>
              <a:latin typeface="Corbel" panose="020B0503020204020204"/>
              <a:ea typeface="+mj-ea"/>
              <a:cs typeface="+mj-cs"/>
            </a:endParaRPr>
          </a:p>
          <a:p>
            <a:pPr algn="ctr"/>
            <a:r>
              <a:rPr lang="en-GB" sz="2800" dirty="0"/>
              <a:t>🟠</a:t>
            </a:r>
            <a:r>
              <a:rPr lang="en-GB" sz="2800" cap="none" dirty="0">
                <a:solidFill>
                  <a:schemeClr val="tx1"/>
                </a:solidFill>
              </a:rPr>
              <a:t>- Stable</a:t>
            </a:r>
          </a:p>
        </p:txBody>
      </p:sp>
      <p:graphicFrame>
        <p:nvGraphicFramePr>
          <p:cNvPr id="3" name="Chart 2">
            <a:extLst>
              <a:ext uri="{FF2B5EF4-FFF2-40B4-BE49-F238E27FC236}">
                <a16:creationId xmlns:a16="http://schemas.microsoft.com/office/drawing/2014/main" id="{DB68CD3D-3817-668A-7697-EBFA69079EAE}"/>
              </a:ext>
            </a:extLst>
          </p:cNvPr>
          <p:cNvGraphicFramePr>
            <a:graphicFrameLocks/>
          </p:cNvGraphicFramePr>
          <p:nvPr>
            <p:extLst>
              <p:ext uri="{D42A27DB-BD31-4B8C-83A1-F6EECF244321}">
                <p14:modId xmlns:p14="http://schemas.microsoft.com/office/powerpoint/2010/main" val="1865630770"/>
              </p:ext>
            </p:extLst>
          </p:nvPr>
        </p:nvGraphicFramePr>
        <p:xfrm>
          <a:off x="4048083" y="449826"/>
          <a:ext cx="8143917" cy="36632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Table 3">
            <a:extLst>
              <a:ext uri="{FF2B5EF4-FFF2-40B4-BE49-F238E27FC236}">
                <a16:creationId xmlns:a16="http://schemas.microsoft.com/office/drawing/2014/main" id="{435C4B5B-F23A-05AD-6D44-DBBD8C655C3A}"/>
              </a:ext>
            </a:extLst>
          </p:cNvPr>
          <p:cNvGraphicFramePr>
            <a:graphicFrameLocks noGrp="1"/>
          </p:cNvGraphicFramePr>
          <p:nvPr>
            <p:extLst>
              <p:ext uri="{D42A27DB-BD31-4B8C-83A1-F6EECF244321}">
                <p14:modId xmlns:p14="http://schemas.microsoft.com/office/powerpoint/2010/main" val="2143987989"/>
              </p:ext>
            </p:extLst>
          </p:nvPr>
        </p:nvGraphicFramePr>
        <p:xfrm>
          <a:off x="4053581" y="4123093"/>
          <a:ext cx="8138418" cy="2734909"/>
        </p:xfrm>
        <a:graphic>
          <a:graphicData uri="http://schemas.openxmlformats.org/drawingml/2006/table">
            <a:tbl>
              <a:tblPr firstRow="1" firstCol="1">
                <a:tableStyleId>{E8034E78-7F5D-4C2E-B375-FC64B27BC917}</a:tableStyleId>
              </a:tblPr>
              <a:tblGrid>
                <a:gridCol w="5473877">
                  <a:extLst>
                    <a:ext uri="{9D8B030D-6E8A-4147-A177-3AD203B41FA5}">
                      <a16:colId xmlns:a16="http://schemas.microsoft.com/office/drawing/2014/main" val="2132152619"/>
                    </a:ext>
                  </a:extLst>
                </a:gridCol>
                <a:gridCol w="2664541">
                  <a:extLst>
                    <a:ext uri="{9D8B030D-6E8A-4147-A177-3AD203B41FA5}">
                      <a16:colId xmlns:a16="http://schemas.microsoft.com/office/drawing/2014/main" val="3855580305"/>
                    </a:ext>
                  </a:extLst>
                </a:gridCol>
              </a:tblGrid>
              <a:tr h="522849">
                <a:tc>
                  <a:txBody>
                    <a:bodyPr/>
                    <a:lstStyle/>
                    <a:p>
                      <a:pPr>
                        <a:buNone/>
                      </a:pPr>
                      <a:r>
                        <a:rPr lang="en-GB" sz="2000" dirty="0">
                          <a:latin typeface="+mj-lt"/>
                        </a:rPr>
                        <a:t>Source of All RAs </a:t>
                      </a:r>
                      <a:r>
                        <a:rPr lang="en-GB" sz="1200" dirty="0">
                          <a:latin typeface="+mj-lt"/>
                        </a:rPr>
                        <a:t>(Last 12 Months)</a:t>
                      </a:r>
                      <a:endParaRPr lang="en-GB" sz="2000" dirty="0">
                        <a:latin typeface="+mj-lt"/>
                      </a:endParaRPr>
                    </a:p>
                  </a:txBody>
                  <a:tcPr anchor="ctr"/>
                </a:tc>
                <a:tc>
                  <a:txBody>
                    <a:bodyPr/>
                    <a:lstStyle/>
                    <a:p>
                      <a:pPr>
                        <a:buNone/>
                      </a:pPr>
                      <a:r>
                        <a:rPr lang="en-GB" sz="2000" dirty="0">
                          <a:latin typeface="+mj-lt"/>
                        </a:rPr>
                        <a:t>RA Quantity raised</a:t>
                      </a:r>
                    </a:p>
                  </a:txBody>
                  <a:tcPr anchor="ctr"/>
                </a:tc>
                <a:extLst>
                  <a:ext uri="{0D108BD9-81ED-4DB2-BD59-A6C34878D82A}">
                    <a16:rowId xmlns:a16="http://schemas.microsoft.com/office/drawing/2014/main" val="2739290318"/>
                  </a:ext>
                </a:extLst>
              </a:tr>
              <a:tr h="442412">
                <a:tc>
                  <a:txBody>
                    <a:bodyPr/>
                    <a:lstStyle/>
                    <a:p>
                      <a:pPr>
                        <a:buNone/>
                      </a:pPr>
                      <a:r>
                        <a:rPr lang="en-GB" sz="1600" dirty="0">
                          <a:solidFill>
                            <a:sysClr val="windowText" lastClr="000000"/>
                          </a:solidFill>
                        </a:rPr>
                        <a:t>Change controls</a:t>
                      </a:r>
                    </a:p>
                  </a:txBody>
                  <a:tcPr anchor="ctr"/>
                </a:tc>
                <a:tc>
                  <a:txBody>
                    <a:bodyPr/>
                    <a:lstStyle/>
                    <a:p>
                      <a:pPr>
                        <a:buNone/>
                      </a:pPr>
                      <a:r>
                        <a:rPr lang="en-GB" sz="1600" b="1" i="0" dirty="0">
                          <a:solidFill>
                            <a:sysClr val="windowText" lastClr="000000"/>
                          </a:solidFill>
                        </a:rPr>
                        <a:t>16</a:t>
                      </a:r>
                    </a:p>
                  </a:txBody>
                  <a:tcPr anchor="ctr"/>
                </a:tc>
                <a:extLst>
                  <a:ext uri="{0D108BD9-81ED-4DB2-BD59-A6C34878D82A}">
                    <a16:rowId xmlns:a16="http://schemas.microsoft.com/office/drawing/2014/main" val="1027396935"/>
                  </a:ext>
                </a:extLst>
              </a:tr>
              <a:tr h="442412">
                <a:tc>
                  <a:txBody>
                    <a:bodyPr/>
                    <a:lstStyle/>
                    <a:p>
                      <a:pPr>
                        <a:buNone/>
                      </a:pPr>
                      <a:r>
                        <a:rPr lang="en-GB" sz="1600" dirty="0">
                          <a:solidFill>
                            <a:sysClr val="windowText" lastClr="000000"/>
                          </a:solidFill>
                        </a:rPr>
                        <a:t>Inspection findings</a:t>
                      </a:r>
                    </a:p>
                  </a:txBody>
                  <a:tcPr anchor="ctr"/>
                </a:tc>
                <a:tc>
                  <a:txBody>
                    <a:bodyPr/>
                    <a:lstStyle/>
                    <a:p>
                      <a:pPr>
                        <a:buNone/>
                      </a:pPr>
                      <a:r>
                        <a:rPr lang="en-GB" sz="1600" b="1" i="0" dirty="0">
                          <a:solidFill>
                            <a:sysClr val="windowText" lastClr="000000"/>
                          </a:solidFill>
                        </a:rPr>
                        <a:t>3</a:t>
                      </a:r>
                    </a:p>
                  </a:txBody>
                  <a:tcPr anchor="ctr"/>
                </a:tc>
                <a:extLst>
                  <a:ext uri="{0D108BD9-81ED-4DB2-BD59-A6C34878D82A}">
                    <a16:rowId xmlns:a16="http://schemas.microsoft.com/office/drawing/2014/main" val="3656083702"/>
                  </a:ext>
                </a:extLst>
              </a:tr>
              <a:tr h="442412">
                <a:tc>
                  <a:txBody>
                    <a:bodyPr/>
                    <a:lstStyle/>
                    <a:p>
                      <a:pPr>
                        <a:buNone/>
                      </a:pPr>
                      <a:r>
                        <a:rPr lang="en-GB" sz="1600" dirty="0">
                          <a:solidFill>
                            <a:sysClr val="windowText" lastClr="000000"/>
                          </a:solidFill>
                        </a:rPr>
                        <a:t>Material Quality Risk (Expiry Extension)</a:t>
                      </a:r>
                    </a:p>
                  </a:txBody>
                  <a:tcPr anchor="ctr"/>
                </a:tc>
                <a:tc>
                  <a:txBody>
                    <a:bodyPr/>
                    <a:lstStyle/>
                    <a:p>
                      <a:pPr>
                        <a:buNone/>
                      </a:pPr>
                      <a:r>
                        <a:rPr lang="en-GB" sz="1600" b="1" i="0" dirty="0">
                          <a:solidFill>
                            <a:sysClr val="windowText" lastClr="000000"/>
                          </a:solidFill>
                        </a:rPr>
                        <a:t>3</a:t>
                      </a:r>
                    </a:p>
                  </a:txBody>
                  <a:tcPr anchor="ctr"/>
                </a:tc>
                <a:extLst>
                  <a:ext uri="{0D108BD9-81ED-4DB2-BD59-A6C34878D82A}">
                    <a16:rowId xmlns:a16="http://schemas.microsoft.com/office/drawing/2014/main" val="1456696578"/>
                  </a:ext>
                </a:extLst>
              </a:tr>
              <a:tr h="442412">
                <a:tc>
                  <a:txBody>
                    <a:bodyPr/>
                    <a:lstStyle/>
                    <a:p>
                      <a:pPr>
                        <a:buNone/>
                      </a:pPr>
                      <a:r>
                        <a:rPr lang="en-GB" sz="1600" dirty="0">
                          <a:solidFill>
                            <a:sysClr val="windowText" lastClr="000000"/>
                          </a:solidFill>
                        </a:rPr>
                        <a:t>Material Quality Risk (Temperature Excursion)</a:t>
                      </a:r>
                    </a:p>
                  </a:txBody>
                  <a:tcPr anchor="ctr"/>
                </a:tc>
                <a:tc>
                  <a:txBody>
                    <a:bodyPr/>
                    <a:lstStyle/>
                    <a:p>
                      <a:pPr>
                        <a:buNone/>
                      </a:pPr>
                      <a:r>
                        <a:rPr lang="en-GB" sz="1600" b="1" i="0" dirty="0">
                          <a:solidFill>
                            <a:sysClr val="windowText" lastClr="000000"/>
                          </a:solidFill>
                        </a:rPr>
                        <a:t>1</a:t>
                      </a:r>
                    </a:p>
                  </a:txBody>
                  <a:tcPr anchor="ctr"/>
                </a:tc>
                <a:extLst>
                  <a:ext uri="{0D108BD9-81ED-4DB2-BD59-A6C34878D82A}">
                    <a16:rowId xmlns:a16="http://schemas.microsoft.com/office/drawing/2014/main" val="1057539453"/>
                  </a:ext>
                </a:extLst>
              </a:tr>
              <a:tr h="442412">
                <a:tc>
                  <a:txBody>
                    <a:bodyPr/>
                    <a:lstStyle/>
                    <a:p>
                      <a:pPr>
                        <a:buNone/>
                      </a:pPr>
                      <a:r>
                        <a:rPr lang="en-GB" sz="1600" dirty="0">
                          <a:solidFill>
                            <a:sysClr val="windowText" lastClr="000000"/>
                          </a:solidFill>
                        </a:rPr>
                        <a:t>Other</a:t>
                      </a:r>
                    </a:p>
                  </a:txBody>
                  <a:tcPr anchor="ctr"/>
                </a:tc>
                <a:tc>
                  <a:txBody>
                    <a:bodyPr/>
                    <a:lstStyle/>
                    <a:p>
                      <a:pPr>
                        <a:buNone/>
                      </a:pPr>
                      <a:r>
                        <a:rPr lang="en-GB" sz="1600" b="1" i="0" dirty="0">
                          <a:solidFill>
                            <a:sysClr val="windowText" lastClr="000000"/>
                          </a:solidFill>
                        </a:rPr>
                        <a:t>3</a:t>
                      </a:r>
                    </a:p>
                  </a:txBody>
                  <a:tcPr anchor="ctr"/>
                </a:tc>
                <a:extLst>
                  <a:ext uri="{0D108BD9-81ED-4DB2-BD59-A6C34878D82A}">
                    <a16:rowId xmlns:a16="http://schemas.microsoft.com/office/drawing/2014/main" val="144537586"/>
                  </a:ext>
                </a:extLst>
              </a:tr>
            </a:tbl>
          </a:graphicData>
        </a:graphic>
      </p:graphicFrame>
    </p:spTree>
    <p:extLst>
      <p:ext uri="{BB962C8B-B14F-4D97-AF65-F5344CB8AC3E}">
        <p14:creationId xmlns:p14="http://schemas.microsoft.com/office/powerpoint/2010/main" val="1659003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A99F53D-6BC6-D6AF-C903-265488E1323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FBA27BD-F632-3555-8CE6-B25E139060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1" name="Rectangle 10">
            <a:extLst>
              <a:ext uri="{FF2B5EF4-FFF2-40B4-BE49-F238E27FC236}">
                <a16:creationId xmlns:a16="http://schemas.microsoft.com/office/drawing/2014/main" id="{FE2B03C7-3639-687C-1D91-C97C80C4CA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3" name="Rectangle 12">
            <a:extLst>
              <a:ext uri="{FF2B5EF4-FFF2-40B4-BE49-F238E27FC236}">
                <a16:creationId xmlns:a16="http://schemas.microsoft.com/office/drawing/2014/main" id="{B5772EDA-45DC-A844-DE6A-8B340E5116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A5D028"/>
              </a:solidFill>
              <a:effectLst/>
              <a:uLnTx/>
              <a:uFillTx/>
              <a:latin typeface="Corbel" panose="020B0503020204020204"/>
              <a:ea typeface="+mn-ea"/>
              <a:cs typeface="+mn-cs"/>
            </a:endParaRPr>
          </a:p>
        </p:txBody>
      </p:sp>
      <p:sp>
        <p:nvSpPr>
          <p:cNvPr id="6" name="TextBox 5">
            <a:extLst>
              <a:ext uri="{FF2B5EF4-FFF2-40B4-BE49-F238E27FC236}">
                <a16:creationId xmlns:a16="http://schemas.microsoft.com/office/drawing/2014/main" id="{EC27294B-5AB8-12E8-1B9D-618CFA86DCDC}"/>
              </a:ext>
            </a:extLst>
          </p:cNvPr>
          <p:cNvSpPr txBox="1"/>
          <p:nvPr/>
        </p:nvSpPr>
        <p:spPr>
          <a:xfrm>
            <a:off x="4224963" y="0"/>
            <a:ext cx="7815918"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FFFFFF"/>
                </a:solidFill>
                <a:effectLst/>
                <a:uLnTx/>
                <a:uFillTx/>
                <a:latin typeface="Corbel" panose="020B0503020204020204"/>
                <a:ea typeface="+mn-ea"/>
                <a:cs typeface="+mn-cs"/>
              </a:rPr>
              <a:t>SIGNIFICANT ITEMS (MAJOR &amp; CRITICAL)</a:t>
            </a:r>
          </a:p>
        </p:txBody>
      </p:sp>
      <p:grpSp>
        <p:nvGrpSpPr>
          <p:cNvPr id="7" name="Group 6">
            <a:extLst>
              <a:ext uri="{FF2B5EF4-FFF2-40B4-BE49-F238E27FC236}">
                <a16:creationId xmlns:a16="http://schemas.microsoft.com/office/drawing/2014/main" id="{A69ADD68-41A5-1DF3-A4C5-5EE96309E101}"/>
              </a:ext>
            </a:extLst>
          </p:cNvPr>
          <p:cNvGrpSpPr/>
          <p:nvPr/>
        </p:nvGrpSpPr>
        <p:grpSpPr>
          <a:xfrm>
            <a:off x="842090" y="695572"/>
            <a:ext cx="11101643" cy="3462767"/>
            <a:chOff x="797884" y="1529658"/>
            <a:chExt cx="12278237" cy="3562218"/>
          </a:xfrm>
          <a:solidFill>
            <a:srgbClr val="FFFF00"/>
          </a:solidFill>
        </p:grpSpPr>
        <p:graphicFrame>
          <p:nvGraphicFramePr>
            <p:cNvPr id="17" name="Table 16">
              <a:extLst>
                <a:ext uri="{FF2B5EF4-FFF2-40B4-BE49-F238E27FC236}">
                  <a16:creationId xmlns:a16="http://schemas.microsoft.com/office/drawing/2014/main" id="{3CADB4D4-15CA-3BE8-3588-36671912BDC1}"/>
                </a:ext>
              </a:extLst>
            </p:cNvPr>
            <p:cNvGraphicFramePr>
              <a:graphicFrameLocks/>
            </p:cNvGraphicFramePr>
            <p:nvPr>
              <p:extLst>
                <p:ext uri="{D42A27DB-BD31-4B8C-83A1-F6EECF244321}">
                  <p14:modId xmlns:p14="http://schemas.microsoft.com/office/powerpoint/2010/main" val="2223281968"/>
                </p:ext>
              </p:extLst>
            </p:nvPr>
          </p:nvGraphicFramePr>
          <p:xfrm>
            <a:off x="797884" y="3682843"/>
            <a:ext cx="12278237" cy="1409033"/>
          </p:xfrm>
          <a:graphic>
            <a:graphicData uri="http://schemas.openxmlformats.org/drawingml/2006/table">
              <a:tbl>
                <a:tblPr firstRow="1" bandRow="1">
                  <a:tableStyleId>{21E4AEA4-8DFA-4A89-87EB-49C32662AFE0}</a:tableStyleId>
                </a:tblPr>
                <a:tblGrid>
                  <a:gridCol w="1291509">
                    <a:extLst>
                      <a:ext uri="{9D8B030D-6E8A-4147-A177-3AD203B41FA5}">
                        <a16:colId xmlns:a16="http://schemas.microsoft.com/office/drawing/2014/main" val="41084954"/>
                      </a:ext>
                    </a:extLst>
                  </a:gridCol>
                  <a:gridCol w="1101213">
                    <a:extLst>
                      <a:ext uri="{9D8B030D-6E8A-4147-A177-3AD203B41FA5}">
                        <a16:colId xmlns:a16="http://schemas.microsoft.com/office/drawing/2014/main" val="190224105"/>
                      </a:ext>
                    </a:extLst>
                  </a:gridCol>
                  <a:gridCol w="5132439">
                    <a:extLst>
                      <a:ext uri="{9D8B030D-6E8A-4147-A177-3AD203B41FA5}">
                        <a16:colId xmlns:a16="http://schemas.microsoft.com/office/drawing/2014/main" val="3131065920"/>
                      </a:ext>
                    </a:extLst>
                  </a:gridCol>
                  <a:gridCol w="1238864">
                    <a:extLst>
                      <a:ext uri="{9D8B030D-6E8A-4147-A177-3AD203B41FA5}">
                        <a16:colId xmlns:a16="http://schemas.microsoft.com/office/drawing/2014/main" val="396103689"/>
                      </a:ext>
                    </a:extLst>
                  </a:gridCol>
                  <a:gridCol w="1061884">
                    <a:extLst>
                      <a:ext uri="{9D8B030D-6E8A-4147-A177-3AD203B41FA5}">
                        <a16:colId xmlns:a16="http://schemas.microsoft.com/office/drawing/2014/main" val="2698333210"/>
                      </a:ext>
                    </a:extLst>
                  </a:gridCol>
                  <a:gridCol w="1275734">
                    <a:extLst>
                      <a:ext uri="{9D8B030D-6E8A-4147-A177-3AD203B41FA5}">
                        <a16:colId xmlns:a16="http://schemas.microsoft.com/office/drawing/2014/main" val="2585996546"/>
                      </a:ext>
                    </a:extLst>
                  </a:gridCol>
                </a:tblGrid>
                <a:tr h="151808">
                  <a:tc gridSpan="6">
                    <a:txBody>
                      <a:bodyPr/>
                      <a:lstStyle>
                        <a:lvl1pPr marL="0" algn="l" defTabSz="914377" rtl="0" eaLnBrk="1" latinLnBrk="0" hangingPunct="1">
                          <a:defRPr sz="1800" b="1" kern="1200">
                            <a:solidFill>
                              <a:schemeClr val="lt1"/>
                            </a:solidFill>
                            <a:latin typeface="Corbel" panose="020B0503020204020204"/>
                          </a:defRPr>
                        </a:lvl1pPr>
                        <a:lvl2pPr marL="457189" algn="l" defTabSz="914377" rtl="0" eaLnBrk="1" latinLnBrk="0" hangingPunct="1">
                          <a:defRPr sz="1800" b="1" kern="1200">
                            <a:solidFill>
                              <a:schemeClr val="lt1"/>
                            </a:solidFill>
                            <a:latin typeface="Corbel" panose="020B0503020204020204"/>
                          </a:defRPr>
                        </a:lvl2pPr>
                        <a:lvl3pPr marL="914377" algn="l" defTabSz="914377" rtl="0" eaLnBrk="1" latinLnBrk="0" hangingPunct="1">
                          <a:defRPr sz="1800" b="1" kern="1200">
                            <a:solidFill>
                              <a:schemeClr val="lt1"/>
                            </a:solidFill>
                            <a:latin typeface="Corbel" panose="020B0503020204020204"/>
                          </a:defRPr>
                        </a:lvl3pPr>
                        <a:lvl4pPr marL="1371566" algn="l" defTabSz="914377" rtl="0" eaLnBrk="1" latinLnBrk="0" hangingPunct="1">
                          <a:defRPr sz="1800" b="1" kern="1200">
                            <a:solidFill>
                              <a:schemeClr val="lt1"/>
                            </a:solidFill>
                            <a:latin typeface="Corbel" panose="020B0503020204020204"/>
                          </a:defRPr>
                        </a:lvl4pPr>
                        <a:lvl5pPr marL="1828754" algn="l" defTabSz="914377" rtl="0" eaLnBrk="1" latinLnBrk="0" hangingPunct="1">
                          <a:defRPr sz="1800" b="1" kern="1200">
                            <a:solidFill>
                              <a:schemeClr val="lt1"/>
                            </a:solidFill>
                            <a:latin typeface="Corbel" panose="020B0503020204020204"/>
                          </a:defRPr>
                        </a:lvl5pPr>
                        <a:lvl6pPr marL="2285943" algn="l" defTabSz="914377" rtl="0" eaLnBrk="1" latinLnBrk="0" hangingPunct="1">
                          <a:defRPr sz="1800" b="1" kern="1200">
                            <a:solidFill>
                              <a:schemeClr val="lt1"/>
                            </a:solidFill>
                            <a:latin typeface="Corbel" panose="020B0503020204020204"/>
                          </a:defRPr>
                        </a:lvl6pPr>
                        <a:lvl7pPr marL="2743131" algn="l" defTabSz="914377" rtl="0" eaLnBrk="1" latinLnBrk="0" hangingPunct="1">
                          <a:defRPr sz="1800" b="1" kern="1200">
                            <a:solidFill>
                              <a:schemeClr val="lt1"/>
                            </a:solidFill>
                            <a:latin typeface="Corbel" panose="020B0503020204020204"/>
                          </a:defRPr>
                        </a:lvl7pPr>
                        <a:lvl8pPr marL="3200320" algn="l" defTabSz="914377" rtl="0" eaLnBrk="1" latinLnBrk="0" hangingPunct="1">
                          <a:defRPr sz="1800" b="1" kern="1200">
                            <a:solidFill>
                              <a:schemeClr val="lt1"/>
                            </a:solidFill>
                            <a:latin typeface="Corbel" panose="020B0503020204020204"/>
                          </a:defRPr>
                        </a:lvl8pPr>
                        <a:lvl9pPr marL="3657509" algn="l" defTabSz="914377" rtl="0" eaLnBrk="1" latinLnBrk="0" hangingPunct="1">
                          <a:defRPr sz="1800" b="1" kern="1200">
                            <a:solidFill>
                              <a:schemeClr val="lt1"/>
                            </a:solidFill>
                            <a:latin typeface="Corbel" panose="020B0503020204020204"/>
                          </a:defRPr>
                        </a:lvl9pPr>
                      </a:lstStyle>
                      <a:p>
                        <a:pPr algn="ctr"/>
                        <a:r>
                          <a:rPr lang="en-GB" sz="1200" b="1" dirty="0">
                            <a:solidFill>
                              <a:sysClr val="windowText" lastClr="000000"/>
                            </a:solidFill>
                          </a:rPr>
                          <a:t>Major &amp; Critical Risk Assessments </a:t>
                        </a:r>
                        <a:r>
                          <a:rPr lang="en-GB" sz="1200" dirty="0">
                            <a:solidFill>
                              <a:sysClr val="windowText" lastClr="000000"/>
                            </a:solidFill>
                          </a:rPr>
                          <a:t>Closed</a:t>
                        </a:r>
                        <a:endParaRPr lang="en-GB" sz="1200" dirty="0">
                          <a:solidFill>
                            <a:sysClr val="windowText" lastClr="000000"/>
                          </a:solidFill>
                          <a:latin typeface="+mn-lt"/>
                        </a:endParaRPr>
                      </a:p>
                    </a:txBody>
                    <a:tcPr/>
                  </a:tc>
                  <a:tc hMerge="1">
                    <a:txBody>
                      <a:bodyPr/>
                      <a:lstStyle/>
                      <a:p>
                        <a:endParaRPr lang="en-GB"/>
                      </a:p>
                    </a:txBody>
                    <a:tcPr/>
                  </a:tc>
                  <a:tc hMerge="1">
                    <a:txBody>
                      <a:bodyPr/>
                      <a:lstStyle/>
                      <a:p>
                        <a:endParaRPr lang="en-GB"/>
                      </a:p>
                    </a:txBody>
                    <a:tcPr/>
                  </a:tc>
                  <a:tc hMerge="1">
                    <a:txBody>
                      <a:bodyPr/>
                      <a:lstStyle/>
                      <a:p>
                        <a:endParaRPr lang="en-GB" dirty="0"/>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34243998"/>
                    </a:ext>
                  </a:extLst>
                </a:tr>
                <a:tr h="168529">
                  <a:tc>
                    <a:txBody>
                      <a:bodyPr/>
                      <a:lstStyle>
                        <a:lvl1pPr marL="0" algn="l" defTabSz="914377" rtl="0" eaLnBrk="1" latinLnBrk="0" hangingPunct="1">
                          <a:defRPr sz="1800" kern="1200">
                            <a:solidFill>
                              <a:schemeClr val="dk1"/>
                            </a:solidFill>
                            <a:latin typeface="Corbel" panose="020B0503020204020204"/>
                          </a:defRPr>
                        </a:lvl1pPr>
                        <a:lvl2pPr marL="457189" algn="l" defTabSz="914377" rtl="0" eaLnBrk="1" latinLnBrk="0" hangingPunct="1">
                          <a:defRPr sz="1800" kern="1200">
                            <a:solidFill>
                              <a:schemeClr val="dk1"/>
                            </a:solidFill>
                            <a:latin typeface="Corbel" panose="020B0503020204020204"/>
                          </a:defRPr>
                        </a:lvl2pPr>
                        <a:lvl3pPr marL="914377" algn="l" defTabSz="914377" rtl="0" eaLnBrk="1" latinLnBrk="0" hangingPunct="1">
                          <a:defRPr sz="1800" kern="1200">
                            <a:solidFill>
                              <a:schemeClr val="dk1"/>
                            </a:solidFill>
                            <a:latin typeface="Corbel" panose="020B0503020204020204"/>
                          </a:defRPr>
                        </a:lvl3pPr>
                        <a:lvl4pPr marL="1371566" algn="l" defTabSz="914377" rtl="0" eaLnBrk="1" latinLnBrk="0" hangingPunct="1">
                          <a:defRPr sz="1800" kern="1200">
                            <a:solidFill>
                              <a:schemeClr val="dk1"/>
                            </a:solidFill>
                            <a:latin typeface="Corbel" panose="020B0503020204020204"/>
                          </a:defRPr>
                        </a:lvl4pPr>
                        <a:lvl5pPr marL="1828754" algn="l" defTabSz="914377" rtl="0" eaLnBrk="1" latinLnBrk="0" hangingPunct="1">
                          <a:defRPr sz="1800" kern="1200">
                            <a:solidFill>
                              <a:schemeClr val="dk1"/>
                            </a:solidFill>
                            <a:latin typeface="Corbel" panose="020B0503020204020204"/>
                          </a:defRPr>
                        </a:lvl5pPr>
                        <a:lvl6pPr marL="2285943" algn="l" defTabSz="914377" rtl="0" eaLnBrk="1" latinLnBrk="0" hangingPunct="1">
                          <a:defRPr sz="1800" kern="1200">
                            <a:solidFill>
                              <a:schemeClr val="dk1"/>
                            </a:solidFill>
                            <a:latin typeface="Corbel" panose="020B0503020204020204"/>
                          </a:defRPr>
                        </a:lvl6pPr>
                        <a:lvl7pPr marL="2743131" algn="l" defTabSz="914377" rtl="0" eaLnBrk="1" latinLnBrk="0" hangingPunct="1">
                          <a:defRPr sz="1800" kern="1200">
                            <a:solidFill>
                              <a:schemeClr val="dk1"/>
                            </a:solidFill>
                            <a:latin typeface="Corbel" panose="020B0503020204020204"/>
                          </a:defRPr>
                        </a:lvl7pPr>
                        <a:lvl8pPr marL="3200320" algn="l" defTabSz="914377" rtl="0" eaLnBrk="1" latinLnBrk="0" hangingPunct="1">
                          <a:defRPr sz="1800" kern="1200">
                            <a:solidFill>
                              <a:schemeClr val="dk1"/>
                            </a:solidFill>
                            <a:latin typeface="Corbel" panose="020B0503020204020204"/>
                          </a:defRPr>
                        </a:lvl8pPr>
                        <a:lvl9pPr marL="3657509" algn="l" defTabSz="914377" rtl="0" eaLnBrk="1" latinLnBrk="0" hangingPunct="1">
                          <a:defRPr sz="1800" kern="1200">
                            <a:solidFill>
                              <a:schemeClr val="dk1"/>
                            </a:solidFill>
                            <a:latin typeface="Corbel" panose="020B0503020204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b="1" dirty="0">
                            <a:solidFill>
                              <a:sysClr val="windowText" lastClr="000000"/>
                            </a:solidFill>
                          </a:rPr>
                          <a:t>Risk Assessment number</a:t>
                        </a:r>
                        <a:endParaRPr lang="en-GB" sz="1100" b="1" kern="1200" dirty="0">
                          <a:solidFill>
                            <a:sysClr val="windowText" lastClr="000000"/>
                          </a:solidFill>
                          <a:latin typeface="Corbel" panose="020B0503020204020204"/>
                          <a:ea typeface="+mn-ea"/>
                          <a:cs typeface="+mn-cs"/>
                        </a:endParaRPr>
                      </a:p>
                    </a:txBody>
                    <a:tcPr anchor="ctr"/>
                  </a:tc>
                  <a:tc>
                    <a:txBody>
                      <a:bodyPr/>
                      <a:lstStyle/>
                      <a:p>
                        <a:pPr algn="ctr"/>
                        <a:r>
                          <a:rPr lang="en-GB" sz="1100" b="1" dirty="0">
                            <a:solidFill>
                              <a:sysClr val="windowText" lastClr="000000"/>
                            </a:solidFill>
                          </a:rPr>
                          <a:t>Date raised</a:t>
                        </a:r>
                      </a:p>
                    </a:txBody>
                    <a:tcPr anchor="ctr"/>
                  </a:tc>
                  <a:tc>
                    <a:txBody>
                      <a:bodyPr/>
                      <a:lstStyle>
                        <a:lvl1pPr marL="0" algn="l" defTabSz="914377" rtl="0" eaLnBrk="1" latinLnBrk="0" hangingPunct="1">
                          <a:defRPr sz="1800" kern="1200">
                            <a:solidFill>
                              <a:schemeClr val="dk1"/>
                            </a:solidFill>
                            <a:latin typeface="Corbel" panose="020B0503020204020204"/>
                          </a:defRPr>
                        </a:lvl1pPr>
                        <a:lvl2pPr marL="457189" algn="l" defTabSz="914377" rtl="0" eaLnBrk="1" latinLnBrk="0" hangingPunct="1">
                          <a:defRPr sz="1800" kern="1200">
                            <a:solidFill>
                              <a:schemeClr val="dk1"/>
                            </a:solidFill>
                            <a:latin typeface="Corbel" panose="020B0503020204020204"/>
                          </a:defRPr>
                        </a:lvl2pPr>
                        <a:lvl3pPr marL="914377" algn="l" defTabSz="914377" rtl="0" eaLnBrk="1" latinLnBrk="0" hangingPunct="1">
                          <a:defRPr sz="1800" kern="1200">
                            <a:solidFill>
                              <a:schemeClr val="dk1"/>
                            </a:solidFill>
                            <a:latin typeface="Corbel" panose="020B0503020204020204"/>
                          </a:defRPr>
                        </a:lvl3pPr>
                        <a:lvl4pPr marL="1371566" algn="l" defTabSz="914377" rtl="0" eaLnBrk="1" latinLnBrk="0" hangingPunct="1">
                          <a:defRPr sz="1800" kern="1200">
                            <a:solidFill>
                              <a:schemeClr val="dk1"/>
                            </a:solidFill>
                            <a:latin typeface="Corbel" panose="020B0503020204020204"/>
                          </a:defRPr>
                        </a:lvl4pPr>
                        <a:lvl5pPr marL="1828754" algn="l" defTabSz="914377" rtl="0" eaLnBrk="1" latinLnBrk="0" hangingPunct="1">
                          <a:defRPr sz="1800" kern="1200">
                            <a:solidFill>
                              <a:schemeClr val="dk1"/>
                            </a:solidFill>
                            <a:latin typeface="Corbel" panose="020B0503020204020204"/>
                          </a:defRPr>
                        </a:lvl5pPr>
                        <a:lvl6pPr marL="2285943" algn="l" defTabSz="914377" rtl="0" eaLnBrk="1" latinLnBrk="0" hangingPunct="1">
                          <a:defRPr sz="1800" kern="1200">
                            <a:solidFill>
                              <a:schemeClr val="dk1"/>
                            </a:solidFill>
                            <a:latin typeface="Corbel" panose="020B0503020204020204"/>
                          </a:defRPr>
                        </a:lvl6pPr>
                        <a:lvl7pPr marL="2743131" algn="l" defTabSz="914377" rtl="0" eaLnBrk="1" latinLnBrk="0" hangingPunct="1">
                          <a:defRPr sz="1800" kern="1200">
                            <a:solidFill>
                              <a:schemeClr val="dk1"/>
                            </a:solidFill>
                            <a:latin typeface="Corbel" panose="020B0503020204020204"/>
                          </a:defRPr>
                        </a:lvl7pPr>
                        <a:lvl8pPr marL="3200320" algn="l" defTabSz="914377" rtl="0" eaLnBrk="1" latinLnBrk="0" hangingPunct="1">
                          <a:defRPr sz="1800" kern="1200">
                            <a:solidFill>
                              <a:schemeClr val="dk1"/>
                            </a:solidFill>
                            <a:latin typeface="Corbel" panose="020B0503020204020204"/>
                          </a:defRPr>
                        </a:lvl8pPr>
                        <a:lvl9pPr marL="3657509" algn="l" defTabSz="914377" rtl="0" eaLnBrk="1" latinLnBrk="0" hangingPunct="1">
                          <a:defRPr sz="1800" kern="1200">
                            <a:solidFill>
                              <a:schemeClr val="dk1"/>
                            </a:solidFill>
                            <a:latin typeface="Corbel" panose="020B0503020204020204"/>
                          </a:defRPr>
                        </a:lvl9pPr>
                      </a:lstStyle>
                      <a:p>
                        <a:pPr algn="ctr"/>
                        <a:r>
                          <a:rPr lang="en-GB" sz="1100" b="1" dirty="0">
                            <a:solidFill>
                              <a:sysClr val="windowText" lastClr="000000"/>
                            </a:solidFill>
                          </a:rPr>
                          <a:t>Risk Assessment description</a:t>
                        </a:r>
                      </a:p>
                    </a:txBody>
                    <a:tcPr anchor="ctr"/>
                  </a:tc>
                  <a:tc>
                    <a:txBody>
                      <a:bodyPr/>
                      <a:lstStyle>
                        <a:lvl1pPr marL="0" algn="l" defTabSz="914377" rtl="0" eaLnBrk="1" latinLnBrk="0" hangingPunct="1">
                          <a:defRPr sz="1800" kern="1200">
                            <a:solidFill>
                              <a:schemeClr val="dk1"/>
                            </a:solidFill>
                            <a:latin typeface="Corbel" panose="020B0503020204020204"/>
                          </a:defRPr>
                        </a:lvl1pPr>
                        <a:lvl2pPr marL="457189" algn="l" defTabSz="914377" rtl="0" eaLnBrk="1" latinLnBrk="0" hangingPunct="1">
                          <a:defRPr sz="1800" kern="1200">
                            <a:solidFill>
                              <a:schemeClr val="dk1"/>
                            </a:solidFill>
                            <a:latin typeface="Corbel" panose="020B0503020204020204"/>
                          </a:defRPr>
                        </a:lvl2pPr>
                        <a:lvl3pPr marL="914377" algn="l" defTabSz="914377" rtl="0" eaLnBrk="1" latinLnBrk="0" hangingPunct="1">
                          <a:defRPr sz="1800" kern="1200">
                            <a:solidFill>
                              <a:schemeClr val="dk1"/>
                            </a:solidFill>
                            <a:latin typeface="Corbel" panose="020B0503020204020204"/>
                          </a:defRPr>
                        </a:lvl3pPr>
                        <a:lvl4pPr marL="1371566" algn="l" defTabSz="914377" rtl="0" eaLnBrk="1" latinLnBrk="0" hangingPunct="1">
                          <a:defRPr sz="1800" kern="1200">
                            <a:solidFill>
                              <a:schemeClr val="dk1"/>
                            </a:solidFill>
                            <a:latin typeface="Corbel" panose="020B0503020204020204"/>
                          </a:defRPr>
                        </a:lvl4pPr>
                        <a:lvl5pPr marL="1828754" algn="l" defTabSz="914377" rtl="0" eaLnBrk="1" latinLnBrk="0" hangingPunct="1">
                          <a:defRPr sz="1800" kern="1200">
                            <a:solidFill>
                              <a:schemeClr val="dk1"/>
                            </a:solidFill>
                            <a:latin typeface="Corbel" panose="020B0503020204020204"/>
                          </a:defRPr>
                        </a:lvl5pPr>
                        <a:lvl6pPr marL="2285943" algn="l" defTabSz="914377" rtl="0" eaLnBrk="1" latinLnBrk="0" hangingPunct="1">
                          <a:defRPr sz="1800" kern="1200">
                            <a:solidFill>
                              <a:schemeClr val="dk1"/>
                            </a:solidFill>
                            <a:latin typeface="Corbel" panose="020B0503020204020204"/>
                          </a:defRPr>
                        </a:lvl6pPr>
                        <a:lvl7pPr marL="2743131" algn="l" defTabSz="914377" rtl="0" eaLnBrk="1" latinLnBrk="0" hangingPunct="1">
                          <a:defRPr sz="1800" kern="1200">
                            <a:solidFill>
                              <a:schemeClr val="dk1"/>
                            </a:solidFill>
                            <a:latin typeface="Corbel" panose="020B0503020204020204"/>
                          </a:defRPr>
                        </a:lvl7pPr>
                        <a:lvl8pPr marL="3200320" algn="l" defTabSz="914377" rtl="0" eaLnBrk="1" latinLnBrk="0" hangingPunct="1">
                          <a:defRPr sz="1800" kern="1200">
                            <a:solidFill>
                              <a:schemeClr val="dk1"/>
                            </a:solidFill>
                            <a:latin typeface="Corbel" panose="020B0503020204020204"/>
                          </a:defRPr>
                        </a:lvl8pPr>
                        <a:lvl9pPr marL="3657509" algn="l" defTabSz="914377" rtl="0" eaLnBrk="1" latinLnBrk="0" hangingPunct="1">
                          <a:defRPr sz="1800" kern="1200">
                            <a:solidFill>
                              <a:schemeClr val="dk1"/>
                            </a:solidFill>
                            <a:latin typeface="Corbel" panose="020B0503020204020204"/>
                          </a:defRPr>
                        </a:lvl9pPr>
                      </a:lstStyle>
                      <a:p>
                        <a:pPr algn="ctr"/>
                        <a:r>
                          <a:rPr lang="en-GB" sz="1100" b="1" dirty="0">
                            <a:solidFill>
                              <a:sysClr val="windowText" lastClr="000000"/>
                            </a:solidFill>
                          </a:rPr>
                          <a:t>Classification </a:t>
                        </a:r>
                      </a:p>
                    </a:txBody>
                    <a:tcPr anchor="ctr"/>
                  </a:tc>
                  <a:tc>
                    <a:txBody>
                      <a:bodyPr/>
                      <a:lstStyle/>
                      <a:p>
                        <a:pPr algn="ctr"/>
                        <a:r>
                          <a:rPr lang="en-GB" sz="1100" b="1" dirty="0">
                            <a:solidFill>
                              <a:sysClr val="windowText" lastClr="000000"/>
                            </a:solidFill>
                          </a:rPr>
                          <a:t>Target date</a:t>
                        </a:r>
                      </a:p>
                    </a:txBody>
                    <a:tcPr anchor="ctr"/>
                  </a:tc>
                  <a:tc>
                    <a:txBody>
                      <a:bodyPr/>
                      <a:lstStyle/>
                      <a:p>
                        <a:pPr algn="ctr"/>
                        <a:r>
                          <a:rPr lang="en-GB" sz="1100" b="1" dirty="0">
                            <a:solidFill>
                              <a:sysClr val="windowText" lastClr="000000"/>
                            </a:solidFill>
                          </a:rPr>
                          <a:t>Completion date</a:t>
                        </a:r>
                      </a:p>
                    </a:txBody>
                    <a:tcPr anchor="ctr"/>
                  </a:tc>
                  <a:extLst>
                    <a:ext uri="{0D108BD9-81ED-4DB2-BD59-A6C34878D82A}">
                      <a16:rowId xmlns:a16="http://schemas.microsoft.com/office/drawing/2014/main" val="701549060"/>
                    </a:ext>
                  </a:extLst>
                </a:tr>
                <a:tr h="123344">
                  <a:tc>
                    <a:txBody>
                      <a:bodyPr/>
                      <a:lstStyle/>
                      <a:p>
                        <a:pPr algn="ctr" fontAlgn="ctr">
                          <a:buNone/>
                        </a:pPr>
                        <a:r>
                          <a:rPr lang="en-GB" sz="1100" b="0" u="none" strike="noStrike" kern="1200" dirty="0">
                            <a:solidFill>
                              <a:srgbClr val="000000"/>
                            </a:solidFill>
                            <a:effectLst/>
                            <a:latin typeface="+mn-lt"/>
                            <a:ea typeface="+mn-ea"/>
                            <a:cs typeface="+mn-cs"/>
                          </a:rPr>
                          <a:t>Risk.2025.012</a:t>
                        </a:r>
                      </a:p>
                    </a:txBody>
                    <a:tcPr marL="9525" marR="9525" marT="9525" anchor="ctr"/>
                  </a:tc>
                  <a:tc>
                    <a:txBody>
                      <a:bodyPr/>
                      <a:lstStyle/>
                      <a:p>
                        <a:pPr algn="ctr" fontAlgn="ctr">
                          <a:buNone/>
                        </a:pPr>
                        <a:r>
                          <a:rPr lang="en-US" sz="1100" b="0" u="none" strike="noStrike" kern="1200" dirty="0">
                            <a:solidFill>
                              <a:srgbClr val="000000"/>
                            </a:solidFill>
                            <a:effectLst/>
                            <a:latin typeface="+mn-lt"/>
                            <a:ea typeface="+mn-ea"/>
                            <a:cs typeface="+mn-cs"/>
                          </a:rPr>
                          <a:t>04-Nov-25</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Introduction of new stability chamber and impact on current stability samples</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Critical</a:t>
                        </a:r>
                      </a:p>
                    </a:txBody>
                    <a:tcPr marL="0" marR="0" marT="0" marB="0" anchor="ctr">
                      <a:solidFill>
                        <a:srgbClr val="FF00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26-Mar-26</a:t>
                        </a:r>
                      </a:p>
                    </a:txBody>
                    <a:tcPr marL="9525" marR="9525" marT="9525" anchor="ctr"/>
                  </a:tc>
                  <a:tc>
                    <a:txBody>
                      <a:bodyPr/>
                      <a:lstStyle/>
                      <a:p>
                        <a:pPr algn="ctr" fontAlgn="ctr">
                          <a:buNone/>
                        </a:pPr>
                        <a:r>
                          <a:rPr lang="en-GB" sz="1100" b="0" i="0" u="none" strike="noStrike" dirty="0">
                            <a:solidFill>
                              <a:schemeClr val="bg1"/>
                            </a:solidFill>
                            <a:effectLst/>
                            <a:latin typeface="Calibri" panose="020F0502020204030204" pitchFamily="34" charset="0"/>
                          </a:rPr>
                          <a:t>19-Mar-26</a:t>
                        </a:r>
                      </a:p>
                    </a:txBody>
                    <a:tcPr marL="9525" marR="9525" marT="9525" anchor="ctr">
                      <a:solidFill>
                        <a:srgbClr val="00B050"/>
                      </a:solidFill>
                    </a:tcPr>
                  </a:tc>
                  <a:extLst>
                    <a:ext uri="{0D108BD9-81ED-4DB2-BD59-A6C34878D82A}">
                      <a16:rowId xmlns:a16="http://schemas.microsoft.com/office/drawing/2014/main" val="3856702784"/>
                    </a:ext>
                  </a:extLst>
                </a:tr>
                <a:tr h="216116">
                  <a:tc>
                    <a:txBody>
                      <a:bodyPr/>
                      <a:lstStyle/>
                      <a:p>
                        <a:pPr marL="0" algn="ctr" defTabSz="914400" rtl="0" eaLnBrk="1" fontAlgn="ctr" latinLnBrk="0" hangingPunct="1">
                          <a:buNone/>
                        </a:pPr>
                        <a:r>
                          <a:rPr lang="en-GB" sz="1100" b="0" u="none" strike="noStrike" kern="1200" dirty="0">
                            <a:solidFill>
                              <a:srgbClr val="000000"/>
                            </a:solidFill>
                            <a:effectLst/>
                            <a:latin typeface="+mn-lt"/>
                            <a:ea typeface="+mn-ea"/>
                            <a:cs typeface="+mn-cs"/>
                          </a:rPr>
                          <a:t>Risk.2026.004</a:t>
                        </a:r>
                      </a:p>
                    </a:txBody>
                    <a:tcPr marL="9525" marR="9525" marT="9525" anchor="ctr"/>
                  </a:tc>
                  <a:tc>
                    <a:txBody>
                      <a:bodyPr/>
                      <a:lstStyle/>
                      <a:p>
                        <a:pPr marL="0" algn="ctr" defTabSz="914400" rtl="0" eaLnBrk="1" fontAlgn="ctr" latinLnBrk="0" hangingPunct="1">
                          <a:buNone/>
                        </a:pPr>
                        <a:r>
                          <a:rPr lang="en-US" sz="1100" b="0" u="none" strike="noStrike" kern="1200" dirty="0">
                            <a:solidFill>
                              <a:srgbClr val="000000"/>
                            </a:solidFill>
                            <a:effectLst/>
                            <a:latin typeface="+mn-lt"/>
                            <a:ea typeface="+mn-ea"/>
                            <a:cs typeface="+mn-cs"/>
                          </a:rPr>
                          <a:t>27-Jan-26</a:t>
                        </a:r>
                      </a:p>
                    </a:txBody>
                    <a:tcPr marL="9525" marR="9525" marT="9525" anchor="ctr"/>
                  </a:tc>
                  <a:tc>
                    <a:txBody>
                      <a:bodyPr/>
                      <a:lstStyle/>
                      <a:p>
                        <a:pPr algn="ctr" fontAlgn="ctr">
                          <a:buNone/>
                        </a:pPr>
                        <a:r>
                          <a:rPr lang="en-GB" sz="1100" b="0" u="none" strike="noStrike" kern="1200" dirty="0">
                            <a:solidFill>
                              <a:srgbClr val="000000"/>
                            </a:solidFill>
                            <a:effectLst/>
                            <a:latin typeface="+mn-lt"/>
                            <a:ea typeface="+mn-ea"/>
                            <a:cs typeface="+mn-cs"/>
                          </a:rPr>
                          <a:t>Patient risk of Defective medication supply </a:t>
                        </a:r>
                        <a:endParaRPr lang="en-US" sz="1100" b="0" u="none" strike="noStrike" kern="1200" dirty="0">
                          <a:solidFill>
                            <a:srgbClr val="000000"/>
                          </a:solidFill>
                          <a:effectLst/>
                          <a:latin typeface="+mn-lt"/>
                          <a:ea typeface="+mn-ea"/>
                          <a:cs typeface="+mn-cs"/>
                        </a:endParaRP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Critical</a:t>
                        </a:r>
                      </a:p>
                    </a:txBody>
                    <a:tcPr marL="0" marR="0" marT="0" marB="0" anchor="ctr">
                      <a:solidFill>
                        <a:srgbClr val="FF0000"/>
                      </a:solidFill>
                    </a:tcPr>
                  </a:tc>
                  <a:tc>
                    <a:txBody>
                      <a:bodyPr/>
                      <a:lstStyle/>
                      <a:p>
                        <a:pPr algn="ctr" fontAlgn="ctr">
                          <a:buNone/>
                        </a:pPr>
                        <a:r>
                          <a:rPr lang="en-GB" sz="1100" b="0" u="none" strike="noStrike" kern="1200" dirty="0">
                            <a:solidFill>
                              <a:srgbClr val="000000"/>
                            </a:solidFill>
                            <a:effectLst/>
                            <a:latin typeface="+mn-lt"/>
                            <a:ea typeface="+mn-ea"/>
                            <a:cs typeface="+mn-cs"/>
                          </a:rPr>
                          <a:t>03-Feb-26</a:t>
                        </a:r>
                      </a:p>
                    </a:txBody>
                    <a:tcPr marL="9525" marR="9525" marT="9525" anchor="ctr"/>
                  </a:tc>
                  <a:tc>
                    <a:txBody>
                      <a:bodyPr/>
                      <a:lstStyle/>
                      <a:p>
                        <a:pPr algn="ctr" fontAlgn="ctr">
                          <a:buNone/>
                        </a:pPr>
                        <a:r>
                          <a:rPr lang="en-GB" sz="1100" b="0" u="none" strike="noStrike" kern="1200" dirty="0">
                            <a:solidFill>
                              <a:srgbClr val="000000"/>
                            </a:solidFill>
                            <a:effectLst/>
                            <a:latin typeface="+mn-lt"/>
                            <a:ea typeface="+mn-ea"/>
                            <a:cs typeface="+mn-cs"/>
                          </a:rPr>
                          <a:t>29-Jan-26</a:t>
                        </a:r>
                      </a:p>
                    </a:txBody>
                    <a:tcPr marL="9525" marR="9525" marT="9525" anchor="ctr">
                      <a:solidFill>
                        <a:srgbClr val="00B050"/>
                      </a:solidFill>
                    </a:tcPr>
                  </a:tc>
                  <a:extLst>
                    <a:ext uri="{0D108BD9-81ED-4DB2-BD59-A6C34878D82A}">
                      <a16:rowId xmlns:a16="http://schemas.microsoft.com/office/drawing/2014/main" val="2380056315"/>
                    </a:ext>
                  </a:extLst>
                </a:tr>
                <a:tr h="123344">
                  <a:tc>
                    <a:txBody>
                      <a:bodyPr/>
                      <a:lstStyle/>
                      <a:p>
                        <a:pPr marL="0" algn="ctr" defTabSz="914400" rtl="0" eaLnBrk="1" fontAlgn="ctr" latinLnBrk="0" hangingPunct="1">
                          <a:buNone/>
                        </a:pPr>
                        <a:r>
                          <a:rPr lang="en-GB" sz="1100" b="0" u="none" strike="noStrike" kern="1200" dirty="0">
                            <a:solidFill>
                              <a:srgbClr val="000000"/>
                            </a:solidFill>
                            <a:effectLst/>
                            <a:latin typeface="+mn-lt"/>
                            <a:ea typeface="+mn-ea"/>
                            <a:cs typeface="+mn-cs"/>
                          </a:rPr>
                          <a:t>Risk.2026.009</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u="none" strike="noStrike" kern="1200" dirty="0">
                            <a:solidFill>
                              <a:srgbClr val="000000"/>
                            </a:solidFill>
                            <a:effectLst/>
                            <a:latin typeface="+mn-lt"/>
                            <a:ea typeface="+mn-ea"/>
                            <a:cs typeface="+mn-cs"/>
                          </a:rPr>
                          <a:t>26-Feb-26</a:t>
                        </a:r>
                      </a:p>
                    </a:txBody>
                    <a:tcPr marL="9525" marR="9525" marT="9525" anchor="ctr"/>
                  </a:tc>
                  <a:tc>
                    <a:txBody>
                      <a:bodyPr/>
                      <a:lstStyle/>
                      <a:p>
                        <a:pPr algn="ctr" fontAlgn="ctr">
                          <a:buNone/>
                        </a:pPr>
                        <a:r>
                          <a:rPr lang="en-GB" sz="1100" b="0" i="0" u="none" strike="noStrike" dirty="0">
                            <a:solidFill>
                              <a:srgbClr val="000000"/>
                            </a:solidFill>
                            <a:effectLst/>
                            <a:latin typeface="Calibri" panose="020F0502020204030204" pitchFamily="34" charset="0"/>
                          </a:rPr>
                          <a:t>To extend Eaststone Expiry Date of Capsule Shell White</a:t>
                        </a:r>
                        <a:endParaRPr lang="en-US" sz="1100" b="0" i="0" u="none" strike="noStrike" dirty="0">
                          <a:solidFill>
                            <a:srgbClr val="000000"/>
                          </a:solidFill>
                          <a:effectLst/>
                          <a:latin typeface="Calibri" panose="020F0502020204030204" pitchFamily="34" charset="0"/>
                        </a:endParaRP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Major</a:t>
                        </a:r>
                      </a:p>
                    </a:txBody>
                    <a:tcPr marL="0" marR="0" marT="0" marB="0" anchor="ctr">
                      <a:solidFill>
                        <a:srgbClr val="FFFF66"/>
                      </a:solidFill>
                    </a:tcPr>
                  </a:tc>
                  <a:tc>
                    <a:txBody>
                      <a:bodyPr/>
                      <a:lstStyle/>
                      <a:p>
                        <a:pPr algn="ctr" fontAlgn="ctr">
                          <a:buNone/>
                        </a:pPr>
                        <a:r>
                          <a:rPr lang="en-GB" sz="1100" b="0" u="none" strike="noStrike" kern="1200" dirty="0">
                            <a:solidFill>
                              <a:srgbClr val="000000"/>
                            </a:solidFill>
                            <a:effectLst/>
                            <a:latin typeface="+mn-lt"/>
                            <a:ea typeface="+mn-ea"/>
                            <a:cs typeface="+mn-cs"/>
                          </a:rPr>
                          <a:t>20-Mar-26</a:t>
                        </a:r>
                      </a:p>
                    </a:txBody>
                    <a:tcPr marL="9525" marR="9525" marT="9525" anchor="ctr"/>
                  </a:tc>
                  <a:tc>
                    <a:txBody>
                      <a:bodyPr/>
                      <a:lstStyle/>
                      <a:p>
                        <a:pPr algn="ctr" fontAlgn="ctr">
                          <a:buNone/>
                        </a:pPr>
                        <a:r>
                          <a:rPr lang="en-GB" sz="1100" b="0" u="none" strike="noStrike" kern="1200" dirty="0">
                            <a:solidFill>
                              <a:srgbClr val="000000"/>
                            </a:solidFill>
                            <a:effectLst/>
                            <a:latin typeface="+mn-lt"/>
                            <a:ea typeface="+mn-ea"/>
                            <a:cs typeface="+mn-cs"/>
                          </a:rPr>
                          <a:t>18-Mar-26</a:t>
                        </a:r>
                      </a:p>
                    </a:txBody>
                    <a:tcPr marL="9525" marR="9525" marT="9525" anchor="ctr">
                      <a:solidFill>
                        <a:srgbClr val="00B050"/>
                      </a:solidFill>
                    </a:tcPr>
                  </a:tc>
                  <a:extLst>
                    <a:ext uri="{0D108BD9-81ED-4DB2-BD59-A6C34878D82A}">
                      <a16:rowId xmlns:a16="http://schemas.microsoft.com/office/drawing/2014/main" val="3421361796"/>
                    </a:ext>
                  </a:extLst>
                </a:tr>
              </a:tbl>
            </a:graphicData>
          </a:graphic>
        </p:graphicFrame>
        <p:graphicFrame>
          <p:nvGraphicFramePr>
            <p:cNvPr id="18" name="Table 17">
              <a:extLst>
                <a:ext uri="{FF2B5EF4-FFF2-40B4-BE49-F238E27FC236}">
                  <a16:creationId xmlns:a16="http://schemas.microsoft.com/office/drawing/2014/main" id="{F3A61441-BC63-8323-CF9F-7EFE713CBC2A}"/>
                </a:ext>
              </a:extLst>
            </p:cNvPr>
            <p:cNvGraphicFramePr>
              <a:graphicFrameLocks/>
            </p:cNvGraphicFramePr>
            <p:nvPr>
              <p:extLst>
                <p:ext uri="{D42A27DB-BD31-4B8C-83A1-F6EECF244321}">
                  <p14:modId xmlns:p14="http://schemas.microsoft.com/office/powerpoint/2010/main" val="3057717925"/>
                </p:ext>
              </p:extLst>
            </p:nvPr>
          </p:nvGraphicFramePr>
          <p:xfrm>
            <a:off x="797886" y="1529658"/>
            <a:ext cx="12278235" cy="2061648"/>
          </p:xfrm>
          <a:graphic>
            <a:graphicData uri="http://schemas.openxmlformats.org/drawingml/2006/table">
              <a:tbl>
                <a:tblPr firstRow="1" bandRow="1">
                  <a:tableStyleId>{5C22544A-7EE6-4342-B048-85BDC9FD1C3A}</a:tableStyleId>
                </a:tblPr>
                <a:tblGrid>
                  <a:gridCol w="1409253">
                    <a:extLst>
                      <a:ext uri="{9D8B030D-6E8A-4147-A177-3AD203B41FA5}">
                        <a16:colId xmlns:a16="http://schemas.microsoft.com/office/drawing/2014/main" val="340894773"/>
                      </a:ext>
                    </a:extLst>
                  </a:gridCol>
                  <a:gridCol w="1392437">
                    <a:extLst>
                      <a:ext uri="{9D8B030D-6E8A-4147-A177-3AD203B41FA5}">
                        <a16:colId xmlns:a16="http://schemas.microsoft.com/office/drawing/2014/main" val="1544888063"/>
                      </a:ext>
                    </a:extLst>
                  </a:gridCol>
                  <a:gridCol w="3371238">
                    <a:extLst>
                      <a:ext uri="{9D8B030D-6E8A-4147-A177-3AD203B41FA5}">
                        <a16:colId xmlns:a16="http://schemas.microsoft.com/office/drawing/2014/main" val="578213674"/>
                      </a:ext>
                    </a:extLst>
                  </a:gridCol>
                  <a:gridCol w="2155216">
                    <a:extLst>
                      <a:ext uri="{9D8B030D-6E8A-4147-A177-3AD203B41FA5}">
                        <a16:colId xmlns:a16="http://schemas.microsoft.com/office/drawing/2014/main" val="2330183767"/>
                      </a:ext>
                    </a:extLst>
                  </a:gridCol>
                  <a:gridCol w="1035984">
                    <a:extLst>
                      <a:ext uri="{9D8B030D-6E8A-4147-A177-3AD203B41FA5}">
                        <a16:colId xmlns:a16="http://schemas.microsoft.com/office/drawing/2014/main" val="2869575329"/>
                      </a:ext>
                    </a:extLst>
                  </a:gridCol>
                  <a:gridCol w="1737513">
                    <a:extLst>
                      <a:ext uri="{9D8B030D-6E8A-4147-A177-3AD203B41FA5}">
                        <a16:colId xmlns:a16="http://schemas.microsoft.com/office/drawing/2014/main" val="1571917461"/>
                      </a:ext>
                    </a:extLst>
                  </a:gridCol>
                </a:tblGrid>
                <a:tr h="139762">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dirty="0">
                            <a:solidFill>
                              <a:sysClr val="windowText" lastClr="000000"/>
                            </a:solidFill>
                          </a:rPr>
                          <a:t>Major &amp; Critical Risk Assessments Open</a:t>
                        </a:r>
                        <a:endParaRPr lang="en-GB" sz="1200" b="1" dirty="0">
                          <a:solidFill>
                            <a:sysClr val="windowText" lastClr="000000"/>
                          </a:solidFill>
                          <a:latin typeface="+mn-lt"/>
                        </a:endParaRPr>
                      </a:p>
                    </a:txBody>
                    <a:tcPr marL="74309" marR="74309" marT="37155" marB="37155" anchor="ctr"/>
                  </a:tc>
                  <a:tc hMerge="1">
                    <a:txBody>
                      <a:bodyPr/>
                      <a:lstStyle/>
                      <a:p>
                        <a:endParaRPr lang="en-GB"/>
                      </a:p>
                    </a:txBody>
                    <a:tcPr/>
                  </a:tc>
                  <a:tc hMerge="1">
                    <a:txBody>
                      <a:bodyPr/>
                      <a:lstStyle/>
                      <a:p>
                        <a:pPr algn="ctr"/>
                        <a:endParaRPr lang="en-GB" sz="2000" b="1" dirty="0">
                          <a:solidFill>
                            <a:schemeClr val="tx1"/>
                          </a:solidFill>
                          <a:latin typeface="+mn-lt"/>
                        </a:endParaRPr>
                      </a:p>
                    </a:txBody>
                    <a:tcPr marL="74309" marR="74309" marT="37155" marB="37155" anchor="ctr">
                      <a:solidFill>
                        <a:schemeClr val="bg1"/>
                      </a:solidFill>
                    </a:tcPr>
                  </a:tc>
                  <a:tc hMerge="1">
                    <a:txBody>
                      <a:bodyPr/>
                      <a:lstStyle/>
                      <a:p>
                        <a:pPr algn="ctr"/>
                        <a:endParaRPr lang="en-GB" sz="2000" b="1" dirty="0">
                          <a:solidFill>
                            <a:schemeClr val="tx1"/>
                          </a:solidFill>
                          <a:latin typeface="+mn-lt"/>
                        </a:endParaRPr>
                      </a:p>
                    </a:txBody>
                    <a:tcPr marL="74309" marR="74309" marT="37155" marB="37155" anchor="ctr">
                      <a:solidFill>
                        <a:schemeClr val="bg1"/>
                      </a:solidFill>
                    </a:tcPr>
                  </a:tc>
                  <a:tc hMerge="1">
                    <a:txBody>
                      <a:bodyPr/>
                      <a:lstStyle/>
                      <a:p>
                        <a:pPr algn="ctr"/>
                        <a:endParaRPr lang="en-GB" sz="2000" b="1" dirty="0">
                          <a:solidFill>
                            <a:schemeClr val="tx1"/>
                          </a:solidFill>
                        </a:endParaRPr>
                      </a:p>
                    </a:txBody>
                    <a:tcPr marL="74309" marR="74309" marT="37155" marB="37155" anchor="ctr">
                      <a:solidFill>
                        <a:schemeClr val="bg1"/>
                      </a:solidFill>
                    </a:tcPr>
                  </a:tc>
                  <a:tc hMerge="1">
                    <a:txBody>
                      <a:bodyPr/>
                      <a:lstStyle/>
                      <a:p>
                        <a:pPr algn="ctr"/>
                        <a:endParaRPr lang="en-GB" sz="2000" b="1" dirty="0">
                          <a:solidFill>
                            <a:schemeClr val="tx1"/>
                          </a:solidFill>
                        </a:endParaRPr>
                      </a:p>
                    </a:txBody>
                    <a:tcPr marL="74309" marR="74309" marT="37155" marB="37155" anchor="ctr">
                      <a:solidFill>
                        <a:schemeClr val="bg1"/>
                      </a:solidFill>
                    </a:tcPr>
                  </a:tc>
                  <a:extLst>
                    <a:ext uri="{0D108BD9-81ED-4DB2-BD59-A6C34878D82A}">
                      <a16:rowId xmlns:a16="http://schemas.microsoft.com/office/drawing/2014/main" val="1452266958"/>
                    </a:ext>
                  </a:extLst>
                </a:tr>
                <a:tr h="15149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b="1" dirty="0">
                            <a:solidFill>
                              <a:sysClr val="windowText" lastClr="000000"/>
                            </a:solidFill>
                          </a:rPr>
                          <a:t>Risk Assessment number</a:t>
                        </a:r>
                        <a:endParaRPr lang="en-GB" sz="1100" b="1" dirty="0">
                          <a:solidFill>
                            <a:sysClr val="windowText" lastClr="000000"/>
                          </a:solidFill>
                          <a:latin typeface="+mn-lt"/>
                        </a:endParaRPr>
                      </a:p>
                    </a:txBody>
                    <a:tcPr marL="74309" marR="74309" marT="37155" marB="37155" anchor="ctr"/>
                  </a:tc>
                  <a:tc>
                    <a:txBody>
                      <a:bodyPr/>
                      <a:lstStyle/>
                      <a:p>
                        <a:pPr algn="ctr"/>
                        <a:r>
                          <a:rPr lang="en-GB" sz="1100" b="1" dirty="0">
                            <a:solidFill>
                              <a:sysClr val="windowText" lastClr="000000"/>
                            </a:solidFill>
                            <a:latin typeface="+mn-lt"/>
                          </a:rPr>
                          <a:t>Date raised</a:t>
                        </a:r>
                      </a:p>
                    </a:txBody>
                    <a:tcPr marL="74309" marR="74309" marT="37155" marB="37155" anchor="ctr"/>
                  </a:tc>
                  <a:tc>
                    <a:txBody>
                      <a:bodyPr/>
                      <a:lstStyle/>
                      <a:p>
                        <a:pPr algn="ctr"/>
                        <a:r>
                          <a:rPr lang="en-GB" sz="1100" b="1" dirty="0">
                            <a:solidFill>
                              <a:sysClr val="windowText" lastClr="000000"/>
                            </a:solidFill>
                          </a:rPr>
                          <a:t>Risk Assessment description</a:t>
                        </a:r>
                        <a:endParaRPr lang="en-GB" sz="1100" b="1" dirty="0">
                          <a:solidFill>
                            <a:sysClr val="windowText" lastClr="000000"/>
                          </a:solidFill>
                          <a:latin typeface="+mn-lt"/>
                        </a:endParaRPr>
                      </a:p>
                    </a:txBody>
                    <a:tcPr marL="74309" marR="74309" marT="37155" marB="37155" anchor="ctr"/>
                  </a:tc>
                  <a:tc>
                    <a:txBody>
                      <a:bodyPr/>
                      <a:lstStyle/>
                      <a:p>
                        <a:pPr algn="ctr"/>
                        <a:r>
                          <a:rPr lang="en-GB" sz="1100" b="1" dirty="0">
                            <a:solidFill>
                              <a:sysClr val="windowText" lastClr="000000"/>
                            </a:solidFill>
                          </a:rPr>
                          <a:t>Classification</a:t>
                        </a:r>
                        <a:endParaRPr lang="en-GB" sz="1100" b="1" dirty="0">
                          <a:solidFill>
                            <a:sysClr val="windowText" lastClr="000000"/>
                          </a:solidFill>
                          <a:latin typeface="+mn-lt"/>
                        </a:endParaRPr>
                      </a:p>
                    </a:txBody>
                    <a:tcPr marL="74309" marR="74309" marT="37155" marB="37155" anchor="ctr"/>
                  </a:tc>
                  <a:tc>
                    <a:txBody>
                      <a:bodyPr/>
                      <a:lstStyle/>
                      <a:p>
                        <a:pPr algn="ctr"/>
                        <a:r>
                          <a:rPr lang="en-GB" sz="1100" b="1" dirty="0">
                            <a:solidFill>
                              <a:sysClr val="windowText" lastClr="000000"/>
                            </a:solidFill>
                          </a:rPr>
                          <a:t>Target date</a:t>
                        </a:r>
                      </a:p>
                    </a:txBody>
                    <a:tcPr marL="74309" marR="74309" marT="37155" marB="37155" anchor="ctr"/>
                  </a:tc>
                  <a:tc>
                    <a:txBody>
                      <a:bodyPr/>
                      <a:lstStyle/>
                      <a:p>
                        <a:pPr algn="ctr"/>
                        <a:r>
                          <a:rPr lang="en-GB" sz="1100" b="1" dirty="0">
                            <a:solidFill>
                              <a:sysClr val="windowText" lastClr="000000"/>
                            </a:solidFill>
                          </a:rPr>
                          <a:t>Reason still open</a:t>
                        </a:r>
                      </a:p>
                    </a:txBody>
                    <a:tcPr marL="74309" marR="74309" marT="37155" marB="37155" anchor="ctr"/>
                  </a:tc>
                  <a:extLst>
                    <a:ext uri="{0D108BD9-81ED-4DB2-BD59-A6C34878D82A}">
                      <a16:rowId xmlns:a16="http://schemas.microsoft.com/office/drawing/2014/main" val="3379889016"/>
                    </a:ext>
                  </a:extLst>
                </a:tr>
                <a:tr h="121120">
                  <a:tc>
                    <a:txBody>
                      <a:bodyPr/>
                      <a:lstStyle/>
                      <a:p>
                        <a:pPr algn="ctr" fontAlgn="ctr">
                          <a:buNone/>
                        </a:pPr>
                        <a:r>
                          <a:rPr lang="en-GB" sz="1100" b="0" i="0" u="none" strike="noStrike" dirty="0">
                            <a:solidFill>
                              <a:srgbClr val="000000"/>
                            </a:solidFill>
                            <a:effectLst/>
                            <a:latin typeface="Calibri" panose="020F0502020204030204" pitchFamily="34" charset="0"/>
                          </a:rPr>
                          <a:t>Risk.2026.001</a:t>
                        </a:r>
                      </a:p>
                    </a:txBody>
                    <a:tcPr marL="9525" marR="9525" marT="9525" anchor="ctr"/>
                  </a:tc>
                  <a:tc>
                    <a:txBody>
                      <a:bodyPr/>
                      <a:lstStyle/>
                      <a:p>
                        <a:pPr algn="ctr" fontAlgn="ctr">
                          <a:buNone/>
                        </a:pPr>
                        <a:r>
                          <a:rPr lang="en-US" sz="1100" b="0" i="0" u="none" strike="noStrike" dirty="0">
                            <a:solidFill>
                              <a:srgbClr val="000000"/>
                            </a:solidFill>
                            <a:effectLst/>
                            <a:latin typeface="+mn-lt"/>
                          </a:rPr>
                          <a:t>13-Jan-26</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Introduction of Ribbon Blender</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Major</a:t>
                        </a: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30-Nov-26</a:t>
                        </a:r>
                      </a:p>
                    </a:txBody>
                    <a:tcPr marL="9525" marR="9525" marT="9525" anchor="ctr"/>
                  </a:tc>
                  <a:tc>
                    <a:txBody>
                      <a:bodyPr/>
                      <a:lstStyle/>
                      <a:p>
                        <a:pPr algn="ctr" fontAlgn="ctr">
                          <a:buNone/>
                        </a:pPr>
                        <a:r>
                          <a:rPr lang="en-GB" sz="1100" b="0" i="0" u="none" strike="noStrike" dirty="0">
                            <a:solidFill>
                              <a:schemeClr val="bg1"/>
                            </a:solidFill>
                            <a:effectLst/>
                            <a:latin typeface="Calibri" panose="020F0502020204030204" pitchFamily="34" charset="0"/>
                          </a:rPr>
                          <a:t>Actions Outstanding</a:t>
                        </a:r>
                      </a:p>
                    </a:txBody>
                    <a:tcPr marL="9525" marR="9525" marT="9525" anchor="ctr"/>
                  </a:tc>
                  <a:extLst>
                    <a:ext uri="{0D108BD9-81ED-4DB2-BD59-A6C34878D82A}">
                      <a16:rowId xmlns:a16="http://schemas.microsoft.com/office/drawing/2014/main" val="1606515999"/>
                    </a:ext>
                  </a:extLst>
                </a:tr>
                <a:tr h="121120">
                  <a:tc>
                    <a:txBody>
                      <a:bodyPr/>
                      <a:lstStyle/>
                      <a:p>
                        <a:pPr algn="ctr" fontAlgn="ctr">
                          <a:buNone/>
                        </a:pPr>
                        <a:r>
                          <a:rPr lang="en-GB" sz="1100" b="0" i="0" u="none" strike="noStrike" dirty="0">
                            <a:solidFill>
                              <a:srgbClr val="000000"/>
                            </a:solidFill>
                            <a:effectLst/>
                            <a:latin typeface="Calibri" panose="020F0502020204030204" pitchFamily="34" charset="0"/>
                          </a:rPr>
                          <a:t>Risk.2026.002</a:t>
                        </a:r>
                      </a:p>
                    </a:txBody>
                    <a:tcPr marL="9525" marR="9525" marT="9525" anchor="ctr"/>
                  </a:tc>
                  <a:tc>
                    <a:txBody>
                      <a:bodyPr/>
                      <a:lstStyle/>
                      <a:p>
                        <a:pPr algn="ctr" fontAlgn="ctr">
                          <a:buNone/>
                        </a:pPr>
                        <a:r>
                          <a:rPr lang="en-US" sz="1100" b="0" i="0" u="none" strike="noStrike" dirty="0">
                            <a:solidFill>
                              <a:srgbClr val="000000"/>
                            </a:solidFill>
                            <a:effectLst/>
                            <a:latin typeface="+mn-lt"/>
                          </a:rPr>
                          <a:t>13-Jan-26</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Introduction of Oscillating Granulator</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Major</a:t>
                        </a: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30-Nov-26</a:t>
                        </a:r>
                      </a:p>
                    </a:txBody>
                    <a:tcPr marL="9525" marR="9525" marT="9525" anchor="ctr"/>
                  </a:tc>
                  <a:tc>
                    <a:txBody>
                      <a:bodyPr/>
                      <a:lstStyle/>
                      <a:p>
                        <a:pPr algn="ctr" fontAlgn="ctr">
                          <a:buNone/>
                        </a:pPr>
                        <a:r>
                          <a:rPr lang="en-GB" sz="1100" b="0" i="0" u="none" strike="noStrike" dirty="0">
                            <a:solidFill>
                              <a:schemeClr val="bg1"/>
                            </a:solidFill>
                            <a:effectLst/>
                            <a:latin typeface="Calibri" panose="020F0502020204030204" pitchFamily="34" charset="0"/>
                          </a:rPr>
                          <a:t>Actions Outstanding</a:t>
                        </a:r>
                      </a:p>
                    </a:txBody>
                    <a:tcPr marL="9525" marR="9525" marT="9525" anchor="ctr"/>
                  </a:tc>
                  <a:extLst>
                    <a:ext uri="{0D108BD9-81ED-4DB2-BD59-A6C34878D82A}">
                      <a16:rowId xmlns:a16="http://schemas.microsoft.com/office/drawing/2014/main" val="1112242460"/>
                    </a:ext>
                  </a:extLst>
                </a:tr>
                <a:tr h="121120">
                  <a:tc>
                    <a:txBody>
                      <a:bodyPr/>
                      <a:lstStyle/>
                      <a:p>
                        <a:pPr algn="ctr" fontAlgn="ctr">
                          <a:buNone/>
                        </a:pPr>
                        <a:r>
                          <a:rPr lang="en-GB" sz="1100" b="0" i="0" u="none" strike="noStrike" dirty="0">
                            <a:solidFill>
                              <a:srgbClr val="000000"/>
                            </a:solidFill>
                            <a:effectLst/>
                            <a:latin typeface="Calibri" panose="020F0502020204030204" pitchFamily="34" charset="0"/>
                          </a:rPr>
                          <a:t>Risk.2026.005</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30-Jan-26</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Introduction of Metal detector</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Major</a:t>
                        </a: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31-jul-26</a:t>
                        </a:r>
                      </a:p>
                    </a:txBody>
                    <a:tcPr marL="9525" marR="9525" marT="9525" anchor="ctr"/>
                  </a:tc>
                  <a:tc>
                    <a:txBody>
                      <a:bodyPr/>
                      <a:lstStyle/>
                      <a:p>
                        <a:pPr algn="ctr" fontAlgn="ctr">
                          <a:buNone/>
                        </a:pPr>
                        <a:r>
                          <a:rPr lang="en-GB" sz="1100" b="0" i="0" u="none" strike="noStrike" dirty="0">
                            <a:solidFill>
                              <a:schemeClr val="bg1"/>
                            </a:solidFill>
                            <a:effectLst/>
                            <a:latin typeface="Calibri" panose="020F0502020204030204" pitchFamily="34" charset="0"/>
                          </a:rPr>
                          <a:t>Actions Outstanding</a:t>
                        </a:r>
                      </a:p>
                    </a:txBody>
                    <a:tcPr marL="9525" marR="9525" marT="9525" anchor="ctr"/>
                  </a:tc>
                  <a:extLst>
                    <a:ext uri="{0D108BD9-81ED-4DB2-BD59-A6C34878D82A}">
                      <a16:rowId xmlns:a16="http://schemas.microsoft.com/office/drawing/2014/main" val="2936806730"/>
                    </a:ext>
                  </a:extLst>
                </a:tr>
                <a:tr h="121120">
                  <a:tc>
                    <a:txBody>
                      <a:bodyPr/>
                      <a:lstStyle/>
                      <a:p>
                        <a:pPr algn="ctr" fontAlgn="ctr">
                          <a:buNone/>
                        </a:pPr>
                        <a:r>
                          <a:rPr lang="en-GB" sz="1100" b="0" i="0" u="none" strike="noStrike" dirty="0">
                            <a:solidFill>
                              <a:srgbClr val="000000"/>
                            </a:solidFill>
                            <a:effectLst/>
                            <a:latin typeface="Calibri" panose="020F0502020204030204" pitchFamily="34" charset="0"/>
                          </a:rPr>
                          <a:t>Risk.2026.006</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06-Feb-26</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Material Toxicity Assessment Matrix update</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Critical</a:t>
                        </a:r>
                      </a:p>
                    </a:txBody>
                    <a:tcPr marL="0" marR="0" marT="0" marB="0" anchor="ctr">
                      <a:solidFill>
                        <a:srgbClr val="FF00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30-Apr-26</a:t>
                        </a:r>
                      </a:p>
                    </a:txBody>
                    <a:tcPr marL="9525" marR="9525" marT="9525" anchor="ctr"/>
                  </a:tc>
                  <a:tc>
                    <a:txBody>
                      <a:bodyPr/>
                      <a:lstStyle/>
                      <a:p>
                        <a:pPr algn="ctr" fontAlgn="ctr">
                          <a:buNone/>
                        </a:pPr>
                        <a:r>
                          <a:rPr lang="en-GB" sz="1100" b="0" i="0" u="none" strike="noStrike" dirty="0">
                            <a:solidFill>
                              <a:schemeClr val="bg1"/>
                            </a:solidFill>
                            <a:effectLst/>
                            <a:latin typeface="Calibri" panose="020F0502020204030204" pitchFamily="34" charset="0"/>
                          </a:rPr>
                          <a:t>Actions Outstanding</a:t>
                        </a:r>
                      </a:p>
                    </a:txBody>
                    <a:tcPr marL="9525" marR="9525" marT="9525" anchor="ctr"/>
                  </a:tc>
                  <a:extLst>
                    <a:ext uri="{0D108BD9-81ED-4DB2-BD59-A6C34878D82A}">
                      <a16:rowId xmlns:a16="http://schemas.microsoft.com/office/drawing/2014/main" val="2873711862"/>
                    </a:ext>
                  </a:extLst>
                </a:tr>
                <a:tr h="121120">
                  <a:tc>
                    <a:txBody>
                      <a:bodyPr/>
                      <a:lstStyle/>
                      <a:p>
                        <a:pPr algn="ctr" fontAlgn="ctr">
                          <a:buNone/>
                        </a:pPr>
                        <a:r>
                          <a:rPr lang="en-GB" sz="1100" b="0" i="0" u="none" strike="noStrike" dirty="0">
                            <a:solidFill>
                              <a:srgbClr val="000000"/>
                            </a:solidFill>
                            <a:effectLst/>
                            <a:latin typeface="Calibri" panose="020F0502020204030204" pitchFamily="34" charset="0"/>
                          </a:rPr>
                          <a:t>Risk.2026.008</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23-Feb-26</a:t>
                        </a:r>
                      </a:p>
                    </a:txBody>
                    <a:tcPr marL="9525" marR="9525" marT="9525" anchor="ctr"/>
                  </a:tc>
                  <a:tc>
                    <a:txBody>
                      <a:bodyPr/>
                      <a:lstStyle/>
                      <a:p>
                        <a:pPr algn="ctr" fontAlgn="ctr">
                          <a:buNone/>
                        </a:pPr>
                        <a:r>
                          <a:rPr lang="en-US" sz="1100" b="0" i="0" u="none" strike="noStrike" dirty="0">
                            <a:solidFill>
                              <a:srgbClr val="000000"/>
                            </a:solidFill>
                            <a:effectLst/>
                            <a:latin typeface="Calibri" panose="020F0502020204030204" pitchFamily="34" charset="0"/>
                          </a:rPr>
                          <a:t>Introduction of new Laboratory (ALS)</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Major</a:t>
                        </a: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31-May-26</a:t>
                        </a:r>
                      </a:p>
                    </a:txBody>
                    <a:tcPr marL="9525" marR="9525" marT="9525" anchor="ctr"/>
                  </a:tc>
                  <a:tc>
                    <a:txBody>
                      <a:bodyPr/>
                      <a:lstStyle/>
                      <a:p>
                        <a:pPr algn="ctr" fontAlgn="ctr">
                          <a:buNone/>
                        </a:pPr>
                        <a:r>
                          <a:rPr lang="en-GB" sz="1100" b="0" i="0" u="none" strike="noStrike" dirty="0">
                            <a:solidFill>
                              <a:schemeClr val="bg1"/>
                            </a:solidFill>
                            <a:effectLst/>
                            <a:latin typeface="Calibri" panose="020F0502020204030204" pitchFamily="34" charset="0"/>
                          </a:rPr>
                          <a:t>Actions Outstanding</a:t>
                        </a:r>
                      </a:p>
                    </a:txBody>
                    <a:tcPr marL="9525" marR="9525" marT="9525" anchor="ctr"/>
                  </a:tc>
                  <a:extLst>
                    <a:ext uri="{0D108BD9-81ED-4DB2-BD59-A6C34878D82A}">
                      <a16:rowId xmlns:a16="http://schemas.microsoft.com/office/drawing/2014/main" val="1493248135"/>
                    </a:ext>
                  </a:extLst>
                </a:tr>
                <a:tr h="121120">
                  <a:tc>
                    <a:txBody>
                      <a:bodyPr/>
                      <a:lstStyle/>
                      <a:p>
                        <a:pPr algn="ctr" fontAlgn="ctr">
                          <a:buNone/>
                        </a:pPr>
                        <a:r>
                          <a:rPr lang="en-GB" sz="1100" b="0" i="0" u="none" strike="noStrike" dirty="0">
                            <a:solidFill>
                              <a:srgbClr val="000000"/>
                            </a:solidFill>
                            <a:effectLst/>
                            <a:latin typeface="Calibri" panose="020F0502020204030204" pitchFamily="34" charset="0"/>
                          </a:rPr>
                          <a:t>Risk.2026.010</a:t>
                        </a: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12-Mar-26</a:t>
                        </a:r>
                      </a:p>
                    </a:txBody>
                    <a:tcPr marL="9525" marR="9525" marT="9525" anchor="ctr"/>
                  </a:tc>
                  <a:tc>
                    <a:txBody>
                      <a:bodyPr/>
                      <a:lstStyle/>
                      <a:p>
                        <a:pPr algn="ctr" fontAlgn="ctr">
                          <a:buNone/>
                        </a:pPr>
                        <a:r>
                          <a:rPr lang="en-GB" sz="1100" b="0" i="0" u="none" strike="noStrike" dirty="0">
                            <a:solidFill>
                              <a:srgbClr val="000000"/>
                            </a:solidFill>
                            <a:effectLst/>
                            <a:latin typeface="Calibri" panose="020F0502020204030204" pitchFamily="34" charset="0"/>
                          </a:rPr>
                          <a:t>To perform validation of in-use unvalidated spreadsheets</a:t>
                        </a:r>
                        <a:endParaRPr lang="en-US" sz="1100" b="0" i="0" u="none" strike="noStrike" dirty="0">
                          <a:solidFill>
                            <a:srgbClr val="000000"/>
                          </a:solidFill>
                          <a:effectLst/>
                          <a:latin typeface="Calibri" panose="020F0502020204030204" pitchFamily="34" charset="0"/>
                        </a:endParaRPr>
                      </a:p>
                    </a:txBody>
                    <a:tcPr marL="9525" marR="9525" marT="9525"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kern="1200" dirty="0">
                            <a:solidFill>
                              <a:srgbClr val="000000"/>
                            </a:solidFill>
                            <a:effectLst/>
                            <a:latin typeface="+mn-lt"/>
                            <a:ea typeface="+mn-ea"/>
                            <a:cs typeface="+mn-cs"/>
                          </a:rPr>
                          <a:t>Major</a:t>
                        </a:r>
                      </a:p>
                    </a:txBody>
                    <a:tcPr marL="0" marR="0" marT="0" marB="0" anchor="ctr">
                      <a:solidFill>
                        <a:srgbClr val="FFFF00"/>
                      </a:solidFill>
                    </a:tcPr>
                  </a:tc>
                  <a:tc>
                    <a:txBody>
                      <a:bodyPr/>
                      <a:lstStyle/>
                      <a:p>
                        <a:pPr algn="ctr" fontAlgn="ctr">
                          <a:buNone/>
                        </a:pPr>
                        <a:r>
                          <a:rPr lang="en-GB" sz="1100" b="0" i="0" u="none" strike="noStrike" dirty="0">
                            <a:solidFill>
                              <a:srgbClr val="000000"/>
                            </a:solidFill>
                            <a:effectLst/>
                            <a:latin typeface="Calibri" panose="020F0502020204030204" pitchFamily="34" charset="0"/>
                          </a:rPr>
                          <a:t>17-Jun-26</a:t>
                        </a:r>
                      </a:p>
                    </a:txBody>
                    <a:tcPr marL="9525" marR="9525" marT="9525" anchor="ctr"/>
                  </a:tc>
                  <a:tc>
                    <a:txBody>
                      <a:bodyPr/>
                      <a:lstStyle/>
                      <a:p>
                        <a:pPr algn="ctr" fontAlgn="ctr">
                          <a:buNone/>
                        </a:pPr>
                        <a:r>
                          <a:rPr lang="en-GB" sz="1100" b="0" i="0" u="none" strike="noStrike" dirty="0">
                            <a:solidFill>
                              <a:schemeClr val="bg1"/>
                            </a:solidFill>
                            <a:effectLst/>
                            <a:latin typeface="Calibri" panose="020F0502020204030204" pitchFamily="34" charset="0"/>
                          </a:rPr>
                          <a:t>Actions Outstanding</a:t>
                        </a:r>
                      </a:p>
                    </a:txBody>
                    <a:tcPr marL="9525" marR="9525" marT="9525" anchor="ctr"/>
                  </a:tc>
                  <a:extLst>
                    <a:ext uri="{0D108BD9-81ED-4DB2-BD59-A6C34878D82A}">
                      <a16:rowId xmlns:a16="http://schemas.microsoft.com/office/drawing/2014/main" val="2000500318"/>
                    </a:ext>
                  </a:extLst>
                </a:tr>
              </a:tbl>
            </a:graphicData>
          </a:graphic>
        </p:graphicFrame>
      </p:grpSp>
      <p:graphicFrame>
        <p:nvGraphicFramePr>
          <p:cNvPr id="19" name="Table 18">
            <a:extLst>
              <a:ext uri="{FF2B5EF4-FFF2-40B4-BE49-F238E27FC236}">
                <a16:creationId xmlns:a16="http://schemas.microsoft.com/office/drawing/2014/main" id="{39A413D6-E800-BCD2-ABB2-9CD7B2F5FB1F}"/>
              </a:ext>
            </a:extLst>
          </p:cNvPr>
          <p:cNvGraphicFramePr>
            <a:graphicFrameLocks noGrp="1"/>
          </p:cNvGraphicFramePr>
          <p:nvPr>
            <p:extLst>
              <p:ext uri="{D42A27DB-BD31-4B8C-83A1-F6EECF244321}">
                <p14:modId xmlns:p14="http://schemas.microsoft.com/office/powerpoint/2010/main" val="3389878258"/>
              </p:ext>
            </p:extLst>
          </p:nvPr>
        </p:nvGraphicFramePr>
        <p:xfrm>
          <a:off x="842090" y="4481759"/>
          <a:ext cx="11101645" cy="1241410"/>
        </p:xfrm>
        <a:graphic>
          <a:graphicData uri="http://schemas.openxmlformats.org/drawingml/2006/table">
            <a:tbl>
              <a:tblPr/>
              <a:tblGrid>
                <a:gridCol w="1774241">
                  <a:extLst>
                    <a:ext uri="{9D8B030D-6E8A-4147-A177-3AD203B41FA5}">
                      <a16:colId xmlns:a16="http://schemas.microsoft.com/office/drawing/2014/main" val="1385492866"/>
                    </a:ext>
                  </a:extLst>
                </a:gridCol>
                <a:gridCol w="2133523">
                  <a:extLst>
                    <a:ext uri="{9D8B030D-6E8A-4147-A177-3AD203B41FA5}">
                      <a16:colId xmlns:a16="http://schemas.microsoft.com/office/drawing/2014/main" val="321750452"/>
                    </a:ext>
                  </a:extLst>
                </a:gridCol>
                <a:gridCol w="2133523">
                  <a:extLst>
                    <a:ext uri="{9D8B030D-6E8A-4147-A177-3AD203B41FA5}">
                      <a16:colId xmlns:a16="http://schemas.microsoft.com/office/drawing/2014/main" val="3616206764"/>
                    </a:ext>
                  </a:extLst>
                </a:gridCol>
                <a:gridCol w="1748722">
                  <a:extLst>
                    <a:ext uri="{9D8B030D-6E8A-4147-A177-3AD203B41FA5}">
                      <a16:colId xmlns:a16="http://schemas.microsoft.com/office/drawing/2014/main" val="3644329512"/>
                    </a:ext>
                  </a:extLst>
                </a:gridCol>
                <a:gridCol w="1655818">
                  <a:extLst>
                    <a:ext uri="{9D8B030D-6E8A-4147-A177-3AD203B41FA5}">
                      <a16:colId xmlns:a16="http://schemas.microsoft.com/office/drawing/2014/main" val="3871842897"/>
                    </a:ext>
                  </a:extLst>
                </a:gridCol>
                <a:gridCol w="1655818">
                  <a:extLst>
                    <a:ext uri="{9D8B030D-6E8A-4147-A177-3AD203B41FA5}">
                      <a16:colId xmlns:a16="http://schemas.microsoft.com/office/drawing/2014/main" val="1883237257"/>
                    </a:ext>
                  </a:extLst>
                </a:gridCol>
              </a:tblGrid>
              <a:tr h="342491">
                <a:tc>
                  <a:txBody>
                    <a:bodyPr/>
                    <a:lstStyle>
                      <a:lvl1pPr marL="0" algn="l" defTabSz="914377" rtl="0" eaLnBrk="1" latinLnBrk="0" hangingPunct="1">
                        <a:defRPr sz="1800" kern="1200">
                          <a:solidFill>
                            <a:schemeClr val="tx1"/>
                          </a:solidFill>
                          <a:latin typeface="Corbel" panose="020B0503020204020204"/>
                        </a:defRPr>
                      </a:lvl1pPr>
                      <a:lvl2pPr marL="457189" algn="l" defTabSz="914377" rtl="0" eaLnBrk="1" latinLnBrk="0" hangingPunct="1">
                        <a:defRPr sz="1800" kern="1200">
                          <a:solidFill>
                            <a:schemeClr val="tx1"/>
                          </a:solidFill>
                          <a:latin typeface="Corbel" panose="020B0503020204020204"/>
                        </a:defRPr>
                      </a:lvl2pPr>
                      <a:lvl3pPr marL="914377" algn="l" defTabSz="914377" rtl="0" eaLnBrk="1" latinLnBrk="0" hangingPunct="1">
                        <a:defRPr sz="1800" kern="1200">
                          <a:solidFill>
                            <a:schemeClr val="tx1"/>
                          </a:solidFill>
                          <a:latin typeface="Corbel" panose="020B0503020204020204"/>
                        </a:defRPr>
                      </a:lvl3pPr>
                      <a:lvl4pPr marL="1371566" algn="l" defTabSz="914377" rtl="0" eaLnBrk="1" latinLnBrk="0" hangingPunct="1">
                        <a:defRPr sz="1800" kern="1200">
                          <a:solidFill>
                            <a:schemeClr val="tx1"/>
                          </a:solidFill>
                          <a:latin typeface="Corbel" panose="020B0503020204020204"/>
                        </a:defRPr>
                      </a:lvl4pPr>
                      <a:lvl5pPr marL="1828754" algn="l" defTabSz="914377" rtl="0" eaLnBrk="1" latinLnBrk="0" hangingPunct="1">
                        <a:defRPr sz="1800" kern="1200">
                          <a:solidFill>
                            <a:schemeClr val="tx1"/>
                          </a:solidFill>
                          <a:latin typeface="Corbel" panose="020B0503020204020204"/>
                        </a:defRPr>
                      </a:lvl5pPr>
                      <a:lvl6pPr marL="2285943" algn="l" defTabSz="914377" rtl="0" eaLnBrk="1" latinLnBrk="0" hangingPunct="1">
                        <a:defRPr sz="1800" kern="1200">
                          <a:solidFill>
                            <a:schemeClr val="tx1"/>
                          </a:solidFill>
                          <a:latin typeface="Corbel" panose="020B0503020204020204"/>
                        </a:defRPr>
                      </a:lvl6pPr>
                      <a:lvl7pPr marL="2743131" algn="l" defTabSz="914377" rtl="0" eaLnBrk="1" latinLnBrk="0" hangingPunct="1">
                        <a:defRPr sz="1800" kern="1200">
                          <a:solidFill>
                            <a:schemeClr val="tx1"/>
                          </a:solidFill>
                          <a:latin typeface="Corbel" panose="020B0503020204020204"/>
                        </a:defRPr>
                      </a:lvl7pPr>
                      <a:lvl8pPr marL="3200320" algn="l" defTabSz="914377" rtl="0" eaLnBrk="1" latinLnBrk="0" hangingPunct="1">
                        <a:defRPr sz="1800" kern="1200">
                          <a:solidFill>
                            <a:schemeClr val="tx1"/>
                          </a:solidFill>
                          <a:latin typeface="Corbel" panose="020B0503020204020204"/>
                        </a:defRPr>
                      </a:lvl8pPr>
                      <a:lvl9pPr marL="3657509" algn="l" defTabSz="914377" rtl="0" eaLnBrk="1" latinLnBrk="0" hangingPunct="1">
                        <a:defRPr sz="1800" kern="1200">
                          <a:solidFill>
                            <a:schemeClr val="tx1"/>
                          </a:solidFill>
                          <a:latin typeface="Corbel" panose="020B0503020204020204"/>
                        </a:defRPr>
                      </a:lvl9pPr>
                    </a:lstStyle>
                    <a:p>
                      <a:pPr algn="ctr" fontAlgn="ctr"/>
                      <a:r>
                        <a:rPr lang="en-US" sz="1800" b="1" i="0" u="none" strike="noStrike" dirty="0">
                          <a:solidFill>
                            <a:srgbClr val="000000"/>
                          </a:solidFill>
                          <a:effectLst/>
                          <a:latin typeface="Calibri" panose="020F0502020204030204" pitchFamily="34" charset="0"/>
                        </a:rPr>
                        <a:t>Currently Open </a:t>
                      </a:r>
                      <a:endParaRPr lang="en-GB" sz="1800" b="1" i="0" u="none" strike="noStrike" dirty="0">
                        <a:solidFill>
                          <a:srgbClr val="000000"/>
                        </a:solidFill>
                        <a:effectLst/>
                        <a:latin typeface="Calibri" panose="020F0502020204030204" pitchFamily="34" charset="0"/>
                      </a:endParaRP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dirty="0">
                          <a:solidFill>
                            <a:srgbClr val="000000"/>
                          </a:solidFill>
                          <a:effectLst/>
                          <a:latin typeface="Calibri" panose="020F0502020204030204" pitchFamily="34" charset="0"/>
                        </a:rPr>
                        <a:t>Open with an Extension</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dirty="0">
                          <a:solidFill>
                            <a:srgbClr val="000000"/>
                          </a:solidFill>
                          <a:effectLst/>
                          <a:latin typeface="Calibri" panose="020F0502020204030204" pitchFamily="34" charset="0"/>
                        </a:rPr>
                        <a:t>Currently open &amp; overdue at the end of quarter</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kern="1200" dirty="0">
                          <a:solidFill>
                            <a:srgbClr val="000000"/>
                          </a:solidFill>
                          <a:effectLst/>
                          <a:latin typeface="Calibri" panose="020F0502020204030204" pitchFamily="34" charset="0"/>
                          <a:ea typeface="+mn-ea"/>
                          <a:cs typeface="+mn-cs"/>
                        </a:rPr>
                        <a:t>Closed (Q1 2026)</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kern="1200" dirty="0">
                          <a:solidFill>
                            <a:srgbClr val="000000"/>
                          </a:solidFill>
                          <a:effectLst/>
                          <a:latin typeface="Calibri" panose="020F0502020204030204" pitchFamily="34" charset="0"/>
                          <a:ea typeface="+mn-ea"/>
                          <a:cs typeface="+mn-cs"/>
                        </a:rPr>
                        <a:t>Closed after target date</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GB" sz="1800" b="1" i="0" u="none" strike="noStrike" kern="1200" dirty="0">
                          <a:solidFill>
                            <a:srgbClr val="000000"/>
                          </a:solidFill>
                          <a:effectLst/>
                          <a:latin typeface="Calibri" panose="020F0502020204030204" pitchFamily="34" charset="0"/>
                          <a:ea typeface="+mn-ea"/>
                          <a:cs typeface="+mn-cs"/>
                        </a:rPr>
                        <a:t>Closed after extension</a:t>
                      </a:r>
                    </a:p>
                  </a:txBody>
                  <a:tcPr marL="113651" marR="113651" marT="56825" marB="5682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3701969659"/>
                  </a:ext>
                </a:extLst>
              </a:tr>
              <a:tr h="253873">
                <a:tc>
                  <a:txBody>
                    <a:bodyPr/>
                    <a:lstStyle>
                      <a:lvl1pPr marL="0" algn="l" defTabSz="914377" rtl="0" eaLnBrk="1" latinLnBrk="0" hangingPunct="1">
                        <a:defRPr sz="1800" kern="1200">
                          <a:solidFill>
                            <a:schemeClr val="tx1"/>
                          </a:solidFill>
                          <a:latin typeface="Corbel" panose="020B0503020204020204"/>
                        </a:defRPr>
                      </a:lvl1pPr>
                      <a:lvl2pPr marL="457189" algn="l" defTabSz="914377" rtl="0" eaLnBrk="1" latinLnBrk="0" hangingPunct="1">
                        <a:defRPr sz="1800" kern="1200">
                          <a:solidFill>
                            <a:schemeClr val="tx1"/>
                          </a:solidFill>
                          <a:latin typeface="Corbel" panose="020B0503020204020204"/>
                        </a:defRPr>
                      </a:lvl2pPr>
                      <a:lvl3pPr marL="914377" algn="l" defTabSz="914377" rtl="0" eaLnBrk="1" latinLnBrk="0" hangingPunct="1">
                        <a:defRPr sz="1800" kern="1200">
                          <a:solidFill>
                            <a:schemeClr val="tx1"/>
                          </a:solidFill>
                          <a:latin typeface="Corbel" panose="020B0503020204020204"/>
                        </a:defRPr>
                      </a:lvl3pPr>
                      <a:lvl4pPr marL="1371566" algn="l" defTabSz="914377" rtl="0" eaLnBrk="1" latinLnBrk="0" hangingPunct="1">
                        <a:defRPr sz="1800" kern="1200">
                          <a:solidFill>
                            <a:schemeClr val="tx1"/>
                          </a:solidFill>
                          <a:latin typeface="Corbel" panose="020B0503020204020204"/>
                        </a:defRPr>
                      </a:lvl4pPr>
                      <a:lvl5pPr marL="1828754" algn="l" defTabSz="914377" rtl="0" eaLnBrk="1" latinLnBrk="0" hangingPunct="1">
                        <a:defRPr sz="1800" kern="1200">
                          <a:solidFill>
                            <a:schemeClr val="tx1"/>
                          </a:solidFill>
                          <a:latin typeface="Corbel" panose="020B0503020204020204"/>
                        </a:defRPr>
                      </a:lvl5pPr>
                      <a:lvl6pPr marL="2285943" algn="l" defTabSz="914377" rtl="0" eaLnBrk="1" latinLnBrk="0" hangingPunct="1">
                        <a:defRPr sz="1800" kern="1200">
                          <a:solidFill>
                            <a:schemeClr val="tx1"/>
                          </a:solidFill>
                          <a:latin typeface="Corbel" panose="020B0503020204020204"/>
                        </a:defRPr>
                      </a:lvl6pPr>
                      <a:lvl7pPr marL="2743131" algn="l" defTabSz="914377" rtl="0" eaLnBrk="1" latinLnBrk="0" hangingPunct="1">
                        <a:defRPr sz="1800" kern="1200">
                          <a:solidFill>
                            <a:schemeClr val="tx1"/>
                          </a:solidFill>
                          <a:latin typeface="Corbel" panose="020B0503020204020204"/>
                        </a:defRPr>
                      </a:lvl7pPr>
                      <a:lvl8pPr marL="3200320" algn="l" defTabSz="914377" rtl="0" eaLnBrk="1" latinLnBrk="0" hangingPunct="1">
                        <a:defRPr sz="1800" kern="1200">
                          <a:solidFill>
                            <a:schemeClr val="tx1"/>
                          </a:solidFill>
                          <a:latin typeface="Corbel" panose="020B0503020204020204"/>
                        </a:defRPr>
                      </a:lvl8pPr>
                      <a:lvl9pPr marL="3657509" algn="l" defTabSz="914377" rtl="0" eaLnBrk="1" latinLnBrk="0" hangingPunct="1">
                        <a:defRPr sz="1800" kern="1200">
                          <a:solidFill>
                            <a:schemeClr val="tx1"/>
                          </a:solidFill>
                          <a:latin typeface="Corbel" panose="020B0503020204020204"/>
                        </a:defRPr>
                      </a:lvl9pPr>
                    </a:lstStyle>
                    <a:p>
                      <a:pPr algn="ctr" fontAlgn="ctr"/>
                      <a:r>
                        <a:rPr lang="en-GB" sz="1800" b="0" i="0" u="none" strike="noStrike" kern="1200" dirty="0">
                          <a:solidFill>
                            <a:srgbClr val="000000"/>
                          </a:solidFill>
                          <a:effectLst/>
                          <a:latin typeface="Calibri" panose="020F0502020204030204" pitchFamily="34" charset="0"/>
                          <a:ea typeface="+mn-ea"/>
                          <a:cs typeface="+mn-cs"/>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GB" sz="20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GB" sz="20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GB" sz="1800" b="0" i="0" u="none" strike="noStrike" dirty="0">
                          <a:solidFill>
                            <a:srgbClr val="000000"/>
                          </a:solidFill>
                          <a:effectLst/>
                          <a:latin typeface="Calibri" panose="020F0502020204030204" pitchFamily="34" charset="0"/>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GB" sz="18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GB" sz="1800" b="0" i="0" u="none" strike="noStrike" dirty="0">
                          <a:solidFill>
                            <a:srgbClr val="000000"/>
                          </a:solidFill>
                          <a:effectLst/>
                          <a:latin typeface="Calibri" panose="020F0502020204030204" pitchFamily="34" charset="0"/>
                        </a:rPr>
                        <a:t>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074620987"/>
                  </a:ext>
                </a:extLst>
              </a:tr>
            </a:tbl>
          </a:graphicData>
        </a:graphic>
      </p:graphicFrame>
      <p:sp>
        <p:nvSpPr>
          <p:cNvPr id="3" name="Rectangle 2">
            <a:extLst>
              <a:ext uri="{FF2B5EF4-FFF2-40B4-BE49-F238E27FC236}">
                <a16:creationId xmlns:a16="http://schemas.microsoft.com/office/drawing/2014/main" id="{8CE5164D-4175-D6A4-A51F-BC0DA1595B64}"/>
              </a:ext>
            </a:extLst>
          </p:cNvPr>
          <p:cNvSpPr/>
          <p:nvPr/>
        </p:nvSpPr>
        <p:spPr>
          <a:xfrm>
            <a:off x="46774" y="-2"/>
            <a:ext cx="549894" cy="6858002"/>
          </a:xfrm>
          <a:prstGeom prst="rect">
            <a:avLst/>
          </a:prstGeom>
          <a:noFill/>
        </p:spPr>
        <p:txBody>
          <a:bodyPr vert="wordArtVert"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b="1" dirty="0">
                <a:ln w="0"/>
                <a:solidFill>
                  <a:srgbClr val="FFFFFF"/>
                </a:solidFill>
                <a:effectLst>
                  <a:outerShdw blurRad="38100" dist="38100" dir="2700000" algn="tl">
                    <a:srgbClr val="000000">
                      <a:alpha val="43137"/>
                    </a:srgbClr>
                  </a:outerShdw>
                </a:effectLst>
                <a:latin typeface="Corbel" panose="020B0503020204020204"/>
              </a:rPr>
              <a:t>RISK ASSESSMENTS</a:t>
            </a:r>
            <a:endParaRPr kumimoji="0" lang="en-US" sz="2000" b="1" i="0" u="none" strike="noStrike" kern="1200" cap="none" spc="0" normalizeH="0" baseline="0" noProof="0" dirty="0">
              <a:ln w="0"/>
              <a:solidFill>
                <a:srgbClr val="FFFFFF"/>
              </a:solidFill>
              <a:effectLst>
                <a:outerShdw blurRad="38100" dist="38100" dir="2700000" algn="tl">
                  <a:srgbClr val="000000">
                    <a:alpha val="43137"/>
                  </a:srgbClr>
                </a:outerShdw>
              </a:effectLst>
              <a:uLnTx/>
              <a:uFillTx/>
              <a:latin typeface="Corbel" panose="020B0503020204020204"/>
              <a:ea typeface="+mn-ea"/>
              <a:cs typeface="+mn-cs"/>
            </a:endParaRPr>
          </a:p>
        </p:txBody>
      </p:sp>
    </p:spTree>
    <p:extLst>
      <p:ext uri="{BB962C8B-B14F-4D97-AF65-F5344CB8AC3E}">
        <p14:creationId xmlns:p14="http://schemas.microsoft.com/office/powerpoint/2010/main" val="3869340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4717872-84EF-2AEC-1A9C-6541A994BBC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6C20F78-7519-837D-C0F7-36BA3F1F6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1" name="Rectangle 10">
            <a:extLst>
              <a:ext uri="{FF2B5EF4-FFF2-40B4-BE49-F238E27FC236}">
                <a16:creationId xmlns:a16="http://schemas.microsoft.com/office/drawing/2014/main" id="{60FD3E10-95FC-1EA8-3155-112B417F31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3" name="Rectangle 12">
            <a:extLst>
              <a:ext uri="{FF2B5EF4-FFF2-40B4-BE49-F238E27FC236}">
                <a16:creationId xmlns:a16="http://schemas.microsoft.com/office/drawing/2014/main" id="{D7E89EBD-60CA-B829-8708-088DFAF48D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A5D028"/>
              </a:solidFill>
              <a:effectLst/>
              <a:uLnTx/>
              <a:uFillTx/>
              <a:latin typeface="Corbel" panose="020B0503020204020204"/>
              <a:ea typeface="+mn-ea"/>
              <a:cs typeface="+mn-cs"/>
            </a:endParaRPr>
          </a:p>
        </p:txBody>
      </p:sp>
      <p:sp>
        <p:nvSpPr>
          <p:cNvPr id="14" name="Rectangle 13">
            <a:extLst>
              <a:ext uri="{FF2B5EF4-FFF2-40B4-BE49-F238E27FC236}">
                <a16:creationId xmlns:a16="http://schemas.microsoft.com/office/drawing/2014/main" id="{3FCC7A2B-8C9F-358D-58B4-B5C2B84AB084}"/>
              </a:ext>
            </a:extLst>
          </p:cNvPr>
          <p:cNvSpPr/>
          <p:nvPr/>
        </p:nvSpPr>
        <p:spPr>
          <a:xfrm>
            <a:off x="-67626" y="-2"/>
            <a:ext cx="842090" cy="6858002"/>
          </a:xfrm>
          <a:prstGeom prst="rect">
            <a:avLst/>
          </a:prstGeom>
          <a:noFill/>
        </p:spPr>
        <p:txBody>
          <a:bodyPr vert="wordArtVert"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w="0"/>
                <a:solidFill>
                  <a:srgbClr val="FFFFFF"/>
                </a:solidFill>
                <a:effectLst>
                  <a:outerShdw blurRad="38100" dist="38100" dir="2700000" algn="tl">
                    <a:srgbClr val="000000">
                      <a:alpha val="43137"/>
                    </a:srgbClr>
                  </a:outerShdw>
                </a:effectLst>
                <a:uLnTx/>
                <a:uFillTx/>
                <a:latin typeface="Corbel" panose="020B0503020204020204"/>
                <a:ea typeface="+mn-ea"/>
                <a:cs typeface="+mn-cs"/>
              </a:rPr>
              <a:t>RECALLS</a:t>
            </a:r>
          </a:p>
        </p:txBody>
      </p:sp>
      <p:sp>
        <p:nvSpPr>
          <p:cNvPr id="15" name="Title 1">
            <a:extLst>
              <a:ext uri="{FF2B5EF4-FFF2-40B4-BE49-F238E27FC236}">
                <a16:creationId xmlns:a16="http://schemas.microsoft.com/office/drawing/2014/main" id="{B4EC9B8E-53D1-1075-6810-16A141D415FA}"/>
              </a:ext>
            </a:extLst>
          </p:cNvPr>
          <p:cNvSpPr txBox="1">
            <a:spLocks/>
          </p:cNvSpPr>
          <p:nvPr/>
        </p:nvSpPr>
        <p:spPr>
          <a:xfrm>
            <a:off x="719329" y="1665975"/>
            <a:ext cx="2257787" cy="5192023"/>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pPr marL="0" marR="0" lvl="0" indent="0" algn="ctr" defTabSz="914400" rtl="0" eaLnBrk="1" fontAlgn="auto" latinLnBrk="0" hangingPunct="1">
              <a:lnSpc>
                <a:spcPct val="85000"/>
              </a:lnSpc>
              <a:spcBef>
                <a:spcPct val="0"/>
              </a:spcBef>
              <a:spcAft>
                <a:spcPts val="0"/>
              </a:spcAft>
              <a:buClrTx/>
              <a:buSzTx/>
              <a:buFontTx/>
              <a:buNone/>
              <a:tabLst/>
              <a:defRPr/>
            </a:pPr>
            <a:r>
              <a:rPr lang="en-GB" sz="2800" b="1" dirty="0">
                <a:solidFill>
                  <a:srgbClr val="FFFFFF"/>
                </a:solidFill>
                <a:latin typeface="Corbel" panose="020B0503020204020204"/>
              </a:rPr>
              <a:t>QUETIAPINE Recall Summary, outcome &amp; impact</a:t>
            </a:r>
            <a:endParaRPr kumimoji="0" lang="en-GB" sz="2800" b="1" i="0" u="none" strike="noStrike" kern="1200" cap="all" spc="0" normalizeH="0" baseline="0" noProof="0" dirty="0">
              <a:ln>
                <a:noFill/>
              </a:ln>
              <a:solidFill>
                <a:srgbClr val="FFFFFF"/>
              </a:solidFill>
              <a:effectLst/>
              <a:uLnTx/>
              <a:uFillTx/>
              <a:latin typeface="Corbel" panose="020B0503020204020204"/>
              <a:ea typeface="+mj-ea"/>
              <a:cs typeface="+mj-cs"/>
            </a:endParaRPr>
          </a:p>
        </p:txBody>
      </p:sp>
      <p:graphicFrame>
        <p:nvGraphicFramePr>
          <p:cNvPr id="3" name="Table 7">
            <a:extLst>
              <a:ext uri="{FF2B5EF4-FFF2-40B4-BE49-F238E27FC236}">
                <a16:creationId xmlns:a16="http://schemas.microsoft.com/office/drawing/2014/main" id="{78FC128F-5250-52EC-E9CD-B37951ADA584}"/>
              </a:ext>
            </a:extLst>
          </p:cNvPr>
          <p:cNvGraphicFramePr>
            <a:graphicFrameLocks noGrp="1"/>
          </p:cNvGraphicFramePr>
          <p:nvPr>
            <p:extLst>
              <p:ext uri="{D42A27DB-BD31-4B8C-83A1-F6EECF244321}">
                <p14:modId xmlns:p14="http://schemas.microsoft.com/office/powerpoint/2010/main" val="1562859653"/>
              </p:ext>
            </p:extLst>
          </p:nvPr>
        </p:nvGraphicFramePr>
        <p:xfrm>
          <a:off x="2990952" y="0"/>
          <a:ext cx="9201048" cy="1669312"/>
        </p:xfrm>
        <a:graphic>
          <a:graphicData uri="http://schemas.openxmlformats.org/drawingml/2006/table">
            <a:tbl>
              <a:tblPr firstRow="1" bandRow="1">
                <a:tableStyleId>{21E4AEA4-8DFA-4A89-87EB-49C32662AFE0}</a:tableStyleId>
              </a:tblPr>
              <a:tblGrid>
                <a:gridCol w="949106">
                  <a:extLst>
                    <a:ext uri="{9D8B030D-6E8A-4147-A177-3AD203B41FA5}">
                      <a16:colId xmlns:a16="http://schemas.microsoft.com/office/drawing/2014/main" val="2471007208"/>
                    </a:ext>
                  </a:extLst>
                </a:gridCol>
                <a:gridCol w="1375408">
                  <a:extLst>
                    <a:ext uri="{9D8B030D-6E8A-4147-A177-3AD203B41FA5}">
                      <a16:colId xmlns:a16="http://schemas.microsoft.com/office/drawing/2014/main" val="1112259979"/>
                    </a:ext>
                  </a:extLst>
                </a:gridCol>
                <a:gridCol w="1764083">
                  <a:extLst>
                    <a:ext uri="{9D8B030D-6E8A-4147-A177-3AD203B41FA5}">
                      <a16:colId xmlns:a16="http://schemas.microsoft.com/office/drawing/2014/main" val="2974236497"/>
                    </a:ext>
                  </a:extLst>
                </a:gridCol>
                <a:gridCol w="1269321">
                  <a:extLst>
                    <a:ext uri="{9D8B030D-6E8A-4147-A177-3AD203B41FA5}">
                      <a16:colId xmlns:a16="http://schemas.microsoft.com/office/drawing/2014/main" val="2724913175"/>
                    </a:ext>
                  </a:extLst>
                </a:gridCol>
                <a:gridCol w="1083365">
                  <a:extLst>
                    <a:ext uri="{9D8B030D-6E8A-4147-A177-3AD203B41FA5}">
                      <a16:colId xmlns:a16="http://schemas.microsoft.com/office/drawing/2014/main" val="3131065920"/>
                    </a:ext>
                  </a:extLst>
                </a:gridCol>
                <a:gridCol w="1797477">
                  <a:extLst>
                    <a:ext uri="{9D8B030D-6E8A-4147-A177-3AD203B41FA5}">
                      <a16:colId xmlns:a16="http://schemas.microsoft.com/office/drawing/2014/main" val="638143988"/>
                    </a:ext>
                  </a:extLst>
                </a:gridCol>
                <a:gridCol w="962288">
                  <a:extLst>
                    <a:ext uri="{9D8B030D-6E8A-4147-A177-3AD203B41FA5}">
                      <a16:colId xmlns:a16="http://schemas.microsoft.com/office/drawing/2014/main" val="1581484163"/>
                    </a:ext>
                  </a:extLst>
                </a:gridCol>
              </a:tblGrid>
              <a:tr h="514121">
                <a:tc>
                  <a:txBody>
                    <a:bodyPr/>
                    <a:lstStyle>
                      <a:lvl1pPr marL="0" algn="l" defTabSz="914400" rtl="0" eaLnBrk="1" latinLnBrk="0" hangingPunct="1">
                        <a:defRPr sz="1800" b="1" kern="1200">
                          <a:solidFill>
                            <a:schemeClr val="lt1"/>
                          </a:solidFill>
                          <a:latin typeface="Corbel" panose="020B0503020204020204"/>
                        </a:defRPr>
                      </a:lvl1pPr>
                      <a:lvl2pPr marL="457200" algn="l" defTabSz="914400" rtl="0" eaLnBrk="1" latinLnBrk="0" hangingPunct="1">
                        <a:defRPr sz="1800" b="1" kern="1200">
                          <a:solidFill>
                            <a:schemeClr val="lt1"/>
                          </a:solidFill>
                          <a:latin typeface="Corbel" panose="020B0503020204020204"/>
                        </a:defRPr>
                      </a:lvl2pPr>
                      <a:lvl3pPr marL="914400" algn="l" defTabSz="914400" rtl="0" eaLnBrk="1" latinLnBrk="0" hangingPunct="1">
                        <a:defRPr sz="1800" b="1" kern="1200">
                          <a:solidFill>
                            <a:schemeClr val="lt1"/>
                          </a:solidFill>
                          <a:latin typeface="Corbel" panose="020B0503020204020204"/>
                        </a:defRPr>
                      </a:lvl3pPr>
                      <a:lvl4pPr marL="1371600" algn="l" defTabSz="914400" rtl="0" eaLnBrk="1" latinLnBrk="0" hangingPunct="1">
                        <a:defRPr sz="1800" b="1" kern="1200">
                          <a:solidFill>
                            <a:schemeClr val="lt1"/>
                          </a:solidFill>
                          <a:latin typeface="Corbel" panose="020B0503020204020204"/>
                        </a:defRPr>
                      </a:lvl4pPr>
                      <a:lvl5pPr marL="1828800" algn="l" defTabSz="914400" rtl="0" eaLnBrk="1" latinLnBrk="0" hangingPunct="1">
                        <a:defRPr sz="1800" b="1" kern="1200">
                          <a:solidFill>
                            <a:schemeClr val="lt1"/>
                          </a:solidFill>
                          <a:latin typeface="Corbel" panose="020B0503020204020204"/>
                        </a:defRPr>
                      </a:lvl5pPr>
                      <a:lvl6pPr marL="2286000" algn="l" defTabSz="914400" rtl="0" eaLnBrk="1" latinLnBrk="0" hangingPunct="1">
                        <a:defRPr sz="1800" b="1" kern="1200">
                          <a:solidFill>
                            <a:schemeClr val="lt1"/>
                          </a:solidFill>
                          <a:latin typeface="Corbel" panose="020B0503020204020204"/>
                        </a:defRPr>
                      </a:lvl6pPr>
                      <a:lvl7pPr marL="2743200" algn="l" defTabSz="914400" rtl="0" eaLnBrk="1" latinLnBrk="0" hangingPunct="1">
                        <a:defRPr sz="1800" b="1" kern="1200">
                          <a:solidFill>
                            <a:schemeClr val="lt1"/>
                          </a:solidFill>
                          <a:latin typeface="Corbel" panose="020B0503020204020204"/>
                        </a:defRPr>
                      </a:lvl7pPr>
                      <a:lvl8pPr marL="3200400" algn="l" defTabSz="914400" rtl="0" eaLnBrk="1" latinLnBrk="0" hangingPunct="1">
                        <a:defRPr sz="1800" b="1" kern="1200">
                          <a:solidFill>
                            <a:schemeClr val="lt1"/>
                          </a:solidFill>
                          <a:latin typeface="Corbel" panose="020B0503020204020204"/>
                        </a:defRPr>
                      </a:lvl8pPr>
                      <a:lvl9pPr marL="3657600" algn="l" defTabSz="914400" rtl="0" eaLnBrk="1" latinLnBrk="0" hangingPunct="1">
                        <a:defRPr sz="1800" b="1" kern="1200">
                          <a:solidFill>
                            <a:schemeClr val="lt1"/>
                          </a:solidFill>
                          <a:latin typeface="Corbel" panose="020B0503020204020204"/>
                        </a:defRPr>
                      </a:lvl9pPr>
                    </a:lstStyle>
                    <a:p>
                      <a:r>
                        <a:rPr lang="en-GB" sz="1200" dirty="0">
                          <a:solidFill>
                            <a:sysClr val="windowText" lastClr="000000"/>
                          </a:solidFill>
                        </a:rPr>
                        <a:t>Date Issued</a:t>
                      </a:r>
                    </a:p>
                  </a:txBody>
                  <a:tcPr marL="104276" marR="104276" marT="52138" marB="52138">
                    <a:solidFill>
                      <a:schemeClr val="bg2"/>
                    </a:solidFill>
                  </a:tcPr>
                </a:tc>
                <a:tc>
                  <a:txBody>
                    <a:bodyPr/>
                    <a:lstStyle/>
                    <a:p>
                      <a:r>
                        <a:rPr lang="en-GB" sz="1200" b="1" dirty="0">
                          <a:solidFill>
                            <a:sysClr val="windowText" lastClr="000000"/>
                          </a:solidFill>
                        </a:rPr>
                        <a:t>Classification</a:t>
                      </a:r>
                    </a:p>
                  </a:txBody>
                  <a:tcPr marL="104276" marR="104276" marT="52138" marB="52138">
                    <a:solidFill>
                      <a:schemeClr val="bg2"/>
                    </a:solidFill>
                  </a:tcPr>
                </a:tc>
                <a:tc>
                  <a:txBody>
                    <a:bodyPr/>
                    <a:lstStyle>
                      <a:lvl1pPr marL="0" algn="l" defTabSz="914400" rtl="0" eaLnBrk="1" latinLnBrk="0" hangingPunct="1">
                        <a:defRPr sz="1800" kern="1200">
                          <a:solidFill>
                            <a:schemeClr val="tx1"/>
                          </a:solidFill>
                          <a:latin typeface="Corbel" panose="020B0503020204020204"/>
                        </a:defRPr>
                      </a:lvl1pPr>
                      <a:lvl2pPr marL="457200" algn="l" defTabSz="914400" rtl="0" eaLnBrk="1" latinLnBrk="0" hangingPunct="1">
                        <a:defRPr sz="1800" kern="1200">
                          <a:solidFill>
                            <a:schemeClr val="tx1"/>
                          </a:solidFill>
                          <a:latin typeface="Corbel" panose="020B0503020204020204"/>
                        </a:defRPr>
                      </a:lvl2pPr>
                      <a:lvl3pPr marL="914400" algn="l" defTabSz="914400" rtl="0" eaLnBrk="1" latinLnBrk="0" hangingPunct="1">
                        <a:defRPr sz="1800" kern="1200">
                          <a:solidFill>
                            <a:schemeClr val="tx1"/>
                          </a:solidFill>
                          <a:latin typeface="Corbel" panose="020B0503020204020204"/>
                        </a:defRPr>
                      </a:lvl3pPr>
                      <a:lvl4pPr marL="1371600" algn="l" defTabSz="914400" rtl="0" eaLnBrk="1" latinLnBrk="0" hangingPunct="1">
                        <a:defRPr sz="1800" kern="1200">
                          <a:solidFill>
                            <a:schemeClr val="tx1"/>
                          </a:solidFill>
                          <a:latin typeface="Corbel" panose="020B0503020204020204"/>
                        </a:defRPr>
                      </a:lvl4pPr>
                      <a:lvl5pPr marL="1828800" algn="l" defTabSz="914400" rtl="0" eaLnBrk="1" latinLnBrk="0" hangingPunct="1">
                        <a:defRPr sz="1800" kern="1200">
                          <a:solidFill>
                            <a:schemeClr val="tx1"/>
                          </a:solidFill>
                          <a:latin typeface="Corbel" panose="020B0503020204020204"/>
                        </a:defRPr>
                      </a:lvl5pPr>
                      <a:lvl6pPr marL="2286000" algn="l" defTabSz="914400" rtl="0" eaLnBrk="1" latinLnBrk="0" hangingPunct="1">
                        <a:defRPr sz="1800" kern="1200">
                          <a:solidFill>
                            <a:schemeClr val="tx1"/>
                          </a:solidFill>
                          <a:latin typeface="Corbel" panose="020B0503020204020204"/>
                        </a:defRPr>
                      </a:lvl6pPr>
                      <a:lvl7pPr marL="2743200" algn="l" defTabSz="914400" rtl="0" eaLnBrk="1" latinLnBrk="0" hangingPunct="1">
                        <a:defRPr sz="1800" kern="1200">
                          <a:solidFill>
                            <a:schemeClr val="tx1"/>
                          </a:solidFill>
                          <a:latin typeface="Corbel" panose="020B0503020204020204"/>
                        </a:defRPr>
                      </a:lvl7pPr>
                      <a:lvl8pPr marL="3200400" algn="l" defTabSz="914400" rtl="0" eaLnBrk="1" latinLnBrk="0" hangingPunct="1">
                        <a:defRPr sz="1800" kern="1200">
                          <a:solidFill>
                            <a:schemeClr val="tx1"/>
                          </a:solidFill>
                          <a:latin typeface="Corbel" panose="020B0503020204020204"/>
                        </a:defRPr>
                      </a:lvl8pPr>
                      <a:lvl9pPr marL="3657600" algn="l" defTabSz="914400" rtl="0" eaLnBrk="1" latinLnBrk="0" hangingPunct="1">
                        <a:defRPr sz="1800" kern="1200">
                          <a:solidFill>
                            <a:schemeClr val="tx1"/>
                          </a:solidFill>
                          <a:latin typeface="Corbel" panose="020B0503020204020204"/>
                        </a:defRPr>
                      </a:lvl9pPr>
                    </a:lstStyle>
                    <a:p>
                      <a:r>
                        <a:rPr lang="en-GB" sz="1200" b="1" dirty="0">
                          <a:solidFill>
                            <a:sysClr val="windowText" lastClr="000000"/>
                          </a:solidFill>
                        </a:rPr>
                        <a:t>Product Name &amp; Strength</a:t>
                      </a:r>
                    </a:p>
                  </a:txBody>
                  <a:tcPr marL="104276" marR="104276" marT="52138" marB="52138">
                    <a:solidFill>
                      <a:schemeClr val="bg2"/>
                    </a:solidFill>
                  </a:tcPr>
                </a:tc>
                <a:tc>
                  <a:txBody>
                    <a:bodyPr/>
                    <a:lstStyle/>
                    <a:p>
                      <a:r>
                        <a:rPr lang="en-GB" sz="1200" dirty="0">
                          <a:solidFill>
                            <a:sysClr val="windowText" lastClr="000000"/>
                          </a:solidFill>
                        </a:rPr>
                        <a:t>Manufacturer</a:t>
                      </a:r>
                    </a:p>
                  </a:txBody>
                  <a:tcPr marL="104276" marR="104276" marT="52138" marB="52138">
                    <a:solidFill>
                      <a:schemeClr val="bg2"/>
                    </a:solidFill>
                  </a:tcPr>
                </a:tc>
                <a:tc>
                  <a:txBody>
                    <a:bodyPr/>
                    <a:lstStyle>
                      <a:lvl1pPr marL="0" algn="l" defTabSz="914400" rtl="0" eaLnBrk="1" latinLnBrk="0" hangingPunct="1">
                        <a:defRPr sz="1800" b="1" kern="1200">
                          <a:solidFill>
                            <a:schemeClr val="lt1"/>
                          </a:solidFill>
                          <a:latin typeface="Corbel" panose="020B0503020204020204"/>
                        </a:defRPr>
                      </a:lvl1pPr>
                      <a:lvl2pPr marL="457200" algn="l" defTabSz="914400" rtl="0" eaLnBrk="1" latinLnBrk="0" hangingPunct="1">
                        <a:defRPr sz="1800" b="1" kern="1200">
                          <a:solidFill>
                            <a:schemeClr val="lt1"/>
                          </a:solidFill>
                          <a:latin typeface="Corbel" panose="020B0503020204020204"/>
                        </a:defRPr>
                      </a:lvl2pPr>
                      <a:lvl3pPr marL="914400" algn="l" defTabSz="914400" rtl="0" eaLnBrk="1" latinLnBrk="0" hangingPunct="1">
                        <a:defRPr sz="1800" b="1" kern="1200">
                          <a:solidFill>
                            <a:schemeClr val="lt1"/>
                          </a:solidFill>
                          <a:latin typeface="Corbel" panose="020B0503020204020204"/>
                        </a:defRPr>
                      </a:lvl3pPr>
                      <a:lvl4pPr marL="1371600" algn="l" defTabSz="914400" rtl="0" eaLnBrk="1" latinLnBrk="0" hangingPunct="1">
                        <a:defRPr sz="1800" b="1" kern="1200">
                          <a:solidFill>
                            <a:schemeClr val="lt1"/>
                          </a:solidFill>
                          <a:latin typeface="Corbel" panose="020B0503020204020204"/>
                        </a:defRPr>
                      </a:lvl4pPr>
                      <a:lvl5pPr marL="1828800" algn="l" defTabSz="914400" rtl="0" eaLnBrk="1" latinLnBrk="0" hangingPunct="1">
                        <a:defRPr sz="1800" b="1" kern="1200">
                          <a:solidFill>
                            <a:schemeClr val="lt1"/>
                          </a:solidFill>
                          <a:latin typeface="Corbel" panose="020B0503020204020204"/>
                        </a:defRPr>
                      </a:lvl5pPr>
                      <a:lvl6pPr marL="2286000" algn="l" defTabSz="914400" rtl="0" eaLnBrk="1" latinLnBrk="0" hangingPunct="1">
                        <a:defRPr sz="1800" b="1" kern="1200">
                          <a:solidFill>
                            <a:schemeClr val="lt1"/>
                          </a:solidFill>
                          <a:latin typeface="Corbel" panose="020B0503020204020204"/>
                        </a:defRPr>
                      </a:lvl6pPr>
                      <a:lvl7pPr marL="2743200" algn="l" defTabSz="914400" rtl="0" eaLnBrk="1" latinLnBrk="0" hangingPunct="1">
                        <a:defRPr sz="1800" b="1" kern="1200">
                          <a:solidFill>
                            <a:schemeClr val="lt1"/>
                          </a:solidFill>
                          <a:latin typeface="Corbel" panose="020B0503020204020204"/>
                        </a:defRPr>
                      </a:lvl7pPr>
                      <a:lvl8pPr marL="3200400" algn="l" defTabSz="914400" rtl="0" eaLnBrk="1" latinLnBrk="0" hangingPunct="1">
                        <a:defRPr sz="1800" b="1" kern="1200">
                          <a:solidFill>
                            <a:schemeClr val="lt1"/>
                          </a:solidFill>
                          <a:latin typeface="Corbel" panose="020B0503020204020204"/>
                        </a:defRPr>
                      </a:lvl8pPr>
                      <a:lvl9pPr marL="3657600" algn="l" defTabSz="914400" rtl="0" eaLnBrk="1" latinLnBrk="0" hangingPunct="1">
                        <a:defRPr sz="1800" b="1" kern="1200">
                          <a:solidFill>
                            <a:schemeClr val="lt1"/>
                          </a:solidFill>
                          <a:latin typeface="Corbel" panose="020B0503020204020204"/>
                        </a:defRPr>
                      </a:lvl9pPr>
                    </a:lstStyle>
                    <a:p>
                      <a:r>
                        <a:rPr lang="en-GB" sz="1200" dirty="0">
                          <a:solidFill>
                            <a:sysClr val="windowText" lastClr="000000"/>
                          </a:solidFill>
                        </a:rPr>
                        <a:t>DMRC Recall number </a:t>
                      </a:r>
                    </a:p>
                  </a:txBody>
                  <a:tcPr marL="104276" marR="104276" marT="52138" marB="52138">
                    <a:solidFill>
                      <a:schemeClr val="bg2"/>
                    </a:solidFill>
                  </a:tcPr>
                </a:tc>
                <a:tc>
                  <a:txBody>
                    <a:bodyPr/>
                    <a:lstStyle>
                      <a:lvl1pPr marL="0" algn="l" defTabSz="914400" rtl="0" eaLnBrk="1" latinLnBrk="0" hangingPunct="1">
                        <a:defRPr sz="1800" b="1" kern="1200">
                          <a:solidFill>
                            <a:schemeClr val="lt1"/>
                          </a:solidFill>
                          <a:latin typeface="Corbel" panose="020B0503020204020204"/>
                        </a:defRPr>
                      </a:lvl1pPr>
                      <a:lvl2pPr marL="457200" algn="l" defTabSz="914400" rtl="0" eaLnBrk="1" latinLnBrk="0" hangingPunct="1">
                        <a:defRPr sz="1800" b="1" kern="1200">
                          <a:solidFill>
                            <a:schemeClr val="lt1"/>
                          </a:solidFill>
                          <a:latin typeface="Corbel" panose="020B0503020204020204"/>
                        </a:defRPr>
                      </a:lvl2pPr>
                      <a:lvl3pPr marL="914400" algn="l" defTabSz="914400" rtl="0" eaLnBrk="1" latinLnBrk="0" hangingPunct="1">
                        <a:defRPr sz="1800" b="1" kern="1200">
                          <a:solidFill>
                            <a:schemeClr val="lt1"/>
                          </a:solidFill>
                          <a:latin typeface="Corbel" panose="020B0503020204020204"/>
                        </a:defRPr>
                      </a:lvl3pPr>
                      <a:lvl4pPr marL="1371600" algn="l" defTabSz="914400" rtl="0" eaLnBrk="1" latinLnBrk="0" hangingPunct="1">
                        <a:defRPr sz="1800" b="1" kern="1200">
                          <a:solidFill>
                            <a:schemeClr val="lt1"/>
                          </a:solidFill>
                          <a:latin typeface="Corbel" panose="020B0503020204020204"/>
                        </a:defRPr>
                      </a:lvl4pPr>
                      <a:lvl5pPr marL="1828800" algn="l" defTabSz="914400" rtl="0" eaLnBrk="1" latinLnBrk="0" hangingPunct="1">
                        <a:defRPr sz="1800" b="1" kern="1200">
                          <a:solidFill>
                            <a:schemeClr val="lt1"/>
                          </a:solidFill>
                          <a:latin typeface="Corbel" panose="020B0503020204020204"/>
                        </a:defRPr>
                      </a:lvl5pPr>
                      <a:lvl6pPr marL="2286000" algn="l" defTabSz="914400" rtl="0" eaLnBrk="1" latinLnBrk="0" hangingPunct="1">
                        <a:defRPr sz="1800" b="1" kern="1200">
                          <a:solidFill>
                            <a:schemeClr val="lt1"/>
                          </a:solidFill>
                          <a:latin typeface="Corbel" panose="020B0503020204020204"/>
                        </a:defRPr>
                      </a:lvl6pPr>
                      <a:lvl7pPr marL="2743200" algn="l" defTabSz="914400" rtl="0" eaLnBrk="1" latinLnBrk="0" hangingPunct="1">
                        <a:defRPr sz="1800" b="1" kern="1200">
                          <a:solidFill>
                            <a:schemeClr val="lt1"/>
                          </a:solidFill>
                          <a:latin typeface="Corbel" panose="020B0503020204020204"/>
                        </a:defRPr>
                      </a:lvl7pPr>
                      <a:lvl8pPr marL="3200400" algn="l" defTabSz="914400" rtl="0" eaLnBrk="1" latinLnBrk="0" hangingPunct="1">
                        <a:defRPr sz="1800" b="1" kern="1200">
                          <a:solidFill>
                            <a:schemeClr val="lt1"/>
                          </a:solidFill>
                          <a:latin typeface="Corbel" panose="020B0503020204020204"/>
                        </a:defRPr>
                      </a:lvl8pPr>
                      <a:lvl9pPr marL="3657600" algn="l" defTabSz="914400" rtl="0" eaLnBrk="1" latinLnBrk="0" hangingPunct="1">
                        <a:defRPr sz="1800" b="1" kern="1200">
                          <a:solidFill>
                            <a:schemeClr val="lt1"/>
                          </a:solidFill>
                          <a:latin typeface="Corbel" panose="020B0503020204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ysClr val="windowText" lastClr="000000"/>
                          </a:solidFill>
                        </a:rPr>
                        <a:t>Reason for recall</a:t>
                      </a:r>
                    </a:p>
                  </a:txBody>
                  <a:tcPr marL="104276" marR="104276" marT="52138" marB="52138">
                    <a:solidFill>
                      <a:schemeClr val="bg2"/>
                    </a:solidFill>
                  </a:tcPr>
                </a:tc>
                <a:tc>
                  <a:txBody>
                    <a:bodyPr/>
                    <a:lstStyle>
                      <a:lvl1pPr marL="0" algn="l" defTabSz="914400" rtl="0" eaLnBrk="1" latinLnBrk="0" hangingPunct="1">
                        <a:defRPr sz="1800" b="1" kern="1200">
                          <a:solidFill>
                            <a:schemeClr val="lt1"/>
                          </a:solidFill>
                          <a:latin typeface="Corbel" panose="020B0503020204020204"/>
                        </a:defRPr>
                      </a:lvl1pPr>
                      <a:lvl2pPr marL="457200" algn="l" defTabSz="914400" rtl="0" eaLnBrk="1" latinLnBrk="0" hangingPunct="1">
                        <a:defRPr sz="1800" b="1" kern="1200">
                          <a:solidFill>
                            <a:schemeClr val="lt1"/>
                          </a:solidFill>
                          <a:latin typeface="Corbel" panose="020B0503020204020204"/>
                        </a:defRPr>
                      </a:lvl2pPr>
                      <a:lvl3pPr marL="914400" algn="l" defTabSz="914400" rtl="0" eaLnBrk="1" latinLnBrk="0" hangingPunct="1">
                        <a:defRPr sz="1800" b="1" kern="1200">
                          <a:solidFill>
                            <a:schemeClr val="lt1"/>
                          </a:solidFill>
                          <a:latin typeface="Corbel" panose="020B0503020204020204"/>
                        </a:defRPr>
                      </a:lvl3pPr>
                      <a:lvl4pPr marL="1371600" algn="l" defTabSz="914400" rtl="0" eaLnBrk="1" latinLnBrk="0" hangingPunct="1">
                        <a:defRPr sz="1800" b="1" kern="1200">
                          <a:solidFill>
                            <a:schemeClr val="lt1"/>
                          </a:solidFill>
                          <a:latin typeface="Corbel" panose="020B0503020204020204"/>
                        </a:defRPr>
                      </a:lvl4pPr>
                      <a:lvl5pPr marL="1828800" algn="l" defTabSz="914400" rtl="0" eaLnBrk="1" latinLnBrk="0" hangingPunct="1">
                        <a:defRPr sz="1800" b="1" kern="1200">
                          <a:solidFill>
                            <a:schemeClr val="lt1"/>
                          </a:solidFill>
                          <a:latin typeface="Corbel" panose="020B0503020204020204"/>
                        </a:defRPr>
                      </a:lvl5pPr>
                      <a:lvl6pPr marL="2286000" algn="l" defTabSz="914400" rtl="0" eaLnBrk="1" latinLnBrk="0" hangingPunct="1">
                        <a:defRPr sz="1800" b="1" kern="1200">
                          <a:solidFill>
                            <a:schemeClr val="lt1"/>
                          </a:solidFill>
                          <a:latin typeface="Corbel" panose="020B0503020204020204"/>
                        </a:defRPr>
                      </a:lvl6pPr>
                      <a:lvl7pPr marL="2743200" algn="l" defTabSz="914400" rtl="0" eaLnBrk="1" latinLnBrk="0" hangingPunct="1">
                        <a:defRPr sz="1800" b="1" kern="1200">
                          <a:solidFill>
                            <a:schemeClr val="lt1"/>
                          </a:solidFill>
                          <a:latin typeface="Corbel" panose="020B0503020204020204"/>
                        </a:defRPr>
                      </a:lvl7pPr>
                      <a:lvl8pPr marL="3200400" algn="l" defTabSz="914400" rtl="0" eaLnBrk="1" latinLnBrk="0" hangingPunct="1">
                        <a:defRPr sz="1800" b="1" kern="1200">
                          <a:solidFill>
                            <a:schemeClr val="lt1"/>
                          </a:solidFill>
                          <a:latin typeface="Corbel" panose="020B0503020204020204"/>
                        </a:defRPr>
                      </a:lvl8pPr>
                      <a:lvl9pPr marL="3657600" algn="l" defTabSz="914400" rtl="0" eaLnBrk="1" latinLnBrk="0" hangingPunct="1">
                        <a:defRPr sz="1800" b="1" kern="1200">
                          <a:solidFill>
                            <a:schemeClr val="lt1"/>
                          </a:solidFill>
                          <a:latin typeface="Corbel" panose="020B0503020204020204"/>
                        </a:defRPr>
                      </a:lvl9pPr>
                    </a:lstStyle>
                    <a:p>
                      <a:r>
                        <a:rPr lang="en-GB" sz="1200" dirty="0">
                          <a:solidFill>
                            <a:sysClr val="windowText" lastClr="000000"/>
                          </a:solidFill>
                        </a:rPr>
                        <a:t>Date Closed </a:t>
                      </a:r>
                    </a:p>
                  </a:txBody>
                  <a:tcPr marL="104276" marR="104276" marT="52138" marB="52138">
                    <a:solidFill>
                      <a:schemeClr val="bg2"/>
                    </a:solidFill>
                  </a:tcPr>
                </a:tc>
                <a:extLst>
                  <a:ext uri="{0D108BD9-81ED-4DB2-BD59-A6C34878D82A}">
                    <a16:rowId xmlns:a16="http://schemas.microsoft.com/office/drawing/2014/main" val="534243998"/>
                  </a:ext>
                </a:extLst>
              </a:tr>
              <a:tr h="612930">
                <a:tc>
                  <a:txBody>
                    <a:bodyPr/>
                    <a:lstStyle/>
                    <a:p>
                      <a:r>
                        <a:rPr lang="en-GB" sz="1200" dirty="0"/>
                        <a:t>27-Jan-26</a:t>
                      </a:r>
                    </a:p>
                  </a:txBody>
                  <a:tcPr marL="104276" marR="104276" marT="52138" marB="52138"/>
                </a:tc>
                <a:tc>
                  <a:txBody>
                    <a:bodyPr/>
                    <a:lstStyle/>
                    <a:p>
                      <a:r>
                        <a:rPr lang="en-GB" sz="1200" b="1" dirty="0">
                          <a:solidFill>
                            <a:schemeClr val="bg1"/>
                          </a:solidFill>
                        </a:rPr>
                        <a:t>Class 1</a:t>
                      </a:r>
                    </a:p>
                  </a:txBody>
                  <a:tcPr marL="104276" marR="104276" marT="52138" marB="52138"/>
                </a:tc>
                <a:tc>
                  <a:txBody>
                    <a:bodyPr/>
                    <a:lstStyle/>
                    <a:p>
                      <a:r>
                        <a:rPr lang="en-GB" sz="1200" b="1" dirty="0">
                          <a:solidFill>
                            <a:schemeClr val="bg1"/>
                          </a:solidFill>
                        </a:rPr>
                        <a:t>Quetiapine Oral Suspension (All strengths)</a:t>
                      </a:r>
                    </a:p>
                  </a:txBody>
                  <a:tcPr marL="104276" marR="104276" marT="52138" marB="52138"/>
                </a:tc>
                <a:tc>
                  <a:txBody>
                    <a:bodyPr/>
                    <a:lstStyle/>
                    <a:p>
                      <a:r>
                        <a:rPr lang="en-GB" sz="1200" dirty="0"/>
                        <a:t>Eaststone</a:t>
                      </a:r>
                    </a:p>
                  </a:txBody>
                  <a:tcPr marL="104276" marR="104276" marT="52138" marB="52138"/>
                </a:tc>
                <a:tc>
                  <a:txBody>
                    <a:bodyPr/>
                    <a:lstStyle/>
                    <a:p>
                      <a:r>
                        <a:rPr lang="en-GB" sz="1200" dirty="0"/>
                        <a:t>DMRC-38317654</a:t>
                      </a:r>
                    </a:p>
                  </a:txBody>
                  <a:tcPr marL="104276" marR="104276" marT="52138" marB="52138"/>
                </a:tc>
                <a:tc>
                  <a:txBody>
                    <a:bodyPr/>
                    <a:lstStyle/>
                    <a:p>
                      <a:r>
                        <a:rPr lang="en-GB" sz="1200" dirty="0"/>
                        <a:t>Incorrect Strength of API in formulations</a:t>
                      </a:r>
                    </a:p>
                  </a:txBody>
                  <a:tcPr marL="104276" marR="104276" marT="52138" marB="52138"/>
                </a:tc>
                <a:tc>
                  <a:txBody>
                    <a:bodyPr/>
                    <a:lstStyle/>
                    <a:p>
                      <a:r>
                        <a:rPr lang="en-GB" sz="1200" dirty="0"/>
                        <a:t>27FEB26</a:t>
                      </a:r>
                    </a:p>
                  </a:txBody>
                  <a:tcPr marL="104276" marR="104276" marT="52138" marB="52138"/>
                </a:tc>
                <a:extLst>
                  <a:ext uri="{0D108BD9-81ED-4DB2-BD59-A6C34878D82A}">
                    <a16:rowId xmlns:a16="http://schemas.microsoft.com/office/drawing/2014/main" val="1396233104"/>
                  </a:ext>
                </a:extLst>
              </a:tr>
              <a:tr h="502275">
                <a:tc>
                  <a:txBody>
                    <a:bodyPr/>
                    <a:lstStyle/>
                    <a:p>
                      <a:r>
                        <a:rPr lang="en-GB" sz="1200" dirty="0"/>
                        <a:t>13-Feb-26</a:t>
                      </a:r>
                    </a:p>
                  </a:txBody>
                  <a:tcPr marL="104276" marR="104276" marT="52138" marB="52138"/>
                </a:tc>
                <a:tc>
                  <a:txBody>
                    <a:bodyPr/>
                    <a:lstStyle/>
                    <a:p>
                      <a:r>
                        <a:rPr lang="en-GB" sz="1200" b="1" dirty="0">
                          <a:solidFill>
                            <a:schemeClr val="bg1"/>
                          </a:solidFill>
                        </a:rPr>
                        <a:t>Class 2</a:t>
                      </a:r>
                    </a:p>
                  </a:txBody>
                  <a:tcPr marL="104276" marR="104276" marT="52138" marB="52138"/>
                </a:tc>
                <a:tc>
                  <a:txBody>
                    <a:bodyPr/>
                    <a:lstStyle/>
                    <a:p>
                      <a:r>
                        <a:rPr lang="en-GB" sz="1200" b="1" dirty="0">
                          <a:solidFill>
                            <a:schemeClr val="bg1"/>
                          </a:solidFill>
                        </a:rPr>
                        <a:t>Melatonin 1mg/ml Oral Solution (Kidnaps)</a:t>
                      </a:r>
                    </a:p>
                  </a:txBody>
                  <a:tcPr marL="104276" marR="104276" marT="52138" marB="52138"/>
                </a:tc>
                <a:tc>
                  <a:txBody>
                    <a:bodyPr/>
                    <a:lstStyle/>
                    <a:p>
                      <a:r>
                        <a:rPr lang="en-GB" sz="1200" dirty="0"/>
                        <a:t>Sterling Pharmaceuticals</a:t>
                      </a:r>
                    </a:p>
                  </a:txBody>
                  <a:tcPr marL="104276" marR="104276" marT="52138" marB="52138"/>
                </a:tc>
                <a:tc>
                  <a:txBody>
                    <a:bodyPr/>
                    <a:lstStyle/>
                    <a:p>
                      <a:r>
                        <a:rPr lang="en-GB" sz="1200" dirty="0"/>
                        <a:t>DMRC-38487919</a:t>
                      </a:r>
                    </a:p>
                  </a:txBody>
                  <a:tcPr marL="104276" marR="104276" marT="52138" marB="52138"/>
                </a:tc>
                <a:tc>
                  <a:txBody>
                    <a:bodyPr/>
                    <a:lstStyle/>
                    <a:p>
                      <a:r>
                        <a:rPr lang="en-GB" sz="1200" dirty="0"/>
                        <a:t>OOS in stability Batches</a:t>
                      </a:r>
                    </a:p>
                  </a:txBody>
                  <a:tcPr marL="104276" marR="104276" marT="52138" marB="52138"/>
                </a:tc>
                <a:tc>
                  <a:txBody>
                    <a:bodyPr/>
                    <a:lstStyle/>
                    <a:p>
                      <a:r>
                        <a:rPr lang="en-GB" sz="1200" dirty="0"/>
                        <a:t>20MAR26</a:t>
                      </a:r>
                    </a:p>
                  </a:txBody>
                  <a:tcPr marL="104276" marR="104276" marT="52138" marB="52138"/>
                </a:tc>
                <a:extLst>
                  <a:ext uri="{0D108BD9-81ED-4DB2-BD59-A6C34878D82A}">
                    <a16:rowId xmlns:a16="http://schemas.microsoft.com/office/drawing/2014/main" val="362588837"/>
                  </a:ext>
                </a:extLst>
              </a:tr>
            </a:tbl>
          </a:graphicData>
        </a:graphic>
      </p:graphicFrame>
      <p:graphicFrame>
        <p:nvGraphicFramePr>
          <p:cNvPr id="12" name="Table 11">
            <a:extLst>
              <a:ext uri="{FF2B5EF4-FFF2-40B4-BE49-F238E27FC236}">
                <a16:creationId xmlns:a16="http://schemas.microsoft.com/office/drawing/2014/main" id="{908AD111-5502-46E3-3A07-2A8A8E09126F}"/>
              </a:ext>
            </a:extLst>
          </p:cNvPr>
          <p:cNvGraphicFramePr>
            <a:graphicFrameLocks noGrp="1"/>
          </p:cNvGraphicFramePr>
          <p:nvPr>
            <p:extLst>
              <p:ext uri="{D42A27DB-BD31-4B8C-83A1-F6EECF244321}">
                <p14:modId xmlns:p14="http://schemas.microsoft.com/office/powerpoint/2010/main" val="2047886414"/>
              </p:ext>
            </p:extLst>
          </p:nvPr>
        </p:nvGraphicFramePr>
        <p:xfrm>
          <a:off x="2990953" y="1676606"/>
          <a:ext cx="2718731" cy="5181392"/>
        </p:xfrm>
        <a:graphic>
          <a:graphicData uri="http://schemas.openxmlformats.org/drawingml/2006/table">
            <a:tbl>
              <a:tblPr firstRow="1">
                <a:tableStyleId>{284E427A-3D55-4303-BF80-6455036E1DE7}</a:tableStyleId>
              </a:tblPr>
              <a:tblGrid>
                <a:gridCol w="1793698">
                  <a:extLst>
                    <a:ext uri="{9D8B030D-6E8A-4147-A177-3AD203B41FA5}">
                      <a16:colId xmlns:a16="http://schemas.microsoft.com/office/drawing/2014/main" val="2801275241"/>
                    </a:ext>
                  </a:extLst>
                </a:gridCol>
                <a:gridCol w="925033">
                  <a:extLst>
                    <a:ext uri="{9D8B030D-6E8A-4147-A177-3AD203B41FA5}">
                      <a16:colId xmlns:a16="http://schemas.microsoft.com/office/drawing/2014/main" val="264867011"/>
                    </a:ext>
                  </a:extLst>
                </a:gridCol>
              </a:tblGrid>
              <a:tr h="432640">
                <a:tc>
                  <a:txBody>
                    <a:bodyPr/>
                    <a:lstStyle/>
                    <a:p>
                      <a:pPr>
                        <a:buNone/>
                      </a:pPr>
                      <a:r>
                        <a:rPr lang="en-GB" sz="1400" dirty="0"/>
                        <a:t>Activity</a:t>
                      </a:r>
                    </a:p>
                  </a:txBody>
                  <a:tcPr anchor="ctr"/>
                </a:tc>
                <a:tc>
                  <a:txBody>
                    <a:bodyPr/>
                    <a:lstStyle/>
                    <a:p>
                      <a:pPr>
                        <a:buNone/>
                      </a:pPr>
                      <a:r>
                        <a:rPr lang="en-GB" sz="1400" dirty="0"/>
                        <a:t>Outcome</a:t>
                      </a:r>
                    </a:p>
                  </a:txBody>
                  <a:tcPr anchor="ctr"/>
                </a:tc>
                <a:extLst>
                  <a:ext uri="{0D108BD9-81ED-4DB2-BD59-A6C34878D82A}">
                    <a16:rowId xmlns:a16="http://schemas.microsoft.com/office/drawing/2014/main" val="1487496951"/>
                  </a:ext>
                </a:extLst>
              </a:tr>
              <a:tr h="801348">
                <a:tc>
                  <a:txBody>
                    <a:bodyPr/>
                    <a:lstStyle/>
                    <a:p>
                      <a:pPr>
                        <a:buNone/>
                      </a:pPr>
                      <a:r>
                        <a:rPr lang="en-GB" sz="1400" dirty="0"/>
                        <a:t>Recall Type (Mock/Genuine)</a:t>
                      </a:r>
                    </a:p>
                  </a:txBody>
                  <a:tcPr anchor="ctr"/>
                </a:tc>
                <a:tc>
                  <a:txBody>
                    <a:bodyPr/>
                    <a:lstStyle/>
                    <a:p>
                      <a:pPr>
                        <a:buNone/>
                      </a:pPr>
                      <a:r>
                        <a:rPr lang="en-GB" sz="1400" dirty="0"/>
                        <a:t>Genuine</a:t>
                      </a:r>
                    </a:p>
                  </a:txBody>
                  <a:tcPr anchor="ctr"/>
                </a:tc>
                <a:extLst>
                  <a:ext uri="{0D108BD9-81ED-4DB2-BD59-A6C34878D82A}">
                    <a16:rowId xmlns:a16="http://schemas.microsoft.com/office/drawing/2014/main" val="2816075432"/>
                  </a:ext>
                </a:extLst>
              </a:tr>
              <a:tr h="567621">
                <a:tc>
                  <a:txBody>
                    <a:bodyPr/>
                    <a:lstStyle/>
                    <a:p>
                      <a:pPr>
                        <a:buNone/>
                      </a:pPr>
                      <a:r>
                        <a:rPr lang="en-GB" sz="1400" dirty="0"/>
                        <a:t>Recall Performed</a:t>
                      </a:r>
                    </a:p>
                  </a:txBody>
                  <a:tcPr anchor="ctr"/>
                </a:tc>
                <a:tc>
                  <a:txBody>
                    <a:bodyPr/>
                    <a:lstStyle/>
                    <a:p>
                      <a:pPr>
                        <a:buNone/>
                      </a:pPr>
                      <a:r>
                        <a:rPr lang="en-GB" sz="1400"/>
                        <a:t>Yes</a:t>
                      </a:r>
                    </a:p>
                  </a:txBody>
                  <a:tcPr anchor="ctr"/>
                </a:tc>
                <a:extLst>
                  <a:ext uri="{0D108BD9-81ED-4DB2-BD59-A6C34878D82A}">
                    <a16:rowId xmlns:a16="http://schemas.microsoft.com/office/drawing/2014/main" val="1588036872"/>
                  </a:ext>
                </a:extLst>
              </a:tr>
              <a:tr h="735488">
                <a:tc>
                  <a:txBody>
                    <a:bodyPr/>
                    <a:lstStyle/>
                    <a:p>
                      <a:pPr>
                        <a:buNone/>
                      </a:pPr>
                      <a:r>
                        <a:rPr lang="en-GB" sz="1400" dirty="0"/>
                        <a:t>Traceability Achieved</a:t>
                      </a:r>
                    </a:p>
                  </a:txBody>
                  <a:tcPr anchor="ctr"/>
                </a:tc>
                <a:tc>
                  <a:txBody>
                    <a:bodyPr/>
                    <a:lstStyle/>
                    <a:p>
                      <a:pPr>
                        <a:buNone/>
                      </a:pPr>
                      <a:r>
                        <a:rPr lang="en-GB" sz="1400" dirty="0"/>
                        <a:t>100%</a:t>
                      </a:r>
                    </a:p>
                  </a:txBody>
                  <a:tcPr anchor="ctr"/>
                </a:tc>
                <a:extLst>
                  <a:ext uri="{0D108BD9-81ED-4DB2-BD59-A6C34878D82A}">
                    <a16:rowId xmlns:a16="http://schemas.microsoft.com/office/drawing/2014/main" val="2948290926"/>
                  </a:ext>
                </a:extLst>
              </a:tr>
              <a:tr h="1038337">
                <a:tc>
                  <a:txBody>
                    <a:bodyPr/>
                    <a:lstStyle/>
                    <a:p>
                      <a:pPr>
                        <a:buNone/>
                      </a:pPr>
                      <a:r>
                        <a:rPr lang="en-GB" sz="1400" dirty="0"/>
                        <a:t>Product Reconciliation Achieved</a:t>
                      </a:r>
                    </a:p>
                  </a:txBody>
                  <a:tcPr anchor="ctr"/>
                </a:tc>
                <a:tc>
                  <a:txBody>
                    <a:bodyPr/>
                    <a:lstStyle/>
                    <a:p>
                      <a:pPr>
                        <a:buNone/>
                      </a:pPr>
                      <a:r>
                        <a:rPr lang="en-GB" sz="1400" dirty="0"/>
                        <a:t>100%</a:t>
                      </a:r>
                    </a:p>
                  </a:txBody>
                  <a:tcPr anchor="ctr"/>
                </a:tc>
                <a:extLst>
                  <a:ext uri="{0D108BD9-81ED-4DB2-BD59-A6C34878D82A}">
                    <a16:rowId xmlns:a16="http://schemas.microsoft.com/office/drawing/2014/main" val="799153638"/>
                  </a:ext>
                </a:extLst>
              </a:tr>
              <a:tr h="567621">
                <a:tc>
                  <a:txBody>
                    <a:bodyPr/>
                    <a:lstStyle/>
                    <a:p>
                      <a:pPr>
                        <a:buNone/>
                      </a:pPr>
                      <a:r>
                        <a:rPr lang="en-GB" sz="1400" dirty="0"/>
                        <a:t>Completion Time</a:t>
                      </a:r>
                    </a:p>
                  </a:txBody>
                  <a:tcPr anchor="ctr"/>
                </a:tc>
                <a:tc>
                  <a:txBody>
                    <a:bodyPr/>
                    <a:lstStyle/>
                    <a:p>
                      <a:pPr>
                        <a:buNone/>
                      </a:pPr>
                      <a:r>
                        <a:rPr lang="en-GB" sz="1400" dirty="0"/>
                        <a:t>30 days</a:t>
                      </a:r>
                    </a:p>
                  </a:txBody>
                  <a:tcPr anchor="ctr"/>
                </a:tc>
                <a:extLst>
                  <a:ext uri="{0D108BD9-81ED-4DB2-BD59-A6C34878D82A}">
                    <a16:rowId xmlns:a16="http://schemas.microsoft.com/office/drawing/2014/main" val="2022541461"/>
                  </a:ext>
                </a:extLst>
              </a:tr>
              <a:tr h="1038337">
                <a:tc>
                  <a:txBody>
                    <a:bodyPr/>
                    <a:lstStyle/>
                    <a:p>
                      <a:pPr>
                        <a:buNone/>
                      </a:pPr>
                      <a:r>
                        <a:rPr lang="en-GB" sz="1400" dirty="0"/>
                        <a:t>Improvement Opportunities Identified</a:t>
                      </a:r>
                    </a:p>
                  </a:txBody>
                  <a:tcPr anchor="ctr"/>
                </a:tc>
                <a:tc>
                  <a:txBody>
                    <a:bodyPr/>
                    <a:lstStyle/>
                    <a:p>
                      <a:pPr>
                        <a:buNone/>
                      </a:pPr>
                      <a:r>
                        <a:rPr lang="en-GB" sz="1400" b="1" dirty="0"/>
                        <a:t>Yes</a:t>
                      </a:r>
                    </a:p>
                  </a:txBody>
                  <a:tcPr anchor="ctr"/>
                </a:tc>
                <a:extLst>
                  <a:ext uri="{0D108BD9-81ED-4DB2-BD59-A6C34878D82A}">
                    <a16:rowId xmlns:a16="http://schemas.microsoft.com/office/drawing/2014/main" val="52996207"/>
                  </a:ext>
                </a:extLst>
              </a:tr>
            </a:tbl>
          </a:graphicData>
        </a:graphic>
      </p:graphicFrame>
      <p:sp>
        <p:nvSpPr>
          <p:cNvPr id="17" name="Title 1">
            <a:extLst>
              <a:ext uri="{FF2B5EF4-FFF2-40B4-BE49-F238E27FC236}">
                <a16:creationId xmlns:a16="http://schemas.microsoft.com/office/drawing/2014/main" id="{8A243AB8-F5CB-3241-792A-C1BC50B457FC}"/>
              </a:ext>
            </a:extLst>
          </p:cNvPr>
          <p:cNvSpPr txBox="1">
            <a:spLocks/>
          </p:cNvSpPr>
          <p:nvPr/>
        </p:nvSpPr>
        <p:spPr>
          <a:xfrm>
            <a:off x="719329" y="1"/>
            <a:ext cx="2271623" cy="1669312"/>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pPr marL="0" marR="0" lvl="0" indent="0" algn="ctr" defTabSz="914400" rtl="0" eaLnBrk="1" fontAlgn="auto" latinLnBrk="0" hangingPunct="1">
              <a:lnSpc>
                <a:spcPct val="85000"/>
              </a:lnSpc>
              <a:spcBef>
                <a:spcPct val="0"/>
              </a:spcBef>
              <a:spcAft>
                <a:spcPts val="0"/>
              </a:spcAft>
              <a:buClrTx/>
              <a:buSzTx/>
              <a:buFontTx/>
              <a:buNone/>
              <a:tabLst/>
              <a:defRPr/>
            </a:pPr>
            <a:r>
              <a:rPr lang="en-GB" sz="2800" b="1" dirty="0">
                <a:solidFill>
                  <a:srgbClr val="FFFFFF"/>
                </a:solidFill>
                <a:latin typeface="Corbel" panose="020B0503020204020204"/>
              </a:rPr>
              <a:t>Summary of all recalls (Q1)</a:t>
            </a:r>
            <a:endParaRPr kumimoji="0" lang="en-GB" sz="2800" b="1" i="0" u="none" strike="noStrike" kern="1200" cap="all" spc="0" normalizeH="0" baseline="0" noProof="0" dirty="0">
              <a:ln>
                <a:noFill/>
              </a:ln>
              <a:solidFill>
                <a:srgbClr val="FFFFFF"/>
              </a:solidFill>
              <a:effectLst/>
              <a:uLnTx/>
              <a:uFillTx/>
              <a:latin typeface="Corbel" panose="020B0503020204020204"/>
              <a:ea typeface="+mj-ea"/>
              <a:cs typeface="+mj-cs"/>
            </a:endParaRPr>
          </a:p>
        </p:txBody>
      </p:sp>
      <p:sp>
        <p:nvSpPr>
          <p:cNvPr id="18" name="TextBox 17">
            <a:extLst>
              <a:ext uri="{FF2B5EF4-FFF2-40B4-BE49-F238E27FC236}">
                <a16:creationId xmlns:a16="http://schemas.microsoft.com/office/drawing/2014/main" id="{4EB26C17-F84D-CD68-F9F9-F3C09AEDC8D2}"/>
              </a:ext>
            </a:extLst>
          </p:cNvPr>
          <p:cNvSpPr txBox="1"/>
          <p:nvPr/>
        </p:nvSpPr>
        <p:spPr>
          <a:xfrm>
            <a:off x="5723521" y="1687240"/>
            <a:ext cx="6468478" cy="2308324"/>
          </a:xfrm>
          <a:prstGeom prst="rect">
            <a:avLst/>
          </a:prstGeom>
          <a:noFill/>
        </p:spPr>
        <p:txBody>
          <a:bodyPr wrap="square" rtlCol="0">
            <a:spAutoFit/>
          </a:bodyPr>
          <a:lstStyle/>
          <a:p>
            <a:r>
              <a:rPr lang="en-GB" u="sng" dirty="0"/>
              <a:t>Recall Outcome &amp; Key learning: </a:t>
            </a:r>
          </a:p>
          <a:p>
            <a:pPr marL="285750" indent="-285750">
              <a:buFont typeface="Arial" panose="020B0604020202020204" pitchFamily="34" charset="0"/>
              <a:buChar char="•"/>
            </a:pPr>
            <a:r>
              <a:rPr lang="en-GB" dirty="0"/>
              <a:t>All affected product was successfully traced and reconciled.</a:t>
            </a:r>
          </a:p>
          <a:p>
            <a:pPr marL="285750" indent="-285750">
              <a:buFont typeface="Arial" panose="020B0604020202020204" pitchFamily="34" charset="0"/>
              <a:buChar char="•"/>
            </a:pPr>
            <a:r>
              <a:rPr lang="en-GB" dirty="0"/>
              <a:t>No loss of product accountability was identified.</a:t>
            </a:r>
          </a:p>
          <a:p>
            <a:pPr marL="285750" indent="-285750">
              <a:buFont typeface="Arial" panose="020B0604020202020204" pitchFamily="34" charset="0"/>
              <a:buChar char="•"/>
            </a:pPr>
            <a:r>
              <a:rPr lang="en-GB" dirty="0"/>
              <a:t>Recall objectives were achieved within the required timeframe.</a:t>
            </a:r>
          </a:p>
          <a:p>
            <a:pPr marL="285750" indent="-285750">
              <a:buFont typeface="Arial" panose="020B0604020202020204" pitchFamily="34" charset="0"/>
              <a:buChar char="•"/>
            </a:pPr>
            <a:r>
              <a:rPr lang="en-GB" dirty="0"/>
              <a:t>Limitations within BC regarding tracing product distribution and generating reconciliation data. </a:t>
            </a:r>
          </a:p>
          <a:p>
            <a:pPr marL="285750" indent="-285750">
              <a:buFont typeface="Arial" panose="020B0604020202020204" pitchFamily="34" charset="0"/>
              <a:buChar char="•"/>
            </a:pPr>
            <a:r>
              <a:rPr lang="en-GB" dirty="0"/>
              <a:t>Manual investigation and additional resource effort to identify product destination and complete reconciliation. </a:t>
            </a:r>
          </a:p>
        </p:txBody>
      </p:sp>
      <p:graphicFrame>
        <p:nvGraphicFramePr>
          <p:cNvPr id="19" name="Table 18">
            <a:extLst>
              <a:ext uri="{FF2B5EF4-FFF2-40B4-BE49-F238E27FC236}">
                <a16:creationId xmlns:a16="http://schemas.microsoft.com/office/drawing/2014/main" id="{BB444750-BBB9-3FA2-F49A-12D781D1F11B}"/>
              </a:ext>
            </a:extLst>
          </p:cNvPr>
          <p:cNvGraphicFramePr>
            <a:graphicFrameLocks noGrp="1"/>
          </p:cNvGraphicFramePr>
          <p:nvPr>
            <p:extLst>
              <p:ext uri="{D42A27DB-BD31-4B8C-83A1-F6EECF244321}">
                <p14:modId xmlns:p14="http://schemas.microsoft.com/office/powerpoint/2010/main" val="3004901354"/>
              </p:ext>
            </p:extLst>
          </p:nvPr>
        </p:nvGraphicFramePr>
        <p:xfrm>
          <a:off x="5723520" y="3995564"/>
          <a:ext cx="6468478" cy="2862437"/>
        </p:xfrm>
        <a:graphic>
          <a:graphicData uri="http://schemas.openxmlformats.org/drawingml/2006/table">
            <a:tbl>
              <a:tblPr/>
              <a:tblGrid>
                <a:gridCol w="3234239">
                  <a:extLst>
                    <a:ext uri="{9D8B030D-6E8A-4147-A177-3AD203B41FA5}">
                      <a16:colId xmlns:a16="http://schemas.microsoft.com/office/drawing/2014/main" val="3844346388"/>
                    </a:ext>
                  </a:extLst>
                </a:gridCol>
                <a:gridCol w="3234239">
                  <a:extLst>
                    <a:ext uri="{9D8B030D-6E8A-4147-A177-3AD203B41FA5}">
                      <a16:colId xmlns:a16="http://schemas.microsoft.com/office/drawing/2014/main" val="2766108521"/>
                    </a:ext>
                  </a:extLst>
                </a:gridCol>
              </a:tblGrid>
              <a:tr h="394819">
                <a:tc gridSpan="2">
                  <a:txBody>
                    <a:bodyPr/>
                    <a:lstStyle/>
                    <a:p>
                      <a:pPr>
                        <a:buNone/>
                      </a:pPr>
                      <a:r>
                        <a:rPr lang="en-GB" sz="1800" u="sng" dirty="0"/>
                        <a:t>Business &amp; Compliance Impact</a:t>
                      </a:r>
                    </a:p>
                  </a:txBody>
                  <a:tcPr anchor="ctr">
                    <a:lnL>
                      <a:noFill/>
                    </a:lnL>
                    <a:lnR>
                      <a:noFill/>
                    </a:lnR>
                    <a:lnT>
                      <a:noFill/>
                    </a:lnT>
                    <a:lnB>
                      <a:noFill/>
                    </a:lnB>
                    <a:noFill/>
                  </a:tcPr>
                </a:tc>
                <a:tc hMerge="1">
                  <a:txBody>
                    <a:bodyPr/>
                    <a:lstStyle/>
                    <a:p>
                      <a:pPr>
                        <a:buNone/>
                      </a:pPr>
                      <a:endParaRPr lang="en-GB" sz="1800" dirty="0"/>
                    </a:p>
                  </a:txBody>
                  <a:tcPr anchor="ctr">
                    <a:lnL>
                      <a:noFill/>
                    </a:lnL>
                    <a:lnR>
                      <a:noFill/>
                    </a:lnR>
                    <a:lnT>
                      <a:noFill/>
                    </a:lnT>
                    <a:lnB>
                      <a:noFill/>
                    </a:lnB>
                    <a:noFill/>
                  </a:tcPr>
                </a:tc>
                <a:extLst>
                  <a:ext uri="{0D108BD9-81ED-4DB2-BD59-A6C34878D82A}">
                    <a16:rowId xmlns:a16="http://schemas.microsoft.com/office/drawing/2014/main" val="1744256730"/>
                  </a:ext>
                </a:extLst>
              </a:tr>
              <a:tr h="394819">
                <a:tc>
                  <a:txBody>
                    <a:bodyPr/>
                    <a:lstStyle/>
                    <a:p>
                      <a:pPr>
                        <a:buNone/>
                      </a:pPr>
                      <a:r>
                        <a:rPr lang="en-GB" sz="1800" b="1" dirty="0"/>
                        <a:t>Observation</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en-GB" sz="1800" b="1" dirty="0"/>
                        <a:t>Impact</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7488953"/>
                  </a:ext>
                </a:extLst>
              </a:tr>
              <a:tr h="690933">
                <a:tc>
                  <a:txBody>
                    <a:bodyPr/>
                    <a:lstStyle/>
                    <a:p>
                      <a:pPr>
                        <a:buNone/>
                      </a:pPr>
                      <a:r>
                        <a:rPr lang="en-GB" sz="1800" dirty="0"/>
                        <a:t>Manual traceability activities required</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buNone/>
                      </a:pPr>
                      <a:r>
                        <a:rPr lang="en-GB" sz="1800" dirty="0"/>
                        <a:t>Increased recall duration</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839100672"/>
                  </a:ext>
                </a:extLst>
              </a:tr>
              <a:tr h="690933">
                <a:tc>
                  <a:txBody>
                    <a:bodyPr/>
                    <a:lstStyle/>
                    <a:p>
                      <a:pPr>
                        <a:buNone/>
                      </a:pPr>
                      <a:r>
                        <a:rPr lang="en-GB" sz="1800" dirty="0"/>
                        <a:t>Limited reporting functionality</a:t>
                      </a:r>
                    </a:p>
                  </a:txBody>
                  <a:tcPr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en-GB" sz="1800"/>
                        <a:t>Reduced efficiency of reconciliation</a:t>
                      </a:r>
                    </a:p>
                  </a:txBody>
                  <a:tcPr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679695714"/>
                  </a:ext>
                </a:extLst>
              </a:tr>
              <a:tr h="690933">
                <a:tc>
                  <a:txBody>
                    <a:bodyPr/>
                    <a:lstStyle/>
                    <a:p>
                      <a:pPr>
                        <a:buNone/>
                      </a:pPr>
                      <a:r>
                        <a:rPr lang="en-GB" sz="1800" dirty="0"/>
                        <a:t>Additional QA and Operations resource required</a:t>
                      </a:r>
                    </a:p>
                  </a:txBody>
                  <a:tcPr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en-GB" sz="1800" dirty="0"/>
                        <a:t>Increased workload during recall</a:t>
                      </a:r>
                    </a:p>
                  </a:txBody>
                  <a:tcPr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246325249"/>
                  </a:ext>
                </a:extLst>
              </a:tr>
            </a:tbl>
          </a:graphicData>
        </a:graphic>
      </p:graphicFrame>
    </p:spTree>
    <p:extLst>
      <p:ext uri="{BB962C8B-B14F-4D97-AF65-F5344CB8AC3E}">
        <p14:creationId xmlns:p14="http://schemas.microsoft.com/office/powerpoint/2010/main" val="13317672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B91763E-1787-52CA-5866-79E252E4C07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541EECB-9026-BE6A-25B4-ABDB7DD32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1" name="Rectangle 10">
            <a:extLst>
              <a:ext uri="{FF2B5EF4-FFF2-40B4-BE49-F238E27FC236}">
                <a16:creationId xmlns:a16="http://schemas.microsoft.com/office/drawing/2014/main" id="{17FB80A4-E36F-E0F2-9DEB-54BEEE31B1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3" name="Rectangle 12">
            <a:extLst>
              <a:ext uri="{FF2B5EF4-FFF2-40B4-BE49-F238E27FC236}">
                <a16:creationId xmlns:a16="http://schemas.microsoft.com/office/drawing/2014/main" id="{B834E885-CCB3-F2EA-C735-FA73BFA95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A5D028"/>
              </a:solidFill>
              <a:effectLst/>
              <a:uLnTx/>
              <a:uFillTx/>
              <a:latin typeface="Corbel" panose="020B0503020204020204"/>
              <a:ea typeface="+mn-ea"/>
              <a:cs typeface="+mn-cs"/>
            </a:endParaRPr>
          </a:p>
        </p:txBody>
      </p:sp>
      <p:sp>
        <p:nvSpPr>
          <p:cNvPr id="14" name="Rectangle 13">
            <a:extLst>
              <a:ext uri="{FF2B5EF4-FFF2-40B4-BE49-F238E27FC236}">
                <a16:creationId xmlns:a16="http://schemas.microsoft.com/office/drawing/2014/main" id="{346348BC-1D1E-EB93-E526-A064324DF3A0}"/>
              </a:ext>
            </a:extLst>
          </p:cNvPr>
          <p:cNvSpPr/>
          <p:nvPr/>
        </p:nvSpPr>
        <p:spPr>
          <a:xfrm>
            <a:off x="-92251" y="0"/>
            <a:ext cx="915122" cy="6858002"/>
          </a:xfrm>
          <a:prstGeom prst="rect">
            <a:avLst/>
          </a:prstGeom>
          <a:noFill/>
        </p:spPr>
        <p:txBody>
          <a:bodyPr vert="wordArtVert"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w="0"/>
                <a:solidFill>
                  <a:srgbClr val="FFFFFF"/>
                </a:solidFill>
                <a:effectLst>
                  <a:outerShdw blurRad="38100" dist="38100" dir="2700000" algn="tl">
                    <a:srgbClr val="000000">
                      <a:alpha val="43137"/>
                    </a:srgbClr>
                  </a:outerShdw>
                </a:effectLst>
                <a:uLnTx/>
                <a:uFillTx/>
                <a:latin typeface="Corbel" panose="020B0503020204020204"/>
                <a:ea typeface="+mn-ea"/>
                <a:cs typeface="+mn-cs"/>
              </a:rPr>
              <a:t>RETURNS &amp; REJECTED BATCHES</a:t>
            </a:r>
          </a:p>
        </p:txBody>
      </p:sp>
      <p:graphicFrame>
        <p:nvGraphicFramePr>
          <p:cNvPr id="19" name="Table 18">
            <a:extLst>
              <a:ext uri="{FF2B5EF4-FFF2-40B4-BE49-F238E27FC236}">
                <a16:creationId xmlns:a16="http://schemas.microsoft.com/office/drawing/2014/main" id="{834D7422-55BB-6AB7-4FDF-525CC7E1D171}"/>
              </a:ext>
            </a:extLst>
          </p:cNvPr>
          <p:cNvGraphicFramePr>
            <a:graphicFrameLocks noGrp="1"/>
          </p:cNvGraphicFramePr>
          <p:nvPr>
            <p:extLst>
              <p:ext uri="{D42A27DB-BD31-4B8C-83A1-F6EECF244321}">
                <p14:modId xmlns:p14="http://schemas.microsoft.com/office/powerpoint/2010/main" val="916798148"/>
              </p:ext>
            </p:extLst>
          </p:nvPr>
        </p:nvGraphicFramePr>
        <p:xfrm>
          <a:off x="719329" y="3267139"/>
          <a:ext cx="4845724" cy="2286000"/>
        </p:xfrm>
        <a:graphic>
          <a:graphicData uri="http://schemas.openxmlformats.org/drawingml/2006/table">
            <a:tbl>
              <a:tblPr/>
              <a:tblGrid>
                <a:gridCol w="1645502">
                  <a:extLst>
                    <a:ext uri="{9D8B030D-6E8A-4147-A177-3AD203B41FA5}">
                      <a16:colId xmlns:a16="http://schemas.microsoft.com/office/drawing/2014/main" val="2504782950"/>
                    </a:ext>
                  </a:extLst>
                </a:gridCol>
                <a:gridCol w="3200222">
                  <a:extLst>
                    <a:ext uri="{9D8B030D-6E8A-4147-A177-3AD203B41FA5}">
                      <a16:colId xmlns:a16="http://schemas.microsoft.com/office/drawing/2014/main" val="2486466393"/>
                    </a:ext>
                  </a:extLst>
                </a:gridCol>
              </a:tblGrid>
              <a:tr h="288966">
                <a:tc gridSpan="2">
                  <a:txBody>
                    <a:bodyPr/>
                    <a:lstStyle/>
                    <a:p>
                      <a:pPr>
                        <a:buNone/>
                      </a:pPr>
                      <a:r>
                        <a:rPr lang="en-GB" sz="1400" b="1" u="sng" dirty="0"/>
                        <a:t>Investigation Outcomes</a:t>
                      </a:r>
                    </a:p>
                  </a:txBody>
                  <a:tcPr anchor="ctr">
                    <a:lnL>
                      <a:noFill/>
                    </a:lnL>
                    <a:lnR>
                      <a:noFill/>
                    </a:lnR>
                    <a:lnT>
                      <a:noFill/>
                    </a:lnT>
                    <a:lnB>
                      <a:noFill/>
                    </a:lnB>
                    <a:solidFill>
                      <a:schemeClr val="bg2">
                        <a:lumMod val="75000"/>
                      </a:schemeClr>
                    </a:solidFill>
                  </a:tcPr>
                </a:tc>
                <a:tc hMerge="1">
                  <a:txBody>
                    <a:bodyPr/>
                    <a:lstStyle/>
                    <a:p>
                      <a:pPr>
                        <a:buNone/>
                      </a:pPr>
                      <a:endParaRPr lang="en-GB" sz="1800" dirty="0"/>
                    </a:p>
                  </a:txBody>
                  <a:tcPr anchor="ctr">
                    <a:lnL>
                      <a:noFill/>
                    </a:lnL>
                    <a:lnR>
                      <a:noFill/>
                    </a:lnR>
                    <a:lnT>
                      <a:noFill/>
                    </a:lnT>
                    <a:lnB>
                      <a:noFill/>
                    </a:lnB>
                    <a:noFill/>
                  </a:tcPr>
                </a:tc>
                <a:extLst>
                  <a:ext uri="{0D108BD9-81ED-4DB2-BD59-A6C34878D82A}">
                    <a16:rowId xmlns:a16="http://schemas.microsoft.com/office/drawing/2014/main" val="1132416577"/>
                  </a:ext>
                </a:extLst>
              </a:tr>
              <a:tr h="288966">
                <a:tc>
                  <a:txBody>
                    <a:bodyPr/>
                    <a:lstStyle/>
                    <a:p>
                      <a:pPr>
                        <a:buNone/>
                      </a:pPr>
                      <a:r>
                        <a:rPr lang="en-GB" sz="1400" b="1" dirty="0"/>
                        <a:t>Return Reason</a:t>
                      </a:r>
                    </a:p>
                  </a:txBody>
                  <a:tcPr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tc>
                  <a:txBody>
                    <a:bodyPr/>
                    <a:lstStyle/>
                    <a:p>
                      <a:pPr>
                        <a:buNone/>
                      </a:pPr>
                      <a:r>
                        <a:rPr lang="en-GB" sz="1400" b="1" dirty="0"/>
                        <a:t>Outcome</a:t>
                      </a:r>
                    </a:p>
                  </a:txBody>
                  <a:tcPr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extLst>
                  <a:ext uri="{0D108BD9-81ED-4DB2-BD59-A6C34878D82A}">
                    <a16:rowId xmlns:a16="http://schemas.microsoft.com/office/drawing/2014/main" val="1120874957"/>
                  </a:ext>
                </a:extLst>
              </a:tr>
              <a:tr h="722414">
                <a:tc>
                  <a:txBody>
                    <a:bodyPr/>
                    <a:lstStyle/>
                    <a:p>
                      <a:pPr>
                        <a:buNone/>
                      </a:pPr>
                      <a:r>
                        <a:rPr lang="en-GB" sz="1400" dirty="0"/>
                        <a:t>Black specks observed in product</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a:buNone/>
                      </a:pPr>
                      <a:r>
                        <a:rPr lang="en-GB" sz="1400" dirty="0"/>
                        <a:t>Complaint not confirmed following investigation. Returned sample inspected and no black specks identified.</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2536448824"/>
                  </a:ext>
                </a:extLst>
              </a:tr>
              <a:tr h="939139">
                <a:tc>
                  <a:txBody>
                    <a:bodyPr/>
                    <a:lstStyle/>
                    <a:p>
                      <a:pPr>
                        <a:buNone/>
                      </a:pPr>
                      <a:r>
                        <a:rPr lang="en-GB" sz="1400" dirty="0"/>
                        <a:t>Product considered "too runny"</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2">
                        <a:lumMod val="60000"/>
                        <a:lumOff val="40000"/>
                      </a:schemeClr>
                    </a:solidFill>
                  </a:tcPr>
                </a:tc>
                <a:tc>
                  <a:txBody>
                    <a:bodyPr/>
                    <a:lstStyle/>
                    <a:p>
                      <a:pPr>
                        <a:buNone/>
                      </a:pPr>
                      <a:r>
                        <a:rPr lang="en-GB" sz="1400" dirty="0"/>
                        <a:t>Product met approved specification. Investigation concluded the reported characteristic was consistent with the normal properties of the product.</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chemeClr val="bg2">
                        <a:lumMod val="60000"/>
                        <a:lumOff val="40000"/>
                      </a:schemeClr>
                    </a:solidFill>
                  </a:tcPr>
                </a:tc>
                <a:extLst>
                  <a:ext uri="{0D108BD9-81ED-4DB2-BD59-A6C34878D82A}">
                    <a16:rowId xmlns:a16="http://schemas.microsoft.com/office/drawing/2014/main" val="3590574768"/>
                  </a:ext>
                </a:extLst>
              </a:tr>
            </a:tbl>
          </a:graphicData>
        </a:graphic>
      </p:graphicFrame>
      <p:sp>
        <p:nvSpPr>
          <p:cNvPr id="20" name="Rectangle 1">
            <a:extLst>
              <a:ext uri="{FF2B5EF4-FFF2-40B4-BE49-F238E27FC236}">
                <a16:creationId xmlns:a16="http://schemas.microsoft.com/office/drawing/2014/main" id="{D1124A7C-B62E-BA12-3156-7333D7F72DF2}"/>
              </a:ext>
            </a:extLst>
          </p:cNvPr>
          <p:cNvSpPr>
            <a:spLocks noChangeArrowheads="1"/>
          </p:cNvSpPr>
          <p:nvPr/>
        </p:nvSpPr>
        <p:spPr bwMode="auto">
          <a:xfrm>
            <a:off x="719329" y="-4"/>
            <a:ext cx="4845724" cy="523220"/>
          </a:xfrm>
          <a:prstGeom prst="rect">
            <a:avLst/>
          </a:prstGeom>
          <a:solidFill>
            <a:schemeClr val="bg2">
              <a:lumMod val="5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Product Returns Summary</a:t>
            </a:r>
          </a:p>
        </p:txBody>
      </p:sp>
      <p:graphicFrame>
        <p:nvGraphicFramePr>
          <p:cNvPr id="28" name="Table 27">
            <a:extLst>
              <a:ext uri="{FF2B5EF4-FFF2-40B4-BE49-F238E27FC236}">
                <a16:creationId xmlns:a16="http://schemas.microsoft.com/office/drawing/2014/main" id="{B5CD12A8-CAA1-3744-CB10-08796C222312}"/>
              </a:ext>
            </a:extLst>
          </p:cNvPr>
          <p:cNvGraphicFramePr>
            <a:graphicFrameLocks noGrp="1"/>
          </p:cNvGraphicFramePr>
          <p:nvPr>
            <p:extLst>
              <p:ext uri="{D42A27DB-BD31-4B8C-83A1-F6EECF244321}">
                <p14:modId xmlns:p14="http://schemas.microsoft.com/office/powerpoint/2010/main" val="563912360"/>
              </p:ext>
            </p:extLst>
          </p:nvPr>
        </p:nvGraphicFramePr>
        <p:xfrm>
          <a:off x="715329" y="518160"/>
          <a:ext cx="4849724" cy="2743200"/>
        </p:xfrm>
        <a:graphic>
          <a:graphicData uri="http://schemas.openxmlformats.org/drawingml/2006/table">
            <a:tbl>
              <a:tblPr/>
              <a:tblGrid>
                <a:gridCol w="2761518">
                  <a:extLst>
                    <a:ext uri="{9D8B030D-6E8A-4147-A177-3AD203B41FA5}">
                      <a16:colId xmlns:a16="http://schemas.microsoft.com/office/drawing/2014/main" val="4169944855"/>
                    </a:ext>
                  </a:extLst>
                </a:gridCol>
                <a:gridCol w="2088206">
                  <a:extLst>
                    <a:ext uri="{9D8B030D-6E8A-4147-A177-3AD203B41FA5}">
                      <a16:colId xmlns:a16="http://schemas.microsoft.com/office/drawing/2014/main" val="804616433"/>
                    </a:ext>
                  </a:extLst>
                </a:gridCol>
              </a:tblGrid>
              <a:tr h="209422">
                <a:tc gridSpan="2">
                  <a:txBody>
                    <a:bodyPr/>
                    <a:lstStyle/>
                    <a:p>
                      <a:pPr>
                        <a:buNone/>
                      </a:pPr>
                      <a:r>
                        <a:rPr lang="en-GB" sz="1400" b="1" u="sng" dirty="0"/>
                        <a:t>Return Activity</a:t>
                      </a:r>
                    </a:p>
                  </a:txBody>
                  <a:tcPr anchor="ctr">
                    <a:lnL>
                      <a:noFill/>
                    </a:lnL>
                    <a:lnR>
                      <a:noFill/>
                    </a:lnR>
                    <a:lnT>
                      <a:noFill/>
                    </a:lnT>
                    <a:lnB>
                      <a:noFill/>
                    </a:lnB>
                    <a:solidFill>
                      <a:schemeClr val="bg2">
                        <a:lumMod val="75000"/>
                      </a:schemeClr>
                    </a:solidFill>
                  </a:tcPr>
                </a:tc>
                <a:tc hMerge="1">
                  <a:txBody>
                    <a:bodyPr/>
                    <a:lstStyle/>
                    <a:p>
                      <a:pPr>
                        <a:buNone/>
                      </a:pPr>
                      <a:endParaRPr lang="en-GB" sz="1800" dirty="0"/>
                    </a:p>
                  </a:txBody>
                  <a:tcPr anchor="ctr">
                    <a:lnL>
                      <a:noFill/>
                    </a:lnL>
                    <a:lnR>
                      <a:noFill/>
                    </a:lnR>
                    <a:lnT>
                      <a:noFill/>
                    </a:lnT>
                    <a:lnB>
                      <a:noFill/>
                    </a:lnB>
                    <a:noFill/>
                  </a:tcPr>
                </a:tc>
                <a:extLst>
                  <a:ext uri="{0D108BD9-81ED-4DB2-BD59-A6C34878D82A}">
                    <a16:rowId xmlns:a16="http://schemas.microsoft.com/office/drawing/2014/main" val="4105439174"/>
                  </a:ext>
                </a:extLst>
              </a:tr>
              <a:tr h="209422">
                <a:tc>
                  <a:txBody>
                    <a:bodyPr/>
                    <a:lstStyle/>
                    <a:p>
                      <a:pPr>
                        <a:buNone/>
                      </a:pPr>
                      <a:r>
                        <a:rPr lang="en-GB" sz="1400" b="1" dirty="0"/>
                        <a:t>Metric</a:t>
                      </a:r>
                    </a:p>
                  </a:txBody>
                  <a:tcPr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tc>
                  <a:txBody>
                    <a:bodyPr/>
                    <a:lstStyle/>
                    <a:p>
                      <a:pPr>
                        <a:buNone/>
                      </a:pPr>
                      <a:r>
                        <a:rPr lang="en-GB" sz="1400" b="1" dirty="0"/>
                        <a:t>Quarter Total</a:t>
                      </a:r>
                    </a:p>
                  </a:txBody>
                  <a:tcPr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extLst>
                  <a:ext uri="{0D108BD9-81ED-4DB2-BD59-A6C34878D82A}">
                    <a16:rowId xmlns:a16="http://schemas.microsoft.com/office/drawing/2014/main" val="4066134825"/>
                  </a:ext>
                </a:extLst>
              </a:tr>
              <a:tr h="209422">
                <a:tc>
                  <a:txBody>
                    <a:bodyPr/>
                    <a:lstStyle/>
                    <a:p>
                      <a:pPr>
                        <a:buNone/>
                      </a:pPr>
                      <a:r>
                        <a:rPr lang="en-GB" sz="1400" dirty="0"/>
                        <a:t>Total Product Returns Received</a:t>
                      </a:r>
                    </a:p>
                  </a:txBody>
                  <a:tcPr anchor="ctr">
                    <a:lnL>
                      <a:noFill/>
                    </a:lnL>
                    <a:lnR w="12700" cap="flat" cmpd="sng" algn="ctr">
                      <a:solidFill>
                        <a:schemeClr val="tx1"/>
                      </a:solidFill>
                      <a:prstDash val="solid"/>
                      <a:round/>
                      <a:headEnd type="none" w="med" len="med"/>
                      <a:tailEnd type="none" w="med" len="med"/>
                    </a:lnR>
                    <a:lnT>
                      <a:noFill/>
                    </a:lnT>
                    <a:lnB>
                      <a:noFill/>
                    </a:lnB>
                    <a:solidFill>
                      <a:schemeClr val="bg2">
                        <a:lumMod val="60000"/>
                        <a:lumOff val="40000"/>
                      </a:schemeClr>
                    </a:solidFill>
                  </a:tcPr>
                </a:tc>
                <a:tc>
                  <a:txBody>
                    <a:bodyPr/>
                    <a:lstStyle/>
                    <a:p>
                      <a:pPr>
                        <a:buNone/>
                      </a:pPr>
                      <a:r>
                        <a:rPr lang="en-GB" sz="1400" dirty="0"/>
                        <a:t>2</a:t>
                      </a:r>
                    </a:p>
                  </a:txBody>
                  <a:tcPr anchor="ctr">
                    <a:lnL w="12700" cap="flat" cmpd="sng" algn="ctr">
                      <a:solidFill>
                        <a:schemeClr val="tx1"/>
                      </a:solidFill>
                      <a:prstDash val="solid"/>
                      <a:round/>
                      <a:headEnd type="none" w="med" len="med"/>
                      <a:tailEnd type="none" w="med" len="med"/>
                    </a:lnL>
                    <a:lnR>
                      <a:noFill/>
                    </a:lnR>
                    <a:lnT>
                      <a:noFill/>
                    </a:lnT>
                    <a:lnB>
                      <a:noFill/>
                    </a:lnB>
                    <a:solidFill>
                      <a:schemeClr val="bg2">
                        <a:lumMod val="60000"/>
                        <a:lumOff val="40000"/>
                      </a:schemeClr>
                    </a:solidFill>
                  </a:tcPr>
                </a:tc>
                <a:extLst>
                  <a:ext uri="{0D108BD9-81ED-4DB2-BD59-A6C34878D82A}">
                    <a16:rowId xmlns:a16="http://schemas.microsoft.com/office/drawing/2014/main" val="885721715"/>
                  </a:ext>
                </a:extLst>
              </a:tr>
              <a:tr h="209422">
                <a:tc>
                  <a:txBody>
                    <a:bodyPr/>
                    <a:lstStyle/>
                    <a:p>
                      <a:pPr>
                        <a:buNone/>
                      </a:pPr>
                      <a:r>
                        <a:rPr lang="en-GB" sz="1400" dirty="0"/>
                        <a:t>Complaint returns</a:t>
                      </a:r>
                    </a:p>
                  </a:txBody>
                  <a:tcPr anchor="ctr">
                    <a:lnL>
                      <a:noFill/>
                    </a:lnL>
                    <a:lnR w="12700" cap="flat" cmpd="sng" algn="ctr">
                      <a:solidFill>
                        <a:schemeClr val="tx1"/>
                      </a:solidFill>
                      <a:prstDash val="solid"/>
                      <a:round/>
                      <a:headEnd type="none" w="med" len="med"/>
                      <a:tailEnd type="none" w="med" len="med"/>
                    </a:lnR>
                    <a:lnT>
                      <a:noFill/>
                    </a:lnT>
                    <a:lnB>
                      <a:noFill/>
                    </a:lnB>
                    <a:solidFill>
                      <a:schemeClr val="bg2">
                        <a:lumMod val="60000"/>
                        <a:lumOff val="40000"/>
                      </a:schemeClr>
                    </a:solidFill>
                  </a:tcPr>
                </a:tc>
                <a:tc>
                  <a:txBody>
                    <a:bodyPr/>
                    <a:lstStyle/>
                    <a:p>
                      <a:pPr>
                        <a:buNone/>
                      </a:pPr>
                      <a:r>
                        <a:rPr lang="en-GB" sz="1400" b="0" dirty="0"/>
                        <a:t>2</a:t>
                      </a:r>
                    </a:p>
                  </a:txBody>
                  <a:tcPr anchor="ctr">
                    <a:lnL w="12700" cap="flat" cmpd="sng" algn="ctr">
                      <a:solidFill>
                        <a:schemeClr val="tx1"/>
                      </a:solidFill>
                      <a:prstDash val="solid"/>
                      <a:round/>
                      <a:headEnd type="none" w="med" len="med"/>
                      <a:tailEnd type="none" w="med" len="med"/>
                    </a:lnL>
                    <a:lnR>
                      <a:noFill/>
                    </a:lnR>
                    <a:lnT>
                      <a:noFill/>
                    </a:lnT>
                    <a:lnB>
                      <a:noFill/>
                    </a:lnB>
                    <a:solidFill>
                      <a:schemeClr val="bg2">
                        <a:lumMod val="60000"/>
                        <a:lumOff val="40000"/>
                      </a:schemeClr>
                    </a:solidFill>
                  </a:tcPr>
                </a:tc>
                <a:extLst>
                  <a:ext uri="{0D108BD9-81ED-4DB2-BD59-A6C34878D82A}">
                    <a16:rowId xmlns:a16="http://schemas.microsoft.com/office/drawing/2014/main" val="1833591751"/>
                  </a:ext>
                </a:extLst>
              </a:tr>
              <a:tr h="209422">
                <a:tc>
                  <a:txBody>
                    <a:bodyPr/>
                    <a:lstStyle/>
                    <a:p>
                      <a:pPr>
                        <a:buNone/>
                      </a:pPr>
                      <a:r>
                        <a:rPr lang="en-GB" sz="1400" dirty="0"/>
                        <a:t>Courier damage returns</a:t>
                      </a:r>
                    </a:p>
                  </a:txBody>
                  <a:tcPr anchor="ctr">
                    <a:lnL>
                      <a:noFill/>
                    </a:lnL>
                    <a:lnR w="12700" cap="flat" cmpd="sng" algn="ctr">
                      <a:solidFill>
                        <a:schemeClr val="tx1"/>
                      </a:solidFill>
                      <a:prstDash val="solid"/>
                      <a:round/>
                      <a:headEnd type="none" w="med" len="med"/>
                      <a:tailEnd type="none" w="med" len="med"/>
                    </a:lnR>
                    <a:lnT>
                      <a:noFill/>
                    </a:lnT>
                    <a:lnB>
                      <a:noFill/>
                    </a:lnB>
                    <a:solidFill>
                      <a:schemeClr val="bg2">
                        <a:lumMod val="60000"/>
                        <a:lumOff val="40000"/>
                      </a:schemeClr>
                    </a:solidFill>
                  </a:tcPr>
                </a:tc>
                <a:tc>
                  <a:txBody>
                    <a:bodyPr/>
                    <a:lstStyle/>
                    <a:p>
                      <a:pPr>
                        <a:buNone/>
                      </a:pPr>
                      <a:r>
                        <a:rPr lang="en-GB" sz="1400" dirty="0"/>
                        <a:t>0</a:t>
                      </a:r>
                    </a:p>
                  </a:txBody>
                  <a:tcPr anchor="ctr">
                    <a:lnL w="12700" cap="flat" cmpd="sng" algn="ctr">
                      <a:solidFill>
                        <a:schemeClr val="tx1"/>
                      </a:solidFill>
                      <a:prstDash val="solid"/>
                      <a:round/>
                      <a:headEnd type="none" w="med" len="med"/>
                      <a:tailEnd type="none" w="med" len="med"/>
                    </a:lnL>
                    <a:lnR>
                      <a:noFill/>
                    </a:lnR>
                    <a:lnT>
                      <a:noFill/>
                    </a:lnT>
                    <a:lnB>
                      <a:noFill/>
                    </a:lnB>
                    <a:solidFill>
                      <a:schemeClr val="bg2">
                        <a:lumMod val="60000"/>
                        <a:lumOff val="40000"/>
                      </a:schemeClr>
                    </a:solidFill>
                  </a:tcPr>
                </a:tc>
                <a:extLst>
                  <a:ext uri="{0D108BD9-81ED-4DB2-BD59-A6C34878D82A}">
                    <a16:rowId xmlns:a16="http://schemas.microsoft.com/office/drawing/2014/main" val="1107623149"/>
                  </a:ext>
                </a:extLst>
              </a:tr>
              <a:tr h="209422">
                <a:tc>
                  <a:txBody>
                    <a:bodyPr/>
                    <a:lstStyle/>
                    <a:p>
                      <a:pPr>
                        <a:buNone/>
                      </a:pPr>
                      <a:r>
                        <a:rPr lang="en-GB" sz="1400" dirty="0"/>
                        <a:t>Investigations Completed</a:t>
                      </a:r>
                    </a:p>
                  </a:txBody>
                  <a:tcPr anchor="ctr">
                    <a:lnL>
                      <a:noFill/>
                    </a:lnL>
                    <a:lnR w="12700" cap="flat" cmpd="sng" algn="ctr">
                      <a:solidFill>
                        <a:schemeClr val="tx1"/>
                      </a:solidFill>
                      <a:prstDash val="solid"/>
                      <a:round/>
                      <a:headEnd type="none" w="med" len="med"/>
                      <a:tailEnd type="none" w="med" len="med"/>
                    </a:lnR>
                    <a:lnT>
                      <a:noFill/>
                    </a:lnT>
                    <a:lnB>
                      <a:noFill/>
                    </a:lnB>
                    <a:solidFill>
                      <a:schemeClr val="bg2">
                        <a:lumMod val="60000"/>
                        <a:lumOff val="40000"/>
                      </a:schemeClr>
                    </a:solidFill>
                  </a:tcPr>
                </a:tc>
                <a:tc>
                  <a:txBody>
                    <a:bodyPr/>
                    <a:lstStyle/>
                    <a:p>
                      <a:pPr>
                        <a:buNone/>
                      </a:pPr>
                      <a:r>
                        <a:rPr lang="en-GB" sz="1400" dirty="0"/>
                        <a:t>2</a:t>
                      </a:r>
                    </a:p>
                  </a:txBody>
                  <a:tcPr anchor="ctr">
                    <a:lnL w="12700" cap="flat" cmpd="sng" algn="ctr">
                      <a:solidFill>
                        <a:schemeClr val="tx1"/>
                      </a:solidFill>
                      <a:prstDash val="solid"/>
                      <a:round/>
                      <a:headEnd type="none" w="med" len="med"/>
                      <a:tailEnd type="none" w="med" len="med"/>
                    </a:lnL>
                    <a:lnR>
                      <a:noFill/>
                    </a:lnR>
                    <a:lnT>
                      <a:noFill/>
                    </a:lnT>
                    <a:lnB>
                      <a:noFill/>
                    </a:lnB>
                    <a:solidFill>
                      <a:schemeClr val="bg2">
                        <a:lumMod val="60000"/>
                        <a:lumOff val="40000"/>
                      </a:schemeClr>
                    </a:solidFill>
                  </a:tcPr>
                </a:tc>
                <a:extLst>
                  <a:ext uri="{0D108BD9-81ED-4DB2-BD59-A6C34878D82A}">
                    <a16:rowId xmlns:a16="http://schemas.microsoft.com/office/drawing/2014/main" val="3157461112"/>
                  </a:ext>
                </a:extLst>
              </a:tr>
              <a:tr h="209422">
                <a:tc>
                  <a:txBody>
                    <a:bodyPr/>
                    <a:lstStyle/>
                    <a:p>
                      <a:pPr>
                        <a:buNone/>
                      </a:pPr>
                      <a:r>
                        <a:rPr lang="en-GB" sz="1400" dirty="0"/>
                        <a:t>Confirmed Product Defects</a:t>
                      </a:r>
                    </a:p>
                  </a:txBody>
                  <a:tcPr anchor="ctr">
                    <a:lnL>
                      <a:noFill/>
                    </a:lnL>
                    <a:lnR w="12700" cap="flat" cmpd="sng" algn="ctr">
                      <a:solidFill>
                        <a:schemeClr val="tx1"/>
                      </a:solidFill>
                      <a:prstDash val="solid"/>
                      <a:round/>
                      <a:headEnd type="none" w="med" len="med"/>
                      <a:tailEnd type="none" w="med" len="med"/>
                    </a:lnR>
                    <a:lnT>
                      <a:noFill/>
                    </a:lnT>
                    <a:lnB>
                      <a:noFill/>
                    </a:lnB>
                    <a:solidFill>
                      <a:schemeClr val="bg2">
                        <a:lumMod val="60000"/>
                        <a:lumOff val="40000"/>
                      </a:schemeClr>
                    </a:solidFill>
                  </a:tcPr>
                </a:tc>
                <a:tc>
                  <a:txBody>
                    <a:bodyPr/>
                    <a:lstStyle/>
                    <a:p>
                      <a:pPr>
                        <a:buNone/>
                      </a:pPr>
                      <a:r>
                        <a:rPr lang="en-GB" sz="1400" dirty="0"/>
                        <a:t>0</a:t>
                      </a:r>
                    </a:p>
                  </a:txBody>
                  <a:tcPr anchor="ctr">
                    <a:lnL w="12700" cap="flat" cmpd="sng" algn="ctr">
                      <a:solidFill>
                        <a:schemeClr val="tx1"/>
                      </a:solidFill>
                      <a:prstDash val="solid"/>
                      <a:round/>
                      <a:headEnd type="none" w="med" len="med"/>
                      <a:tailEnd type="none" w="med" len="med"/>
                    </a:lnL>
                    <a:lnR>
                      <a:noFill/>
                    </a:lnR>
                    <a:lnT>
                      <a:noFill/>
                    </a:lnT>
                    <a:lnB>
                      <a:noFill/>
                    </a:lnB>
                    <a:solidFill>
                      <a:schemeClr val="bg2">
                        <a:lumMod val="60000"/>
                        <a:lumOff val="40000"/>
                      </a:schemeClr>
                    </a:solidFill>
                  </a:tcPr>
                </a:tc>
                <a:extLst>
                  <a:ext uri="{0D108BD9-81ED-4DB2-BD59-A6C34878D82A}">
                    <a16:rowId xmlns:a16="http://schemas.microsoft.com/office/drawing/2014/main" val="2462453915"/>
                  </a:ext>
                </a:extLst>
              </a:tr>
              <a:tr h="209422">
                <a:tc>
                  <a:txBody>
                    <a:bodyPr/>
                    <a:lstStyle/>
                    <a:p>
                      <a:pPr>
                        <a:buNone/>
                      </a:pPr>
                      <a:r>
                        <a:rPr lang="en-GB" sz="1400" dirty="0"/>
                        <a:t>Open Investigations</a:t>
                      </a:r>
                    </a:p>
                  </a:txBody>
                  <a:tcPr anchor="ctr">
                    <a:lnL>
                      <a:noFill/>
                    </a:lnL>
                    <a:lnR w="12700" cap="flat" cmpd="sng" algn="ctr">
                      <a:solidFill>
                        <a:schemeClr val="tx1"/>
                      </a:solidFill>
                      <a:prstDash val="solid"/>
                      <a:round/>
                      <a:headEnd type="none" w="med" len="med"/>
                      <a:tailEnd type="none" w="med" len="med"/>
                    </a:lnR>
                    <a:lnT>
                      <a:noFill/>
                    </a:lnT>
                    <a:lnB>
                      <a:noFill/>
                    </a:lnB>
                    <a:solidFill>
                      <a:schemeClr val="bg2">
                        <a:lumMod val="60000"/>
                        <a:lumOff val="40000"/>
                      </a:schemeClr>
                    </a:solidFill>
                  </a:tcPr>
                </a:tc>
                <a:tc>
                  <a:txBody>
                    <a:bodyPr/>
                    <a:lstStyle/>
                    <a:p>
                      <a:pPr>
                        <a:buNone/>
                      </a:pPr>
                      <a:r>
                        <a:rPr lang="en-GB" sz="1400" dirty="0"/>
                        <a:t>0</a:t>
                      </a:r>
                    </a:p>
                  </a:txBody>
                  <a:tcPr anchor="ctr">
                    <a:lnL w="12700" cap="flat" cmpd="sng" algn="ctr">
                      <a:solidFill>
                        <a:schemeClr val="tx1"/>
                      </a:solidFill>
                      <a:prstDash val="solid"/>
                      <a:round/>
                      <a:headEnd type="none" w="med" len="med"/>
                      <a:tailEnd type="none" w="med" len="med"/>
                    </a:lnL>
                    <a:lnR>
                      <a:noFill/>
                    </a:lnR>
                    <a:lnT>
                      <a:noFill/>
                    </a:lnT>
                    <a:lnB>
                      <a:noFill/>
                    </a:lnB>
                    <a:solidFill>
                      <a:schemeClr val="bg2">
                        <a:lumMod val="60000"/>
                        <a:lumOff val="40000"/>
                      </a:schemeClr>
                    </a:solidFill>
                  </a:tcPr>
                </a:tc>
                <a:extLst>
                  <a:ext uri="{0D108BD9-81ED-4DB2-BD59-A6C34878D82A}">
                    <a16:rowId xmlns:a16="http://schemas.microsoft.com/office/drawing/2014/main" val="2788748478"/>
                  </a:ext>
                </a:extLst>
              </a:tr>
              <a:tr h="209422">
                <a:tc>
                  <a:txBody>
                    <a:bodyPr/>
                    <a:lstStyle/>
                    <a:p>
                      <a:pPr>
                        <a:buNone/>
                      </a:pPr>
                      <a:r>
                        <a:rPr lang="en-GB" sz="1400" dirty="0"/>
                        <a:t>CAPAs Raised</a:t>
                      </a:r>
                    </a:p>
                  </a:txBody>
                  <a:tcPr anchor="ctr">
                    <a:lnL>
                      <a:noFill/>
                    </a:lnL>
                    <a:lnR w="12700" cap="flat" cmpd="sng" algn="ctr">
                      <a:solidFill>
                        <a:schemeClr val="tx1"/>
                      </a:solidFill>
                      <a:prstDash val="solid"/>
                      <a:round/>
                      <a:headEnd type="none" w="med" len="med"/>
                      <a:tailEnd type="none" w="med" len="med"/>
                    </a:lnR>
                    <a:lnT>
                      <a:noFill/>
                    </a:lnT>
                    <a:lnB>
                      <a:noFill/>
                    </a:lnB>
                    <a:solidFill>
                      <a:schemeClr val="bg2">
                        <a:lumMod val="60000"/>
                        <a:lumOff val="40000"/>
                      </a:schemeClr>
                    </a:solidFill>
                  </a:tcPr>
                </a:tc>
                <a:tc>
                  <a:txBody>
                    <a:bodyPr/>
                    <a:lstStyle/>
                    <a:p>
                      <a:pPr>
                        <a:buNone/>
                      </a:pPr>
                      <a:r>
                        <a:rPr lang="en-GB" sz="1400" dirty="0"/>
                        <a:t>0</a:t>
                      </a:r>
                    </a:p>
                  </a:txBody>
                  <a:tcPr anchor="ctr">
                    <a:lnL w="12700" cap="flat" cmpd="sng" algn="ctr">
                      <a:solidFill>
                        <a:schemeClr val="tx1"/>
                      </a:solidFill>
                      <a:prstDash val="solid"/>
                      <a:round/>
                      <a:headEnd type="none" w="med" len="med"/>
                      <a:tailEnd type="none" w="med" len="med"/>
                    </a:lnL>
                    <a:lnR>
                      <a:noFill/>
                    </a:lnR>
                    <a:lnT>
                      <a:noFill/>
                    </a:lnT>
                    <a:lnB>
                      <a:noFill/>
                    </a:lnB>
                    <a:solidFill>
                      <a:schemeClr val="bg2">
                        <a:lumMod val="60000"/>
                        <a:lumOff val="40000"/>
                      </a:schemeClr>
                    </a:solidFill>
                  </a:tcPr>
                </a:tc>
                <a:extLst>
                  <a:ext uri="{0D108BD9-81ED-4DB2-BD59-A6C34878D82A}">
                    <a16:rowId xmlns:a16="http://schemas.microsoft.com/office/drawing/2014/main" val="2052845556"/>
                  </a:ext>
                </a:extLst>
              </a:tr>
            </a:tbl>
          </a:graphicData>
        </a:graphic>
      </p:graphicFrame>
      <p:graphicFrame>
        <p:nvGraphicFramePr>
          <p:cNvPr id="31" name="Table 30">
            <a:extLst>
              <a:ext uri="{FF2B5EF4-FFF2-40B4-BE49-F238E27FC236}">
                <a16:creationId xmlns:a16="http://schemas.microsoft.com/office/drawing/2014/main" id="{A8E431AE-7016-DB47-6C70-DCC36F0BB90F}"/>
              </a:ext>
            </a:extLst>
          </p:cNvPr>
          <p:cNvGraphicFramePr>
            <a:graphicFrameLocks noGrp="1"/>
          </p:cNvGraphicFramePr>
          <p:nvPr>
            <p:extLst>
              <p:ext uri="{D42A27DB-BD31-4B8C-83A1-F6EECF244321}">
                <p14:modId xmlns:p14="http://schemas.microsoft.com/office/powerpoint/2010/main" val="1044526523"/>
              </p:ext>
            </p:extLst>
          </p:nvPr>
        </p:nvGraphicFramePr>
        <p:xfrm>
          <a:off x="723329" y="5553138"/>
          <a:ext cx="4841724" cy="1304862"/>
        </p:xfrm>
        <a:graphic>
          <a:graphicData uri="http://schemas.openxmlformats.org/drawingml/2006/table">
            <a:tbl>
              <a:tblPr firstRow="1" bandRow="1">
                <a:tableStyleId>{21E4AEA4-8DFA-4A89-87EB-49C32662AFE0}</a:tableStyleId>
              </a:tblPr>
              <a:tblGrid>
                <a:gridCol w="4841724">
                  <a:extLst>
                    <a:ext uri="{9D8B030D-6E8A-4147-A177-3AD203B41FA5}">
                      <a16:colId xmlns:a16="http://schemas.microsoft.com/office/drawing/2014/main" val="3582380697"/>
                    </a:ext>
                  </a:extLst>
                </a:gridCol>
              </a:tblGrid>
              <a:tr h="330246">
                <a:tc>
                  <a:txBody>
                    <a:bodyPr/>
                    <a:lstStyle/>
                    <a:p>
                      <a:r>
                        <a:rPr lang="en-GB" sz="1400" u="sng" dirty="0"/>
                        <a:t>Management Conclusion</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300104444"/>
                  </a:ext>
                </a:extLst>
              </a:tr>
              <a:tr h="974616">
                <a:tc>
                  <a:txBody>
                    <a:bodyPr/>
                    <a:lstStyle/>
                    <a:p>
                      <a:r>
                        <a:rPr lang="en-GB" sz="1400" dirty="0">
                          <a:solidFill>
                            <a:schemeClr val="tx1"/>
                          </a:solidFill>
                        </a:rPr>
                        <a:t>No product quality defects attributable to Eaststone were identified. No recurring trends or systemic issues were observed and no CAPAs were required.</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2">
                        <a:lumMod val="60000"/>
                        <a:lumOff val="40000"/>
                      </a:schemeClr>
                    </a:solidFill>
                  </a:tcPr>
                </a:tc>
                <a:extLst>
                  <a:ext uri="{0D108BD9-81ED-4DB2-BD59-A6C34878D82A}">
                    <a16:rowId xmlns:a16="http://schemas.microsoft.com/office/drawing/2014/main" val="2888796486"/>
                  </a:ext>
                </a:extLst>
              </a:tr>
            </a:tbl>
          </a:graphicData>
        </a:graphic>
      </p:graphicFrame>
      <p:sp>
        <p:nvSpPr>
          <p:cNvPr id="32" name="Rectangle 1">
            <a:extLst>
              <a:ext uri="{FF2B5EF4-FFF2-40B4-BE49-F238E27FC236}">
                <a16:creationId xmlns:a16="http://schemas.microsoft.com/office/drawing/2014/main" id="{033DE5C0-0210-0314-1F32-7CDBB77514A5}"/>
              </a:ext>
            </a:extLst>
          </p:cNvPr>
          <p:cNvSpPr>
            <a:spLocks noChangeArrowheads="1"/>
          </p:cNvSpPr>
          <p:nvPr/>
        </p:nvSpPr>
        <p:spPr bwMode="auto">
          <a:xfrm>
            <a:off x="5565053" y="0"/>
            <a:ext cx="6626946" cy="523220"/>
          </a:xfrm>
          <a:prstGeom prst="rect">
            <a:avLst/>
          </a:prstGeom>
          <a:solidFill>
            <a:schemeClr val="bg2">
              <a:lumMod val="5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Rejected Batches Summary</a:t>
            </a:r>
          </a:p>
        </p:txBody>
      </p:sp>
      <p:graphicFrame>
        <p:nvGraphicFramePr>
          <p:cNvPr id="33" name="Table 32">
            <a:extLst>
              <a:ext uri="{FF2B5EF4-FFF2-40B4-BE49-F238E27FC236}">
                <a16:creationId xmlns:a16="http://schemas.microsoft.com/office/drawing/2014/main" id="{A6F748F1-A59B-06AE-6292-118DB21E70B6}"/>
              </a:ext>
            </a:extLst>
          </p:cNvPr>
          <p:cNvGraphicFramePr>
            <a:graphicFrameLocks noGrp="1"/>
          </p:cNvGraphicFramePr>
          <p:nvPr>
            <p:extLst>
              <p:ext uri="{D42A27DB-BD31-4B8C-83A1-F6EECF244321}">
                <p14:modId xmlns:p14="http://schemas.microsoft.com/office/powerpoint/2010/main" val="4072240505"/>
              </p:ext>
            </p:extLst>
          </p:nvPr>
        </p:nvGraphicFramePr>
        <p:xfrm>
          <a:off x="5565052" y="518362"/>
          <a:ext cx="6626945" cy="2133600"/>
        </p:xfrm>
        <a:graphic>
          <a:graphicData uri="http://schemas.openxmlformats.org/drawingml/2006/table">
            <a:tbl>
              <a:tblPr/>
              <a:tblGrid>
                <a:gridCol w="3773499">
                  <a:extLst>
                    <a:ext uri="{9D8B030D-6E8A-4147-A177-3AD203B41FA5}">
                      <a16:colId xmlns:a16="http://schemas.microsoft.com/office/drawing/2014/main" val="4169944855"/>
                    </a:ext>
                  </a:extLst>
                </a:gridCol>
                <a:gridCol w="2853446">
                  <a:extLst>
                    <a:ext uri="{9D8B030D-6E8A-4147-A177-3AD203B41FA5}">
                      <a16:colId xmlns:a16="http://schemas.microsoft.com/office/drawing/2014/main" val="804616433"/>
                    </a:ext>
                  </a:extLst>
                </a:gridCol>
              </a:tblGrid>
              <a:tr h="209422">
                <a:tc gridSpan="2">
                  <a:txBody>
                    <a:bodyPr/>
                    <a:lstStyle/>
                    <a:p>
                      <a:pPr>
                        <a:buNone/>
                      </a:pPr>
                      <a:r>
                        <a:rPr lang="en-GB" sz="1400" b="1" u="sng" dirty="0"/>
                        <a:t>Rejected Batch Activity</a:t>
                      </a:r>
                    </a:p>
                  </a:txBody>
                  <a:tcPr anchor="ctr">
                    <a:lnL>
                      <a:noFill/>
                    </a:lnL>
                    <a:lnR>
                      <a:noFill/>
                    </a:lnR>
                    <a:lnT>
                      <a:noFill/>
                    </a:lnT>
                    <a:lnB>
                      <a:noFill/>
                    </a:lnB>
                    <a:solidFill>
                      <a:schemeClr val="bg2">
                        <a:lumMod val="75000"/>
                      </a:schemeClr>
                    </a:solidFill>
                  </a:tcPr>
                </a:tc>
                <a:tc hMerge="1">
                  <a:txBody>
                    <a:bodyPr/>
                    <a:lstStyle/>
                    <a:p>
                      <a:pPr>
                        <a:buNone/>
                      </a:pPr>
                      <a:endParaRPr lang="en-GB" sz="1800" dirty="0"/>
                    </a:p>
                  </a:txBody>
                  <a:tcPr anchor="ctr">
                    <a:lnL>
                      <a:noFill/>
                    </a:lnL>
                    <a:lnR>
                      <a:noFill/>
                    </a:lnR>
                    <a:lnT>
                      <a:noFill/>
                    </a:lnT>
                    <a:lnB>
                      <a:noFill/>
                    </a:lnB>
                    <a:noFill/>
                  </a:tcPr>
                </a:tc>
                <a:extLst>
                  <a:ext uri="{0D108BD9-81ED-4DB2-BD59-A6C34878D82A}">
                    <a16:rowId xmlns:a16="http://schemas.microsoft.com/office/drawing/2014/main" val="4105439174"/>
                  </a:ext>
                </a:extLst>
              </a:tr>
              <a:tr h="209422">
                <a:tc>
                  <a:txBody>
                    <a:bodyPr/>
                    <a:lstStyle/>
                    <a:p>
                      <a:pPr>
                        <a:buNone/>
                      </a:pPr>
                      <a:r>
                        <a:rPr lang="en-GB" sz="1400" b="1" dirty="0"/>
                        <a:t>Metric</a:t>
                      </a:r>
                    </a:p>
                  </a:txBody>
                  <a:tcPr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tc>
                  <a:txBody>
                    <a:bodyPr/>
                    <a:lstStyle/>
                    <a:p>
                      <a:pPr>
                        <a:buNone/>
                      </a:pPr>
                      <a:r>
                        <a:rPr lang="en-GB" sz="1400" b="1" dirty="0"/>
                        <a:t>Quarter Total</a:t>
                      </a:r>
                    </a:p>
                  </a:txBody>
                  <a:tcPr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extLst>
                  <a:ext uri="{0D108BD9-81ED-4DB2-BD59-A6C34878D82A}">
                    <a16:rowId xmlns:a16="http://schemas.microsoft.com/office/drawing/2014/main" val="4066134825"/>
                  </a:ext>
                </a:extLst>
              </a:tr>
              <a:tr h="209422">
                <a:tc>
                  <a:txBody>
                    <a:bodyPr/>
                    <a:lstStyle/>
                    <a:p>
                      <a:pPr>
                        <a:buNone/>
                      </a:pPr>
                      <a:r>
                        <a:rPr lang="en-GB" sz="1400" dirty="0"/>
                        <a:t>Total Rejected batches</a:t>
                      </a:r>
                    </a:p>
                  </a:txBody>
                  <a:tcPr anchor="ctr">
                    <a:lnL>
                      <a:noFill/>
                    </a:lnL>
                    <a:lnR w="12700" cap="flat" cmpd="sng" algn="ctr">
                      <a:solidFill>
                        <a:schemeClr val="tx1"/>
                      </a:solidFill>
                      <a:prstDash val="solid"/>
                      <a:round/>
                      <a:headEnd type="none" w="med" len="med"/>
                      <a:tailEnd type="none" w="med" len="med"/>
                    </a:lnR>
                    <a:lnT>
                      <a:noFill/>
                    </a:lnT>
                    <a:lnB>
                      <a:noFill/>
                    </a:lnB>
                    <a:solidFill>
                      <a:schemeClr val="bg2">
                        <a:lumMod val="60000"/>
                        <a:lumOff val="40000"/>
                      </a:schemeClr>
                    </a:solidFill>
                  </a:tcPr>
                </a:tc>
                <a:tc>
                  <a:txBody>
                    <a:bodyPr/>
                    <a:lstStyle/>
                    <a:p>
                      <a:pPr>
                        <a:buNone/>
                      </a:pPr>
                      <a:r>
                        <a:rPr lang="en-GB" sz="1400" dirty="0"/>
                        <a:t>1</a:t>
                      </a:r>
                    </a:p>
                  </a:txBody>
                  <a:tcPr anchor="ctr">
                    <a:lnL w="12700" cap="flat" cmpd="sng" algn="ctr">
                      <a:solidFill>
                        <a:schemeClr val="tx1"/>
                      </a:solidFill>
                      <a:prstDash val="solid"/>
                      <a:round/>
                      <a:headEnd type="none" w="med" len="med"/>
                      <a:tailEnd type="none" w="med" len="med"/>
                    </a:lnL>
                    <a:lnR>
                      <a:noFill/>
                    </a:lnR>
                    <a:lnT>
                      <a:noFill/>
                    </a:lnT>
                    <a:lnB>
                      <a:noFill/>
                    </a:lnB>
                    <a:solidFill>
                      <a:schemeClr val="bg2">
                        <a:lumMod val="60000"/>
                        <a:lumOff val="40000"/>
                      </a:schemeClr>
                    </a:solidFill>
                  </a:tcPr>
                </a:tc>
                <a:extLst>
                  <a:ext uri="{0D108BD9-81ED-4DB2-BD59-A6C34878D82A}">
                    <a16:rowId xmlns:a16="http://schemas.microsoft.com/office/drawing/2014/main" val="885721715"/>
                  </a:ext>
                </a:extLst>
              </a:tr>
              <a:tr h="209422">
                <a:tc>
                  <a:txBody>
                    <a:bodyPr/>
                    <a:lstStyle/>
                    <a:p>
                      <a:pPr>
                        <a:buNone/>
                      </a:pPr>
                      <a:r>
                        <a:rPr lang="en-GB" sz="1400" dirty="0"/>
                        <a:t>Manufacturing rejected batches</a:t>
                      </a:r>
                    </a:p>
                  </a:txBody>
                  <a:tcPr anchor="ctr">
                    <a:lnL>
                      <a:noFill/>
                    </a:lnL>
                    <a:lnR w="12700" cap="flat" cmpd="sng" algn="ctr">
                      <a:solidFill>
                        <a:schemeClr val="tx1"/>
                      </a:solidFill>
                      <a:prstDash val="solid"/>
                      <a:round/>
                      <a:headEnd type="none" w="med" len="med"/>
                      <a:tailEnd type="none" w="med" len="med"/>
                    </a:lnR>
                    <a:lnT>
                      <a:noFill/>
                    </a:lnT>
                    <a:lnB>
                      <a:noFill/>
                    </a:lnB>
                    <a:solidFill>
                      <a:schemeClr val="bg2">
                        <a:lumMod val="60000"/>
                        <a:lumOff val="40000"/>
                      </a:schemeClr>
                    </a:solidFill>
                  </a:tcPr>
                </a:tc>
                <a:tc>
                  <a:txBody>
                    <a:bodyPr/>
                    <a:lstStyle/>
                    <a:p>
                      <a:pPr>
                        <a:buNone/>
                      </a:pPr>
                      <a:r>
                        <a:rPr lang="en-GB" sz="1400" dirty="0"/>
                        <a:t>0</a:t>
                      </a:r>
                    </a:p>
                  </a:txBody>
                  <a:tcPr anchor="ctr">
                    <a:lnL w="12700" cap="flat" cmpd="sng" algn="ctr">
                      <a:solidFill>
                        <a:schemeClr val="tx1"/>
                      </a:solidFill>
                      <a:prstDash val="solid"/>
                      <a:round/>
                      <a:headEnd type="none" w="med" len="med"/>
                      <a:tailEnd type="none" w="med" len="med"/>
                    </a:lnL>
                    <a:lnR>
                      <a:noFill/>
                    </a:lnR>
                    <a:lnT>
                      <a:noFill/>
                    </a:lnT>
                    <a:lnB>
                      <a:noFill/>
                    </a:lnB>
                    <a:solidFill>
                      <a:schemeClr val="bg2">
                        <a:lumMod val="60000"/>
                        <a:lumOff val="40000"/>
                      </a:schemeClr>
                    </a:solidFill>
                  </a:tcPr>
                </a:tc>
                <a:extLst>
                  <a:ext uri="{0D108BD9-81ED-4DB2-BD59-A6C34878D82A}">
                    <a16:rowId xmlns:a16="http://schemas.microsoft.com/office/drawing/2014/main" val="2592204878"/>
                  </a:ext>
                </a:extLst>
              </a:tr>
              <a:tr h="209422">
                <a:tc>
                  <a:txBody>
                    <a:bodyPr/>
                    <a:lstStyle/>
                    <a:p>
                      <a:pPr>
                        <a:buNone/>
                      </a:pPr>
                      <a:r>
                        <a:rPr lang="en-GB" sz="1400" dirty="0"/>
                        <a:t>OOS rejected batches</a:t>
                      </a:r>
                    </a:p>
                  </a:txBody>
                  <a:tcPr anchor="ctr">
                    <a:lnL>
                      <a:noFill/>
                    </a:lnL>
                    <a:lnR w="12700" cap="flat" cmpd="sng" algn="ctr">
                      <a:solidFill>
                        <a:schemeClr val="tx1"/>
                      </a:solidFill>
                      <a:prstDash val="solid"/>
                      <a:round/>
                      <a:headEnd type="none" w="med" len="med"/>
                      <a:tailEnd type="none" w="med" len="med"/>
                    </a:lnR>
                    <a:lnT>
                      <a:noFill/>
                    </a:lnT>
                    <a:lnB>
                      <a:noFill/>
                    </a:lnB>
                    <a:solidFill>
                      <a:schemeClr val="bg2">
                        <a:lumMod val="60000"/>
                        <a:lumOff val="40000"/>
                      </a:schemeClr>
                    </a:solidFill>
                  </a:tcPr>
                </a:tc>
                <a:tc>
                  <a:txBody>
                    <a:bodyPr/>
                    <a:lstStyle/>
                    <a:p>
                      <a:pPr>
                        <a:buNone/>
                      </a:pPr>
                      <a:r>
                        <a:rPr lang="en-GB" sz="1400" dirty="0"/>
                        <a:t>1</a:t>
                      </a:r>
                    </a:p>
                  </a:txBody>
                  <a:tcPr anchor="ctr">
                    <a:lnL w="12700" cap="flat" cmpd="sng" algn="ctr">
                      <a:solidFill>
                        <a:schemeClr val="tx1"/>
                      </a:solidFill>
                      <a:prstDash val="solid"/>
                      <a:round/>
                      <a:headEnd type="none" w="med" len="med"/>
                      <a:tailEnd type="none" w="med" len="med"/>
                    </a:lnL>
                    <a:lnR>
                      <a:noFill/>
                    </a:lnR>
                    <a:lnT>
                      <a:noFill/>
                    </a:lnT>
                    <a:lnB>
                      <a:noFill/>
                    </a:lnB>
                    <a:solidFill>
                      <a:schemeClr val="bg2">
                        <a:lumMod val="60000"/>
                        <a:lumOff val="40000"/>
                      </a:schemeClr>
                    </a:solidFill>
                  </a:tcPr>
                </a:tc>
                <a:extLst>
                  <a:ext uri="{0D108BD9-81ED-4DB2-BD59-A6C34878D82A}">
                    <a16:rowId xmlns:a16="http://schemas.microsoft.com/office/drawing/2014/main" val="615737754"/>
                  </a:ext>
                </a:extLst>
              </a:tr>
              <a:tr h="209422">
                <a:tc>
                  <a:txBody>
                    <a:bodyPr/>
                    <a:lstStyle/>
                    <a:p>
                      <a:pPr>
                        <a:buNone/>
                      </a:pPr>
                      <a:r>
                        <a:rPr lang="en-GB" sz="1400" dirty="0"/>
                        <a:t>Open Investigations</a:t>
                      </a:r>
                    </a:p>
                  </a:txBody>
                  <a:tcPr anchor="ctr">
                    <a:lnL>
                      <a:noFill/>
                    </a:lnL>
                    <a:lnR w="12700" cap="flat" cmpd="sng" algn="ctr">
                      <a:solidFill>
                        <a:schemeClr val="tx1"/>
                      </a:solidFill>
                      <a:prstDash val="solid"/>
                      <a:round/>
                      <a:headEnd type="none" w="med" len="med"/>
                      <a:tailEnd type="none" w="med" len="med"/>
                    </a:lnR>
                    <a:lnT>
                      <a:noFill/>
                    </a:lnT>
                    <a:lnB>
                      <a:noFill/>
                    </a:lnB>
                    <a:solidFill>
                      <a:schemeClr val="bg2">
                        <a:lumMod val="60000"/>
                        <a:lumOff val="40000"/>
                      </a:schemeClr>
                    </a:solidFill>
                  </a:tcPr>
                </a:tc>
                <a:tc>
                  <a:txBody>
                    <a:bodyPr/>
                    <a:lstStyle/>
                    <a:p>
                      <a:pPr>
                        <a:buNone/>
                      </a:pPr>
                      <a:r>
                        <a:rPr lang="en-GB" sz="1400" dirty="0"/>
                        <a:t>0</a:t>
                      </a:r>
                    </a:p>
                  </a:txBody>
                  <a:tcPr anchor="ctr">
                    <a:lnL w="12700" cap="flat" cmpd="sng" algn="ctr">
                      <a:solidFill>
                        <a:schemeClr val="tx1"/>
                      </a:solidFill>
                      <a:prstDash val="solid"/>
                      <a:round/>
                      <a:headEnd type="none" w="med" len="med"/>
                      <a:tailEnd type="none" w="med" len="med"/>
                    </a:lnL>
                    <a:lnR>
                      <a:noFill/>
                    </a:lnR>
                    <a:lnT>
                      <a:noFill/>
                    </a:lnT>
                    <a:lnB>
                      <a:noFill/>
                    </a:lnB>
                    <a:solidFill>
                      <a:schemeClr val="bg2">
                        <a:lumMod val="60000"/>
                        <a:lumOff val="40000"/>
                      </a:schemeClr>
                    </a:solidFill>
                  </a:tcPr>
                </a:tc>
                <a:extLst>
                  <a:ext uri="{0D108BD9-81ED-4DB2-BD59-A6C34878D82A}">
                    <a16:rowId xmlns:a16="http://schemas.microsoft.com/office/drawing/2014/main" val="3294659360"/>
                  </a:ext>
                </a:extLst>
              </a:tr>
              <a:tr h="209422">
                <a:tc>
                  <a:txBody>
                    <a:bodyPr/>
                    <a:lstStyle/>
                    <a:p>
                      <a:pPr>
                        <a:buNone/>
                      </a:pPr>
                      <a:r>
                        <a:rPr lang="en-GB" sz="1400" dirty="0"/>
                        <a:t>CAPAs raised</a:t>
                      </a:r>
                    </a:p>
                  </a:txBody>
                  <a:tcPr anchor="ctr">
                    <a:lnL>
                      <a:noFill/>
                    </a:lnL>
                    <a:lnR w="12700" cap="flat" cmpd="sng" algn="ctr">
                      <a:solidFill>
                        <a:schemeClr val="tx1"/>
                      </a:solidFill>
                      <a:prstDash val="solid"/>
                      <a:round/>
                      <a:headEnd type="none" w="med" len="med"/>
                      <a:tailEnd type="none" w="med" len="med"/>
                    </a:lnR>
                    <a:lnT>
                      <a:noFill/>
                    </a:lnT>
                    <a:lnB>
                      <a:noFill/>
                    </a:lnB>
                    <a:solidFill>
                      <a:schemeClr val="bg2">
                        <a:lumMod val="60000"/>
                        <a:lumOff val="40000"/>
                      </a:schemeClr>
                    </a:solidFill>
                  </a:tcPr>
                </a:tc>
                <a:tc>
                  <a:txBody>
                    <a:bodyPr/>
                    <a:lstStyle/>
                    <a:p>
                      <a:pPr>
                        <a:buNone/>
                      </a:pPr>
                      <a:r>
                        <a:rPr lang="en-GB" sz="1400" dirty="0"/>
                        <a:t>1</a:t>
                      </a:r>
                    </a:p>
                  </a:txBody>
                  <a:tcPr anchor="ctr">
                    <a:lnL w="12700" cap="flat" cmpd="sng" algn="ctr">
                      <a:solidFill>
                        <a:schemeClr val="tx1"/>
                      </a:solidFill>
                      <a:prstDash val="solid"/>
                      <a:round/>
                      <a:headEnd type="none" w="med" len="med"/>
                      <a:tailEnd type="none" w="med" len="med"/>
                    </a:lnL>
                    <a:lnR>
                      <a:noFill/>
                    </a:lnR>
                    <a:lnT>
                      <a:noFill/>
                    </a:lnT>
                    <a:lnB>
                      <a:noFill/>
                    </a:lnB>
                    <a:solidFill>
                      <a:schemeClr val="bg2">
                        <a:lumMod val="60000"/>
                        <a:lumOff val="40000"/>
                      </a:schemeClr>
                    </a:solidFill>
                  </a:tcPr>
                </a:tc>
                <a:extLst>
                  <a:ext uri="{0D108BD9-81ED-4DB2-BD59-A6C34878D82A}">
                    <a16:rowId xmlns:a16="http://schemas.microsoft.com/office/drawing/2014/main" val="1430488986"/>
                  </a:ext>
                </a:extLst>
              </a:tr>
            </a:tbl>
          </a:graphicData>
        </a:graphic>
      </p:graphicFrame>
      <p:graphicFrame>
        <p:nvGraphicFramePr>
          <p:cNvPr id="2" name="Table 1">
            <a:extLst>
              <a:ext uri="{FF2B5EF4-FFF2-40B4-BE49-F238E27FC236}">
                <a16:creationId xmlns:a16="http://schemas.microsoft.com/office/drawing/2014/main" id="{5DA60C7D-6DD7-79ED-5462-D861A2B319CE}"/>
              </a:ext>
            </a:extLst>
          </p:cNvPr>
          <p:cNvGraphicFramePr>
            <a:graphicFrameLocks noGrp="1"/>
          </p:cNvGraphicFramePr>
          <p:nvPr>
            <p:extLst>
              <p:ext uri="{D42A27DB-BD31-4B8C-83A1-F6EECF244321}">
                <p14:modId xmlns:p14="http://schemas.microsoft.com/office/powerpoint/2010/main" val="1297932776"/>
              </p:ext>
            </p:extLst>
          </p:nvPr>
        </p:nvGraphicFramePr>
        <p:xfrm>
          <a:off x="5565049" y="2651962"/>
          <a:ext cx="6626945" cy="2194560"/>
        </p:xfrm>
        <a:graphic>
          <a:graphicData uri="http://schemas.openxmlformats.org/drawingml/2006/table">
            <a:tbl>
              <a:tblPr/>
              <a:tblGrid>
                <a:gridCol w="2250366">
                  <a:extLst>
                    <a:ext uri="{9D8B030D-6E8A-4147-A177-3AD203B41FA5}">
                      <a16:colId xmlns:a16="http://schemas.microsoft.com/office/drawing/2014/main" val="2504782950"/>
                    </a:ext>
                  </a:extLst>
                </a:gridCol>
                <a:gridCol w="4376579">
                  <a:extLst>
                    <a:ext uri="{9D8B030D-6E8A-4147-A177-3AD203B41FA5}">
                      <a16:colId xmlns:a16="http://schemas.microsoft.com/office/drawing/2014/main" val="2486466393"/>
                    </a:ext>
                  </a:extLst>
                </a:gridCol>
              </a:tblGrid>
              <a:tr h="288966">
                <a:tc gridSpan="2">
                  <a:txBody>
                    <a:bodyPr/>
                    <a:lstStyle/>
                    <a:p>
                      <a:pPr>
                        <a:buNone/>
                      </a:pPr>
                      <a:r>
                        <a:rPr lang="en-GB" sz="1400" b="1" u="sng" dirty="0"/>
                        <a:t>Investigation Outcomes</a:t>
                      </a:r>
                    </a:p>
                  </a:txBody>
                  <a:tcPr anchor="ctr">
                    <a:lnL>
                      <a:noFill/>
                    </a:lnL>
                    <a:lnR>
                      <a:noFill/>
                    </a:lnR>
                    <a:lnT>
                      <a:noFill/>
                    </a:lnT>
                    <a:lnB>
                      <a:noFill/>
                    </a:lnB>
                    <a:solidFill>
                      <a:schemeClr val="bg2">
                        <a:lumMod val="75000"/>
                      </a:schemeClr>
                    </a:solidFill>
                  </a:tcPr>
                </a:tc>
                <a:tc hMerge="1">
                  <a:txBody>
                    <a:bodyPr/>
                    <a:lstStyle/>
                    <a:p>
                      <a:pPr>
                        <a:buNone/>
                      </a:pPr>
                      <a:endParaRPr lang="en-GB" sz="1800" dirty="0"/>
                    </a:p>
                  </a:txBody>
                  <a:tcPr anchor="ctr">
                    <a:lnL>
                      <a:noFill/>
                    </a:lnL>
                    <a:lnR>
                      <a:noFill/>
                    </a:lnR>
                    <a:lnT>
                      <a:noFill/>
                    </a:lnT>
                    <a:lnB>
                      <a:noFill/>
                    </a:lnB>
                    <a:noFill/>
                  </a:tcPr>
                </a:tc>
                <a:extLst>
                  <a:ext uri="{0D108BD9-81ED-4DB2-BD59-A6C34878D82A}">
                    <a16:rowId xmlns:a16="http://schemas.microsoft.com/office/drawing/2014/main" val="1132416577"/>
                  </a:ext>
                </a:extLst>
              </a:tr>
              <a:tr h="288966">
                <a:tc>
                  <a:txBody>
                    <a:bodyPr/>
                    <a:lstStyle/>
                    <a:p>
                      <a:pPr>
                        <a:buNone/>
                      </a:pPr>
                      <a:r>
                        <a:rPr lang="en-GB" sz="1400" b="1" dirty="0"/>
                        <a:t>Reject  Reason</a:t>
                      </a:r>
                    </a:p>
                  </a:txBody>
                  <a:tcPr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tc>
                  <a:txBody>
                    <a:bodyPr/>
                    <a:lstStyle/>
                    <a:p>
                      <a:pPr>
                        <a:buNone/>
                      </a:pPr>
                      <a:r>
                        <a:rPr lang="en-GB" sz="1400" b="1" dirty="0"/>
                        <a:t>Outcome</a:t>
                      </a:r>
                    </a:p>
                  </a:txBody>
                  <a:tcPr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extLst>
                  <a:ext uri="{0D108BD9-81ED-4DB2-BD59-A6C34878D82A}">
                    <a16:rowId xmlns:a16="http://schemas.microsoft.com/office/drawing/2014/main" val="1120874957"/>
                  </a:ext>
                </a:extLst>
              </a:tr>
              <a:tr h="722414">
                <a:tc>
                  <a:txBody>
                    <a:bodyPr/>
                    <a:lstStyle/>
                    <a:p>
                      <a:pPr>
                        <a:buNone/>
                      </a:pPr>
                      <a:r>
                        <a:rPr lang="en-GB" sz="1400" dirty="0"/>
                        <a:t>High Assay observed during QC testing</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a:buNone/>
                      </a:pPr>
                      <a:r>
                        <a:rPr lang="en-GB" sz="1400" dirty="0"/>
                        <a:t>Non-optimised manufacturing parameters (excessive mixing time and excessive API overage) adversely affected blend homogeneity and assay consistency, resulting in increased variability.</a:t>
                      </a:r>
                    </a:p>
                    <a:p>
                      <a:pPr>
                        <a:buNone/>
                      </a:pPr>
                      <a:endParaRPr lang="en-GB" sz="1400" dirty="0"/>
                    </a:p>
                    <a:p>
                      <a:pPr>
                        <a:buNone/>
                      </a:pPr>
                      <a:r>
                        <a:rPr lang="en-GB" sz="1400" dirty="0"/>
                        <a:t>Hypothesis testing confirmed 5-minute mixing time as optimal. </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2536448824"/>
                  </a:ext>
                </a:extLst>
              </a:tr>
            </a:tbl>
          </a:graphicData>
        </a:graphic>
      </p:graphicFrame>
      <p:graphicFrame>
        <p:nvGraphicFramePr>
          <p:cNvPr id="3" name="Table 2">
            <a:extLst>
              <a:ext uri="{FF2B5EF4-FFF2-40B4-BE49-F238E27FC236}">
                <a16:creationId xmlns:a16="http://schemas.microsoft.com/office/drawing/2014/main" id="{857CDF40-D270-B1E9-35BE-E2D7306D92A5}"/>
              </a:ext>
            </a:extLst>
          </p:cNvPr>
          <p:cNvGraphicFramePr>
            <a:graphicFrameLocks noGrp="1"/>
          </p:cNvGraphicFramePr>
          <p:nvPr>
            <p:extLst>
              <p:ext uri="{D42A27DB-BD31-4B8C-83A1-F6EECF244321}">
                <p14:modId xmlns:p14="http://schemas.microsoft.com/office/powerpoint/2010/main" val="1149988992"/>
              </p:ext>
            </p:extLst>
          </p:nvPr>
        </p:nvGraphicFramePr>
        <p:xfrm>
          <a:off x="5565044" y="4846522"/>
          <a:ext cx="6626944" cy="2011478"/>
        </p:xfrm>
        <a:graphic>
          <a:graphicData uri="http://schemas.openxmlformats.org/drawingml/2006/table">
            <a:tbl>
              <a:tblPr firstRow="1" bandRow="1">
                <a:tableStyleId>{21E4AEA4-8DFA-4A89-87EB-49C32662AFE0}</a:tableStyleId>
              </a:tblPr>
              <a:tblGrid>
                <a:gridCol w="6626944">
                  <a:extLst>
                    <a:ext uri="{9D8B030D-6E8A-4147-A177-3AD203B41FA5}">
                      <a16:colId xmlns:a16="http://schemas.microsoft.com/office/drawing/2014/main" val="3582380697"/>
                    </a:ext>
                  </a:extLst>
                </a:gridCol>
              </a:tblGrid>
              <a:tr h="509083">
                <a:tc>
                  <a:txBody>
                    <a:bodyPr/>
                    <a:lstStyle/>
                    <a:p>
                      <a:r>
                        <a:rPr lang="en-GB" sz="1400" u="sng" dirty="0"/>
                        <a:t>Management Conclusion</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300104444"/>
                  </a:ext>
                </a:extLst>
              </a:tr>
              <a:tr h="1502395">
                <a:tc>
                  <a:txBody>
                    <a:bodyPr/>
                    <a:lstStyle/>
                    <a:p>
                      <a:r>
                        <a:rPr lang="en-GB" sz="1400" dirty="0">
                          <a:solidFill>
                            <a:schemeClr val="tx1"/>
                          </a:solidFill>
                        </a:rPr>
                        <a:t>Correct root cause determined. </a:t>
                      </a:r>
                      <a:r>
                        <a:rPr lang="en-GB" sz="1400">
                          <a:solidFill>
                            <a:schemeClr val="tx1"/>
                          </a:solidFill>
                        </a:rPr>
                        <a:t>CAPA implemented. </a:t>
                      </a:r>
                      <a:endParaRPr lang="en-GB" sz="1400"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2">
                        <a:lumMod val="60000"/>
                        <a:lumOff val="40000"/>
                      </a:schemeClr>
                    </a:solidFill>
                  </a:tcPr>
                </a:tc>
                <a:extLst>
                  <a:ext uri="{0D108BD9-81ED-4DB2-BD59-A6C34878D82A}">
                    <a16:rowId xmlns:a16="http://schemas.microsoft.com/office/drawing/2014/main" val="2888796486"/>
                  </a:ext>
                </a:extLst>
              </a:tr>
            </a:tbl>
          </a:graphicData>
        </a:graphic>
      </p:graphicFrame>
    </p:spTree>
    <p:extLst>
      <p:ext uri="{BB962C8B-B14F-4D97-AF65-F5344CB8AC3E}">
        <p14:creationId xmlns:p14="http://schemas.microsoft.com/office/powerpoint/2010/main" val="9207274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DBDEAEA-0869-AA33-75D9-945E7CE9FC7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F438462-9BCC-A5F2-665B-BACD4227E4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1" name="Rectangle 10">
            <a:extLst>
              <a:ext uri="{FF2B5EF4-FFF2-40B4-BE49-F238E27FC236}">
                <a16:creationId xmlns:a16="http://schemas.microsoft.com/office/drawing/2014/main" id="{81578190-0C8B-6317-BF55-45132B2285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3" name="Rectangle 12">
            <a:extLst>
              <a:ext uri="{FF2B5EF4-FFF2-40B4-BE49-F238E27FC236}">
                <a16:creationId xmlns:a16="http://schemas.microsoft.com/office/drawing/2014/main" id="{8061FAB1-AC20-2C5E-9E1B-0A4112F2C1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A5D028"/>
              </a:solidFill>
              <a:effectLst/>
              <a:uLnTx/>
              <a:uFillTx/>
              <a:latin typeface="Corbel" panose="020B0503020204020204"/>
              <a:ea typeface="+mn-ea"/>
              <a:cs typeface="+mn-cs"/>
            </a:endParaRPr>
          </a:p>
        </p:txBody>
      </p:sp>
      <p:sp>
        <p:nvSpPr>
          <p:cNvPr id="14" name="Rectangle 13">
            <a:extLst>
              <a:ext uri="{FF2B5EF4-FFF2-40B4-BE49-F238E27FC236}">
                <a16:creationId xmlns:a16="http://schemas.microsoft.com/office/drawing/2014/main" id="{B2D1615F-B59E-A6D4-0C15-E71E7BF402F5}"/>
              </a:ext>
            </a:extLst>
          </p:cNvPr>
          <p:cNvSpPr/>
          <p:nvPr/>
        </p:nvSpPr>
        <p:spPr>
          <a:xfrm>
            <a:off x="-92251" y="0"/>
            <a:ext cx="915122" cy="6858002"/>
          </a:xfrm>
          <a:prstGeom prst="rect">
            <a:avLst/>
          </a:prstGeom>
          <a:noFill/>
        </p:spPr>
        <p:txBody>
          <a:bodyPr vert="wordArtVert"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b="1" dirty="0">
                <a:ln w="0"/>
                <a:solidFill>
                  <a:srgbClr val="FFFFFF"/>
                </a:solidFill>
                <a:effectLst>
                  <a:outerShdw blurRad="38100" dist="38100" dir="2700000" algn="tl">
                    <a:srgbClr val="000000">
                      <a:alpha val="43137"/>
                    </a:srgbClr>
                  </a:outerShdw>
                </a:effectLst>
                <a:latin typeface="Corbel" panose="020B0503020204020204"/>
              </a:rPr>
              <a:t>CONTROLLED DOCUMENTS</a:t>
            </a:r>
            <a:endParaRPr kumimoji="0" lang="en-US" sz="2000" b="1" i="0" u="none" strike="noStrike" kern="1200" cap="none" spc="0" normalizeH="0" baseline="0" noProof="0" dirty="0">
              <a:ln w="0"/>
              <a:solidFill>
                <a:srgbClr val="FFFFFF"/>
              </a:solidFill>
              <a:effectLst>
                <a:outerShdw blurRad="38100" dist="38100" dir="2700000" algn="tl">
                  <a:srgbClr val="000000">
                    <a:alpha val="43137"/>
                  </a:srgbClr>
                </a:outerShdw>
              </a:effectLst>
              <a:uLnTx/>
              <a:uFillTx/>
              <a:latin typeface="Corbel" panose="020B0503020204020204"/>
              <a:ea typeface="+mn-ea"/>
              <a:cs typeface="+mn-cs"/>
            </a:endParaRPr>
          </a:p>
        </p:txBody>
      </p:sp>
      <p:graphicFrame>
        <p:nvGraphicFramePr>
          <p:cNvPr id="6" name="Table 5">
            <a:extLst>
              <a:ext uri="{FF2B5EF4-FFF2-40B4-BE49-F238E27FC236}">
                <a16:creationId xmlns:a16="http://schemas.microsoft.com/office/drawing/2014/main" id="{957E3B68-A714-E4D1-0776-0267E8B82CFA}"/>
              </a:ext>
            </a:extLst>
          </p:cNvPr>
          <p:cNvGraphicFramePr>
            <a:graphicFrameLocks noGrp="1"/>
          </p:cNvGraphicFramePr>
          <p:nvPr>
            <p:extLst>
              <p:ext uri="{D42A27DB-BD31-4B8C-83A1-F6EECF244321}">
                <p14:modId xmlns:p14="http://schemas.microsoft.com/office/powerpoint/2010/main" val="1245684025"/>
              </p:ext>
            </p:extLst>
          </p:nvPr>
        </p:nvGraphicFramePr>
        <p:xfrm>
          <a:off x="824410" y="220775"/>
          <a:ext cx="11117492" cy="2420754"/>
        </p:xfrm>
        <a:graphic>
          <a:graphicData uri="http://schemas.openxmlformats.org/drawingml/2006/table">
            <a:tbl>
              <a:tblPr/>
              <a:tblGrid>
                <a:gridCol w="1253392">
                  <a:extLst>
                    <a:ext uri="{9D8B030D-6E8A-4147-A177-3AD203B41FA5}">
                      <a16:colId xmlns:a16="http://schemas.microsoft.com/office/drawing/2014/main" val="997279220"/>
                    </a:ext>
                  </a:extLst>
                </a:gridCol>
                <a:gridCol w="733694">
                  <a:extLst>
                    <a:ext uri="{9D8B030D-6E8A-4147-A177-3AD203B41FA5}">
                      <a16:colId xmlns:a16="http://schemas.microsoft.com/office/drawing/2014/main" val="3460025179"/>
                    </a:ext>
                  </a:extLst>
                </a:gridCol>
                <a:gridCol w="2669829">
                  <a:extLst>
                    <a:ext uri="{9D8B030D-6E8A-4147-A177-3AD203B41FA5}">
                      <a16:colId xmlns:a16="http://schemas.microsoft.com/office/drawing/2014/main" val="35939718"/>
                    </a:ext>
                  </a:extLst>
                </a:gridCol>
                <a:gridCol w="968068">
                  <a:extLst>
                    <a:ext uri="{9D8B030D-6E8A-4147-A177-3AD203B41FA5}">
                      <a16:colId xmlns:a16="http://schemas.microsoft.com/office/drawing/2014/main" val="1570672062"/>
                    </a:ext>
                  </a:extLst>
                </a:gridCol>
                <a:gridCol w="1161681">
                  <a:extLst>
                    <a:ext uri="{9D8B030D-6E8A-4147-A177-3AD203B41FA5}">
                      <a16:colId xmlns:a16="http://schemas.microsoft.com/office/drawing/2014/main" val="2637263902"/>
                    </a:ext>
                  </a:extLst>
                </a:gridCol>
                <a:gridCol w="1059779">
                  <a:extLst>
                    <a:ext uri="{9D8B030D-6E8A-4147-A177-3AD203B41FA5}">
                      <a16:colId xmlns:a16="http://schemas.microsoft.com/office/drawing/2014/main" val="835033044"/>
                    </a:ext>
                  </a:extLst>
                </a:gridCol>
                <a:gridCol w="968068">
                  <a:extLst>
                    <a:ext uri="{9D8B030D-6E8A-4147-A177-3AD203B41FA5}">
                      <a16:colId xmlns:a16="http://schemas.microsoft.com/office/drawing/2014/main" val="4026273162"/>
                    </a:ext>
                  </a:extLst>
                </a:gridCol>
                <a:gridCol w="662361">
                  <a:extLst>
                    <a:ext uri="{9D8B030D-6E8A-4147-A177-3AD203B41FA5}">
                      <a16:colId xmlns:a16="http://schemas.microsoft.com/office/drawing/2014/main" val="371456131"/>
                    </a:ext>
                  </a:extLst>
                </a:gridCol>
                <a:gridCol w="1640620">
                  <a:extLst>
                    <a:ext uri="{9D8B030D-6E8A-4147-A177-3AD203B41FA5}">
                      <a16:colId xmlns:a16="http://schemas.microsoft.com/office/drawing/2014/main" val="2617140412"/>
                    </a:ext>
                  </a:extLst>
                </a:gridCol>
              </a:tblGrid>
              <a:tr h="0">
                <a:tc>
                  <a:txBody>
                    <a:bodyPr/>
                    <a:lstStyle/>
                    <a:p>
                      <a:pPr algn="ctr" fontAlgn="ctr">
                        <a:buNone/>
                      </a:pPr>
                      <a:r>
                        <a:rPr lang="en-GB" sz="1200" b="1" i="0" u="none" strike="noStrike" dirty="0">
                          <a:solidFill>
                            <a:srgbClr val="000000"/>
                          </a:solidFill>
                          <a:effectLst/>
                          <a:latin typeface="Arial" panose="020B0604020202020204" pitchFamily="34" charset="0"/>
                        </a:rPr>
                        <a:t>SOP number</a:t>
                      </a:r>
                    </a:p>
                  </a:txBody>
                  <a:tcPr marL="5386" marR="5386" marT="5386" marB="32313" anchor="ctr">
                    <a:lnL w="635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a:noFill/>
                    </a:lnB>
                    <a:solidFill>
                      <a:srgbClr val="5B9BD5"/>
                    </a:solidFill>
                  </a:tcPr>
                </a:tc>
                <a:tc>
                  <a:txBody>
                    <a:bodyPr/>
                    <a:lstStyle/>
                    <a:p>
                      <a:pPr algn="ctr" fontAlgn="ctr">
                        <a:buNone/>
                      </a:pPr>
                      <a:r>
                        <a:rPr lang="en-GB" sz="1200" b="1" i="0" u="none" strike="noStrike" dirty="0">
                          <a:solidFill>
                            <a:srgbClr val="000000"/>
                          </a:solidFill>
                          <a:effectLst/>
                          <a:latin typeface="Arial" panose="020B0604020202020204" pitchFamily="34" charset="0"/>
                        </a:rPr>
                        <a:t>Version</a:t>
                      </a:r>
                    </a:p>
                  </a:txBody>
                  <a:tcPr marL="5386" marR="5386" marT="5386" marB="32313" anchor="ctr">
                    <a:lnL>
                      <a:noFill/>
                    </a:lnL>
                    <a:lnR>
                      <a:noFill/>
                    </a:lnR>
                    <a:lnT w="6350" cap="flat" cmpd="sng" algn="ctr">
                      <a:solidFill>
                        <a:srgbClr val="9BC2E6"/>
                      </a:solidFill>
                      <a:prstDash val="solid"/>
                      <a:round/>
                      <a:headEnd type="none" w="med" len="med"/>
                      <a:tailEnd type="none" w="med" len="med"/>
                    </a:lnT>
                    <a:lnB>
                      <a:noFill/>
                    </a:lnB>
                    <a:solidFill>
                      <a:srgbClr val="5B9BD5"/>
                    </a:solidFill>
                  </a:tcPr>
                </a:tc>
                <a:tc>
                  <a:txBody>
                    <a:bodyPr/>
                    <a:lstStyle/>
                    <a:p>
                      <a:pPr algn="ctr" fontAlgn="ctr">
                        <a:buNone/>
                      </a:pPr>
                      <a:r>
                        <a:rPr lang="en-GB" sz="1200" b="1" i="0" u="none" strike="noStrike" dirty="0">
                          <a:solidFill>
                            <a:srgbClr val="000000"/>
                          </a:solidFill>
                          <a:effectLst/>
                          <a:latin typeface="Arial" panose="020B0604020202020204" pitchFamily="34" charset="0"/>
                        </a:rPr>
                        <a:t>Title</a:t>
                      </a:r>
                    </a:p>
                  </a:txBody>
                  <a:tcPr marL="5386" marR="5386" marT="5386" marB="32313" anchor="ctr">
                    <a:lnL>
                      <a:noFill/>
                    </a:lnL>
                    <a:lnR>
                      <a:noFill/>
                    </a:lnR>
                    <a:lnT>
                      <a:noFill/>
                    </a:lnT>
                    <a:lnB>
                      <a:noFill/>
                    </a:lnB>
                    <a:solidFill>
                      <a:srgbClr val="5B9BD5"/>
                    </a:solidFill>
                  </a:tcPr>
                </a:tc>
                <a:tc>
                  <a:txBody>
                    <a:bodyPr/>
                    <a:lstStyle/>
                    <a:p>
                      <a:pPr algn="ctr" fontAlgn="ctr">
                        <a:buNone/>
                      </a:pPr>
                      <a:r>
                        <a:rPr lang="en-GB" sz="1200" b="1" i="0" u="none" strike="noStrike">
                          <a:solidFill>
                            <a:srgbClr val="000000"/>
                          </a:solidFill>
                          <a:effectLst/>
                          <a:latin typeface="Arial" panose="020B0604020202020204" pitchFamily="34" charset="0"/>
                        </a:rPr>
                        <a:t>Issue Date:</a:t>
                      </a:r>
                    </a:p>
                  </a:txBody>
                  <a:tcPr marL="5386" marR="5386" marT="5386" marB="32313" anchor="ctr">
                    <a:lnL>
                      <a:noFill/>
                    </a:lnL>
                    <a:lnR>
                      <a:noFill/>
                    </a:lnR>
                    <a:lnT>
                      <a:noFill/>
                    </a:lnT>
                    <a:lnB>
                      <a:noFill/>
                    </a:lnB>
                    <a:solidFill>
                      <a:srgbClr val="5B9BD5"/>
                    </a:solidFill>
                  </a:tcPr>
                </a:tc>
                <a:tc>
                  <a:txBody>
                    <a:bodyPr/>
                    <a:lstStyle/>
                    <a:p>
                      <a:pPr algn="ctr" fontAlgn="ctr">
                        <a:buNone/>
                      </a:pPr>
                      <a:r>
                        <a:rPr lang="en-GB" sz="1200" b="1" i="0" u="none" strike="noStrike" dirty="0">
                          <a:solidFill>
                            <a:srgbClr val="000000"/>
                          </a:solidFill>
                          <a:effectLst/>
                          <a:latin typeface="Arial" panose="020B0604020202020204" pitchFamily="34" charset="0"/>
                        </a:rPr>
                        <a:t>Effective Date</a:t>
                      </a:r>
                    </a:p>
                  </a:txBody>
                  <a:tcPr marL="5386" marR="5386" marT="5386" marB="32313" anchor="ctr">
                    <a:lnL>
                      <a:noFill/>
                    </a:lnL>
                    <a:lnR>
                      <a:noFill/>
                    </a:lnR>
                    <a:lnT>
                      <a:noFill/>
                    </a:lnT>
                    <a:lnB>
                      <a:noFill/>
                    </a:lnB>
                    <a:solidFill>
                      <a:srgbClr val="5B9BD5"/>
                    </a:solidFill>
                  </a:tcPr>
                </a:tc>
                <a:tc>
                  <a:txBody>
                    <a:bodyPr/>
                    <a:lstStyle/>
                    <a:p>
                      <a:pPr algn="ctr" fontAlgn="ctr">
                        <a:buNone/>
                      </a:pPr>
                      <a:r>
                        <a:rPr lang="en-GB" sz="1200" b="1" i="0" u="none" strike="noStrike">
                          <a:solidFill>
                            <a:srgbClr val="000000"/>
                          </a:solidFill>
                          <a:effectLst/>
                          <a:latin typeface="Arial" panose="020B0604020202020204" pitchFamily="34" charset="0"/>
                        </a:rPr>
                        <a:t>Review Date</a:t>
                      </a:r>
                    </a:p>
                  </a:txBody>
                  <a:tcPr marL="5386" marR="5386" marT="5386" marB="32313" anchor="ctr">
                    <a:lnL>
                      <a:noFill/>
                    </a:lnL>
                    <a:lnR>
                      <a:noFill/>
                    </a:lnR>
                    <a:lnT>
                      <a:noFill/>
                    </a:lnT>
                    <a:lnB>
                      <a:noFill/>
                    </a:lnB>
                    <a:solidFill>
                      <a:srgbClr val="5B9BD5"/>
                    </a:solidFill>
                  </a:tcPr>
                </a:tc>
                <a:tc>
                  <a:txBody>
                    <a:bodyPr/>
                    <a:lstStyle/>
                    <a:p>
                      <a:pPr algn="ctr" fontAlgn="ctr">
                        <a:buNone/>
                      </a:pPr>
                      <a:r>
                        <a:rPr lang="en-GB" sz="1200" b="1" i="0" u="none" strike="noStrike">
                          <a:solidFill>
                            <a:srgbClr val="000000"/>
                          </a:solidFill>
                          <a:effectLst/>
                          <a:latin typeface="Arial" panose="020B0604020202020204" pitchFamily="34" charset="0"/>
                        </a:rPr>
                        <a:t>RP</a:t>
                      </a:r>
                    </a:p>
                  </a:txBody>
                  <a:tcPr marL="5386" marR="5386" marT="5386" marB="32313" anchor="ctr">
                    <a:lnL>
                      <a:noFill/>
                    </a:lnL>
                    <a:lnR>
                      <a:noFill/>
                    </a:lnR>
                    <a:lnT>
                      <a:noFill/>
                    </a:lnT>
                    <a:lnB>
                      <a:noFill/>
                    </a:lnB>
                    <a:solidFill>
                      <a:srgbClr val="5B9BD5"/>
                    </a:solidFill>
                  </a:tcPr>
                </a:tc>
                <a:tc>
                  <a:txBody>
                    <a:bodyPr/>
                    <a:lstStyle/>
                    <a:p>
                      <a:pPr algn="ctr" fontAlgn="ctr">
                        <a:buNone/>
                      </a:pPr>
                      <a:r>
                        <a:rPr lang="en-GB" sz="1200" b="1" i="0" u="none" strike="noStrike">
                          <a:solidFill>
                            <a:srgbClr val="000000"/>
                          </a:solidFill>
                          <a:effectLst/>
                          <a:latin typeface="Arial" panose="020B0604020202020204" pitchFamily="34" charset="0"/>
                        </a:rPr>
                        <a:t>QA RP</a:t>
                      </a:r>
                    </a:p>
                  </a:txBody>
                  <a:tcPr marL="5386" marR="5386" marT="5386" marB="32313" anchor="ctr">
                    <a:lnL>
                      <a:noFill/>
                    </a:lnL>
                    <a:lnR>
                      <a:noFill/>
                    </a:lnR>
                    <a:lnT>
                      <a:noFill/>
                    </a:lnT>
                    <a:lnB>
                      <a:noFill/>
                    </a:lnB>
                    <a:solidFill>
                      <a:srgbClr val="5B9BD5"/>
                    </a:solidFill>
                  </a:tcPr>
                </a:tc>
                <a:tc>
                  <a:txBody>
                    <a:bodyPr/>
                    <a:lstStyle/>
                    <a:p>
                      <a:pPr algn="ctr" fontAlgn="ctr">
                        <a:buNone/>
                      </a:pPr>
                      <a:r>
                        <a:rPr lang="en-GB" sz="1200" b="1" i="0" u="none" strike="noStrike">
                          <a:solidFill>
                            <a:srgbClr val="000000"/>
                          </a:solidFill>
                          <a:effectLst/>
                          <a:latin typeface="Arial" panose="020B0604020202020204" pitchFamily="34" charset="0"/>
                        </a:rPr>
                        <a:t>Associated Documents/ Comments</a:t>
                      </a:r>
                    </a:p>
                  </a:txBody>
                  <a:tcPr marL="5386" marR="5386" marT="5386" marB="32313" anchor="ctr">
                    <a:lnL>
                      <a:noFill/>
                    </a:lnL>
                    <a:lnR>
                      <a:noFill/>
                    </a:lnR>
                    <a:lnT>
                      <a:noFill/>
                    </a:lnT>
                    <a:lnB>
                      <a:noFill/>
                    </a:lnB>
                    <a:solidFill>
                      <a:srgbClr val="5B9BD5"/>
                    </a:solidFill>
                  </a:tcPr>
                </a:tc>
                <a:extLst>
                  <a:ext uri="{0D108BD9-81ED-4DB2-BD59-A6C34878D82A}">
                    <a16:rowId xmlns:a16="http://schemas.microsoft.com/office/drawing/2014/main" val="3153586055"/>
                  </a:ext>
                </a:extLst>
              </a:tr>
              <a:tr h="384833">
                <a:tc>
                  <a:txBody>
                    <a:bodyPr/>
                    <a:lstStyle/>
                    <a:p>
                      <a:pPr algn="ctr" fontAlgn="ctr">
                        <a:buNone/>
                      </a:pPr>
                      <a:r>
                        <a:rPr lang="en-GB" sz="1200" b="0" i="0" u="none" strike="noStrike" dirty="0">
                          <a:solidFill>
                            <a:srgbClr val="000000"/>
                          </a:solidFill>
                          <a:effectLst/>
                          <a:latin typeface="Calibri" panose="020F0502020204030204" pitchFamily="34" charset="0"/>
                        </a:rPr>
                        <a:t>ES.SOP.177</a:t>
                      </a:r>
                    </a:p>
                  </a:txBody>
                  <a:tcPr marL="5386" marR="5386" marT="5386" marB="32313" anchor="ctr">
                    <a:lnL w="6350" cap="flat" cmpd="sng" algn="ctr">
                      <a:solidFill>
                        <a:srgbClr val="000000"/>
                      </a:solidFill>
                      <a:prstDash val="solid"/>
                      <a:round/>
                      <a:headEnd type="none" w="med" len="med"/>
                      <a:tailEnd type="none" w="med" len="med"/>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V04</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1" i="0" u="none" strike="noStrike" dirty="0">
                          <a:solidFill>
                            <a:srgbClr val="000000"/>
                          </a:solidFill>
                          <a:effectLst/>
                          <a:latin typeface="Calibri" panose="020F0502020204030204" pitchFamily="34" charset="0"/>
                        </a:rPr>
                        <a:t>New Account Opening Process</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08-Aug-22</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08-Aug-22</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a:solidFill>
                            <a:srgbClr val="9C0006"/>
                          </a:solidFill>
                          <a:effectLst/>
                          <a:latin typeface="Calibri" panose="020F0502020204030204" pitchFamily="34" charset="0"/>
                        </a:rPr>
                        <a:t>08-Aug-24</a:t>
                      </a:r>
                    </a:p>
                  </a:txBody>
                  <a:tcPr marL="5386" marR="5386" marT="5386" marB="32313" anchor="ctr">
                    <a:lnL>
                      <a:noFill/>
                    </a:lnL>
                    <a:lnR>
                      <a:noFill/>
                    </a:lnR>
                    <a:lnT>
                      <a:noFill/>
                    </a:lnT>
                    <a:lnB w="6350" cap="flat" cmpd="sng" algn="ctr">
                      <a:solidFill>
                        <a:srgbClr val="9BC2E6"/>
                      </a:solidFill>
                      <a:prstDash val="solid"/>
                      <a:round/>
                      <a:headEnd type="none" w="med" len="med"/>
                      <a:tailEnd type="none" w="med" len="med"/>
                    </a:lnB>
                    <a:solidFill>
                      <a:srgbClr val="FFC7CE"/>
                    </a:solidFill>
                  </a:tcPr>
                </a:tc>
                <a:tc>
                  <a:txBody>
                    <a:bodyPr/>
                    <a:lstStyle/>
                    <a:p>
                      <a:pPr algn="ctr" fontAlgn="ctr">
                        <a:buNone/>
                      </a:pPr>
                      <a:r>
                        <a:rPr lang="en-GB" sz="1200" b="0" i="0" u="none" strike="noStrike">
                          <a:solidFill>
                            <a:srgbClr val="000000"/>
                          </a:solidFill>
                          <a:effectLst/>
                          <a:latin typeface="Calibri" panose="020F0502020204030204" pitchFamily="34" charset="0"/>
                        </a:rPr>
                        <a:t>FINANCE</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AHA</a:t>
                      </a:r>
                    </a:p>
                  </a:txBody>
                  <a:tcPr marL="5386" marR="5386" marT="5386" marB="32313" anchor="ctr">
                    <a:lnL>
                      <a:noFill/>
                    </a:lnL>
                    <a:lnR>
                      <a:noFill/>
                    </a:lnR>
                    <a:lnT>
                      <a:noFill/>
                    </a:lnT>
                    <a:lnB>
                      <a:noFill/>
                    </a:lnB>
                    <a:solidFill>
                      <a:srgbClr val="AEAAAA"/>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To be updated with BC additions (NAD)</a:t>
                      </a:r>
                    </a:p>
                  </a:txBody>
                  <a:tcPr marL="5386" marR="5386" marT="5386" marB="32313" anchor="ctr">
                    <a:lnL>
                      <a:noFill/>
                    </a:lnL>
                    <a:lnR>
                      <a:noFill/>
                    </a:lnR>
                    <a:lnT>
                      <a:noFill/>
                    </a:lnT>
                    <a:lnB>
                      <a:noFill/>
                    </a:lnB>
                    <a:solidFill>
                      <a:srgbClr val="DDEBF7"/>
                    </a:solidFill>
                  </a:tcPr>
                </a:tc>
                <a:extLst>
                  <a:ext uri="{0D108BD9-81ED-4DB2-BD59-A6C34878D82A}">
                    <a16:rowId xmlns:a16="http://schemas.microsoft.com/office/drawing/2014/main" val="2567167860"/>
                  </a:ext>
                </a:extLst>
              </a:tr>
              <a:tr h="384833">
                <a:tc>
                  <a:txBody>
                    <a:bodyPr/>
                    <a:lstStyle/>
                    <a:p>
                      <a:pPr algn="ctr" fontAlgn="ctr">
                        <a:buNone/>
                      </a:pPr>
                      <a:r>
                        <a:rPr lang="en-GB" sz="1200" b="0" i="0" u="none" strike="noStrike">
                          <a:solidFill>
                            <a:srgbClr val="000000"/>
                          </a:solidFill>
                          <a:effectLst/>
                          <a:latin typeface="Calibri" panose="020F0502020204030204" pitchFamily="34" charset="0"/>
                        </a:rPr>
                        <a:t>ES.SOP.176</a:t>
                      </a:r>
                    </a:p>
                  </a:txBody>
                  <a:tcPr marL="5386" marR="5386" marT="5386" marB="32313" anchor="ctr">
                    <a:lnL w="6350" cap="flat" cmpd="sng" algn="ctr">
                      <a:solidFill>
                        <a:srgbClr val="000000"/>
                      </a:solidFill>
                      <a:prstDash val="solid"/>
                      <a:round/>
                      <a:headEnd type="none" w="med" len="med"/>
                      <a:tailEnd type="none" w="med" len="med"/>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V03</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1" i="0" u="none" strike="noStrike">
                          <a:solidFill>
                            <a:srgbClr val="000000"/>
                          </a:solidFill>
                          <a:effectLst/>
                          <a:latin typeface="Calibri" panose="020F0502020204030204" pitchFamily="34" charset="0"/>
                        </a:rPr>
                        <a:t>Credit Control</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16-Mar-23</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23-Mar-23</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dirty="0">
                          <a:solidFill>
                            <a:srgbClr val="9C0006"/>
                          </a:solidFill>
                          <a:effectLst/>
                          <a:latin typeface="Calibri" panose="020F0502020204030204" pitchFamily="34" charset="0"/>
                        </a:rPr>
                        <a:t>23-Mar-25</a:t>
                      </a:r>
                    </a:p>
                  </a:txBody>
                  <a:tcPr marL="5386" marR="5386" marT="5386" marB="32313" anchor="ctr">
                    <a:lnL>
                      <a:noFill/>
                    </a:lnL>
                    <a:lnR>
                      <a:noFill/>
                    </a:lnR>
                    <a:lnT w="6350" cap="flat" cmpd="sng" algn="ctr">
                      <a:solidFill>
                        <a:srgbClr val="9BC2E6"/>
                      </a:solidFill>
                      <a:prstDash val="solid"/>
                      <a:round/>
                      <a:headEnd type="none" w="med" len="med"/>
                      <a:tailEnd type="none" w="med" len="med"/>
                    </a:lnT>
                    <a:lnB>
                      <a:noFill/>
                    </a:lnB>
                    <a:solidFill>
                      <a:srgbClr val="FFC7CE"/>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FINANCE</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AHA</a:t>
                      </a:r>
                    </a:p>
                  </a:txBody>
                  <a:tcPr marL="5386" marR="5386" marT="5386" marB="32313" anchor="ctr">
                    <a:lnL>
                      <a:noFill/>
                    </a:lnL>
                    <a:lnR>
                      <a:noFill/>
                    </a:lnR>
                    <a:lnT>
                      <a:noFill/>
                    </a:lnT>
                    <a:lnB>
                      <a:noFill/>
                    </a:lnB>
                    <a:solidFill>
                      <a:srgbClr val="AEAAAA"/>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To be converted to HR document</a:t>
                      </a:r>
                    </a:p>
                  </a:txBody>
                  <a:tcPr marL="5386" marR="5386" marT="5386" marB="32313" anchor="ctr">
                    <a:lnL>
                      <a:noFill/>
                    </a:lnL>
                    <a:lnR>
                      <a:noFill/>
                    </a:lnR>
                    <a:lnT>
                      <a:noFill/>
                    </a:lnT>
                    <a:lnB>
                      <a:noFill/>
                    </a:lnB>
                    <a:solidFill>
                      <a:srgbClr val="DDEBF7"/>
                    </a:solidFill>
                  </a:tcPr>
                </a:tc>
                <a:extLst>
                  <a:ext uri="{0D108BD9-81ED-4DB2-BD59-A6C34878D82A}">
                    <a16:rowId xmlns:a16="http://schemas.microsoft.com/office/drawing/2014/main" val="2635438771"/>
                  </a:ext>
                </a:extLst>
              </a:tr>
              <a:tr h="384833">
                <a:tc>
                  <a:txBody>
                    <a:bodyPr/>
                    <a:lstStyle/>
                    <a:p>
                      <a:pPr algn="ctr" fontAlgn="ctr">
                        <a:buNone/>
                      </a:pPr>
                      <a:r>
                        <a:rPr lang="en-GB" sz="1200" b="0" i="0" u="none" strike="noStrike" dirty="0">
                          <a:solidFill>
                            <a:srgbClr val="000000"/>
                          </a:solidFill>
                          <a:effectLst/>
                          <a:latin typeface="Calibri" panose="020F0502020204030204" pitchFamily="34" charset="0"/>
                        </a:rPr>
                        <a:t>ES.SOP.050</a:t>
                      </a:r>
                    </a:p>
                  </a:txBody>
                  <a:tcPr marL="5386" marR="5386" marT="5386" marB="32313" anchor="ctr">
                    <a:lnL w="6350" cap="flat" cmpd="sng" algn="ctr">
                      <a:solidFill>
                        <a:srgbClr val="000000"/>
                      </a:solidFill>
                      <a:prstDash val="solid"/>
                      <a:round/>
                      <a:headEnd type="none" w="med" len="med"/>
                      <a:tailEnd type="none" w="med" len="med"/>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V08</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1" i="0" u="none" strike="noStrike">
                          <a:solidFill>
                            <a:srgbClr val="000000"/>
                          </a:solidFill>
                          <a:effectLst/>
                          <a:latin typeface="Calibri" panose="020F0502020204030204" pitchFamily="34" charset="0"/>
                        </a:rPr>
                        <a:t>Operation, Calibration and Maintenance of the Jenway 3520 pH Meter</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13-Mar-24</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20-Mar-24</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a:solidFill>
                            <a:srgbClr val="9C0006"/>
                          </a:solidFill>
                          <a:effectLst/>
                          <a:latin typeface="Calibri" panose="020F0502020204030204" pitchFamily="34" charset="0"/>
                        </a:rPr>
                        <a:t>20-Mar-26</a:t>
                      </a:r>
                    </a:p>
                  </a:txBody>
                  <a:tcPr marL="5386" marR="5386" marT="5386" marB="32313" anchor="ctr">
                    <a:lnL>
                      <a:noFill/>
                    </a:lnL>
                    <a:lnR>
                      <a:noFill/>
                    </a:lnR>
                    <a:lnT>
                      <a:noFill/>
                    </a:lnT>
                    <a:lnB>
                      <a:noFill/>
                    </a:lnB>
                    <a:solidFill>
                      <a:srgbClr val="FFC7CE"/>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QC</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AHA</a:t>
                      </a:r>
                    </a:p>
                  </a:txBody>
                  <a:tcPr marL="5386" marR="5386" marT="5386" marB="32313" anchor="ctr">
                    <a:lnL>
                      <a:noFill/>
                    </a:lnL>
                    <a:lnR>
                      <a:noFill/>
                    </a:lnR>
                    <a:lnT>
                      <a:noFill/>
                    </a:lnT>
                    <a:lnB>
                      <a:noFill/>
                    </a:lnB>
                    <a:solidFill>
                      <a:srgbClr val="AEAAAA"/>
                    </a:solidFill>
                  </a:tcPr>
                </a:tc>
                <a:tc>
                  <a:txBody>
                    <a:bodyPr/>
                    <a:lstStyle/>
                    <a:p>
                      <a:pPr algn="ctr" fontAlgn="ctr">
                        <a:buNone/>
                      </a:pPr>
                      <a:endParaRPr lang="en-GB" sz="1200" b="0" i="0" u="none" strike="noStrike" dirty="0">
                        <a:solidFill>
                          <a:srgbClr val="000000"/>
                        </a:solidFill>
                        <a:effectLst/>
                        <a:latin typeface="Calibri" panose="020F0502020204030204" pitchFamily="34" charset="0"/>
                      </a:endParaRPr>
                    </a:p>
                  </a:txBody>
                  <a:tcPr marL="5386" marR="5386" marT="5386" marB="32313" anchor="ctr">
                    <a:lnL>
                      <a:noFill/>
                    </a:lnL>
                    <a:lnR>
                      <a:noFill/>
                    </a:lnR>
                    <a:lnT>
                      <a:noFill/>
                    </a:lnT>
                    <a:lnB>
                      <a:noFill/>
                    </a:lnB>
                    <a:solidFill>
                      <a:srgbClr val="DDEBF7"/>
                    </a:solidFill>
                  </a:tcPr>
                </a:tc>
                <a:extLst>
                  <a:ext uri="{0D108BD9-81ED-4DB2-BD59-A6C34878D82A}">
                    <a16:rowId xmlns:a16="http://schemas.microsoft.com/office/drawing/2014/main" val="949173989"/>
                  </a:ext>
                </a:extLst>
              </a:tr>
              <a:tr h="213596">
                <a:tc>
                  <a:txBody>
                    <a:bodyPr/>
                    <a:lstStyle/>
                    <a:p>
                      <a:pPr algn="ctr" fontAlgn="ctr">
                        <a:buNone/>
                      </a:pPr>
                      <a:r>
                        <a:rPr lang="en-GB" sz="1200" b="0" i="0" u="none" strike="noStrike">
                          <a:solidFill>
                            <a:srgbClr val="000000"/>
                          </a:solidFill>
                          <a:effectLst/>
                          <a:latin typeface="Calibri" panose="020F0502020204030204" pitchFamily="34" charset="0"/>
                        </a:rPr>
                        <a:t>ES.SOP.024</a:t>
                      </a:r>
                    </a:p>
                  </a:txBody>
                  <a:tcPr marL="5386" marR="5386" marT="5386" marB="32313" anchor="ctr">
                    <a:lnL w="6350" cap="flat" cmpd="sng" algn="ctr">
                      <a:solidFill>
                        <a:srgbClr val="000000"/>
                      </a:solidFill>
                      <a:prstDash val="solid"/>
                      <a:round/>
                      <a:headEnd type="none" w="med" len="med"/>
                      <a:tailEnd type="none" w="med" len="med"/>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V10</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1" i="0" u="none" strike="noStrike">
                          <a:solidFill>
                            <a:srgbClr val="000000"/>
                          </a:solidFill>
                          <a:effectLst/>
                          <a:latin typeface="Calibri" panose="020F0502020204030204" pitchFamily="34" charset="0"/>
                        </a:rPr>
                        <a:t>Generating Certificates of Analysis</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27-Mar-24</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27-Mar-24</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a:solidFill>
                            <a:srgbClr val="9C0006"/>
                          </a:solidFill>
                          <a:effectLst/>
                          <a:latin typeface="Calibri" panose="020F0502020204030204" pitchFamily="34" charset="0"/>
                        </a:rPr>
                        <a:t>27-Mar-26</a:t>
                      </a:r>
                    </a:p>
                  </a:txBody>
                  <a:tcPr marL="5386" marR="5386" marT="5386" marB="32313" anchor="ctr">
                    <a:lnL>
                      <a:noFill/>
                    </a:lnL>
                    <a:lnR>
                      <a:noFill/>
                    </a:lnR>
                    <a:lnT>
                      <a:noFill/>
                    </a:lnT>
                    <a:lnB>
                      <a:noFill/>
                    </a:lnB>
                    <a:solidFill>
                      <a:srgbClr val="FFC7CE"/>
                    </a:solidFill>
                  </a:tcPr>
                </a:tc>
                <a:tc>
                  <a:txBody>
                    <a:bodyPr/>
                    <a:lstStyle/>
                    <a:p>
                      <a:pPr algn="ctr" fontAlgn="ctr">
                        <a:buNone/>
                      </a:pPr>
                      <a:r>
                        <a:rPr lang="en-GB" sz="1200" b="0" i="0" u="none" strike="noStrike">
                          <a:solidFill>
                            <a:srgbClr val="000000"/>
                          </a:solidFill>
                          <a:effectLst/>
                          <a:latin typeface="Calibri" panose="020F0502020204030204" pitchFamily="34" charset="0"/>
                        </a:rPr>
                        <a:t>QC</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AHA</a:t>
                      </a:r>
                    </a:p>
                  </a:txBody>
                  <a:tcPr marL="5386" marR="5386" marT="5386" marB="32313" anchor="ctr">
                    <a:lnL>
                      <a:noFill/>
                    </a:lnL>
                    <a:lnR>
                      <a:noFill/>
                    </a:lnR>
                    <a:lnT>
                      <a:noFill/>
                    </a:lnT>
                    <a:lnB>
                      <a:noFill/>
                    </a:lnB>
                    <a:solidFill>
                      <a:srgbClr val="AEAAAA"/>
                    </a:solidFill>
                  </a:tcPr>
                </a:tc>
                <a:tc>
                  <a:txBody>
                    <a:bodyPr/>
                    <a:lstStyle/>
                    <a:p>
                      <a:pPr algn="ctr" fontAlgn="ctr">
                        <a:buNone/>
                      </a:pPr>
                      <a:endParaRPr lang="en-GB" sz="1200" b="0" i="0" u="none" strike="noStrike" dirty="0">
                        <a:solidFill>
                          <a:srgbClr val="000000"/>
                        </a:solidFill>
                        <a:effectLst/>
                        <a:latin typeface="Calibri" panose="020F0502020204030204" pitchFamily="34" charset="0"/>
                      </a:endParaRPr>
                    </a:p>
                  </a:txBody>
                  <a:tcPr marL="5386" marR="5386" marT="5386" marB="32313" anchor="ctr">
                    <a:lnL>
                      <a:noFill/>
                    </a:lnL>
                    <a:lnR>
                      <a:noFill/>
                    </a:lnR>
                    <a:lnT>
                      <a:noFill/>
                    </a:lnT>
                    <a:lnB>
                      <a:noFill/>
                    </a:lnB>
                    <a:solidFill>
                      <a:srgbClr val="DDEBF7"/>
                    </a:solidFill>
                  </a:tcPr>
                </a:tc>
                <a:extLst>
                  <a:ext uri="{0D108BD9-81ED-4DB2-BD59-A6C34878D82A}">
                    <a16:rowId xmlns:a16="http://schemas.microsoft.com/office/drawing/2014/main" val="2174529361"/>
                  </a:ext>
                </a:extLst>
              </a:tr>
              <a:tr h="384833">
                <a:tc>
                  <a:txBody>
                    <a:bodyPr/>
                    <a:lstStyle/>
                    <a:p>
                      <a:pPr algn="ctr" fontAlgn="ctr">
                        <a:buNone/>
                      </a:pPr>
                      <a:r>
                        <a:rPr lang="en-GB" sz="1200" b="0" i="0" u="none" strike="noStrike" dirty="0">
                          <a:solidFill>
                            <a:srgbClr val="000000"/>
                          </a:solidFill>
                          <a:effectLst/>
                          <a:latin typeface="Calibri" panose="020F0502020204030204" pitchFamily="34" charset="0"/>
                        </a:rPr>
                        <a:t>ES.SOP.206</a:t>
                      </a:r>
                    </a:p>
                  </a:txBody>
                  <a:tcPr marL="5386" marR="5386" marT="5386" marB="32313" anchor="ctr">
                    <a:lnL w="6350" cap="flat" cmpd="sng" algn="ctr">
                      <a:solidFill>
                        <a:srgbClr val="000000"/>
                      </a:solidFill>
                      <a:prstDash val="solid"/>
                      <a:round/>
                      <a:headEnd type="none" w="med" len="med"/>
                      <a:tailEnd type="none" w="med" len="med"/>
                    </a:lnL>
                    <a:lnR>
                      <a:noFill/>
                    </a:lnR>
                    <a:lnT>
                      <a:noFill/>
                    </a:lnT>
                    <a:lnB>
                      <a:noFill/>
                    </a:lnB>
                    <a:solidFill>
                      <a:srgbClr val="C6E0B4"/>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V02</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1" i="0" u="none" strike="noStrike" dirty="0">
                          <a:solidFill>
                            <a:srgbClr val="000000"/>
                          </a:solidFill>
                          <a:effectLst/>
                          <a:latin typeface="Calibri" panose="020F0502020204030204" pitchFamily="34" charset="0"/>
                        </a:rPr>
                        <a:t>RAW MATERIAL/EXCIPIENT PACKDOWN PROCESS</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27-Mar-24</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27-Mar-24</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dirty="0">
                          <a:solidFill>
                            <a:srgbClr val="9C0006"/>
                          </a:solidFill>
                          <a:effectLst/>
                          <a:latin typeface="Calibri" panose="020F0502020204030204" pitchFamily="34" charset="0"/>
                        </a:rPr>
                        <a:t>27-Mar-26</a:t>
                      </a:r>
                    </a:p>
                  </a:txBody>
                  <a:tcPr marL="5386" marR="5386" marT="5386" marB="32313" anchor="ctr">
                    <a:lnL>
                      <a:noFill/>
                    </a:lnL>
                    <a:lnR>
                      <a:noFill/>
                    </a:lnR>
                    <a:lnT>
                      <a:noFill/>
                    </a:lnT>
                    <a:lnB>
                      <a:noFill/>
                    </a:lnB>
                    <a:solidFill>
                      <a:srgbClr val="FFC7CE"/>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PRODUCTION, QC &amp; R&amp;D</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AHA</a:t>
                      </a:r>
                    </a:p>
                  </a:txBody>
                  <a:tcPr marL="5386" marR="5386" marT="5386" marB="32313" anchor="ctr">
                    <a:lnL>
                      <a:noFill/>
                    </a:lnL>
                    <a:lnR>
                      <a:noFill/>
                    </a:lnR>
                    <a:lnT>
                      <a:noFill/>
                    </a:lnT>
                    <a:lnB>
                      <a:noFill/>
                    </a:lnB>
                    <a:solidFill>
                      <a:srgbClr val="AEAAAA"/>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Re-issue , no changes required</a:t>
                      </a:r>
                    </a:p>
                  </a:txBody>
                  <a:tcPr marL="5386" marR="5386" marT="5386" marB="32313" anchor="ctr">
                    <a:lnL>
                      <a:noFill/>
                    </a:lnL>
                    <a:lnR>
                      <a:noFill/>
                    </a:lnR>
                    <a:lnT>
                      <a:noFill/>
                    </a:lnT>
                    <a:lnB>
                      <a:noFill/>
                    </a:lnB>
                    <a:solidFill>
                      <a:srgbClr val="DDEBF7"/>
                    </a:solidFill>
                  </a:tcPr>
                </a:tc>
                <a:extLst>
                  <a:ext uri="{0D108BD9-81ED-4DB2-BD59-A6C34878D82A}">
                    <a16:rowId xmlns:a16="http://schemas.microsoft.com/office/drawing/2014/main" val="2529887071"/>
                  </a:ext>
                </a:extLst>
              </a:tr>
            </a:tbl>
          </a:graphicData>
        </a:graphic>
      </p:graphicFrame>
      <p:graphicFrame>
        <p:nvGraphicFramePr>
          <p:cNvPr id="7" name="Table 6">
            <a:extLst>
              <a:ext uri="{FF2B5EF4-FFF2-40B4-BE49-F238E27FC236}">
                <a16:creationId xmlns:a16="http://schemas.microsoft.com/office/drawing/2014/main" id="{E4C592DE-99CE-1375-8771-2C78A33B1F42}"/>
              </a:ext>
            </a:extLst>
          </p:cNvPr>
          <p:cNvGraphicFramePr>
            <a:graphicFrameLocks noGrp="1"/>
          </p:cNvGraphicFramePr>
          <p:nvPr>
            <p:extLst>
              <p:ext uri="{D42A27DB-BD31-4B8C-83A1-F6EECF244321}">
                <p14:modId xmlns:p14="http://schemas.microsoft.com/office/powerpoint/2010/main" val="1173043159"/>
              </p:ext>
            </p:extLst>
          </p:nvPr>
        </p:nvGraphicFramePr>
        <p:xfrm>
          <a:off x="822871" y="2774340"/>
          <a:ext cx="11130321" cy="1309318"/>
        </p:xfrm>
        <a:graphic>
          <a:graphicData uri="http://schemas.openxmlformats.org/drawingml/2006/table">
            <a:tbl>
              <a:tblPr/>
              <a:tblGrid>
                <a:gridCol w="1254839">
                  <a:extLst>
                    <a:ext uri="{9D8B030D-6E8A-4147-A177-3AD203B41FA5}">
                      <a16:colId xmlns:a16="http://schemas.microsoft.com/office/drawing/2014/main" val="1536705075"/>
                    </a:ext>
                  </a:extLst>
                </a:gridCol>
                <a:gridCol w="734540">
                  <a:extLst>
                    <a:ext uri="{9D8B030D-6E8A-4147-A177-3AD203B41FA5}">
                      <a16:colId xmlns:a16="http://schemas.microsoft.com/office/drawing/2014/main" val="2705023458"/>
                    </a:ext>
                  </a:extLst>
                </a:gridCol>
                <a:gridCol w="2672909">
                  <a:extLst>
                    <a:ext uri="{9D8B030D-6E8A-4147-A177-3AD203B41FA5}">
                      <a16:colId xmlns:a16="http://schemas.microsoft.com/office/drawing/2014/main" val="1423026380"/>
                    </a:ext>
                  </a:extLst>
                </a:gridCol>
                <a:gridCol w="969185">
                  <a:extLst>
                    <a:ext uri="{9D8B030D-6E8A-4147-A177-3AD203B41FA5}">
                      <a16:colId xmlns:a16="http://schemas.microsoft.com/office/drawing/2014/main" val="1001234709"/>
                    </a:ext>
                  </a:extLst>
                </a:gridCol>
                <a:gridCol w="1163022">
                  <a:extLst>
                    <a:ext uri="{9D8B030D-6E8A-4147-A177-3AD203B41FA5}">
                      <a16:colId xmlns:a16="http://schemas.microsoft.com/office/drawing/2014/main" val="4196892286"/>
                    </a:ext>
                  </a:extLst>
                </a:gridCol>
                <a:gridCol w="1061002">
                  <a:extLst>
                    <a:ext uri="{9D8B030D-6E8A-4147-A177-3AD203B41FA5}">
                      <a16:colId xmlns:a16="http://schemas.microsoft.com/office/drawing/2014/main" val="3180681462"/>
                    </a:ext>
                  </a:extLst>
                </a:gridCol>
                <a:gridCol w="969185">
                  <a:extLst>
                    <a:ext uri="{9D8B030D-6E8A-4147-A177-3AD203B41FA5}">
                      <a16:colId xmlns:a16="http://schemas.microsoft.com/office/drawing/2014/main" val="1774182754"/>
                    </a:ext>
                  </a:extLst>
                </a:gridCol>
                <a:gridCol w="663126">
                  <a:extLst>
                    <a:ext uri="{9D8B030D-6E8A-4147-A177-3AD203B41FA5}">
                      <a16:colId xmlns:a16="http://schemas.microsoft.com/office/drawing/2014/main" val="520271143"/>
                    </a:ext>
                  </a:extLst>
                </a:gridCol>
                <a:gridCol w="1642513">
                  <a:extLst>
                    <a:ext uri="{9D8B030D-6E8A-4147-A177-3AD203B41FA5}">
                      <a16:colId xmlns:a16="http://schemas.microsoft.com/office/drawing/2014/main" val="2289229024"/>
                    </a:ext>
                  </a:extLst>
                </a:gridCol>
              </a:tblGrid>
              <a:tr h="0">
                <a:tc>
                  <a:txBody>
                    <a:bodyPr/>
                    <a:lstStyle/>
                    <a:p>
                      <a:pPr algn="ctr" fontAlgn="ctr">
                        <a:buNone/>
                      </a:pPr>
                      <a:r>
                        <a:rPr lang="en-GB" sz="1200" b="1" i="0" u="none" strike="noStrike">
                          <a:solidFill>
                            <a:srgbClr val="000000"/>
                          </a:solidFill>
                          <a:effectLst/>
                          <a:latin typeface="Arial" panose="020B0604020202020204" pitchFamily="34" charset="0"/>
                        </a:rPr>
                        <a:t>FORM number</a:t>
                      </a:r>
                    </a:p>
                  </a:txBody>
                  <a:tcPr marL="5386" marR="5386" marT="5386" marB="32313" anchor="ctr">
                    <a:lnL w="6350" cap="flat" cmpd="sng" algn="ctr">
                      <a:solidFill>
                        <a:srgbClr val="000000"/>
                      </a:solidFill>
                      <a:prstDash val="solid"/>
                      <a:round/>
                      <a:headEnd type="none" w="med" len="med"/>
                      <a:tailEnd type="none" w="med" len="med"/>
                    </a:lnL>
                    <a:lnR>
                      <a:noFill/>
                    </a:lnR>
                    <a:lnT>
                      <a:noFill/>
                    </a:lnT>
                    <a:lnB>
                      <a:noFill/>
                    </a:lnB>
                    <a:solidFill>
                      <a:srgbClr val="5B9BD5"/>
                    </a:solidFill>
                  </a:tcPr>
                </a:tc>
                <a:tc>
                  <a:txBody>
                    <a:bodyPr/>
                    <a:lstStyle/>
                    <a:p>
                      <a:pPr algn="ctr" fontAlgn="ctr">
                        <a:buNone/>
                      </a:pPr>
                      <a:r>
                        <a:rPr lang="en-GB" sz="1200" b="1" i="0" u="none" strike="noStrike">
                          <a:solidFill>
                            <a:srgbClr val="000000"/>
                          </a:solidFill>
                          <a:effectLst/>
                          <a:latin typeface="Arial" panose="020B0604020202020204" pitchFamily="34" charset="0"/>
                        </a:rPr>
                        <a:t>Version</a:t>
                      </a:r>
                    </a:p>
                  </a:txBody>
                  <a:tcPr marL="5386" marR="5386" marT="5386" marB="32313" anchor="ctr">
                    <a:lnL>
                      <a:noFill/>
                    </a:lnL>
                    <a:lnR>
                      <a:noFill/>
                    </a:lnR>
                    <a:lnT>
                      <a:noFill/>
                    </a:lnT>
                    <a:lnB>
                      <a:noFill/>
                    </a:lnB>
                    <a:solidFill>
                      <a:srgbClr val="5B9BD5"/>
                    </a:solidFill>
                  </a:tcPr>
                </a:tc>
                <a:tc>
                  <a:txBody>
                    <a:bodyPr/>
                    <a:lstStyle/>
                    <a:p>
                      <a:pPr algn="ctr" fontAlgn="ctr">
                        <a:buNone/>
                      </a:pPr>
                      <a:r>
                        <a:rPr lang="en-GB" sz="1200" b="1" i="0" u="none" strike="noStrike" dirty="0">
                          <a:solidFill>
                            <a:srgbClr val="000000"/>
                          </a:solidFill>
                          <a:effectLst/>
                          <a:latin typeface="Arial" panose="020B0604020202020204" pitchFamily="34" charset="0"/>
                        </a:rPr>
                        <a:t>Title</a:t>
                      </a:r>
                    </a:p>
                  </a:txBody>
                  <a:tcPr marL="5386" marR="5386" marT="5386" marB="32313" anchor="ctr">
                    <a:lnL>
                      <a:noFill/>
                    </a:lnL>
                    <a:lnR>
                      <a:noFill/>
                    </a:lnR>
                    <a:lnT>
                      <a:noFill/>
                    </a:lnT>
                    <a:lnB>
                      <a:noFill/>
                    </a:lnB>
                    <a:solidFill>
                      <a:srgbClr val="5B9BD5"/>
                    </a:solidFill>
                  </a:tcPr>
                </a:tc>
                <a:tc>
                  <a:txBody>
                    <a:bodyPr/>
                    <a:lstStyle/>
                    <a:p>
                      <a:pPr algn="ctr" fontAlgn="ctr">
                        <a:buNone/>
                      </a:pPr>
                      <a:r>
                        <a:rPr lang="en-GB" sz="1200" b="1" i="0" u="none" strike="noStrike">
                          <a:solidFill>
                            <a:srgbClr val="000000"/>
                          </a:solidFill>
                          <a:effectLst/>
                          <a:latin typeface="Arial" panose="020B0604020202020204" pitchFamily="34" charset="0"/>
                        </a:rPr>
                        <a:t>Issue Date:</a:t>
                      </a:r>
                    </a:p>
                  </a:txBody>
                  <a:tcPr marL="5386" marR="5386" marT="5386" marB="32313" anchor="ctr">
                    <a:lnL>
                      <a:noFill/>
                    </a:lnL>
                    <a:lnR>
                      <a:noFill/>
                    </a:lnR>
                    <a:lnT>
                      <a:noFill/>
                    </a:lnT>
                    <a:lnB>
                      <a:noFill/>
                    </a:lnB>
                    <a:solidFill>
                      <a:srgbClr val="5B9BD5"/>
                    </a:solidFill>
                  </a:tcPr>
                </a:tc>
                <a:tc>
                  <a:txBody>
                    <a:bodyPr/>
                    <a:lstStyle/>
                    <a:p>
                      <a:pPr algn="ctr" fontAlgn="ctr">
                        <a:buNone/>
                      </a:pPr>
                      <a:r>
                        <a:rPr lang="en-GB" sz="1200" b="1" i="0" u="none" strike="noStrike">
                          <a:solidFill>
                            <a:srgbClr val="000000"/>
                          </a:solidFill>
                          <a:effectLst/>
                          <a:latin typeface="Arial" panose="020B0604020202020204" pitchFamily="34" charset="0"/>
                        </a:rPr>
                        <a:t>Effective Date</a:t>
                      </a:r>
                    </a:p>
                  </a:txBody>
                  <a:tcPr marL="5386" marR="5386" marT="5386" marB="32313" anchor="ctr">
                    <a:lnL>
                      <a:noFill/>
                    </a:lnL>
                    <a:lnR>
                      <a:noFill/>
                    </a:lnR>
                    <a:lnT>
                      <a:noFill/>
                    </a:lnT>
                    <a:lnB>
                      <a:noFill/>
                    </a:lnB>
                    <a:solidFill>
                      <a:srgbClr val="5B9BD5"/>
                    </a:solidFill>
                  </a:tcPr>
                </a:tc>
                <a:tc>
                  <a:txBody>
                    <a:bodyPr/>
                    <a:lstStyle/>
                    <a:p>
                      <a:pPr algn="ctr" fontAlgn="ctr">
                        <a:buNone/>
                      </a:pPr>
                      <a:r>
                        <a:rPr lang="en-GB" sz="1200" b="1" i="0" u="none" strike="noStrike">
                          <a:solidFill>
                            <a:srgbClr val="000000"/>
                          </a:solidFill>
                          <a:effectLst/>
                          <a:latin typeface="Arial" panose="020B0604020202020204" pitchFamily="34" charset="0"/>
                        </a:rPr>
                        <a:t>Review Date</a:t>
                      </a:r>
                    </a:p>
                  </a:txBody>
                  <a:tcPr marL="5386" marR="5386" marT="5386" marB="32313" anchor="ctr">
                    <a:lnL>
                      <a:noFill/>
                    </a:lnL>
                    <a:lnR>
                      <a:noFill/>
                    </a:lnR>
                    <a:lnT>
                      <a:noFill/>
                    </a:lnT>
                    <a:lnB w="6350" cap="flat" cmpd="sng" algn="ctr">
                      <a:solidFill>
                        <a:srgbClr val="9BC2E6"/>
                      </a:solidFill>
                      <a:prstDash val="solid"/>
                      <a:round/>
                      <a:headEnd type="none" w="med" len="med"/>
                      <a:tailEnd type="none" w="med" len="med"/>
                    </a:lnB>
                    <a:solidFill>
                      <a:srgbClr val="5B9BD5"/>
                    </a:solidFill>
                  </a:tcPr>
                </a:tc>
                <a:tc>
                  <a:txBody>
                    <a:bodyPr/>
                    <a:lstStyle/>
                    <a:p>
                      <a:pPr algn="ctr" fontAlgn="ctr">
                        <a:buNone/>
                      </a:pPr>
                      <a:r>
                        <a:rPr lang="en-GB" sz="1200" b="1" i="0" u="none" strike="noStrike">
                          <a:solidFill>
                            <a:srgbClr val="000000"/>
                          </a:solidFill>
                          <a:effectLst/>
                          <a:latin typeface="Arial" panose="020B0604020202020204" pitchFamily="34" charset="0"/>
                        </a:rPr>
                        <a:t>RP</a:t>
                      </a:r>
                    </a:p>
                  </a:txBody>
                  <a:tcPr marL="5386" marR="5386" marT="5386" marB="32313" anchor="ctr">
                    <a:lnL>
                      <a:noFill/>
                    </a:lnL>
                    <a:lnR>
                      <a:noFill/>
                    </a:lnR>
                    <a:lnT>
                      <a:noFill/>
                    </a:lnT>
                    <a:lnB>
                      <a:noFill/>
                    </a:lnB>
                    <a:solidFill>
                      <a:srgbClr val="5B9BD5"/>
                    </a:solidFill>
                  </a:tcPr>
                </a:tc>
                <a:tc>
                  <a:txBody>
                    <a:bodyPr/>
                    <a:lstStyle/>
                    <a:p>
                      <a:pPr algn="ctr" fontAlgn="ctr">
                        <a:buNone/>
                      </a:pPr>
                      <a:r>
                        <a:rPr lang="en-GB" sz="1200" b="1" i="0" u="none" strike="noStrike">
                          <a:solidFill>
                            <a:srgbClr val="000000"/>
                          </a:solidFill>
                          <a:effectLst/>
                          <a:latin typeface="Arial" panose="020B0604020202020204" pitchFamily="34" charset="0"/>
                        </a:rPr>
                        <a:t>QA RP</a:t>
                      </a:r>
                    </a:p>
                  </a:txBody>
                  <a:tcPr marL="5386" marR="5386" marT="5386" marB="32313" anchor="ctr">
                    <a:lnL>
                      <a:noFill/>
                    </a:lnL>
                    <a:lnR>
                      <a:noFill/>
                    </a:lnR>
                    <a:lnT>
                      <a:noFill/>
                    </a:lnT>
                    <a:lnB>
                      <a:noFill/>
                    </a:lnB>
                    <a:solidFill>
                      <a:srgbClr val="5B9BD5"/>
                    </a:solidFill>
                  </a:tcPr>
                </a:tc>
                <a:tc>
                  <a:txBody>
                    <a:bodyPr/>
                    <a:lstStyle/>
                    <a:p>
                      <a:pPr algn="ctr" fontAlgn="ctr">
                        <a:buNone/>
                      </a:pPr>
                      <a:r>
                        <a:rPr lang="en-GB" sz="1200" b="1" i="0" u="none" strike="noStrike">
                          <a:solidFill>
                            <a:srgbClr val="000000"/>
                          </a:solidFill>
                          <a:effectLst/>
                          <a:latin typeface="Arial" panose="020B0604020202020204" pitchFamily="34" charset="0"/>
                        </a:rPr>
                        <a:t>Associated Documents/ Comments</a:t>
                      </a:r>
                    </a:p>
                  </a:txBody>
                  <a:tcPr marL="5386" marR="5386" marT="5386" marB="32313" anchor="ctr">
                    <a:lnL>
                      <a:noFill/>
                    </a:lnL>
                    <a:lnR>
                      <a:noFill/>
                    </a:lnR>
                    <a:lnT>
                      <a:noFill/>
                    </a:lnT>
                    <a:lnB>
                      <a:noFill/>
                    </a:lnB>
                    <a:solidFill>
                      <a:srgbClr val="5B9BD5"/>
                    </a:solidFill>
                  </a:tcPr>
                </a:tc>
                <a:extLst>
                  <a:ext uri="{0D108BD9-81ED-4DB2-BD59-A6C34878D82A}">
                    <a16:rowId xmlns:a16="http://schemas.microsoft.com/office/drawing/2014/main" val="459704106"/>
                  </a:ext>
                </a:extLst>
              </a:tr>
              <a:tr h="464928">
                <a:tc>
                  <a:txBody>
                    <a:bodyPr/>
                    <a:lstStyle/>
                    <a:p>
                      <a:pPr algn="ctr" fontAlgn="ctr">
                        <a:buNone/>
                      </a:pPr>
                      <a:r>
                        <a:rPr lang="en-GB" sz="1200" b="0" i="0" u="none" strike="noStrike">
                          <a:solidFill>
                            <a:srgbClr val="000000"/>
                          </a:solidFill>
                          <a:effectLst/>
                          <a:latin typeface="Calibri" panose="020F0502020204030204" pitchFamily="34" charset="0"/>
                        </a:rPr>
                        <a:t>ES.SOP.231.F01</a:t>
                      </a:r>
                    </a:p>
                  </a:txBody>
                  <a:tcPr marL="5386" marR="5386" marT="5386" marB="32313" anchor="ctr">
                    <a:lnL w="6350" cap="flat" cmpd="sng" algn="ctr">
                      <a:solidFill>
                        <a:srgbClr val="000000"/>
                      </a:solidFill>
                      <a:prstDash val="solid"/>
                      <a:round/>
                      <a:headEnd type="none" w="med" len="med"/>
                      <a:tailEnd type="none" w="med" len="med"/>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V03</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1" i="0" u="none" strike="noStrike" dirty="0">
                          <a:solidFill>
                            <a:srgbClr val="000000"/>
                          </a:solidFill>
                          <a:effectLst/>
                          <a:latin typeface="Calibri" panose="020F0502020204030204" pitchFamily="34" charset="0"/>
                        </a:rPr>
                        <a:t>SPREADSHEET VALIDATION PROTOCOL TEMPLATE</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04-Aug-23</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11-Aug-23</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a:solidFill>
                            <a:srgbClr val="9C0006"/>
                          </a:solidFill>
                          <a:effectLst/>
                          <a:latin typeface="Calibri" panose="020F0502020204030204" pitchFamily="34" charset="0"/>
                        </a:rPr>
                        <a:t>11-Aug-25</a:t>
                      </a:r>
                    </a:p>
                  </a:txBody>
                  <a:tcPr marL="5386" marR="5386" marT="5386" marB="32313" anchor="ctr">
                    <a:lnL>
                      <a:noFill/>
                    </a:lnL>
                    <a:lnR>
                      <a:noFill/>
                    </a:lnR>
                    <a:lnT w="6350" cap="flat" cmpd="sng" algn="ctr">
                      <a:solidFill>
                        <a:srgbClr val="9BC2E6"/>
                      </a:solidFill>
                      <a:prstDash val="solid"/>
                      <a:round/>
                      <a:headEnd type="none" w="med" len="med"/>
                      <a:tailEnd type="none" w="med" len="med"/>
                    </a:lnT>
                    <a:lnB>
                      <a:noFill/>
                    </a:lnB>
                    <a:solidFill>
                      <a:srgbClr val="FFC7CE"/>
                    </a:solidFill>
                  </a:tcPr>
                </a:tc>
                <a:tc>
                  <a:txBody>
                    <a:bodyPr/>
                    <a:lstStyle/>
                    <a:p>
                      <a:pPr algn="ctr" fontAlgn="ctr">
                        <a:buNone/>
                      </a:pPr>
                      <a:r>
                        <a:rPr lang="en-GB" sz="1200" b="0" i="0" u="none" strike="noStrike">
                          <a:solidFill>
                            <a:srgbClr val="000000"/>
                          </a:solidFill>
                          <a:effectLst/>
                          <a:latin typeface="Calibri" panose="020F0502020204030204" pitchFamily="34" charset="0"/>
                        </a:rPr>
                        <a:t>QA</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AM</a:t>
                      </a:r>
                    </a:p>
                  </a:txBody>
                  <a:tcPr marL="5386" marR="5386" marT="5386" marB="32313" anchor="ctr">
                    <a:lnL>
                      <a:noFill/>
                    </a:lnL>
                    <a:lnR>
                      <a:noFill/>
                    </a:lnR>
                    <a:lnT>
                      <a:noFill/>
                    </a:lnT>
                    <a:lnB>
                      <a:noFill/>
                    </a:lnB>
                    <a:solidFill>
                      <a:srgbClr val="FFFF00"/>
                    </a:solidFill>
                  </a:tcPr>
                </a:tc>
                <a:tc>
                  <a:txBody>
                    <a:bodyPr/>
                    <a:lstStyle/>
                    <a:p>
                      <a:pPr algn="ctr" fontAlgn="ctr">
                        <a:buNone/>
                      </a:pPr>
                      <a:r>
                        <a:rPr lang="en-GB" sz="1200" b="0" i="0" u="none" strike="noStrike" dirty="0">
                          <a:solidFill>
                            <a:srgbClr val="000000"/>
                          </a:solidFill>
                          <a:effectLst/>
                          <a:latin typeface="Arial" panose="020B0604020202020204" pitchFamily="34" charset="0"/>
                        </a:rPr>
                        <a:t>CC.2026.031</a:t>
                      </a:r>
                    </a:p>
                  </a:txBody>
                  <a:tcPr marL="5386" marR="5386" marT="5386" marB="32313" anchor="ctr">
                    <a:lnL>
                      <a:noFill/>
                    </a:lnL>
                    <a:lnR>
                      <a:noFill/>
                    </a:lnR>
                    <a:lnT>
                      <a:noFill/>
                    </a:lnT>
                    <a:lnB>
                      <a:noFill/>
                    </a:lnB>
                    <a:solidFill>
                      <a:srgbClr val="DDEBF7"/>
                    </a:solidFill>
                  </a:tcPr>
                </a:tc>
                <a:extLst>
                  <a:ext uri="{0D108BD9-81ED-4DB2-BD59-A6C34878D82A}">
                    <a16:rowId xmlns:a16="http://schemas.microsoft.com/office/drawing/2014/main" val="610189283"/>
                  </a:ext>
                </a:extLst>
              </a:tr>
              <a:tr h="258051">
                <a:tc>
                  <a:txBody>
                    <a:bodyPr/>
                    <a:lstStyle/>
                    <a:p>
                      <a:pPr algn="ctr" fontAlgn="ctr">
                        <a:buNone/>
                      </a:pPr>
                      <a:r>
                        <a:rPr lang="en-GB" sz="1200" b="0" i="0" u="none" strike="noStrike" dirty="0">
                          <a:solidFill>
                            <a:srgbClr val="000000"/>
                          </a:solidFill>
                          <a:effectLst/>
                          <a:latin typeface="Calibri" panose="020F0502020204030204" pitchFamily="34" charset="0"/>
                        </a:rPr>
                        <a:t>ES.SOP.050.F01</a:t>
                      </a:r>
                    </a:p>
                  </a:txBody>
                  <a:tcPr marL="5386" marR="5386" marT="5386" marB="32313" anchor="ctr">
                    <a:lnL w="6350" cap="flat" cmpd="sng" algn="ctr">
                      <a:solidFill>
                        <a:srgbClr val="000000"/>
                      </a:solidFill>
                      <a:prstDash val="solid"/>
                      <a:round/>
                      <a:headEnd type="none" w="med" len="med"/>
                      <a:tailEnd type="none" w="med" len="med"/>
                    </a:lnL>
                    <a:lnR>
                      <a:noFill/>
                    </a:lnR>
                    <a:lnT>
                      <a:noFill/>
                    </a:lnT>
                    <a:lnB w="6350" cap="flat" cmpd="sng" algn="ctr">
                      <a:solidFill>
                        <a:srgbClr val="9BC2E6"/>
                      </a:solidFill>
                      <a:prstDash val="solid"/>
                      <a:round/>
                      <a:headEnd type="none" w="med" len="med"/>
                      <a:tailEnd type="none" w="med" len="med"/>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V04</a:t>
                      </a:r>
                    </a:p>
                  </a:txBody>
                  <a:tcPr marL="5386" marR="5386" marT="5386" marB="32313" anchor="ctr">
                    <a:lnL>
                      <a:noFill/>
                    </a:lnL>
                    <a:lnR>
                      <a:noFill/>
                    </a:lnR>
                    <a:lnT>
                      <a:noFill/>
                    </a:lnT>
                    <a:lnB w="6350" cap="flat" cmpd="sng" algn="ctr">
                      <a:solidFill>
                        <a:srgbClr val="9BC2E6"/>
                      </a:solidFill>
                      <a:prstDash val="solid"/>
                      <a:round/>
                      <a:headEnd type="none" w="med" len="med"/>
                      <a:tailEnd type="none" w="med" len="med"/>
                    </a:lnB>
                    <a:solidFill>
                      <a:srgbClr val="C6E0B4"/>
                    </a:solidFill>
                  </a:tcPr>
                </a:tc>
                <a:tc>
                  <a:txBody>
                    <a:bodyPr/>
                    <a:lstStyle/>
                    <a:p>
                      <a:pPr algn="ctr" fontAlgn="ctr">
                        <a:buNone/>
                      </a:pPr>
                      <a:r>
                        <a:rPr lang="en-GB" sz="1200" b="1" i="0" u="none" strike="noStrike" dirty="0">
                          <a:solidFill>
                            <a:srgbClr val="000000"/>
                          </a:solidFill>
                          <a:effectLst/>
                          <a:latin typeface="Calibri" panose="020F0502020204030204" pitchFamily="34" charset="0"/>
                        </a:rPr>
                        <a:t>JENWAY 3520 pH METER CALIBRATION</a:t>
                      </a:r>
                    </a:p>
                  </a:txBody>
                  <a:tcPr marL="5386" marR="5386" marT="5386" marB="32313" anchor="ctr">
                    <a:lnL>
                      <a:noFill/>
                    </a:lnL>
                    <a:lnR>
                      <a:noFill/>
                    </a:lnR>
                    <a:lnT>
                      <a:noFill/>
                    </a:lnT>
                    <a:lnB w="6350" cap="flat" cmpd="sng" algn="ctr">
                      <a:solidFill>
                        <a:srgbClr val="9BC2E6"/>
                      </a:solidFill>
                      <a:prstDash val="solid"/>
                      <a:round/>
                      <a:headEnd type="none" w="med" len="med"/>
                      <a:tailEnd type="none" w="med" len="med"/>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21-Mar-24</a:t>
                      </a:r>
                    </a:p>
                  </a:txBody>
                  <a:tcPr marL="5386" marR="5386" marT="5386" marB="32313" anchor="ctr">
                    <a:lnL>
                      <a:noFill/>
                    </a:lnL>
                    <a:lnR>
                      <a:noFill/>
                    </a:lnR>
                    <a:lnT>
                      <a:noFill/>
                    </a:lnT>
                    <a:lnB w="6350" cap="flat" cmpd="sng" algn="ctr">
                      <a:solidFill>
                        <a:srgbClr val="9BC2E6"/>
                      </a:solidFill>
                      <a:prstDash val="solid"/>
                      <a:round/>
                      <a:headEnd type="none" w="med" len="med"/>
                      <a:tailEnd type="none" w="med" len="med"/>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28-Mar-24</a:t>
                      </a:r>
                    </a:p>
                  </a:txBody>
                  <a:tcPr marL="5386" marR="5386" marT="5386" marB="32313" anchor="ctr">
                    <a:lnL>
                      <a:noFill/>
                    </a:lnL>
                    <a:lnR>
                      <a:noFill/>
                    </a:lnR>
                    <a:lnT>
                      <a:noFill/>
                    </a:lnT>
                    <a:lnB w="6350" cap="flat" cmpd="sng" algn="ctr">
                      <a:solidFill>
                        <a:srgbClr val="9BC2E6"/>
                      </a:solidFill>
                      <a:prstDash val="solid"/>
                      <a:round/>
                      <a:headEnd type="none" w="med" len="med"/>
                      <a:tailEnd type="none" w="med" len="med"/>
                    </a:lnB>
                    <a:solidFill>
                      <a:srgbClr val="C6E0B4"/>
                    </a:solidFill>
                  </a:tcPr>
                </a:tc>
                <a:tc>
                  <a:txBody>
                    <a:bodyPr/>
                    <a:lstStyle/>
                    <a:p>
                      <a:pPr algn="ctr" fontAlgn="ctr">
                        <a:buNone/>
                      </a:pPr>
                      <a:r>
                        <a:rPr lang="en-GB" sz="1200" b="0" i="0" u="none" strike="noStrike">
                          <a:solidFill>
                            <a:srgbClr val="9C0006"/>
                          </a:solidFill>
                          <a:effectLst/>
                          <a:latin typeface="Calibri" panose="020F0502020204030204" pitchFamily="34" charset="0"/>
                        </a:rPr>
                        <a:t>28-Mar-26</a:t>
                      </a:r>
                    </a:p>
                  </a:txBody>
                  <a:tcPr marL="5386" marR="5386" marT="5386" marB="32313" anchor="ctr">
                    <a:lnL>
                      <a:noFill/>
                    </a:lnL>
                    <a:lnR>
                      <a:noFill/>
                    </a:lnR>
                    <a:lnT>
                      <a:noFill/>
                    </a:lnT>
                    <a:lnB w="6350" cap="flat" cmpd="sng" algn="ctr">
                      <a:solidFill>
                        <a:srgbClr val="9BC2E6"/>
                      </a:solidFill>
                      <a:prstDash val="solid"/>
                      <a:round/>
                      <a:headEnd type="none" w="med" len="med"/>
                      <a:tailEnd type="none" w="med" len="med"/>
                    </a:lnB>
                    <a:solidFill>
                      <a:srgbClr val="FFC7CE"/>
                    </a:solidFill>
                  </a:tcPr>
                </a:tc>
                <a:tc>
                  <a:txBody>
                    <a:bodyPr/>
                    <a:lstStyle/>
                    <a:p>
                      <a:pPr algn="ctr" fontAlgn="ctr">
                        <a:buNone/>
                      </a:pPr>
                      <a:r>
                        <a:rPr lang="en-GB" sz="1200" b="0" i="0" u="none" strike="noStrike">
                          <a:solidFill>
                            <a:srgbClr val="000000"/>
                          </a:solidFill>
                          <a:effectLst/>
                          <a:latin typeface="Calibri" panose="020F0502020204030204" pitchFamily="34" charset="0"/>
                        </a:rPr>
                        <a:t>QC</a:t>
                      </a:r>
                    </a:p>
                  </a:txBody>
                  <a:tcPr marL="5386" marR="5386" marT="5386" marB="32313" anchor="ctr">
                    <a:lnL>
                      <a:noFill/>
                    </a:lnL>
                    <a:lnR>
                      <a:noFill/>
                    </a:lnR>
                    <a:lnT>
                      <a:noFill/>
                    </a:lnT>
                    <a:lnB w="6350" cap="flat" cmpd="sng" algn="ctr">
                      <a:solidFill>
                        <a:srgbClr val="9BC2E6"/>
                      </a:solidFill>
                      <a:prstDash val="solid"/>
                      <a:round/>
                      <a:headEnd type="none" w="med" len="med"/>
                      <a:tailEnd type="none" w="med" len="med"/>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AHA</a:t>
                      </a:r>
                    </a:p>
                  </a:txBody>
                  <a:tcPr marL="5386" marR="5386" marT="5386" marB="32313" anchor="ctr">
                    <a:lnL>
                      <a:noFill/>
                    </a:lnL>
                    <a:lnR>
                      <a:noFill/>
                    </a:lnR>
                    <a:lnT>
                      <a:noFill/>
                    </a:lnT>
                    <a:lnB>
                      <a:noFill/>
                    </a:lnB>
                    <a:solidFill>
                      <a:srgbClr val="AEAAAA"/>
                    </a:solidFill>
                  </a:tcPr>
                </a:tc>
                <a:tc>
                  <a:txBody>
                    <a:bodyPr/>
                    <a:lstStyle/>
                    <a:p>
                      <a:pPr algn="ctr" fontAlgn="ctr">
                        <a:buNone/>
                      </a:pPr>
                      <a:endParaRPr lang="en-GB" sz="1200" b="0" i="0" u="none" strike="noStrike" dirty="0">
                        <a:solidFill>
                          <a:srgbClr val="000000"/>
                        </a:solidFill>
                        <a:effectLst/>
                        <a:latin typeface="Arial" panose="020B0604020202020204" pitchFamily="34" charset="0"/>
                      </a:endParaRPr>
                    </a:p>
                  </a:txBody>
                  <a:tcPr marL="5386" marR="5386" marT="5386" marB="32313" anchor="ctr">
                    <a:lnL>
                      <a:noFill/>
                    </a:lnL>
                    <a:lnR>
                      <a:noFill/>
                    </a:lnR>
                    <a:lnT>
                      <a:noFill/>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4097664595"/>
                  </a:ext>
                </a:extLst>
              </a:tr>
            </a:tbl>
          </a:graphicData>
        </a:graphic>
      </p:graphicFrame>
      <p:graphicFrame>
        <p:nvGraphicFramePr>
          <p:cNvPr id="8" name="Table 7">
            <a:extLst>
              <a:ext uri="{FF2B5EF4-FFF2-40B4-BE49-F238E27FC236}">
                <a16:creationId xmlns:a16="http://schemas.microsoft.com/office/drawing/2014/main" id="{918DFDD5-CB6A-6472-9983-C7F884117CD4}"/>
              </a:ext>
            </a:extLst>
          </p:cNvPr>
          <p:cNvGraphicFramePr>
            <a:graphicFrameLocks noGrp="1"/>
          </p:cNvGraphicFramePr>
          <p:nvPr>
            <p:extLst>
              <p:ext uri="{D42A27DB-BD31-4B8C-83A1-F6EECF244321}">
                <p14:modId xmlns:p14="http://schemas.microsoft.com/office/powerpoint/2010/main" val="2537850517"/>
              </p:ext>
            </p:extLst>
          </p:nvPr>
        </p:nvGraphicFramePr>
        <p:xfrm>
          <a:off x="811581" y="4216469"/>
          <a:ext cx="11130321" cy="867878"/>
        </p:xfrm>
        <a:graphic>
          <a:graphicData uri="http://schemas.openxmlformats.org/drawingml/2006/table">
            <a:tbl>
              <a:tblPr/>
              <a:tblGrid>
                <a:gridCol w="1254838">
                  <a:extLst>
                    <a:ext uri="{9D8B030D-6E8A-4147-A177-3AD203B41FA5}">
                      <a16:colId xmlns:a16="http://schemas.microsoft.com/office/drawing/2014/main" val="381973207"/>
                    </a:ext>
                  </a:extLst>
                </a:gridCol>
                <a:gridCol w="734541">
                  <a:extLst>
                    <a:ext uri="{9D8B030D-6E8A-4147-A177-3AD203B41FA5}">
                      <a16:colId xmlns:a16="http://schemas.microsoft.com/office/drawing/2014/main" val="349993976"/>
                    </a:ext>
                  </a:extLst>
                </a:gridCol>
                <a:gridCol w="2672910">
                  <a:extLst>
                    <a:ext uri="{9D8B030D-6E8A-4147-A177-3AD203B41FA5}">
                      <a16:colId xmlns:a16="http://schemas.microsoft.com/office/drawing/2014/main" val="3580332749"/>
                    </a:ext>
                  </a:extLst>
                </a:gridCol>
                <a:gridCol w="969185">
                  <a:extLst>
                    <a:ext uri="{9D8B030D-6E8A-4147-A177-3AD203B41FA5}">
                      <a16:colId xmlns:a16="http://schemas.microsoft.com/office/drawing/2014/main" val="981286344"/>
                    </a:ext>
                  </a:extLst>
                </a:gridCol>
                <a:gridCol w="1163022">
                  <a:extLst>
                    <a:ext uri="{9D8B030D-6E8A-4147-A177-3AD203B41FA5}">
                      <a16:colId xmlns:a16="http://schemas.microsoft.com/office/drawing/2014/main" val="3369163871"/>
                    </a:ext>
                  </a:extLst>
                </a:gridCol>
                <a:gridCol w="1061002">
                  <a:extLst>
                    <a:ext uri="{9D8B030D-6E8A-4147-A177-3AD203B41FA5}">
                      <a16:colId xmlns:a16="http://schemas.microsoft.com/office/drawing/2014/main" val="611686476"/>
                    </a:ext>
                  </a:extLst>
                </a:gridCol>
                <a:gridCol w="969185">
                  <a:extLst>
                    <a:ext uri="{9D8B030D-6E8A-4147-A177-3AD203B41FA5}">
                      <a16:colId xmlns:a16="http://schemas.microsoft.com/office/drawing/2014/main" val="718974299"/>
                    </a:ext>
                  </a:extLst>
                </a:gridCol>
                <a:gridCol w="663125">
                  <a:extLst>
                    <a:ext uri="{9D8B030D-6E8A-4147-A177-3AD203B41FA5}">
                      <a16:colId xmlns:a16="http://schemas.microsoft.com/office/drawing/2014/main" val="935496642"/>
                    </a:ext>
                  </a:extLst>
                </a:gridCol>
                <a:gridCol w="1642513">
                  <a:extLst>
                    <a:ext uri="{9D8B030D-6E8A-4147-A177-3AD203B41FA5}">
                      <a16:colId xmlns:a16="http://schemas.microsoft.com/office/drawing/2014/main" val="2722027891"/>
                    </a:ext>
                  </a:extLst>
                </a:gridCol>
              </a:tblGrid>
              <a:tr h="174778">
                <a:tc>
                  <a:txBody>
                    <a:bodyPr/>
                    <a:lstStyle/>
                    <a:p>
                      <a:pPr algn="ctr" fontAlgn="ctr">
                        <a:buNone/>
                      </a:pPr>
                      <a:r>
                        <a:rPr lang="en-GB" sz="1200" b="1" i="0" u="none" strike="noStrike">
                          <a:solidFill>
                            <a:srgbClr val="000000"/>
                          </a:solidFill>
                          <a:effectLst/>
                          <a:latin typeface="Arial" panose="020B0604020202020204" pitchFamily="34" charset="0"/>
                        </a:rPr>
                        <a:t>ED number</a:t>
                      </a:r>
                    </a:p>
                  </a:txBody>
                  <a:tcPr marL="5386" marR="5386" marT="5386" marB="32313" anchor="ctr">
                    <a:lnL w="6350" cap="flat" cmpd="sng" algn="ctr">
                      <a:solidFill>
                        <a:srgbClr val="000000"/>
                      </a:solidFill>
                      <a:prstDash val="solid"/>
                      <a:round/>
                      <a:headEnd type="none" w="med" len="med"/>
                      <a:tailEnd type="none" w="med" len="med"/>
                    </a:lnL>
                    <a:lnR>
                      <a:noFill/>
                    </a:lnR>
                    <a:lnT>
                      <a:noFill/>
                    </a:lnT>
                    <a:lnB>
                      <a:noFill/>
                    </a:lnB>
                    <a:solidFill>
                      <a:srgbClr val="5B9BD5"/>
                    </a:solidFill>
                  </a:tcPr>
                </a:tc>
                <a:tc>
                  <a:txBody>
                    <a:bodyPr/>
                    <a:lstStyle/>
                    <a:p>
                      <a:pPr algn="ctr" fontAlgn="ctr">
                        <a:buNone/>
                      </a:pPr>
                      <a:r>
                        <a:rPr lang="en-GB" sz="1200" b="1" i="0" u="none" strike="noStrike">
                          <a:solidFill>
                            <a:srgbClr val="000000"/>
                          </a:solidFill>
                          <a:effectLst/>
                          <a:latin typeface="Arial" panose="020B0604020202020204" pitchFamily="34" charset="0"/>
                        </a:rPr>
                        <a:t>Version</a:t>
                      </a:r>
                    </a:p>
                  </a:txBody>
                  <a:tcPr marL="5386" marR="5386" marT="5386" marB="32313" anchor="ctr">
                    <a:lnL>
                      <a:noFill/>
                    </a:lnL>
                    <a:lnR>
                      <a:noFill/>
                    </a:lnR>
                    <a:lnT>
                      <a:noFill/>
                    </a:lnT>
                    <a:lnB>
                      <a:noFill/>
                    </a:lnB>
                    <a:solidFill>
                      <a:srgbClr val="5B9BD5"/>
                    </a:solidFill>
                  </a:tcPr>
                </a:tc>
                <a:tc>
                  <a:txBody>
                    <a:bodyPr/>
                    <a:lstStyle/>
                    <a:p>
                      <a:pPr algn="ctr" fontAlgn="ctr">
                        <a:buNone/>
                      </a:pPr>
                      <a:r>
                        <a:rPr lang="en-GB" sz="1200" b="1" i="0" u="none" strike="noStrike" dirty="0">
                          <a:solidFill>
                            <a:srgbClr val="000000"/>
                          </a:solidFill>
                          <a:effectLst/>
                          <a:latin typeface="Arial" panose="020B0604020202020204" pitchFamily="34" charset="0"/>
                        </a:rPr>
                        <a:t>Title</a:t>
                      </a:r>
                    </a:p>
                  </a:txBody>
                  <a:tcPr marL="5386" marR="5386" marT="5386" marB="32313" anchor="ctr">
                    <a:lnL>
                      <a:noFill/>
                    </a:lnL>
                    <a:lnR>
                      <a:noFill/>
                    </a:lnR>
                    <a:lnT>
                      <a:noFill/>
                    </a:lnT>
                    <a:lnB>
                      <a:noFill/>
                    </a:lnB>
                    <a:solidFill>
                      <a:srgbClr val="5B9BD5"/>
                    </a:solidFill>
                  </a:tcPr>
                </a:tc>
                <a:tc>
                  <a:txBody>
                    <a:bodyPr/>
                    <a:lstStyle/>
                    <a:p>
                      <a:pPr algn="ctr" fontAlgn="ctr">
                        <a:buNone/>
                      </a:pPr>
                      <a:r>
                        <a:rPr lang="en-GB" sz="1200" b="1" i="0" u="none" strike="noStrike">
                          <a:solidFill>
                            <a:srgbClr val="000000"/>
                          </a:solidFill>
                          <a:effectLst/>
                          <a:latin typeface="Arial" panose="020B0604020202020204" pitchFamily="34" charset="0"/>
                        </a:rPr>
                        <a:t>Issue Date:</a:t>
                      </a:r>
                    </a:p>
                  </a:txBody>
                  <a:tcPr marL="5386" marR="5386" marT="5386" marB="32313" anchor="ctr">
                    <a:lnL>
                      <a:noFill/>
                    </a:lnL>
                    <a:lnR>
                      <a:noFill/>
                    </a:lnR>
                    <a:lnT>
                      <a:noFill/>
                    </a:lnT>
                    <a:lnB>
                      <a:noFill/>
                    </a:lnB>
                    <a:solidFill>
                      <a:srgbClr val="5B9BD5"/>
                    </a:solidFill>
                  </a:tcPr>
                </a:tc>
                <a:tc>
                  <a:txBody>
                    <a:bodyPr/>
                    <a:lstStyle/>
                    <a:p>
                      <a:pPr algn="ctr" fontAlgn="ctr">
                        <a:buNone/>
                      </a:pPr>
                      <a:r>
                        <a:rPr lang="en-GB" sz="1200" b="1" i="0" u="none" strike="noStrike" dirty="0">
                          <a:solidFill>
                            <a:srgbClr val="000000"/>
                          </a:solidFill>
                          <a:effectLst/>
                          <a:latin typeface="Arial" panose="020B0604020202020204" pitchFamily="34" charset="0"/>
                        </a:rPr>
                        <a:t>Effective Date</a:t>
                      </a:r>
                    </a:p>
                  </a:txBody>
                  <a:tcPr marL="5386" marR="5386" marT="5386" marB="32313" anchor="ctr">
                    <a:lnL>
                      <a:noFill/>
                    </a:lnL>
                    <a:lnR>
                      <a:noFill/>
                    </a:lnR>
                    <a:lnT>
                      <a:noFill/>
                    </a:lnT>
                    <a:lnB>
                      <a:noFill/>
                    </a:lnB>
                    <a:solidFill>
                      <a:srgbClr val="5B9BD5"/>
                    </a:solidFill>
                  </a:tcPr>
                </a:tc>
                <a:tc>
                  <a:txBody>
                    <a:bodyPr/>
                    <a:lstStyle/>
                    <a:p>
                      <a:pPr algn="ctr" fontAlgn="ctr">
                        <a:buNone/>
                      </a:pPr>
                      <a:r>
                        <a:rPr lang="en-GB" sz="1200" b="1" i="0" u="none" strike="noStrike">
                          <a:solidFill>
                            <a:srgbClr val="000000"/>
                          </a:solidFill>
                          <a:effectLst/>
                          <a:latin typeface="Arial" panose="020B0604020202020204" pitchFamily="34" charset="0"/>
                        </a:rPr>
                        <a:t>Review Date</a:t>
                      </a:r>
                    </a:p>
                  </a:txBody>
                  <a:tcPr marL="5386" marR="5386" marT="5386" marB="32313" anchor="ctr">
                    <a:lnL>
                      <a:noFill/>
                    </a:lnL>
                    <a:lnR>
                      <a:noFill/>
                    </a:lnR>
                    <a:lnT>
                      <a:noFill/>
                    </a:lnT>
                    <a:lnB w="6350" cap="flat" cmpd="sng" algn="ctr">
                      <a:solidFill>
                        <a:srgbClr val="9BC2E6"/>
                      </a:solidFill>
                      <a:prstDash val="solid"/>
                      <a:round/>
                      <a:headEnd type="none" w="med" len="med"/>
                      <a:tailEnd type="none" w="med" len="med"/>
                    </a:lnB>
                    <a:solidFill>
                      <a:srgbClr val="5B9BD5"/>
                    </a:solidFill>
                  </a:tcPr>
                </a:tc>
                <a:tc>
                  <a:txBody>
                    <a:bodyPr/>
                    <a:lstStyle/>
                    <a:p>
                      <a:pPr algn="ctr" fontAlgn="ctr">
                        <a:buNone/>
                      </a:pPr>
                      <a:r>
                        <a:rPr lang="en-GB" sz="1200" b="1" i="0" u="none" strike="noStrike">
                          <a:solidFill>
                            <a:srgbClr val="000000"/>
                          </a:solidFill>
                          <a:effectLst/>
                          <a:latin typeface="Arial" panose="020B0604020202020204" pitchFamily="34" charset="0"/>
                        </a:rPr>
                        <a:t>RP</a:t>
                      </a:r>
                    </a:p>
                  </a:txBody>
                  <a:tcPr marL="5386" marR="5386" marT="5386" marB="32313" anchor="ctr">
                    <a:lnL>
                      <a:noFill/>
                    </a:lnL>
                    <a:lnR>
                      <a:noFill/>
                    </a:lnR>
                    <a:lnT w="6350" cap="flat" cmpd="sng" algn="ctr">
                      <a:solidFill>
                        <a:srgbClr val="000000"/>
                      </a:solidFill>
                      <a:prstDash val="solid"/>
                      <a:round/>
                      <a:headEnd type="none" w="med" len="med"/>
                      <a:tailEnd type="none" w="med" len="med"/>
                    </a:lnT>
                    <a:lnB>
                      <a:noFill/>
                    </a:lnB>
                    <a:solidFill>
                      <a:srgbClr val="5B9BD5"/>
                    </a:solidFill>
                  </a:tcPr>
                </a:tc>
                <a:tc>
                  <a:txBody>
                    <a:bodyPr/>
                    <a:lstStyle/>
                    <a:p>
                      <a:pPr algn="ctr" fontAlgn="ctr">
                        <a:buNone/>
                      </a:pPr>
                      <a:r>
                        <a:rPr lang="en-GB" sz="1200" b="1" i="0" u="none" strike="noStrike">
                          <a:solidFill>
                            <a:srgbClr val="000000"/>
                          </a:solidFill>
                          <a:effectLst/>
                          <a:latin typeface="Arial" panose="020B0604020202020204" pitchFamily="34" charset="0"/>
                        </a:rPr>
                        <a:t>QA RP</a:t>
                      </a:r>
                    </a:p>
                  </a:txBody>
                  <a:tcPr marL="5386" marR="5386" marT="5386" marB="32313" anchor="ctr">
                    <a:lnL>
                      <a:noFill/>
                    </a:lnL>
                    <a:lnR>
                      <a:noFill/>
                    </a:lnR>
                    <a:lnT w="6350" cap="flat" cmpd="sng" algn="ctr">
                      <a:solidFill>
                        <a:srgbClr val="000000"/>
                      </a:solidFill>
                      <a:prstDash val="solid"/>
                      <a:round/>
                      <a:headEnd type="none" w="med" len="med"/>
                      <a:tailEnd type="none" w="med" len="med"/>
                    </a:lnT>
                    <a:lnB>
                      <a:noFill/>
                    </a:lnB>
                    <a:solidFill>
                      <a:srgbClr val="5B9BD5"/>
                    </a:solidFill>
                  </a:tcPr>
                </a:tc>
                <a:tc>
                  <a:txBody>
                    <a:bodyPr/>
                    <a:lstStyle/>
                    <a:p>
                      <a:pPr algn="ctr" fontAlgn="ctr">
                        <a:buNone/>
                      </a:pPr>
                      <a:r>
                        <a:rPr lang="en-GB" sz="1200" b="1" i="0" u="none" strike="noStrike" dirty="0">
                          <a:solidFill>
                            <a:srgbClr val="000000"/>
                          </a:solidFill>
                          <a:effectLst/>
                          <a:latin typeface="Arial" panose="020B0604020202020204" pitchFamily="34" charset="0"/>
                        </a:rPr>
                        <a:t>Associated Documents/ Comments</a:t>
                      </a:r>
                    </a:p>
                  </a:txBody>
                  <a:tcPr marL="5386" marR="5386" marT="5386" marB="32313"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5B9BD5"/>
                    </a:solidFill>
                  </a:tcPr>
                </a:tc>
                <a:extLst>
                  <a:ext uri="{0D108BD9-81ED-4DB2-BD59-A6C34878D82A}">
                    <a16:rowId xmlns:a16="http://schemas.microsoft.com/office/drawing/2014/main" val="994129403"/>
                  </a:ext>
                </a:extLst>
              </a:tr>
              <a:tr h="215759">
                <a:tc>
                  <a:txBody>
                    <a:bodyPr/>
                    <a:lstStyle/>
                    <a:p>
                      <a:pPr algn="ctr" fontAlgn="ctr">
                        <a:buNone/>
                      </a:pPr>
                      <a:r>
                        <a:rPr lang="en-GB" sz="1200" b="0" i="0" u="none" strike="noStrike" dirty="0">
                          <a:solidFill>
                            <a:srgbClr val="000000"/>
                          </a:solidFill>
                          <a:effectLst/>
                          <a:latin typeface="Calibri" panose="020F0502020204030204" pitchFamily="34" charset="0"/>
                        </a:rPr>
                        <a:t>ES.ED.VMP.001</a:t>
                      </a:r>
                    </a:p>
                  </a:txBody>
                  <a:tcPr marL="5386" marR="5386" marT="5386" marB="32313" anchor="ctr">
                    <a:lnL w="6350" cap="flat" cmpd="sng" algn="ctr">
                      <a:solidFill>
                        <a:srgbClr val="000000"/>
                      </a:solidFill>
                      <a:prstDash val="solid"/>
                      <a:round/>
                      <a:headEnd type="none" w="med" len="med"/>
                      <a:tailEnd type="none" w="med" len="med"/>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V02</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1" i="0" u="none" strike="noStrike" dirty="0">
                          <a:solidFill>
                            <a:srgbClr val="000000"/>
                          </a:solidFill>
                          <a:effectLst/>
                          <a:latin typeface="Calibri" panose="020F0502020204030204" pitchFamily="34" charset="0"/>
                        </a:rPr>
                        <a:t>Validation Master Plan</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24-Jan-24</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a:solidFill>
                            <a:srgbClr val="000000"/>
                          </a:solidFill>
                          <a:effectLst/>
                          <a:latin typeface="Calibri" panose="020F0502020204030204" pitchFamily="34" charset="0"/>
                        </a:rPr>
                        <a:t>24-Jan-24</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200" b="0" i="0" u="none" strike="noStrike">
                          <a:solidFill>
                            <a:srgbClr val="9C0006"/>
                          </a:solidFill>
                          <a:effectLst/>
                          <a:latin typeface="Calibri" panose="020F0502020204030204" pitchFamily="34" charset="0"/>
                        </a:rPr>
                        <a:t>24-Jan-26</a:t>
                      </a:r>
                    </a:p>
                  </a:txBody>
                  <a:tcPr marL="5386" marR="5386" marT="5386" marB="32313" anchor="ctr">
                    <a:lnL>
                      <a:noFill/>
                    </a:lnL>
                    <a:lnR>
                      <a:noFill/>
                    </a:lnR>
                    <a:lnT w="6350" cap="flat" cmpd="sng" algn="ctr">
                      <a:solidFill>
                        <a:srgbClr val="9BC2E6"/>
                      </a:solidFill>
                      <a:prstDash val="solid"/>
                      <a:round/>
                      <a:headEnd type="none" w="med" len="med"/>
                      <a:tailEnd type="none" w="med" len="med"/>
                    </a:lnT>
                    <a:lnB>
                      <a:noFill/>
                    </a:lnB>
                    <a:solidFill>
                      <a:srgbClr val="FFC7CE"/>
                    </a:solidFill>
                  </a:tcPr>
                </a:tc>
                <a:tc>
                  <a:txBody>
                    <a:bodyPr/>
                    <a:lstStyle/>
                    <a:p>
                      <a:pPr algn="ctr" fontAlgn="ctr">
                        <a:buNone/>
                      </a:pPr>
                      <a:r>
                        <a:rPr lang="en-GB" sz="1200" b="0" i="0" u="none" strike="noStrike">
                          <a:solidFill>
                            <a:srgbClr val="000000"/>
                          </a:solidFill>
                          <a:effectLst/>
                          <a:latin typeface="Calibri" panose="020F0502020204030204" pitchFamily="34" charset="0"/>
                        </a:rPr>
                        <a:t>QA</a:t>
                      </a:r>
                    </a:p>
                  </a:txBody>
                  <a:tcPr marL="5386" marR="5386" marT="5386" marB="32313" anchor="ctr">
                    <a:lnL>
                      <a:noFill/>
                    </a:lnL>
                    <a:lnR>
                      <a:noFill/>
                    </a:lnR>
                    <a:lnT>
                      <a:noFill/>
                    </a:lnT>
                    <a:lnB>
                      <a:noFill/>
                    </a:lnB>
                    <a:solidFill>
                      <a:srgbClr val="C6E0B4"/>
                    </a:solidFill>
                  </a:tcPr>
                </a:tc>
                <a:tc>
                  <a:txBody>
                    <a:bodyPr/>
                    <a:lstStyle/>
                    <a:p>
                      <a:pPr algn="ctr" fontAlgn="ctr">
                        <a:buNone/>
                      </a:pPr>
                      <a:r>
                        <a:rPr lang="en-GB" sz="1600" b="0" i="0" u="none" strike="noStrike">
                          <a:solidFill>
                            <a:srgbClr val="000000"/>
                          </a:solidFill>
                          <a:effectLst/>
                          <a:latin typeface="Calibri" panose="020F0502020204030204" pitchFamily="34" charset="0"/>
                        </a:rPr>
                        <a:t>SP</a:t>
                      </a:r>
                    </a:p>
                  </a:txBody>
                  <a:tcPr marL="5386" marR="5386" marT="5386" marB="32313" anchor="ctr">
                    <a:lnL>
                      <a:noFill/>
                    </a:lnL>
                    <a:lnR>
                      <a:noFill/>
                    </a:lnR>
                    <a:lnT>
                      <a:noFill/>
                    </a:lnT>
                    <a:lnB>
                      <a:noFill/>
                    </a:lnB>
                    <a:solidFill>
                      <a:srgbClr val="FFFF00"/>
                    </a:solidFill>
                  </a:tcPr>
                </a:tc>
                <a:tc>
                  <a:txBody>
                    <a:bodyPr/>
                    <a:lstStyle/>
                    <a:p>
                      <a:pPr algn="ctr" fontAlgn="ctr">
                        <a:buNone/>
                      </a:pPr>
                      <a:r>
                        <a:rPr lang="en-GB" sz="1200" b="1" i="0" u="none" strike="noStrike" dirty="0">
                          <a:solidFill>
                            <a:srgbClr val="000000"/>
                          </a:solidFill>
                          <a:effectLst/>
                          <a:latin typeface="Arial" panose="020B0604020202020204" pitchFamily="34" charset="0"/>
                        </a:rPr>
                        <a:t>CAPA.2026.004</a:t>
                      </a:r>
                    </a:p>
                  </a:txBody>
                  <a:tcPr marL="5386" marR="5386" marT="5386" marB="32313" anchor="ctr">
                    <a:lnL>
                      <a:noFill/>
                    </a:lnL>
                    <a:lnR>
                      <a:noFill/>
                    </a:lnR>
                    <a:lnT>
                      <a:noFill/>
                    </a:lnT>
                    <a:lnB>
                      <a:noFill/>
                    </a:lnB>
                    <a:solidFill>
                      <a:srgbClr val="DDEBF7"/>
                    </a:solidFill>
                  </a:tcPr>
                </a:tc>
                <a:extLst>
                  <a:ext uri="{0D108BD9-81ED-4DB2-BD59-A6C34878D82A}">
                    <a16:rowId xmlns:a16="http://schemas.microsoft.com/office/drawing/2014/main" val="3449032456"/>
                  </a:ext>
                </a:extLst>
              </a:tr>
            </a:tbl>
          </a:graphicData>
        </a:graphic>
      </p:graphicFrame>
    </p:spTree>
    <p:extLst>
      <p:ext uri="{BB962C8B-B14F-4D97-AF65-F5344CB8AC3E}">
        <p14:creationId xmlns:p14="http://schemas.microsoft.com/office/powerpoint/2010/main" val="15965908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CA2A8F6-4706-AD3A-2A65-CEBD2C4E189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0D3651A-4B10-2153-5BFE-421E192545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1" name="Rectangle 10">
            <a:extLst>
              <a:ext uri="{FF2B5EF4-FFF2-40B4-BE49-F238E27FC236}">
                <a16:creationId xmlns:a16="http://schemas.microsoft.com/office/drawing/2014/main" id="{C28E5BCC-A84D-7296-EAB8-A991CB31A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3" name="Rectangle 12">
            <a:extLst>
              <a:ext uri="{FF2B5EF4-FFF2-40B4-BE49-F238E27FC236}">
                <a16:creationId xmlns:a16="http://schemas.microsoft.com/office/drawing/2014/main" id="{45D43D75-6DF1-F368-C438-33E673BA4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A5D028"/>
              </a:solidFill>
              <a:effectLst/>
              <a:uLnTx/>
              <a:uFillTx/>
              <a:latin typeface="Corbel" panose="020B0503020204020204"/>
              <a:ea typeface="+mn-ea"/>
              <a:cs typeface="+mn-cs"/>
            </a:endParaRPr>
          </a:p>
        </p:txBody>
      </p:sp>
      <p:sp>
        <p:nvSpPr>
          <p:cNvPr id="14" name="Rectangle 13">
            <a:extLst>
              <a:ext uri="{FF2B5EF4-FFF2-40B4-BE49-F238E27FC236}">
                <a16:creationId xmlns:a16="http://schemas.microsoft.com/office/drawing/2014/main" id="{30345E0F-9C26-C250-A10D-987040FA0124}"/>
              </a:ext>
            </a:extLst>
          </p:cNvPr>
          <p:cNvSpPr/>
          <p:nvPr/>
        </p:nvSpPr>
        <p:spPr>
          <a:xfrm>
            <a:off x="-92251" y="0"/>
            <a:ext cx="915122" cy="6858002"/>
          </a:xfrm>
          <a:prstGeom prst="rect">
            <a:avLst/>
          </a:prstGeom>
          <a:noFill/>
        </p:spPr>
        <p:txBody>
          <a:bodyPr vert="wordArtVert"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b="1" dirty="0">
                <a:ln w="0"/>
                <a:solidFill>
                  <a:srgbClr val="FFFFFF"/>
                </a:solidFill>
                <a:effectLst>
                  <a:outerShdw blurRad="38100" dist="38100" dir="2700000" algn="tl">
                    <a:srgbClr val="000000">
                      <a:alpha val="43137"/>
                    </a:srgbClr>
                  </a:outerShdw>
                </a:effectLst>
                <a:latin typeface="Corbel" panose="020B0503020204020204"/>
              </a:rPr>
              <a:t>ENVIRONMENTAL MONITORING</a:t>
            </a:r>
            <a:endParaRPr kumimoji="0" lang="en-US" sz="2000" b="1" i="0" u="none" strike="noStrike" kern="1200" cap="none" spc="0" normalizeH="0" baseline="0" noProof="0" dirty="0">
              <a:ln w="0"/>
              <a:solidFill>
                <a:srgbClr val="FFFFFF"/>
              </a:solidFill>
              <a:effectLst>
                <a:outerShdw blurRad="38100" dist="38100" dir="2700000" algn="tl">
                  <a:srgbClr val="000000">
                    <a:alpha val="43137"/>
                  </a:srgbClr>
                </a:outerShdw>
              </a:effectLst>
              <a:uLnTx/>
              <a:uFillTx/>
              <a:latin typeface="Corbel" panose="020B0503020204020204"/>
              <a:ea typeface="+mn-ea"/>
              <a:cs typeface="+mn-cs"/>
            </a:endParaRPr>
          </a:p>
        </p:txBody>
      </p:sp>
      <p:graphicFrame>
        <p:nvGraphicFramePr>
          <p:cNvPr id="3" name="Table 2">
            <a:extLst>
              <a:ext uri="{FF2B5EF4-FFF2-40B4-BE49-F238E27FC236}">
                <a16:creationId xmlns:a16="http://schemas.microsoft.com/office/drawing/2014/main" id="{B198449A-AEC6-2073-A01D-03F4BC106461}"/>
              </a:ext>
            </a:extLst>
          </p:cNvPr>
          <p:cNvGraphicFramePr>
            <a:graphicFrameLocks noGrp="1"/>
          </p:cNvGraphicFramePr>
          <p:nvPr>
            <p:extLst>
              <p:ext uri="{D42A27DB-BD31-4B8C-83A1-F6EECF244321}">
                <p14:modId xmlns:p14="http://schemas.microsoft.com/office/powerpoint/2010/main" val="2392117515"/>
              </p:ext>
            </p:extLst>
          </p:nvPr>
        </p:nvGraphicFramePr>
        <p:xfrm>
          <a:off x="719328" y="0"/>
          <a:ext cx="6721603" cy="5363889"/>
        </p:xfrm>
        <a:graphic>
          <a:graphicData uri="http://schemas.openxmlformats.org/drawingml/2006/table">
            <a:tbl>
              <a:tblPr/>
              <a:tblGrid>
                <a:gridCol w="795703">
                  <a:extLst>
                    <a:ext uri="{9D8B030D-6E8A-4147-A177-3AD203B41FA5}">
                      <a16:colId xmlns:a16="http://schemas.microsoft.com/office/drawing/2014/main" val="1961350414"/>
                    </a:ext>
                  </a:extLst>
                </a:gridCol>
                <a:gridCol w="1717044">
                  <a:extLst>
                    <a:ext uri="{9D8B030D-6E8A-4147-A177-3AD203B41FA5}">
                      <a16:colId xmlns:a16="http://schemas.microsoft.com/office/drawing/2014/main" val="1452782312"/>
                    </a:ext>
                  </a:extLst>
                </a:gridCol>
                <a:gridCol w="701476">
                  <a:extLst>
                    <a:ext uri="{9D8B030D-6E8A-4147-A177-3AD203B41FA5}">
                      <a16:colId xmlns:a16="http://schemas.microsoft.com/office/drawing/2014/main" val="268989668"/>
                    </a:ext>
                  </a:extLst>
                </a:gridCol>
                <a:gridCol w="701476">
                  <a:extLst>
                    <a:ext uri="{9D8B030D-6E8A-4147-A177-3AD203B41FA5}">
                      <a16:colId xmlns:a16="http://schemas.microsoft.com/office/drawing/2014/main" val="1032344131"/>
                    </a:ext>
                  </a:extLst>
                </a:gridCol>
                <a:gridCol w="701476">
                  <a:extLst>
                    <a:ext uri="{9D8B030D-6E8A-4147-A177-3AD203B41FA5}">
                      <a16:colId xmlns:a16="http://schemas.microsoft.com/office/drawing/2014/main" val="2045023809"/>
                    </a:ext>
                  </a:extLst>
                </a:gridCol>
                <a:gridCol w="701476">
                  <a:extLst>
                    <a:ext uri="{9D8B030D-6E8A-4147-A177-3AD203B41FA5}">
                      <a16:colId xmlns:a16="http://schemas.microsoft.com/office/drawing/2014/main" val="2163322748"/>
                    </a:ext>
                  </a:extLst>
                </a:gridCol>
                <a:gridCol w="701476">
                  <a:extLst>
                    <a:ext uri="{9D8B030D-6E8A-4147-A177-3AD203B41FA5}">
                      <a16:colId xmlns:a16="http://schemas.microsoft.com/office/drawing/2014/main" val="4068456044"/>
                    </a:ext>
                  </a:extLst>
                </a:gridCol>
                <a:gridCol w="701476">
                  <a:extLst>
                    <a:ext uri="{9D8B030D-6E8A-4147-A177-3AD203B41FA5}">
                      <a16:colId xmlns:a16="http://schemas.microsoft.com/office/drawing/2014/main" val="986939312"/>
                    </a:ext>
                  </a:extLst>
                </a:gridCol>
              </a:tblGrid>
              <a:tr h="482400">
                <a:tc>
                  <a:txBody>
                    <a:bodyPr/>
                    <a:lstStyle/>
                    <a:p>
                      <a:pPr algn="ctr" fontAlgn="ctr">
                        <a:buNone/>
                      </a:pPr>
                      <a:r>
                        <a:rPr lang="en-GB" sz="3200" b="1" i="0" u="none" strike="noStrike">
                          <a:solidFill>
                            <a:srgbClr val="FFFFFF"/>
                          </a:solidFill>
                          <a:effectLst/>
                          <a:latin typeface="Calibri" panose="020F0502020204030204" pitchFamily="34" charset="0"/>
                        </a:rPr>
                        <a:t>Year</a:t>
                      </a:r>
                    </a:p>
                  </a:txBody>
                  <a:tcPr marL="5376" marR="5376" marT="5376"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3200" b="1" i="0" u="none" strike="noStrike" dirty="0">
                          <a:solidFill>
                            <a:srgbClr val="FFFFFF"/>
                          </a:solidFill>
                          <a:effectLst/>
                          <a:latin typeface="Calibri" panose="020F0502020204030204" pitchFamily="34" charset="0"/>
                        </a:rPr>
                        <a:t>2026</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gridSpan="2">
                  <a:txBody>
                    <a:bodyPr/>
                    <a:lstStyle/>
                    <a:p>
                      <a:pPr algn="ctr" fontAlgn="ctr">
                        <a:buNone/>
                      </a:pPr>
                      <a:r>
                        <a:rPr lang="en-GB" sz="1400" b="1" i="0" u="none" strike="noStrike" dirty="0">
                          <a:solidFill>
                            <a:srgbClr val="FFFFFF"/>
                          </a:solidFill>
                          <a:effectLst/>
                          <a:latin typeface="Calibri" panose="020F0502020204030204" pitchFamily="34" charset="0"/>
                        </a:rPr>
                        <a:t>January</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hMerge="1">
                  <a:txBody>
                    <a:bodyPr/>
                    <a:lstStyle/>
                    <a:p>
                      <a:endParaRPr lang="en-GB"/>
                    </a:p>
                  </a:txBody>
                  <a:tcPr/>
                </a:tc>
                <a:tc gridSpan="2">
                  <a:txBody>
                    <a:bodyPr/>
                    <a:lstStyle/>
                    <a:p>
                      <a:pPr algn="ctr" fontAlgn="ctr">
                        <a:buNone/>
                      </a:pPr>
                      <a:r>
                        <a:rPr lang="en-GB" sz="1400" b="1" i="0" u="none" strike="noStrike">
                          <a:solidFill>
                            <a:srgbClr val="FFFFFF"/>
                          </a:solidFill>
                          <a:effectLst/>
                          <a:latin typeface="Calibri" panose="020F0502020204030204" pitchFamily="34" charset="0"/>
                        </a:rPr>
                        <a:t>February</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hMerge="1">
                  <a:txBody>
                    <a:bodyPr/>
                    <a:lstStyle/>
                    <a:p>
                      <a:endParaRPr lang="en-GB"/>
                    </a:p>
                  </a:txBody>
                  <a:tcPr/>
                </a:tc>
                <a:tc gridSpan="2">
                  <a:txBody>
                    <a:bodyPr/>
                    <a:lstStyle/>
                    <a:p>
                      <a:pPr algn="ctr" fontAlgn="ctr">
                        <a:buNone/>
                      </a:pPr>
                      <a:r>
                        <a:rPr lang="en-GB" sz="1400" b="1" i="0" u="none" strike="noStrike" dirty="0">
                          <a:solidFill>
                            <a:srgbClr val="FFFFFF"/>
                          </a:solidFill>
                          <a:effectLst/>
                          <a:latin typeface="Calibri" panose="020F0502020204030204" pitchFamily="34" charset="0"/>
                        </a:rPr>
                        <a:t>March</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hMerge="1">
                  <a:txBody>
                    <a:bodyPr/>
                    <a:lstStyle/>
                    <a:p>
                      <a:endParaRPr lang="en-GB"/>
                    </a:p>
                  </a:txBody>
                  <a:tcPr/>
                </a:tc>
                <a:extLst>
                  <a:ext uri="{0D108BD9-81ED-4DB2-BD59-A6C34878D82A}">
                    <a16:rowId xmlns:a16="http://schemas.microsoft.com/office/drawing/2014/main" val="1334037579"/>
                  </a:ext>
                </a:extLst>
              </a:tr>
              <a:tr h="837853">
                <a:tc>
                  <a:txBody>
                    <a:bodyPr/>
                    <a:lstStyle/>
                    <a:p>
                      <a:pPr algn="ctr" fontAlgn="ctr">
                        <a:buNone/>
                      </a:pPr>
                      <a:r>
                        <a:rPr lang="en-GB" sz="1400" b="1" i="0" u="none" strike="noStrike">
                          <a:solidFill>
                            <a:srgbClr val="FFFFFF"/>
                          </a:solidFill>
                          <a:effectLst/>
                          <a:latin typeface="Calibri" panose="020F0502020204030204" pitchFamily="34" charset="0"/>
                        </a:rPr>
                        <a:t>Settle Plates:</a:t>
                      </a:r>
                    </a:p>
                  </a:txBody>
                  <a:tcPr marL="5376" marR="5376" marT="5376"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Plates Location</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TSA</a:t>
                      </a:r>
                      <a:r>
                        <a:rPr lang="en-GB" sz="1400" b="0" i="0" u="none" strike="noStrike">
                          <a:solidFill>
                            <a:srgbClr val="FFFFFF"/>
                          </a:solidFill>
                          <a:effectLst/>
                          <a:latin typeface="Calibri" panose="020F0502020204030204" pitchFamily="34" charset="0"/>
                        </a:rPr>
                        <a:t> (Bacteria)</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SDA</a:t>
                      </a:r>
                      <a:r>
                        <a:rPr lang="en-GB" sz="1400" b="0" i="0" u="none" strike="noStrike">
                          <a:solidFill>
                            <a:srgbClr val="FFFFFF"/>
                          </a:solidFill>
                          <a:effectLst/>
                          <a:latin typeface="Calibri" panose="020F0502020204030204" pitchFamily="34" charset="0"/>
                        </a:rPr>
                        <a:t> (Mould OR Fungi)</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TSA</a:t>
                      </a:r>
                      <a:r>
                        <a:rPr lang="en-GB" sz="1400" b="0" i="0" u="none" strike="noStrike">
                          <a:solidFill>
                            <a:srgbClr val="FFFFFF"/>
                          </a:solidFill>
                          <a:effectLst/>
                          <a:latin typeface="Calibri" panose="020F0502020204030204" pitchFamily="34" charset="0"/>
                        </a:rPr>
                        <a:t> (Bacteria)</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SDA</a:t>
                      </a:r>
                      <a:r>
                        <a:rPr lang="en-GB" sz="1400" b="0" i="0" u="none" strike="noStrike">
                          <a:solidFill>
                            <a:srgbClr val="FFFFFF"/>
                          </a:solidFill>
                          <a:effectLst/>
                          <a:latin typeface="Calibri" panose="020F0502020204030204" pitchFamily="34" charset="0"/>
                        </a:rPr>
                        <a:t> (Mould OR Fungi)</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TSA</a:t>
                      </a:r>
                      <a:r>
                        <a:rPr lang="en-GB" sz="1400" b="0" i="0" u="none" strike="noStrike">
                          <a:solidFill>
                            <a:srgbClr val="FFFFFF"/>
                          </a:solidFill>
                          <a:effectLst/>
                          <a:latin typeface="Calibri" panose="020F0502020204030204" pitchFamily="34" charset="0"/>
                        </a:rPr>
                        <a:t> (Bacteria)</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SDA</a:t>
                      </a:r>
                      <a:r>
                        <a:rPr lang="en-GB" sz="1400" b="0" i="0" u="none" strike="noStrike">
                          <a:solidFill>
                            <a:srgbClr val="FFFFFF"/>
                          </a:solidFill>
                          <a:effectLst/>
                          <a:latin typeface="Calibri" panose="020F0502020204030204" pitchFamily="34" charset="0"/>
                        </a:rPr>
                        <a:t> (Mould OR Fungi)</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497B0"/>
                    </a:solidFill>
                  </a:tcPr>
                </a:tc>
                <a:extLst>
                  <a:ext uri="{0D108BD9-81ED-4DB2-BD59-A6C34878D82A}">
                    <a16:rowId xmlns:a16="http://schemas.microsoft.com/office/drawing/2014/main" val="3523740580"/>
                  </a:ext>
                </a:extLst>
              </a:tr>
              <a:tr h="397769">
                <a:tc>
                  <a:txBody>
                    <a:bodyPr/>
                    <a:lstStyle/>
                    <a:p>
                      <a:pPr algn="ctr" fontAlgn="ctr">
                        <a:buNone/>
                      </a:pPr>
                      <a:r>
                        <a:rPr lang="en-GB" sz="1400" b="1" i="0" u="none" strike="noStrike">
                          <a:solidFill>
                            <a:srgbClr val="FFFFFF"/>
                          </a:solidFill>
                          <a:effectLst/>
                          <a:latin typeface="Calibri" panose="020F0502020204030204" pitchFamily="34" charset="0"/>
                        </a:rPr>
                        <a:t>1</a:t>
                      </a:r>
                    </a:p>
                  </a:txBody>
                  <a:tcPr marL="5376" marR="5376" marT="5376"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Tableting Room </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800" b="0" i="0" u="none" strike="noStrike">
                          <a:solidFill>
                            <a:srgbClr val="000000"/>
                          </a:solidFill>
                          <a:effectLst/>
                          <a:latin typeface="Calibri" panose="020F0502020204030204" pitchFamily="34" charset="0"/>
                        </a:rPr>
                        <a:t>3</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FB353"/>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1</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5B151"/>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2</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AB252"/>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357344632"/>
                  </a:ext>
                </a:extLst>
              </a:tr>
              <a:tr h="397769">
                <a:tc>
                  <a:txBody>
                    <a:bodyPr/>
                    <a:lstStyle/>
                    <a:p>
                      <a:pPr algn="ctr" fontAlgn="ctr">
                        <a:buNone/>
                      </a:pPr>
                      <a:r>
                        <a:rPr lang="en-GB" sz="1400" b="1" i="0" u="none" strike="noStrike">
                          <a:solidFill>
                            <a:srgbClr val="FFFFFF"/>
                          </a:solidFill>
                          <a:effectLst/>
                          <a:latin typeface="Calibri" panose="020F0502020204030204" pitchFamily="34" charset="0"/>
                        </a:rPr>
                        <a:t>2</a:t>
                      </a:r>
                    </a:p>
                  </a:txBody>
                  <a:tcPr marL="5376" marR="5376" marT="5376"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Bay 1</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800" b="0" i="0" u="none" strike="noStrike">
                          <a:solidFill>
                            <a:srgbClr val="000000"/>
                          </a:solidFill>
                          <a:effectLst/>
                          <a:latin typeface="Calibri" panose="020F0502020204030204" pitchFamily="34" charset="0"/>
                        </a:rPr>
                        <a:t>12</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DBE5C"/>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2</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AB252"/>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2</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AB252"/>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813889205"/>
                  </a:ext>
                </a:extLst>
              </a:tr>
              <a:tr h="397769">
                <a:tc>
                  <a:txBody>
                    <a:bodyPr/>
                    <a:lstStyle/>
                    <a:p>
                      <a:pPr algn="ctr" fontAlgn="ctr">
                        <a:buNone/>
                      </a:pPr>
                      <a:r>
                        <a:rPr lang="en-GB" sz="1400" b="1" i="0" u="none" strike="noStrike">
                          <a:solidFill>
                            <a:srgbClr val="FFFFFF"/>
                          </a:solidFill>
                          <a:effectLst/>
                          <a:latin typeface="Calibri" panose="020F0502020204030204" pitchFamily="34" charset="0"/>
                        </a:rPr>
                        <a:t>3</a:t>
                      </a:r>
                    </a:p>
                  </a:txBody>
                  <a:tcPr marL="5376" marR="5376" marT="5376"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Bay 2</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800" b="0" i="0" u="none" strike="noStrike">
                          <a:solidFill>
                            <a:srgbClr val="000000"/>
                          </a:solidFill>
                          <a:effectLst/>
                          <a:latin typeface="Calibri" panose="020F0502020204030204" pitchFamily="34" charset="0"/>
                        </a:rPr>
                        <a:t>34</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D873"/>
                    </a:solidFill>
                  </a:tcPr>
                </a:tc>
                <a:tc>
                  <a:txBody>
                    <a:bodyPr/>
                    <a:lstStyle/>
                    <a:p>
                      <a:pPr algn="ctr" fontAlgn="ctr">
                        <a:buNone/>
                      </a:pPr>
                      <a:r>
                        <a:rPr lang="en-GB" sz="1800" b="0" i="0" u="none" strike="noStrike">
                          <a:solidFill>
                            <a:srgbClr val="000000"/>
                          </a:solidFill>
                          <a:effectLst/>
                          <a:latin typeface="Calibri" panose="020F0502020204030204" pitchFamily="34" charset="0"/>
                        </a:rPr>
                        <a:t>1</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5B151"/>
                    </a:solidFill>
                  </a:tcPr>
                </a:tc>
                <a:tc>
                  <a:txBody>
                    <a:bodyPr/>
                    <a:lstStyle/>
                    <a:p>
                      <a:pPr algn="ctr" fontAlgn="ctr">
                        <a:buNone/>
                      </a:pPr>
                      <a:r>
                        <a:rPr lang="en-GB" sz="1800" b="0" i="0" u="none" strike="noStrike">
                          <a:solidFill>
                            <a:srgbClr val="000000"/>
                          </a:solidFill>
                          <a:effectLst/>
                          <a:latin typeface="Calibri" panose="020F0502020204030204" pitchFamily="34" charset="0"/>
                        </a:rPr>
                        <a:t>1</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5B151"/>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31</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ED470"/>
                    </a:solidFill>
                  </a:tcPr>
                </a:tc>
                <a:tc>
                  <a:txBody>
                    <a:bodyPr/>
                    <a:lstStyle/>
                    <a:p>
                      <a:pPr algn="ctr" fontAlgn="ctr">
                        <a:buNone/>
                      </a:pPr>
                      <a:r>
                        <a:rPr lang="en-GB" sz="1800" b="0" i="0" u="none" strike="noStrike">
                          <a:solidFill>
                            <a:srgbClr val="000000"/>
                          </a:solidFill>
                          <a:effectLst/>
                          <a:latin typeface="Calibri" panose="020F0502020204030204" pitchFamily="34" charset="0"/>
                        </a:rPr>
                        <a:t>1</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5B151"/>
                    </a:solidFill>
                  </a:tcPr>
                </a:tc>
                <a:extLst>
                  <a:ext uri="{0D108BD9-81ED-4DB2-BD59-A6C34878D82A}">
                    <a16:rowId xmlns:a16="http://schemas.microsoft.com/office/drawing/2014/main" val="533424121"/>
                  </a:ext>
                </a:extLst>
              </a:tr>
              <a:tr h="397769">
                <a:tc>
                  <a:txBody>
                    <a:bodyPr/>
                    <a:lstStyle/>
                    <a:p>
                      <a:pPr algn="ctr" fontAlgn="ctr">
                        <a:buNone/>
                      </a:pPr>
                      <a:r>
                        <a:rPr lang="en-GB" sz="1400" b="1" i="0" u="none" strike="noStrike">
                          <a:solidFill>
                            <a:srgbClr val="FFFFFF"/>
                          </a:solidFill>
                          <a:effectLst/>
                          <a:latin typeface="Calibri" panose="020F0502020204030204" pitchFamily="34" charset="0"/>
                        </a:rPr>
                        <a:t>4</a:t>
                      </a:r>
                    </a:p>
                  </a:txBody>
                  <a:tcPr marL="5376" marR="5376" marT="5376"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Bay 3</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800" b="0" i="0" u="none" strike="noStrike">
                          <a:solidFill>
                            <a:srgbClr val="000000"/>
                          </a:solidFill>
                          <a:effectLst/>
                          <a:latin typeface="Calibri" panose="020F0502020204030204" pitchFamily="34" charset="0"/>
                        </a:rPr>
                        <a:t>7</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3B857"/>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8</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8B958"/>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2</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AB252"/>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474083006"/>
                  </a:ext>
                </a:extLst>
              </a:tr>
              <a:tr h="397769">
                <a:tc>
                  <a:txBody>
                    <a:bodyPr/>
                    <a:lstStyle/>
                    <a:p>
                      <a:pPr algn="ctr" fontAlgn="ctr">
                        <a:buNone/>
                      </a:pPr>
                      <a:r>
                        <a:rPr lang="en-GB" sz="1400" b="1" i="0" u="none" strike="noStrike">
                          <a:solidFill>
                            <a:srgbClr val="FFFFFF"/>
                          </a:solidFill>
                          <a:effectLst/>
                          <a:latin typeface="Calibri" panose="020F0502020204030204" pitchFamily="34" charset="0"/>
                        </a:rPr>
                        <a:t>5</a:t>
                      </a:r>
                    </a:p>
                  </a:txBody>
                  <a:tcPr marL="5376" marR="5376" marT="5376"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Bay 4</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800" b="0" i="0" u="none" strike="noStrike">
                          <a:solidFill>
                            <a:srgbClr val="000000"/>
                          </a:solidFill>
                          <a:effectLst/>
                          <a:latin typeface="Calibri" panose="020F0502020204030204" pitchFamily="34" charset="0"/>
                        </a:rPr>
                        <a:t>13</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2BF5D"/>
                    </a:solidFill>
                  </a:tcPr>
                </a:tc>
                <a:tc>
                  <a:txBody>
                    <a:bodyPr/>
                    <a:lstStyle/>
                    <a:p>
                      <a:pPr algn="ctr" fontAlgn="ctr">
                        <a:buNone/>
                      </a:pPr>
                      <a:r>
                        <a:rPr lang="en-GB" sz="1800" b="0" i="0" u="none" strike="noStrike">
                          <a:solidFill>
                            <a:srgbClr val="000000"/>
                          </a:solidFill>
                          <a:effectLst/>
                          <a:latin typeface="Calibri" panose="020F0502020204030204" pitchFamily="34" charset="0"/>
                        </a:rPr>
                        <a:t>3</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FB353"/>
                    </a:solidFill>
                  </a:tcPr>
                </a:tc>
                <a:tc>
                  <a:txBody>
                    <a:bodyPr/>
                    <a:lstStyle/>
                    <a:p>
                      <a:pPr algn="ctr" fontAlgn="ctr">
                        <a:buNone/>
                      </a:pPr>
                      <a:r>
                        <a:rPr lang="en-GB" sz="1800" b="0" i="0" u="none" strike="noStrike">
                          <a:solidFill>
                            <a:srgbClr val="000000"/>
                          </a:solidFill>
                          <a:effectLst/>
                          <a:latin typeface="Calibri" panose="020F0502020204030204" pitchFamily="34" charset="0"/>
                        </a:rPr>
                        <a:t>5</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B555"/>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4</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4B454"/>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680984843"/>
                  </a:ext>
                </a:extLst>
              </a:tr>
              <a:tr h="397769">
                <a:tc>
                  <a:txBody>
                    <a:bodyPr/>
                    <a:lstStyle/>
                    <a:p>
                      <a:pPr algn="ctr" fontAlgn="ctr">
                        <a:buNone/>
                      </a:pPr>
                      <a:r>
                        <a:rPr lang="en-GB" sz="1400" b="1" i="0" u="none" strike="noStrike">
                          <a:solidFill>
                            <a:srgbClr val="FFFFFF"/>
                          </a:solidFill>
                          <a:effectLst/>
                          <a:latin typeface="Calibri" panose="020F0502020204030204" pitchFamily="34" charset="0"/>
                        </a:rPr>
                        <a:t>6</a:t>
                      </a:r>
                    </a:p>
                  </a:txBody>
                  <a:tcPr marL="5376" marR="5376" marT="5376"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Bay 5</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800" b="0" i="0" u="none" strike="noStrike">
                          <a:solidFill>
                            <a:srgbClr val="000000"/>
                          </a:solidFill>
                          <a:effectLst/>
                          <a:latin typeface="Calibri" panose="020F0502020204030204" pitchFamily="34" charset="0"/>
                        </a:rPr>
                        <a:t>3</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FB353"/>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1</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5B151"/>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2</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AB252"/>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472611130"/>
                  </a:ext>
                </a:extLst>
              </a:tr>
              <a:tr h="397769">
                <a:tc>
                  <a:txBody>
                    <a:bodyPr/>
                    <a:lstStyle/>
                    <a:p>
                      <a:pPr algn="ctr" fontAlgn="ctr">
                        <a:buNone/>
                      </a:pPr>
                      <a:r>
                        <a:rPr lang="en-GB" sz="1400" b="1" i="0" u="none" strike="noStrike">
                          <a:solidFill>
                            <a:srgbClr val="FFFFFF"/>
                          </a:solidFill>
                          <a:effectLst/>
                          <a:latin typeface="Calibri" panose="020F0502020204030204" pitchFamily="34" charset="0"/>
                        </a:rPr>
                        <a:t>7</a:t>
                      </a:r>
                    </a:p>
                  </a:txBody>
                  <a:tcPr marL="5376" marR="5376" marT="5376"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Bay 6 (BMA)</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800" b="0" i="0" u="none" strike="noStrike">
                          <a:solidFill>
                            <a:srgbClr val="000000"/>
                          </a:solidFill>
                          <a:effectLst/>
                          <a:latin typeface="Calibri" panose="020F0502020204030204" pitchFamily="34" charset="0"/>
                        </a:rPr>
                        <a:t>12</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DBE5C"/>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5</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B555"/>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1</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5B151"/>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393080024"/>
                  </a:ext>
                </a:extLst>
              </a:tr>
              <a:tr h="401172">
                <a:tc>
                  <a:txBody>
                    <a:bodyPr/>
                    <a:lstStyle/>
                    <a:p>
                      <a:pPr algn="ctr" fontAlgn="ctr">
                        <a:buNone/>
                      </a:pPr>
                      <a:r>
                        <a:rPr lang="en-GB" sz="1400" b="1" i="0" u="none" strike="noStrike">
                          <a:solidFill>
                            <a:srgbClr val="FFFFFF"/>
                          </a:solidFill>
                          <a:effectLst/>
                          <a:latin typeface="Calibri" panose="020F0502020204030204" pitchFamily="34" charset="0"/>
                        </a:rPr>
                        <a:t>8</a:t>
                      </a:r>
                    </a:p>
                  </a:txBody>
                  <a:tcPr marL="5376" marR="5376" marT="5376"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HP Bay (LHS of LAF Cabinet)</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dirty="0">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260629091"/>
                  </a:ext>
                </a:extLst>
              </a:tr>
              <a:tr h="397769">
                <a:tc>
                  <a:txBody>
                    <a:bodyPr/>
                    <a:lstStyle/>
                    <a:p>
                      <a:pPr algn="ctr" fontAlgn="ctr">
                        <a:buNone/>
                      </a:pPr>
                      <a:r>
                        <a:rPr lang="en-GB" sz="1400" b="1" i="0" u="none" strike="noStrike">
                          <a:solidFill>
                            <a:srgbClr val="FFFFFF"/>
                          </a:solidFill>
                          <a:effectLst/>
                          <a:latin typeface="Calibri" panose="020F0502020204030204" pitchFamily="34" charset="0"/>
                        </a:rPr>
                        <a:t>9</a:t>
                      </a:r>
                    </a:p>
                  </a:txBody>
                  <a:tcPr marL="5376" marR="5376" marT="5376"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HP Washroom (LHS)</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701280632"/>
                  </a:ext>
                </a:extLst>
              </a:tr>
              <a:tr h="397769">
                <a:tc>
                  <a:txBody>
                    <a:bodyPr/>
                    <a:lstStyle/>
                    <a:p>
                      <a:pPr algn="ctr" fontAlgn="ctr">
                        <a:buNone/>
                      </a:pPr>
                      <a:r>
                        <a:rPr lang="en-GB" sz="1400" b="1" i="0" u="none" strike="noStrike">
                          <a:solidFill>
                            <a:srgbClr val="FFFFFF"/>
                          </a:solidFill>
                          <a:effectLst/>
                          <a:latin typeface="Calibri" panose="020F0502020204030204" pitchFamily="34" charset="0"/>
                        </a:rPr>
                        <a:t>10</a:t>
                      </a:r>
                    </a:p>
                  </a:txBody>
                  <a:tcPr marL="5376" marR="5376" marT="5376"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Change Room</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800" b="0" i="0" u="none" strike="noStrike">
                          <a:solidFill>
                            <a:srgbClr val="000000"/>
                          </a:solidFill>
                          <a:effectLst/>
                          <a:latin typeface="Calibri" panose="020F0502020204030204" pitchFamily="34" charset="0"/>
                        </a:rPr>
                        <a:t>49</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E982"/>
                    </a:solidFill>
                  </a:tcPr>
                </a:tc>
                <a:tc>
                  <a:txBody>
                    <a:bodyPr/>
                    <a:lstStyle/>
                    <a:p>
                      <a:pPr algn="ctr" fontAlgn="ctr">
                        <a:buNone/>
                      </a:pPr>
                      <a:r>
                        <a:rPr lang="en-GB" sz="1800" b="0" i="0" u="none" strike="noStrike">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1800" b="0" i="0" u="none" strike="noStrike">
                          <a:solidFill>
                            <a:srgbClr val="000000"/>
                          </a:solidFill>
                          <a:effectLst/>
                          <a:latin typeface="Calibri" panose="020F0502020204030204" pitchFamily="34" charset="0"/>
                        </a:rPr>
                        <a:t>53</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D7D"/>
                    </a:solidFill>
                  </a:tcPr>
                </a:tc>
                <a:tc>
                  <a:txBody>
                    <a:bodyPr/>
                    <a:lstStyle/>
                    <a:p>
                      <a:pPr algn="ctr" fontAlgn="ctr">
                        <a:buNone/>
                      </a:pPr>
                      <a:r>
                        <a:rPr lang="en-GB" sz="1800" b="0" i="0" u="none" strike="noStrike">
                          <a:solidFill>
                            <a:srgbClr val="000000"/>
                          </a:solidFill>
                          <a:effectLst/>
                          <a:latin typeface="Calibri" panose="020F0502020204030204" pitchFamily="34" charset="0"/>
                        </a:rPr>
                        <a:t>3</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FB353"/>
                    </a:solidFill>
                  </a:tcPr>
                </a:tc>
                <a:tc>
                  <a:txBody>
                    <a:bodyPr/>
                    <a:lstStyle/>
                    <a:p>
                      <a:pPr algn="ctr" fontAlgn="ctr">
                        <a:buNone/>
                      </a:pPr>
                      <a:r>
                        <a:rPr lang="en-GB" sz="1800" b="0" i="0" u="none" strike="noStrike">
                          <a:solidFill>
                            <a:srgbClr val="000000"/>
                          </a:solidFill>
                          <a:effectLst/>
                          <a:latin typeface="Calibri" panose="020F0502020204030204" pitchFamily="34" charset="0"/>
                        </a:rPr>
                        <a:t>40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DF79"/>
                    </a:solidFill>
                  </a:tcPr>
                </a:tc>
                <a:tc>
                  <a:txBody>
                    <a:bodyPr/>
                    <a:lstStyle/>
                    <a:p>
                      <a:pPr algn="ctr" fontAlgn="ctr">
                        <a:buNone/>
                      </a:pPr>
                      <a:r>
                        <a:rPr lang="en-GB" sz="1800" b="0" i="0" u="none" strike="noStrike" dirty="0">
                          <a:solidFill>
                            <a:srgbClr val="000000"/>
                          </a:solidFill>
                          <a:effectLst/>
                          <a:latin typeface="Calibri" panose="020F0502020204030204" pitchFamily="34" charset="0"/>
                        </a:rPr>
                        <a:t>0</a:t>
                      </a:r>
                    </a:p>
                  </a:txBody>
                  <a:tcPr marL="5376" marR="5376" marT="53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630952470"/>
                  </a:ext>
                </a:extLst>
              </a:tr>
            </a:tbl>
          </a:graphicData>
        </a:graphic>
      </p:graphicFrame>
      <p:graphicFrame>
        <p:nvGraphicFramePr>
          <p:cNvPr id="4" name="Table 3">
            <a:extLst>
              <a:ext uri="{FF2B5EF4-FFF2-40B4-BE49-F238E27FC236}">
                <a16:creationId xmlns:a16="http://schemas.microsoft.com/office/drawing/2014/main" id="{869B6E26-EA34-714A-50F8-9233EBD46368}"/>
              </a:ext>
            </a:extLst>
          </p:cNvPr>
          <p:cNvGraphicFramePr>
            <a:graphicFrameLocks noGrp="1"/>
          </p:cNvGraphicFramePr>
          <p:nvPr>
            <p:extLst>
              <p:ext uri="{D42A27DB-BD31-4B8C-83A1-F6EECF244321}">
                <p14:modId xmlns:p14="http://schemas.microsoft.com/office/powerpoint/2010/main" val="2572497916"/>
              </p:ext>
            </p:extLst>
          </p:nvPr>
        </p:nvGraphicFramePr>
        <p:xfrm>
          <a:off x="7440930" y="2"/>
          <a:ext cx="4751069" cy="5394807"/>
        </p:xfrm>
        <a:graphic>
          <a:graphicData uri="http://schemas.openxmlformats.org/drawingml/2006/table">
            <a:tbl>
              <a:tblPr/>
              <a:tblGrid>
                <a:gridCol w="965458">
                  <a:extLst>
                    <a:ext uri="{9D8B030D-6E8A-4147-A177-3AD203B41FA5}">
                      <a16:colId xmlns:a16="http://schemas.microsoft.com/office/drawing/2014/main" val="4066615145"/>
                    </a:ext>
                  </a:extLst>
                </a:gridCol>
                <a:gridCol w="2083357">
                  <a:extLst>
                    <a:ext uri="{9D8B030D-6E8A-4147-A177-3AD203B41FA5}">
                      <a16:colId xmlns:a16="http://schemas.microsoft.com/office/drawing/2014/main" val="2969427758"/>
                    </a:ext>
                  </a:extLst>
                </a:gridCol>
                <a:gridCol w="851127">
                  <a:extLst>
                    <a:ext uri="{9D8B030D-6E8A-4147-A177-3AD203B41FA5}">
                      <a16:colId xmlns:a16="http://schemas.microsoft.com/office/drawing/2014/main" val="631246595"/>
                    </a:ext>
                  </a:extLst>
                </a:gridCol>
                <a:gridCol w="851127">
                  <a:extLst>
                    <a:ext uri="{9D8B030D-6E8A-4147-A177-3AD203B41FA5}">
                      <a16:colId xmlns:a16="http://schemas.microsoft.com/office/drawing/2014/main" val="3231435444"/>
                    </a:ext>
                  </a:extLst>
                </a:gridCol>
              </a:tblGrid>
              <a:tr h="502877">
                <a:tc>
                  <a:txBody>
                    <a:bodyPr/>
                    <a:lstStyle/>
                    <a:p>
                      <a:pPr algn="ctr" fontAlgn="ctr">
                        <a:buNone/>
                      </a:pPr>
                      <a:r>
                        <a:rPr lang="en-GB" sz="1400" b="1" i="0" u="none" strike="noStrike" dirty="0">
                          <a:solidFill>
                            <a:srgbClr val="FFFFFF"/>
                          </a:solidFill>
                          <a:effectLst/>
                          <a:latin typeface="Calibri" panose="020F0502020204030204" pitchFamily="34" charset="0"/>
                        </a:rPr>
                        <a:t>Year</a:t>
                      </a:r>
                    </a:p>
                  </a:txBody>
                  <a:tcPr marL="6510" marR="6510" marT="651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2026</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gridSpan="2">
                  <a:txBody>
                    <a:bodyPr/>
                    <a:lstStyle/>
                    <a:p>
                      <a:pPr algn="ctr" fontAlgn="b">
                        <a:buNone/>
                      </a:pPr>
                      <a:r>
                        <a:rPr lang="en-GB" sz="1400" b="0" i="0" u="none" strike="noStrike" dirty="0">
                          <a:solidFill>
                            <a:srgbClr val="FFFFFF"/>
                          </a:solidFill>
                          <a:effectLst/>
                          <a:latin typeface="Calibri" panose="020F0502020204030204" pitchFamily="34" charset="0"/>
                        </a:rPr>
                        <a:t>February</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hMerge="1">
                  <a:txBody>
                    <a:bodyPr/>
                    <a:lstStyle/>
                    <a:p>
                      <a:endParaRPr lang="en-GB"/>
                    </a:p>
                  </a:txBody>
                  <a:tcPr/>
                </a:tc>
                <a:extLst>
                  <a:ext uri="{0D108BD9-81ED-4DB2-BD59-A6C34878D82A}">
                    <a16:rowId xmlns:a16="http://schemas.microsoft.com/office/drawing/2014/main" val="1703399166"/>
                  </a:ext>
                </a:extLst>
              </a:tr>
              <a:tr h="1047310">
                <a:tc>
                  <a:txBody>
                    <a:bodyPr/>
                    <a:lstStyle/>
                    <a:p>
                      <a:pPr algn="ctr" fontAlgn="ctr">
                        <a:buNone/>
                      </a:pPr>
                      <a:r>
                        <a:rPr lang="en-GB" sz="1400" b="1" i="0" u="none" strike="noStrike">
                          <a:solidFill>
                            <a:srgbClr val="FFFFFF"/>
                          </a:solidFill>
                          <a:effectLst/>
                          <a:latin typeface="Calibri" panose="020F0502020204030204" pitchFamily="34" charset="0"/>
                        </a:rPr>
                        <a:t>Contact Plates:</a:t>
                      </a:r>
                    </a:p>
                  </a:txBody>
                  <a:tcPr marL="6510" marR="6510" marT="651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dirty="0">
                          <a:solidFill>
                            <a:srgbClr val="FFFFFF"/>
                          </a:solidFill>
                          <a:effectLst/>
                          <a:latin typeface="Calibri" panose="020F0502020204030204" pitchFamily="34" charset="0"/>
                        </a:rPr>
                        <a:t>Area</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Contact Plates  TSA (Bacteria)</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400" b="1" i="0" u="none" strike="noStrike">
                          <a:solidFill>
                            <a:srgbClr val="FFFFFF"/>
                          </a:solidFill>
                          <a:effectLst/>
                          <a:latin typeface="Calibri" panose="020F0502020204030204" pitchFamily="34" charset="0"/>
                        </a:rPr>
                        <a:t>Contact Plates  SDA (Mould OR Fungi)</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497B0"/>
                    </a:solidFill>
                  </a:tcPr>
                </a:tc>
                <a:extLst>
                  <a:ext uri="{0D108BD9-81ED-4DB2-BD59-A6C34878D82A}">
                    <a16:rowId xmlns:a16="http://schemas.microsoft.com/office/drawing/2014/main" val="2129432246"/>
                  </a:ext>
                </a:extLst>
              </a:tr>
              <a:tr h="372195">
                <a:tc>
                  <a:txBody>
                    <a:bodyPr/>
                    <a:lstStyle/>
                    <a:p>
                      <a:pPr algn="ctr" fontAlgn="ctr">
                        <a:buNone/>
                      </a:pPr>
                      <a:r>
                        <a:rPr lang="en-GB" sz="1600" b="0" i="0" u="none" strike="noStrike">
                          <a:solidFill>
                            <a:srgbClr val="FFFFFF"/>
                          </a:solidFill>
                          <a:effectLst/>
                          <a:latin typeface="Calibri" panose="020F0502020204030204" pitchFamily="34" charset="0"/>
                        </a:rPr>
                        <a:t>1</a:t>
                      </a:r>
                    </a:p>
                  </a:txBody>
                  <a:tcPr marL="6510" marR="6510" marT="651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600" b="0" i="0" u="none" strike="noStrike">
                          <a:solidFill>
                            <a:srgbClr val="FFFFFF"/>
                          </a:solidFill>
                          <a:effectLst/>
                          <a:latin typeface="Calibri" panose="020F0502020204030204" pitchFamily="34" charset="0"/>
                        </a:rPr>
                        <a:t>Tableting Room </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2400" b="0" i="0" u="none" strike="noStrike">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2400" b="0" i="0" u="none" strike="noStrike">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379146751"/>
                  </a:ext>
                </a:extLst>
              </a:tr>
              <a:tr h="372195">
                <a:tc>
                  <a:txBody>
                    <a:bodyPr/>
                    <a:lstStyle/>
                    <a:p>
                      <a:pPr algn="ctr" fontAlgn="ctr">
                        <a:buNone/>
                      </a:pPr>
                      <a:r>
                        <a:rPr lang="en-GB" sz="1600" b="0" i="0" u="none" strike="noStrike">
                          <a:solidFill>
                            <a:srgbClr val="FFFFFF"/>
                          </a:solidFill>
                          <a:effectLst/>
                          <a:latin typeface="Calibri" panose="020F0502020204030204" pitchFamily="34" charset="0"/>
                        </a:rPr>
                        <a:t>2</a:t>
                      </a:r>
                    </a:p>
                  </a:txBody>
                  <a:tcPr marL="6510" marR="6510" marT="651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600" b="0" i="0" u="none" strike="noStrike">
                          <a:solidFill>
                            <a:srgbClr val="FFFFFF"/>
                          </a:solidFill>
                          <a:effectLst/>
                          <a:latin typeface="Calibri" panose="020F0502020204030204" pitchFamily="34" charset="0"/>
                        </a:rPr>
                        <a:t>Bay 1</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2400" b="0" i="0" u="none" strike="noStrike">
                          <a:solidFill>
                            <a:srgbClr val="000000"/>
                          </a:solidFill>
                          <a:effectLst/>
                          <a:latin typeface="Calibri" panose="020F0502020204030204" pitchFamily="34" charset="0"/>
                        </a:rPr>
                        <a:t>2</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AB252"/>
                    </a:solidFill>
                  </a:tcPr>
                </a:tc>
                <a:tc>
                  <a:txBody>
                    <a:bodyPr/>
                    <a:lstStyle/>
                    <a:p>
                      <a:pPr algn="ctr" fontAlgn="ctr">
                        <a:buNone/>
                      </a:pPr>
                      <a:r>
                        <a:rPr lang="en-GB" sz="2400" b="0" i="0" u="none" strike="noStrike">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710214426"/>
                  </a:ext>
                </a:extLst>
              </a:tr>
              <a:tr h="372195">
                <a:tc>
                  <a:txBody>
                    <a:bodyPr/>
                    <a:lstStyle/>
                    <a:p>
                      <a:pPr algn="ctr" fontAlgn="ctr">
                        <a:buNone/>
                      </a:pPr>
                      <a:r>
                        <a:rPr lang="en-GB" sz="1600" b="0" i="0" u="none" strike="noStrike">
                          <a:solidFill>
                            <a:srgbClr val="FFFFFF"/>
                          </a:solidFill>
                          <a:effectLst/>
                          <a:latin typeface="Calibri" panose="020F0502020204030204" pitchFamily="34" charset="0"/>
                        </a:rPr>
                        <a:t>3</a:t>
                      </a:r>
                    </a:p>
                  </a:txBody>
                  <a:tcPr marL="6510" marR="6510" marT="651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600" b="0" i="0" u="none" strike="noStrike">
                          <a:solidFill>
                            <a:srgbClr val="FFFFFF"/>
                          </a:solidFill>
                          <a:effectLst/>
                          <a:latin typeface="Calibri" panose="020F0502020204030204" pitchFamily="34" charset="0"/>
                        </a:rPr>
                        <a:t>Bay 2</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2400" b="0" i="0" u="none" strike="noStrike">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2400" b="0" i="0" u="none" strike="noStrike">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149670130"/>
                  </a:ext>
                </a:extLst>
              </a:tr>
              <a:tr h="372195">
                <a:tc>
                  <a:txBody>
                    <a:bodyPr/>
                    <a:lstStyle/>
                    <a:p>
                      <a:pPr algn="ctr" fontAlgn="ctr">
                        <a:buNone/>
                      </a:pPr>
                      <a:r>
                        <a:rPr lang="en-GB" sz="1600" b="0" i="0" u="none" strike="noStrike">
                          <a:solidFill>
                            <a:srgbClr val="FFFFFF"/>
                          </a:solidFill>
                          <a:effectLst/>
                          <a:latin typeface="Calibri" panose="020F0502020204030204" pitchFamily="34" charset="0"/>
                        </a:rPr>
                        <a:t>4</a:t>
                      </a:r>
                    </a:p>
                  </a:txBody>
                  <a:tcPr marL="6510" marR="6510" marT="651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600" b="0" i="0" u="none" strike="noStrike">
                          <a:solidFill>
                            <a:srgbClr val="FFFFFF"/>
                          </a:solidFill>
                          <a:effectLst/>
                          <a:latin typeface="Calibri" panose="020F0502020204030204" pitchFamily="34" charset="0"/>
                        </a:rPr>
                        <a:t>Bay 3</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2400" b="0" i="0" u="none" strike="noStrike">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2400" b="0" i="0" u="none" strike="noStrike">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296509918"/>
                  </a:ext>
                </a:extLst>
              </a:tr>
              <a:tr h="372195">
                <a:tc>
                  <a:txBody>
                    <a:bodyPr/>
                    <a:lstStyle/>
                    <a:p>
                      <a:pPr algn="ctr" fontAlgn="ctr">
                        <a:buNone/>
                      </a:pPr>
                      <a:r>
                        <a:rPr lang="en-GB" sz="1600" b="0" i="0" u="none" strike="noStrike">
                          <a:solidFill>
                            <a:srgbClr val="FFFFFF"/>
                          </a:solidFill>
                          <a:effectLst/>
                          <a:latin typeface="Calibri" panose="020F0502020204030204" pitchFamily="34" charset="0"/>
                        </a:rPr>
                        <a:t>5</a:t>
                      </a:r>
                    </a:p>
                  </a:txBody>
                  <a:tcPr marL="6510" marR="6510" marT="651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600" b="0" i="0" u="none" strike="noStrike">
                          <a:solidFill>
                            <a:srgbClr val="FFFFFF"/>
                          </a:solidFill>
                          <a:effectLst/>
                          <a:latin typeface="Calibri" panose="020F0502020204030204" pitchFamily="34" charset="0"/>
                        </a:rPr>
                        <a:t>Bay 4</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2400" b="0" i="0" u="none" strike="noStrike">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2400" b="0" i="0" u="none" strike="noStrike">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651581121"/>
                  </a:ext>
                </a:extLst>
              </a:tr>
              <a:tr h="372195">
                <a:tc>
                  <a:txBody>
                    <a:bodyPr/>
                    <a:lstStyle/>
                    <a:p>
                      <a:pPr algn="ctr" fontAlgn="ctr">
                        <a:buNone/>
                      </a:pPr>
                      <a:r>
                        <a:rPr lang="en-GB" sz="1600" b="0" i="0" u="none" strike="noStrike">
                          <a:solidFill>
                            <a:srgbClr val="FFFFFF"/>
                          </a:solidFill>
                          <a:effectLst/>
                          <a:latin typeface="Calibri" panose="020F0502020204030204" pitchFamily="34" charset="0"/>
                        </a:rPr>
                        <a:t>6</a:t>
                      </a:r>
                    </a:p>
                  </a:txBody>
                  <a:tcPr marL="6510" marR="6510" marT="651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600" b="0" i="0" u="none" strike="noStrike">
                          <a:solidFill>
                            <a:srgbClr val="FFFFFF"/>
                          </a:solidFill>
                          <a:effectLst/>
                          <a:latin typeface="Calibri" panose="020F0502020204030204" pitchFamily="34" charset="0"/>
                        </a:rPr>
                        <a:t>Bay 5</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2400" b="0" i="0" u="none" strike="noStrike">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2400" b="0" i="0" u="none" strike="noStrike">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337847104"/>
                  </a:ext>
                </a:extLst>
              </a:tr>
              <a:tr h="372195">
                <a:tc>
                  <a:txBody>
                    <a:bodyPr/>
                    <a:lstStyle/>
                    <a:p>
                      <a:pPr algn="ctr" fontAlgn="ctr">
                        <a:buNone/>
                      </a:pPr>
                      <a:r>
                        <a:rPr lang="en-GB" sz="1600" b="0" i="0" u="none" strike="noStrike">
                          <a:solidFill>
                            <a:srgbClr val="FFFFFF"/>
                          </a:solidFill>
                          <a:effectLst/>
                          <a:latin typeface="Calibri" panose="020F0502020204030204" pitchFamily="34" charset="0"/>
                        </a:rPr>
                        <a:t>7</a:t>
                      </a:r>
                    </a:p>
                  </a:txBody>
                  <a:tcPr marL="6510" marR="6510" marT="651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600" b="0" i="0" u="none" strike="noStrike" dirty="0">
                          <a:solidFill>
                            <a:srgbClr val="FFFFFF"/>
                          </a:solidFill>
                          <a:effectLst/>
                          <a:latin typeface="Calibri" panose="020F0502020204030204" pitchFamily="34" charset="0"/>
                        </a:rPr>
                        <a:t>Bay 6 (BMA)</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2400" b="0" i="0" u="none" strike="noStrike">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2400" b="0" i="0" u="none" strike="noStrike">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849274773"/>
                  </a:ext>
                </a:extLst>
              </a:tr>
              <a:tr h="463947">
                <a:tc>
                  <a:txBody>
                    <a:bodyPr/>
                    <a:lstStyle/>
                    <a:p>
                      <a:pPr algn="ctr" fontAlgn="ctr">
                        <a:buNone/>
                      </a:pPr>
                      <a:r>
                        <a:rPr lang="en-GB" sz="1600" b="0" i="0" u="none" strike="noStrike">
                          <a:solidFill>
                            <a:srgbClr val="FFFFFF"/>
                          </a:solidFill>
                          <a:effectLst/>
                          <a:latin typeface="Calibri" panose="020F0502020204030204" pitchFamily="34" charset="0"/>
                        </a:rPr>
                        <a:t>8</a:t>
                      </a:r>
                    </a:p>
                  </a:txBody>
                  <a:tcPr marL="6510" marR="6510" marT="651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600" b="0" i="0" u="none" strike="noStrike">
                          <a:solidFill>
                            <a:srgbClr val="FFFFFF"/>
                          </a:solidFill>
                          <a:effectLst/>
                          <a:latin typeface="Calibri" panose="020F0502020204030204" pitchFamily="34" charset="0"/>
                        </a:rPr>
                        <a:t>HP Bay (Centre of LAF Cabinet)</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2400" b="0" i="0" u="none" strike="noStrike">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2400" b="0" i="0" u="none" strike="noStrike">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700499492"/>
                  </a:ext>
                </a:extLst>
              </a:tr>
              <a:tr h="372195">
                <a:tc>
                  <a:txBody>
                    <a:bodyPr/>
                    <a:lstStyle/>
                    <a:p>
                      <a:pPr algn="ctr" fontAlgn="ctr">
                        <a:buNone/>
                      </a:pPr>
                      <a:r>
                        <a:rPr lang="en-GB" sz="1600" b="0" i="0" u="none" strike="noStrike">
                          <a:solidFill>
                            <a:srgbClr val="FFFFFF"/>
                          </a:solidFill>
                          <a:effectLst/>
                          <a:latin typeface="Calibri" panose="020F0502020204030204" pitchFamily="34" charset="0"/>
                        </a:rPr>
                        <a:t>9</a:t>
                      </a:r>
                    </a:p>
                  </a:txBody>
                  <a:tcPr marL="6510" marR="6510" marT="651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600" b="0" i="0" u="none" strike="noStrike">
                          <a:solidFill>
                            <a:srgbClr val="FFFFFF"/>
                          </a:solidFill>
                          <a:effectLst/>
                          <a:latin typeface="Calibri" panose="020F0502020204030204" pitchFamily="34" charset="0"/>
                        </a:rPr>
                        <a:t>HP Washroom (LHS)</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2400" b="0" i="0" u="none" strike="noStrike">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2400" b="0" i="0" u="none" strike="noStrike">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627655944"/>
                  </a:ext>
                </a:extLst>
              </a:tr>
              <a:tr h="372195">
                <a:tc>
                  <a:txBody>
                    <a:bodyPr/>
                    <a:lstStyle/>
                    <a:p>
                      <a:pPr algn="ctr" fontAlgn="ctr">
                        <a:buNone/>
                      </a:pPr>
                      <a:r>
                        <a:rPr lang="en-GB" sz="1600" b="0" i="0" u="none" strike="noStrike" dirty="0">
                          <a:solidFill>
                            <a:srgbClr val="FFFFFF"/>
                          </a:solidFill>
                          <a:effectLst/>
                          <a:latin typeface="Calibri" panose="020F0502020204030204" pitchFamily="34" charset="0"/>
                        </a:rPr>
                        <a:t>10</a:t>
                      </a:r>
                    </a:p>
                  </a:txBody>
                  <a:tcPr marL="6510" marR="6510" marT="651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1600" b="0" i="0" u="none" strike="noStrike">
                          <a:solidFill>
                            <a:srgbClr val="FFFFFF"/>
                          </a:solidFill>
                          <a:effectLst/>
                          <a:latin typeface="Calibri" panose="020F0502020204030204" pitchFamily="34" charset="0"/>
                        </a:rPr>
                        <a:t>Change Room</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497B0"/>
                    </a:solidFill>
                  </a:tcPr>
                </a:tc>
                <a:tc>
                  <a:txBody>
                    <a:bodyPr/>
                    <a:lstStyle/>
                    <a:p>
                      <a:pPr algn="ctr" fontAlgn="ctr">
                        <a:buNone/>
                      </a:pPr>
                      <a:r>
                        <a:rPr lang="en-GB" sz="2400" b="0" i="0" u="none" strike="noStrike">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n-GB" sz="2400" b="0" i="0" u="none" strike="noStrike" dirty="0">
                          <a:solidFill>
                            <a:srgbClr val="000000"/>
                          </a:solidFill>
                          <a:effectLst/>
                          <a:latin typeface="Calibri" panose="020F0502020204030204" pitchFamily="34" charset="0"/>
                        </a:rPr>
                        <a:t>0</a:t>
                      </a:r>
                    </a:p>
                  </a:txBody>
                  <a:tcPr marL="6510" marR="6510" marT="6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025082946"/>
                  </a:ext>
                </a:extLst>
              </a:tr>
            </a:tbl>
          </a:graphicData>
        </a:graphic>
      </p:graphicFrame>
      <p:graphicFrame>
        <p:nvGraphicFramePr>
          <p:cNvPr id="5" name="Table 4">
            <a:extLst>
              <a:ext uri="{FF2B5EF4-FFF2-40B4-BE49-F238E27FC236}">
                <a16:creationId xmlns:a16="http://schemas.microsoft.com/office/drawing/2014/main" id="{9466D489-316F-33FA-11FD-BDCEB1B442A3}"/>
              </a:ext>
            </a:extLst>
          </p:cNvPr>
          <p:cNvGraphicFramePr>
            <a:graphicFrameLocks noGrp="1"/>
          </p:cNvGraphicFramePr>
          <p:nvPr>
            <p:extLst>
              <p:ext uri="{D42A27DB-BD31-4B8C-83A1-F6EECF244321}">
                <p14:modId xmlns:p14="http://schemas.microsoft.com/office/powerpoint/2010/main" val="4290525247"/>
              </p:ext>
            </p:extLst>
          </p:nvPr>
        </p:nvGraphicFramePr>
        <p:xfrm>
          <a:off x="719327" y="5363888"/>
          <a:ext cx="11472671" cy="1494109"/>
        </p:xfrm>
        <a:graphic>
          <a:graphicData uri="http://schemas.openxmlformats.org/drawingml/2006/table">
            <a:tbl>
              <a:tblPr firstCol="1" bandRow="1">
                <a:tableStyleId>{21E4AEA4-8DFA-4A89-87EB-49C32662AFE0}</a:tableStyleId>
              </a:tblPr>
              <a:tblGrid>
                <a:gridCol w="2524616">
                  <a:extLst>
                    <a:ext uri="{9D8B030D-6E8A-4147-A177-3AD203B41FA5}">
                      <a16:colId xmlns:a16="http://schemas.microsoft.com/office/drawing/2014/main" val="4137512066"/>
                    </a:ext>
                  </a:extLst>
                </a:gridCol>
                <a:gridCol w="8948055">
                  <a:extLst>
                    <a:ext uri="{9D8B030D-6E8A-4147-A177-3AD203B41FA5}">
                      <a16:colId xmlns:a16="http://schemas.microsoft.com/office/drawing/2014/main" val="285937502"/>
                    </a:ext>
                  </a:extLst>
                </a:gridCol>
              </a:tblGrid>
              <a:tr h="1494109">
                <a:tc>
                  <a:txBody>
                    <a:bodyPr/>
                    <a:lstStyle/>
                    <a:p>
                      <a:r>
                        <a:rPr lang="en-GB" sz="2400" dirty="0">
                          <a:solidFill>
                            <a:schemeClr val="tx1"/>
                          </a:solidFill>
                        </a:rPr>
                        <a:t>Key Observations</a:t>
                      </a:r>
                    </a:p>
                  </a:txBody>
                  <a:tcPr>
                    <a:solidFill>
                      <a:schemeClr val="bg2">
                        <a:lumMod val="75000"/>
                      </a:schemeClr>
                    </a:solidFill>
                  </a:tcPr>
                </a:tc>
                <a:tc>
                  <a:txBody>
                    <a:bodyPr/>
                    <a:lstStyle/>
                    <a:p>
                      <a:pPr marL="342900" indent="-342900">
                        <a:buFont typeface="Arial" panose="020B0604020202020204" pitchFamily="34" charset="0"/>
                        <a:buChar char="•"/>
                      </a:pPr>
                      <a:r>
                        <a:rPr lang="en-GB" sz="2400" dirty="0">
                          <a:solidFill>
                            <a:schemeClr val="tx1"/>
                          </a:solidFill>
                        </a:rPr>
                        <a:t>Significant improvement observed in the Change room. </a:t>
                      </a:r>
                    </a:p>
                    <a:p>
                      <a:pPr marL="342900" indent="-342900">
                        <a:buFont typeface="Arial" panose="020B0604020202020204" pitchFamily="34" charset="0"/>
                        <a:buChar char="•"/>
                      </a:pPr>
                      <a:r>
                        <a:rPr lang="en-GB" sz="2400" dirty="0">
                          <a:solidFill>
                            <a:schemeClr val="tx1"/>
                          </a:solidFill>
                        </a:rPr>
                        <a:t>Results demonstrate change room OOS issue has been nullified. </a:t>
                      </a:r>
                    </a:p>
                    <a:p>
                      <a:pPr marL="342900" indent="-342900">
                        <a:buFont typeface="Arial" panose="020B0604020202020204" pitchFamily="34" charset="0"/>
                        <a:buChar char="•"/>
                      </a:pPr>
                      <a:r>
                        <a:rPr lang="en-GB" sz="2400" dirty="0">
                          <a:solidFill>
                            <a:schemeClr val="tx1"/>
                          </a:solidFill>
                        </a:rPr>
                        <a:t>All results in Q1 below Alert and Action limits. </a:t>
                      </a:r>
                    </a:p>
                  </a:txBody>
                  <a:tcPr>
                    <a:solidFill>
                      <a:schemeClr val="bg2">
                        <a:lumMod val="60000"/>
                        <a:lumOff val="40000"/>
                      </a:schemeClr>
                    </a:solidFill>
                  </a:tcPr>
                </a:tc>
                <a:extLst>
                  <a:ext uri="{0D108BD9-81ED-4DB2-BD59-A6C34878D82A}">
                    <a16:rowId xmlns:a16="http://schemas.microsoft.com/office/drawing/2014/main" val="3573192648"/>
                  </a:ext>
                </a:extLst>
              </a:tr>
            </a:tbl>
          </a:graphicData>
        </a:graphic>
      </p:graphicFrame>
    </p:spTree>
    <p:extLst>
      <p:ext uri="{BB962C8B-B14F-4D97-AF65-F5344CB8AC3E}">
        <p14:creationId xmlns:p14="http://schemas.microsoft.com/office/powerpoint/2010/main" val="22325921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72CE707-B29B-67BE-8B3C-4017D98646A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69A96E9-0B35-BAFC-0A80-CA5F1803C6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1" name="Rectangle 10">
            <a:extLst>
              <a:ext uri="{FF2B5EF4-FFF2-40B4-BE49-F238E27FC236}">
                <a16:creationId xmlns:a16="http://schemas.microsoft.com/office/drawing/2014/main" id="{ABF22A98-0996-FCCE-B143-965CD401CF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3" name="Rectangle 12">
            <a:extLst>
              <a:ext uri="{FF2B5EF4-FFF2-40B4-BE49-F238E27FC236}">
                <a16:creationId xmlns:a16="http://schemas.microsoft.com/office/drawing/2014/main" id="{19EA6107-EC1A-CCF8-C771-551A27A1DE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A5D028"/>
              </a:solidFill>
              <a:effectLst/>
              <a:uLnTx/>
              <a:uFillTx/>
              <a:latin typeface="Corbel" panose="020B0503020204020204"/>
              <a:ea typeface="+mn-ea"/>
              <a:cs typeface="+mn-cs"/>
            </a:endParaRPr>
          </a:p>
        </p:txBody>
      </p:sp>
      <p:sp>
        <p:nvSpPr>
          <p:cNvPr id="14" name="Rectangle 13">
            <a:extLst>
              <a:ext uri="{FF2B5EF4-FFF2-40B4-BE49-F238E27FC236}">
                <a16:creationId xmlns:a16="http://schemas.microsoft.com/office/drawing/2014/main" id="{C40F3612-0D53-9ABB-BC31-007C6D030834}"/>
              </a:ext>
            </a:extLst>
          </p:cNvPr>
          <p:cNvSpPr/>
          <p:nvPr/>
        </p:nvSpPr>
        <p:spPr>
          <a:xfrm>
            <a:off x="-59593" y="0"/>
            <a:ext cx="842090" cy="6858002"/>
          </a:xfrm>
          <a:prstGeom prst="rect">
            <a:avLst/>
          </a:prstGeom>
          <a:noFill/>
        </p:spPr>
        <p:txBody>
          <a:bodyPr vert="wordArtVert"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3600" b="1" dirty="0">
                <a:ln w="0"/>
                <a:solidFill>
                  <a:srgbClr val="FFFFFF"/>
                </a:solidFill>
                <a:effectLst>
                  <a:outerShdw blurRad="38100" dist="38100" dir="2700000" algn="tl">
                    <a:srgbClr val="000000">
                      <a:alpha val="43137"/>
                    </a:srgbClr>
                  </a:outerShdw>
                </a:effectLst>
                <a:latin typeface="Corbel" panose="020B0503020204020204"/>
              </a:rPr>
              <a:t>VALIDATION</a:t>
            </a:r>
            <a:endParaRPr kumimoji="0" lang="en-US" sz="3600" b="1" i="0" u="none" strike="noStrike" kern="1200" cap="none" spc="0" normalizeH="0" baseline="0" noProof="0" dirty="0">
              <a:ln w="0"/>
              <a:solidFill>
                <a:srgbClr val="FFFFFF"/>
              </a:solidFill>
              <a:effectLst>
                <a:outerShdw blurRad="38100" dist="38100" dir="2700000" algn="tl">
                  <a:srgbClr val="000000">
                    <a:alpha val="43137"/>
                  </a:srgbClr>
                </a:outerShdw>
              </a:effectLst>
              <a:uLnTx/>
              <a:uFillTx/>
              <a:latin typeface="Corbel" panose="020B0503020204020204"/>
              <a:ea typeface="+mn-ea"/>
              <a:cs typeface="+mn-cs"/>
            </a:endParaRPr>
          </a:p>
        </p:txBody>
      </p:sp>
      <p:graphicFrame>
        <p:nvGraphicFramePr>
          <p:cNvPr id="6" name="Table 5">
            <a:extLst>
              <a:ext uri="{FF2B5EF4-FFF2-40B4-BE49-F238E27FC236}">
                <a16:creationId xmlns:a16="http://schemas.microsoft.com/office/drawing/2014/main" id="{06D19A2E-743A-36EF-D01D-0128306721D0}"/>
              </a:ext>
            </a:extLst>
          </p:cNvPr>
          <p:cNvGraphicFramePr>
            <a:graphicFrameLocks noGrp="1"/>
          </p:cNvGraphicFramePr>
          <p:nvPr>
            <p:extLst>
              <p:ext uri="{D42A27DB-BD31-4B8C-83A1-F6EECF244321}">
                <p14:modId xmlns:p14="http://schemas.microsoft.com/office/powerpoint/2010/main" val="174837948"/>
              </p:ext>
            </p:extLst>
          </p:nvPr>
        </p:nvGraphicFramePr>
        <p:xfrm>
          <a:off x="719328" y="0"/>
          <a:ext cx="11472671" cy="6858000"/>
        </p:xfrm>
        <a:graphic>
          <a:graphicData uri="http://schemas.openxmlformats.org/drawingml/2006/table">
            <a:tbl>
              <a:tblPr firstCol="1" bandRow="1">
                <a:tableStyleId>{21E4AEA4-8DFA-4A89-87EB-49C32662AFE0}</a:tableStyleId>
              </a:tblPr>
              <a:tblGrid>
                <a:gridCol w="4746612">
                  <a:extLst>
                    <a:ext uri="{9D8B030D-6E8A-4147-A177-3AD203B41FA5}">
                      <a16:colId xmlns:a16="http://schemas.microsoft.com/office/drawing/2014/main" val="3383789506"/>
                    </a:ext>
                  </a:extLst>
                </a:gridCol>
                <a:gridCol w="6726059">
                  <a:extLst>
                    <a:ext uri="{9D8B030D-6E8A-4147-A177-3AD203B41FA5}">
                      <a16:colId xmlns:a16="http://schemas.microsoft.com/office/drawing/2014/main" val="508377788"/>
                    </a:ext>
                  </a:extLst>
                </a:gridCol>
              </a:tblGrid>
              <a:tr h="23133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sng" strike="noStrike" kern="1200" cap="none" spc="0" normalizeH="0" baseline="0" noProof="0" dirty="0">
                          <a:ln>
                            <a:noFill/>
                          </a:ln>
                          <a:effectLst/>
                          <a:uLnTx/>
                          <a:uFillTx/>
                          <a:latin typeface="+mn-lt"/>
                          <a:ea typeface="+mn-ea"/>
                          <a:cs typeface="+mn-cs"/>
                        </a:rPr>
                        <a:t>Cleaning Validation</a:t>
                      </a:r>
                    </a:p>
                  </a:txBody>
                  <a:tcPr anchor="ctr">
                    <a:solidFill>
                      <a:schemeClr val="bg2">
                        <a:lumMod val="75000"/>
                      </a:schemeClr>
                    </a:solidFill>
                  </a:tcPr>
                </a:tc>
                <a:tc>
                  <a:txBody>
                    <a:bodyPr/>
                    <a:lstStyle/>
                    <a:p>
                      <a:pPr marL="322263" marR="0" lvl="1" indent="-182880" algn="l" defTabSz="914400" rtl="0" eaLnBrk="1" fontAlgn="auto" latinLnBrk="0" hangingPunct="1">
                        <a:lnSpc>
                          <a:spcPct val="90000"/>
                        </a:lnSpc>
                        <a:spcBef>
                          <a:spcPts val="0"/>
                        </a:spcBef>
                        <a:spcAft>
                          <a:spcPts val="400"/>
                        </a:spcAft>
                        <a:buClr>
                          <a:srgbClr val="FFFFFF"/>
                        </a:buClr>
                        <a:buSzTx/>
                        <a:buFont typeface="Wingdings" pitchFamily="2" charset="2"/>
                        <a:buChar char=""/>
                        <a:tabLst/>
                        <a:defRPr/>
                      </a:pPr>
                      <a:r>
                        <a:rPr kumimoji="0" lang="en-US" sz="2400" b="0" i="0" u="sng" strike="noStrike" kern="1200" cap="none" spc="0" normalizeH="0" baseline="0" noProof="0" dirty="0">
                          <a:ln>
                            <a:noFill/>
                          </a:ln>
                          <a:solidFill>
                            <a:schemeClr val="tx1"/>
                          </a:solidFill>
                          <a:effectLst/>
                          <a:uLnTx/>
                          <a:uFillTx/>
                          <a:latin typeface="+mn-lt"/>
                          <a:ea typeface="+mn-ea"/>
                          <a:cs typeface="+mn-cs"/>
                        </a:rPr>
                        <a:t>Beclomethasone</a:t>
                      </a:r>
                    </a:p>
                    <a:p>
                      <a:pPr marL="640080" marR="0" lvl="2" indent="-182880" algn="l" defTabSz="914400" rtl="0" eaLnBrk="1" fontAlgn="auto" latinLnBrk="0" hangingPunct="1">
                        <a:lnSpc>
                          <a:spcPct val="90000"/>
                        </a:lnSpc>
                        <a:spcBef>
                          <a:spcPts val="200"/>
                        </a:spcBef>
                        <a:spcAft>
                          <a:spcPts val="400"/>
                        </a:spcAft>
                        <a:buClr>
                          <a:srgbClr val="FFFFFF"/>
                        </a:buClr>
                        <a:buSzTx/>
                        <a:buFont typeface="Wingdings" pitchFamily="2" charset="2"/>
                        <a:buChar char=""/>
                        <a:tabLst/>
                        <a:defRPr/>
                      </a:pPr>
                      <a:r>
                        <a:rPr kumimoji="0" lang="en-GB" sz="2000" b="0" i="0" u="none" strike="noStrike" kern="1200" cap="none" spc="0" normalizeH="0" baseline="0" noProof="0" dirty="0">
                          <a:ln>
                            <a:noFill/>
                          </a:ln>
                          <a:solidFill>
                            <a:schemeClr val="tx1"/>
                          </a:solidFill>
                          <a:effectLst/>
                          <a:uLnTx/>
                          <a:uFillTx/>
                          <a:latin typeface="+mn-lt"/>
                          <a:ea typeface="+mn-ea"/>
                          <a:cs typeface="+mn-cs"/>
                        </a:rPr>
                        <a:t>Cleaning validation has not been started.</a:t>
                      </a:r>
                    </a:p>
                    <a:p>
                      <a:pPr marL="640080" marR="0" lvl="2" indent="-182880" algn="l" defTabSz="914400" rtl="0" eaLnBrk="1" fontAlgn="auto" latinLnBrk="0" hangingPunct="1">
                        <a:lnSpc>
                          <a:spcPct val="90000"/>
                        </a:lnSpc>
                        <a:spcBef>
                          <a:spcPts val="200"/>
                        </a:spcBef>
                        <a:spcAft>
                          <a:spcPts val="400"/>
                        </a:spcAft>
                        <a:buClr>
                          <a:srgbClr val="FFFFFF"/>
                        </a:buClr>
                        <a:buSzTx/>
                        <a:buFont typeface="Wingdings" pitchFamily="2" charset="2"/>
                        <a:buChar char=""/>
                        <a:tabLst/>
                        <a:defRPr/>
                      </a:pPr>
                      <a:r>
                        <a:rPr kumimoji="0" lang="en-GB" sz="2000" b="0" i="0" u="none" strike="noStrike" kern="1200" cap="none" spc="0" normalizeH="0" baseline="0" noProof="0" dirty="0">
                          <a:ln>
                            <a:noFill/>
                          </a:ln>
                          <a:solidFill>
                            <a:schemeClr val="tx1"/>
                          </a:solidFill>
                          <a:effectLst/>
                          <a:uLnTx/>
                          <a:uFillTx/>
                          <a:latin typeface="+mn-lt"/>
                          <a:ea typeface="+mn-ea"/>
                          <a:cs typeface="+mn-cs"/>
                        </a:rPr>
                        <a:t>Cleaning validation expected January  - March 2026</a:t>
                      </a:r>
                      <a:endParaRPr lang="en-GB" sz="2000" dirty="0">
                        <a:solidFill>
                          <a:schemeClr val="tx1"/>
                        </a:solidFill>
                        <a:latin typeface="+mn-lt"/>
                      </a:endParaRPr>
                    </a:p>
                    <a:p>
                      <a:pPr marL="322263" marR="0" lvl="1" indent="-182880" algn="l" defTabSz="914400" rtl="0" eaLnBrk="1" fontAlgn="auto" latinLnBrk="0" hangingPunct="1">
                        <a:lnSpc>
                          <a:spcPct val="90000"/>
                        </a:lnSpc>
                        <a:spcBef>
                          <a:spcPts val="0"/>
                        </a:spcBef>
                        <a:spcAft>
                          <a:spcPts val="400"/>
                        </a:spcAft>
                        <a:buClr>
                          <a:srgbClr val="FFFFFF"/>
                        </a:buClr>
                        <a:buSzTx/>
                        <a:buFont typeface="Wingdings" pitchFamily="2" charset="2"/>
                        <a:buChar char=""/>
                        <a:tabLst/>
                        <a:defRPr/>
                      </a:pPr>
                      <a:r>
                        <a:rPr kumimoji="0" lang="en-US" sz="2400" b="0" i="0" u="sng" strike="noStrike" kern="1200" cap="none" spc="0" normalizeH="0" baseline="0" noProof="0" dirty="0">
                          <a:ln>
                            <a:noFill/>
                          </a:ln>
                          <a:solidFill>
                            <a:schemeClr val="tx1"/>
                          </a:solidFill>
                          <a:effectLst/>
                          <a:uLnTx/>
                          <a:uFillTx/>
                          <a:latin typeface="+mn-lt"/>
                          <a:ea typeface="+mn-ea"/>
                          <a:cs typeface="+mn-cs"/>
                        </a:rPr>
                        <a:t>Material Hazard assessments</a:t>
                      </a:r>
                    </a:p>
                    <a:p>
                      <a:pPr marL="640080" marR="0" lvl="2" indent="-182880" algn="l" defTabSz="914400" rtl="0" eaLnBrk="1" fontAlgn="auto" latinLnBrk="0" hangingPunct="1">
                        <a:lnSpc>
                          <a:spcPct val="90000"/>
                        </a:lnSpc>
                        <a:spcBef>
                          <a:spcPts val="200"/>
                        </a:spcBef>
                        <a:spcAft>
                          <a:spcPts val="400"/>
                        </a:spcAft>
                        <a:buClr>
                          <a:srgbClr val="FFFFFF"/>
                        </a:buClr>
                        <a:buSzTx/>
                        <a:buFont typeface="Wingdings" pitchFamily="2" charset="2"/>
                        <a:buChar char=""/>
                        <a:tabLst/>
                        <a:defRPr/>
                      </a:pPr>
                      <a:r>
                        <a:rPr kumimoji="0" lang="en-GB" sz="2000" b="0" i="0" u="none" strike="noStrike" kern="1200" cap="none" spc="0" normalizeH="0" baseline="0" noProof="0" dirty="0">
                          <a:ln>
                            <a:noFill/>
                          </a:ln>
                          <a:solidFill>
                            <a:schemeClr val="tx1"/>
                          </a:solidFill>
                          <a:effectLst/>
                          <a:uLnTx/>
                          <a:uFillTx/>
                          <a:latin typeface="+mn-lt"/>
                          <a:ea typeface="+mn-ea"/>
                          <a:cs typeface="+mn-cs"/>
                        </a:rPr>
                        <a:t>Currently Ongoing to determine new worst-case API. This will then be subject to CV. </a:t>
                      </a:r>
                    </a:p>
                  </a:txBody>
                  <a:tcPr>
                    <a:solidFill>
                      <a:schemeClr val="bg2">
                        <a:lumMod val="60000"/>
                        <a:lumOff val="40000"/>
                      </a:schemeClr>
                    </a:solidFill>
                  </a:tcPr>
                </a:tc>
                <a:extLst>
                  <a:ext uri="{0D108BD9-81ED-4DB2-BD59-A6C34878D82A}">
                    <a16:rowId xmlns:a16="http://schemas.microsoft.com/office/drawing/2014/main" val="3788827736"/>
                  </a:ext>
                </a:extLst>
              </a:tr>
              <a:tr h="27819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sng" strike="noStrike" kern="1200" cap="none" spc="0" normalizeH="0" baseline="0" noProof="0" dirty="0">
                          <a:ln>
                            <a:noFill/>
                          </a:ln>
                          <a:effectLst/>
                          <a:uLnTx/>
                          <a:uFillTx/>
                          <a:latin typeface="+mn-lt"/>
                          <a:ea typeface="+mn-ea"/>
                          <a:cs typeface="+mn-cs"/>
                        </a:rPr>
                        <a:t>Equipment Validation</a:t>
                      </a:r>
                      <a:endParaRPr kumimoji="0" lang="en-US" sz="2400" b="0" i="0" u="none" strike="noStrike" kern="1200" cap="none" spc="0" normalizeH="0" baseline="0" noProof="0" dirty="0">
                        <a:ln>
                          <a:noFill/>
                        </a:ln>
                        <a:effectLst/>
                        <a:uLnTx/>
                        <a:uFillTx/>
                        <a:latin typeface="+mn-lt"/>
                        <a:ea typeface="+mn-ea"/>
                        <a:cs typeface="+mn-cs"/>
                      </a:endParaRPr>
                    </a:p>
                    <a:p>
                      <a:pPr algn="l"/>
                      <a:endParaRPr lang="en-GB" sz="2400" dirty="0"/>
                    </a:p>
                  </a:txBody>
                  <a:tcPr anchor="ctr">
                    <a:solidFill>
                      <a:schemeClr val="bg2">
                        <a:lumMod val="75000"/>
                      </a:schemeClr>
                    </a:solidFill>
                  </a:tcPr>
                </a:tc>
                <a:tc>
                  <a:txBody>
                    <a:bodyPr/>
                    <a:lstStyle/>
                    <a:p>
                      <a:pPr marL="182880" marR="0" lvl="0" indent="-182880" algn="l" defTabSz="914400" rtl="0" eaLnBrk="1" fontAlgn="auto" latinLnBrk="0" hangingPunct="1">
                        <a:lnSpc>
                          <a:spcPct val="90000"/>
                        </a:lnSpc>
                        <a:spcBef>
                          <a:spcPts val="200"/>
                        </a:spcBef>
                        <a:spcAft>
                          <a:spcPts val="400"/>
                        </a:spcAft>
                        <a:buClr>
                          <a:srgbClr val="FFFFFF"/>
                        </a:buClr>
                        <a:buSzTx/>
                        <a:buFont typeface="Wingdings" pitchFamily="2" charset="2"/>
                        <a:buChar char=""/>
                        <a:tabLst/>
                        <a:defRPr/>
                      </a:pPr>
                      <a:r>
                        <a:rPr kumimoji="0" lang="en-GB" sz="2400" b="0" i="0" u="sng" strike="noStrike" kern="1200" cap="none" spc="0" normalizeH="0" baseline="0" noProof="0" dirty="0">
                          <a:ln>
                            <a:noFill/>
                          </a:ln>
                          <a:solidFill>
                            <a:schemeClr val="tx1"/>
                          </a:solidFill>
                          <a:effectLst/>
                          <a:uLnTx/>
                          <a:uFillTx/>
                          <a:latin typeface="+mn-lt"/>
                          <a:ea typeface="+mn-ea"/>
                          <a:cs typeface="+mn-cs"/>
                        </a:rPr>
                        <a:t>Friability Machine</a:t>
                      </a:r>
                    </a:p>
                    <a:p>
                      <a:pPr marL="640080" marR="0" lvl="2" indent="-182880" algn="l" defTabSz="914400" rtl="0" eaLnBrk="1" fontAlgn="auto" latinLnBrk="0" hangingPunct="1">
                        <a:lnSpc>
                          <a:spcPct val="90000"/>
                        </a:lnSpc>
                        <a:spcBef>
                          <a:spcPts val="200"/>
                        </a:spcBef>
                        <a:spcAft>
                          <a:spcPts val="400"/>
                        </a:spcAft>
                        <a:buClr>
                          <a:srgbClr val="FFFFFF"/>
                        </a:buClr>
                        <a:buSzTx/>
                        <a:buFont typeface="Wingdings" pitchFamily="2" charset="2"/>
                        <a:buChar char=""/>
                        <a:tabLst/>
                        <a:defRPr/>
                      </a:pPr>
                      <a:r>
                        <a:rPr kumimoji="0" lang="en-GB" sz="2000" b="0" i="0" u="none" strike="noStrike" kern="1200" cap="none" spc="0" normalizeH="0" baseline="0" noProof="0" dirty="0">
                          <a:ln>
                            <a:noFill/>
                          </a:ln>
                          <a:solidFill>
                            <a:schemeClr val="tx1"/>
                          </a:solidFill>
                          <a:effectLst/>
                          <a:uLnTx/>
                          <a:uFillTx/>
                          <a:latin typeface="+mn-lt"/>
                          <a:ea typeface="+mn-ea"/>
                          <a:cs typeface="+mn-cs"/>
                        </a:rPr>
                        <a:t>Completed and in use</a:t>
                      </a:r>
                    </a:p>
                    <a:p>
                      <a:pPr marL="182880" marR="0" lvl="0" indent="-182880" algn="l" defTabSz="914400" rtl="0" eaLnBrk="1" fontAlgn="auto" latinLnBrk="0" hangingPunct="1">
                        <a:lnSpc>
                          <a:spcPct val="90000"/>
                        </a:lnSpc>
                        <a:spcBef>
                          <a:spcPts val="200"/>
                        </a:spcBef>
                        <a:spcAft>
                          <a:spcPts val="400"/>
                        </a:spcAft>
                        <a:buClr>
                          <a:srgbClr val="FFFFFF"/>
                        </a:buClr>
                        <a:buSzTx/>
                        <a:buFont typeface="Wingdings" pitchFamily="2" charset="2"/>
                        <a:buChar char=""/>
                        <a:tabLst/>
                        <a:defRPr/>
                      </a:pPr>
                      <a:r>
                        <a:rPr kumimoji="0" lang="en-GB" sz="2400" b="0" i="0" u="sng" strike="noStrike" kern="1200" cap="none" spc="0" normalizeH="0" baseline="0" noProof="0" dirty="0">
                          <a:ln>
                            <a:noFill/>
                          </a:ln>
                          <a:solidFill>
                            <a:schemeClr val="tx1"/>
                          </a:solidFill>
                          <a:effectLst/>
                          <a:uLnTx/>
                          <a:uFillTx/>
                          <a:latin typeface="+mn-lt"/>
                          <a:ea typeface="+mn-ea"/>
                          <a:cs typeface="+mn-cs"/>
                        </a:rPr>
                        <a:t>Stability Chamber</a:t>
                      </a:r>
                    </a:p>
                    <a:p>
                      <a:pPr marL="640080" marR="0" lvl="2" indent="-182880" algn="l" defTabSz="914400" rtl="0" eaLnBrk="1" fontAlgn="auto" latinLnBrk="0" hangingPunct="1">
                        <a:lnSpc>
                          <a:spcPct val="90000"/>
                        </a:lnSpc>
                        <a:spcBef>
                          <a:spcPts val="200"/>
                        </a:spcBef>
                        <a:spcAft>
                          <a:spcPts val="400"/>
                        </a:spcAft>
                        <a:buClr>
                          <a:srgbClr val="FFFFFF"/>
                        </a:buClr>
                        <a:buSzTx/>
                        <a:buFont typeface="Wingdings" pitchFamily="2" charset="2"/>
                        <a:buChar char=""/>
                        <a:tabLst/>
                        <a:defRPr/>
                      </a:pPr>
                      <a:r>
                        <a:rPr lang="en-GB" sz="2000" dirty="0">
                          <a:solidFill>
                            <a:schemeClr val="tx1"/>
                          </a:solidFill>
                          <a:latin typeface="+mn-lt"/>
                        </a:rPr>
                        <a:t>IOPQ completed by supplier. Validation to be verified before use. </a:t>
                      </a:r>
                      <a:endParaRPr kumimoji="0" lang="en-GB" sz="2000" b="0" i="0" u="none" strike="noStrike" kern="1200" cap="none" spc="0" normalizeH="0" baseline="0" noProof="0" dirty="0">
                        <a:ln>
                          <a:noFill/>
                        </a:ln>
                        <a:solidFill>
                          <a:schemeClr val="tx1"/>
                        </a:solidFill>
                        <a:effectLst/>
                        <a:uLnTx/>
                        <a:uFillTx/>
                        <a:latin typeface="+mn-lt"/>
                        <a:ea typeface="+mn-ea"/>
                        <a:cs typeface="+mn-cs"/>
                      </a:endParaRPr>
                    </a:p>
                    <a:p>
                      <a:pPr marL="182880" marR="0" lvl="0" indent="-182880" algn="l" defTabSz="914400" rtl="0" eaLnBrk="1" fontAlgn="auto" latinLnBrk="0" hangingPunct="1">
                        <a:lnSpc>
                          <a:spcPct val="90000"/>
                        </a:lnSpc>
                        <a:spcBef>
                          <a:spcPts val="200"/>
                        </a:spcBef>
                        <a:spcAft>
                          <a:spcPts val="400"/>
                        </a:spcAft>
                        <a:buClr>
                          <a:srgbClr val="FFFFFF"/>
                        </a:buClr>
                        <a:buSzTx/>
                        <a:buFont typeface="Wingdings" pitchFamily="2" charset="2"/>
                        <a:buChar char=""/>
                        <a:tabLst/>
                        <a:defRPr/>
                      </a:pPr>
                      <a:r>
                        <a:rPr kumimoji="0" lang="en-GB" sz="2400" b="0" i="0" u="sng" strike="noStrike" kern="1200" cap="none" spc="0" normalizeH="0" baseline="0" noProof="0" dirty="0">
                          <a:ln>
                            <a:noFill/>
                          </a:ln>
                          <a:solidFill>
                            <a:schemeClr val="tx1"/>
                          </a:solidFill>
                          <a:effectLst/>
                          <a:uLnTx/>
                          <a:uFillTx/>
                          <a:latin typeface="+mn-lt"/>
                          <a:ea typeface="+mn-ea"/>
                          <a:cs typeface="+mn-cs"/>
                        </a:rPr>
                        <a:t>BMR Colour label printer</a:t>
                      </a:r>
                    </a:p>
                    <a:p>
                      <a:pPr marL="640080" marR="0" lvl="2" indent="-182880" algn="l" defTabSz="914400" rtl="0" eaLnBrk="1" fontAlgn="auto" latinLnBrk="0" hangingPunct="1">
                        <a:lnSpc>
                          <a:spcPct val="90000"/>
                        </a:lnSpc>
                        <a:spcBef>
                          <a:spcPts val="200"/>
                        </a:spcBef>
                        <a:spcAft>
                          <a:spcPts val="400"/>
                        </a:spcAft>
                        <a:buClr>
                          <a:srgbClr val="FFFFFF"/>
                        </a:buClr>
                        <a:buSzTx/>
                        <a:buFont typeface="Wingdings" pitchFamily="2" charset="2"/>
                        <a:buChar char=""/>
                        <a:tabLst/>
                        <a:defRPr/>
                      </a:pPr>
                      <a:r>
                        <a:rPr kumimoji="0" lang="en-GB" sz="2000" b="0" i="0" u="none" strike="noStrike" kern="1200" cap="none" spc="0" normalizeH="0" baseline="0" noProof="0" dirty="0">
                          <a:ln>
                            <a:noFill/>
                          </a:ln>
                          <a:solidFill>
                            <a:schemeClr val="tx1"/>
                          </a:solidFill>
                          <a:effectLst/>
                          <a:uLnTx/>
                          <a:uFillTx/>
                          <a:latin typeface="+mn-lt"/>
                          <a:ea typeface="+mn-ea"/>
                          <a:cs typeface="+mn-cs"/>
                        </a:rPr>
                        <a:t>Completed and in use</a:t>
                      </a:r>
                    </a:p>
                  </a:txBody>
                  <a:tcPr>
                    <a:solidFill>
                      <a:schemeClr val="bg2">
                        <a:lumMod val="60000"/>
                        <a:lumOff val="40000"/>
                      </a:schemeClr>
                    </a:solidFill>
                  </a:tcPr>
                </a:tc>
                <a:extLst>
                  <a:ext uri="{0D108BD9-81ED-4DB2-BD59-A6C34878D82A}">
                    <a16:rowId xmlns:a16="http://schemas.microsoft.com/office/drawing/2014/main" val="4274778063"/>
                  </a:ext>
                </a:extLst>
              </a:tr>
              <a:tr h="6021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sng" strike="noStrike" kern="1200" cap="none" spc="0" normalizeH="0" baseline="0" noProof="0" dirty="0">
                          <a:ln>
                            <a:noFill/>
                          </a:ln>
                          <a:effectLst/>
                          <a:uLnTx/>
                          <a:uFillTx/>
                          <a:latin typeface="+mn-lt"/>
                          <a:ea typeface="+mn-ea"/>
                          <a:cs typeface="+mn-cs"/>
                        </a:rPr>
                        <a:t>Process Validation</a:t>
                      </a:r>
                      <a:endParaRPr lang="en-GB" sz="1800" dirty="0">
                        <a:latin typeface="+mn-lt"/>
                      </a:endParaRPr>
                    </a:p>
                  </a:txBody>
                  <a:tcPr anchor="c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u="sng" dirty="0">
                          <a:solidFill>
                            <a:schemeClr val="tx1"/>
                          </a:solidFill>
                          <a:latin typeface="+mn-lt"/>
                        </a:rPr>
                        <a:t>Nothing to report</a:t>
                      </a:r>
                      <a:endParaRPr kumimoji="0" lang="en-US" sz="2400" b="0" i="0" u="sng" strike="noStrike" kern="1200" cap="none" spc="0" normalizeH="0" baseline="0" noProof="0" dirty="0">
                        <a:ln>
                          <a:noFill/>
                        </a:ln>
                        <a:solidFill>
                          <a:schemeClr val="tx1"/>
                        </a:solidFill>
                        <a:effectLst/>
                        <a:uLnTx/>
                        <a:uFillTx/>
                        <a:latin typeface="+mn-lt"/>
                        <a:ea typeface="+mn-ea"/>
                        <a:cs typeface="+mn-cs"/>
                      </a:endParaRPr>
                    </a:p>
                  </a:txBody>
                  <a:tcPr>
                    <a:solidFill>
                      <a:schemeClr val="bg2">
                        <a:lumMod val="60000"/>
                        <a:lumOff val="40000"/>
                      </a:schemeClr>
                    </a:solidFill>
                  </a:tcPr>
                </a:tc>
                <a:extLst>
                  <a:ext uri="{0D108BD9-81ED-4DB2-BD59-A6C34878D82A}">
                    <a16:rowId xmlns:a16="http://schemas.microsoft.com/office/drawing/2014/main" val="666973142"/>
                  </a:ext>
                </a:extLst>
              </a:tr>
              <a:tr h="11605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u="sng" dirty="0"/>
                        <a:t>Spreadsheet Validation</a:t>
                      </a:r>
                      <a:endParaRPr lang="en-GB" sz="1800" dirty="0"/>
                    </a:p>
                  </a:txBody>
                  <a:tcPr anchor="ctr">
                    <a:solidFill>
                      <a:schemeClr val="bg2">
                        <a:lumMod val="75000"/>
                      </a:schemeClr>
                    </a:solidFill>
                  </a:tcPr>
                </a:tc>
                <a:tc>
                  <a:txBody>
                    <a:bodyPr/>
                    <a:lstStyle/>
                    <a:p>
                      <a:pPr marL="322263" lvl="1">
                        <a:spcBef>
                          <a:spcPts val="0"/>
                        </a:spcBef>
                        <a:buClr>
                          <a:srgbClr val="FFFFFF"/>
                        </a:buClr>
                        <a:defRPr/>
                      </a:pPr>
                      <a:r>
                        <a:rPr lang="en-US" sz="2400" u="sng" dirty="0">
                          <a:solidFill>
                            <a:schemeClr val="tx1"/>
                          </a:solidFill>
                        </a:rPr>
                        <a:t>QC Spreadsheets</a:t>
                      </a:r>
                    </a:p>
                    <a:p>
                      <a:pPr marL="550863" lvl="2">
                        <a:spcBef>
                          <a:spcPts val="0"/>
                        </a:spcBef>
                        <a:buClr>
                          <a:srgbClr val="FFFFFF"/>
                        </a:buClr>
                        <a:defRPr/>
                      </a:pPr>
                      <a:r>
                        <a:rPr lang="en-GB" sz="2000" dirty="0">
                          <a:solidFill>
                            <a:schemeClr val="tx1"/>
                          </a:solidFill>
                          <a:latin typeface="+mn-lt"/>
                        </a:rPr>
                        <a:t>Validation in progress and being completed based on risk. </a:t>
                      </a:r>
                      <a:endParaRPr kumimoji="0" lang="en-GB" sz="2800" b="1" i="0" u="sng" strike="noStrike" kern="1200" cap="none" spc="0" normalizeH="0" baseline="0" noProof="0" dirty="0">
                        <a:ln>
                          <a:noFill/>
                        </a:ln>
                        <a:solidFill>
                          <a:schemeClr val="tx1"/>
                        </a:solidFill>
                        <a:effectLst/>
                        <a:uLnTx/>
                        <a:uFillTx/>
                        <a:latin typeface="+mn-lt"/>
                        <a:ea typeface="+mn-ea"/>
                        <a:cs typeface="+mn-cs"/>
                      </a:endParaRPr>
                    </a:p>
                  </a:txBody>
                  <a:tcPr>
                    <a:solidFill>
                      <a:schemeClr val="bg2">
                        <a:lumMod val="60000"/>
                        <a:lumOff val="40000"/>
                      </a:schemeClr>
                    </a:solidFill>
                  </a:tcPr>
                </a:tc>
                <a:extLst>
                  <a:ext uri="{0D108BD9-81ED-4DB2-BD59-A6C34878D82A}">
                    <a16:rowId xmlns:a16="http://schemas.microsoft.com/office/drawing/2014/main" val="565236304"/>
                  </a:ext>
                </a:extLst>
              </a:tr>
            </a:tbl>
          </a:graphicData>
        </a:graphic>
      </p:graphicFrame>
      <p:sp>
        <p:nvSpPr>
          <p:cNvPr id="2" name="Content Placeholder 2">
            <a:extLst>
              <a:ext uri="{FF2B5EF4-FFF2-40B4-BE49-F238E27FC236}">
                <a16:creationId xmlns:a16="http://schemas.microsoft.com/office/drawing/2014/main" id="{480DC034-453F-9AE8-361C-54F3C4746EB5}"/>
              </a:ext>
            </a:extLst>
          </p:cNvPr>
          <p:cNvSpPr txBox="1">
            <a:spLocks/>
          </p:cNvSpPr>
          <p:nvPr/>
        </p:nvSpPr>
        <p:spPr>
          <a:xfrm>
            <a:off x="4687208" y="385280"/>
            <a:ext cx="6891428" cy="6087438"/>
          </a:xfrm>
          <a:prstGeom prst="rect">
            <a:avLst/>
          </a:prstGeom>
        </p:spPr>
        <p:txBody>
          <a:bodyPr vert="horz" lIns="91440" tIns="45720" rIns="91440" bIns="45720" numCol="2" rtlCol="0">
            <a:noAutofit/>
          </a:bodyPr>
          <a:lst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a:lstStyle>
          <a:p>
            <a:pPr marL="182880" marR="0" lvl="0" indent="-182880" algn="l" defTabSz="914400" rtl="0" eaLnBrk="1" fontAlgn="auto" latinLnBrk="0" hangingPunct="1">
              <a:lnSpc>
                <a:spcPct val="90000"/>
              </a:lnSpc>
              <a:spcBef>
                <a:spcPts val="1200"/>
              </a:spcBef>
              <a:spcAft>
                <a:spcPts val="200"/>
              </a:spcAft>
              <a:buClr>
                <a:srgbClr val="FFFFFF"/>
              </a:buClr>
              <a:buSzTx/>
              <a:buFont typeface="Wingdings" pitchFamily="2" charset="2"/>
              <a:buChar char=""/>
              <a:tabLst/>
              <a:defRPr/>
            </a:pPr>
            <a:endParaRPr kumimoji="0" lang="en-GB" sz="2000" b="1" i="0" u="sng" strike="noStrike" kern="1200" cap="none" spc="0" normalizeH="0" baseline="0" noProof="0" dirty="0">
              <a:ln>
                <a:noFill/>
              </a:ln>
              <a:effectLst/>
              <a:uLnTx/>
              <a:uFillTx/>
              <a:latin typeface="Corbel" panose="020B0503020204020204"/>
              <a:ea typeface="+mn-ea"/>
              <a:cs typeface="+mn-cs"/>
            </a:endParaRPr>
          </a:p>
        </p:txBody>
      </p:sp>
    </p:spTree>
    <p:extLst>
      <p:ext uri="{BB962C8B-B14F-4D97-AF65-F5344CB8AC3E}">
        <p14:creationId xmlns:p14="http://schemas.microsoft.com/office/powerpoint/2010/main" val="1252660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C9DC38B-1007-D1FA-2156-DCBE7B7D2CE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ECB19B5-1612-DBA5-2C8B-83ED3D95B0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1" name="Rectangle 10">
            <a:extLst>
              <a:ext uri="{FF2B5EF4-FFF2-40B4-BE49-F238E27FC236}">
                <a16:creationId xmlns:a16="http://schemas.microsoft.com/office/drawing/2014/main" id="{22D8340A-47BA-3803-DD62-003429F01B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3" name="Rectangle 12">
            <a:extLst>
              <a:ext uri="{FF2B5EF4-FFF2-40B4-BE49-F238E27FC236}">
                <a16:creationId xmlns:a16="http://schemas.microsoft.com/office/drawing/2014/main" id="{335778C6-7E30-4EC1-A0E7-834C8F56AE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A5D028"/>
              </a:solidFill>
              <a:effectLst/>
              <a:uLnTx/>
              <a:uFillTx/>
              <a:latin typeface="Corbel" panose="020B0503020204020204"/>
              <a:ea typeface="+mn-ea"/>
              <a:cs typeface="+mn-cs"/>
            </a:endParaRPr>
          </a:p>
        </p:txBody>
      </p:sp>
      <p:sp>
        <p:nvSpPr>
          <p:cNvPr id="14" name="Rectangle 13">
            <a:extLst>
              <a:ext uri="{FF2B5EF4-FFF2-40B4-BE49-F238E27FC236}">
                <a16:creationId xmlns:a16="http://schemas.microsoft.com/office/drawing/2014/main" id="{22513670-CA3D-DB6D-FFC4-B2CBAA14BE2F}"/>
              </a:ext>
            </a:extLst>
          </p:cNvPr>
          <p:cNvSpPr/>
          <p:nvPr/>
        </p:nvSpPr>
        <p:spPr>
          <a:xfrm>
            <a:off x="-103137" y="0"/>
            <a:ext cx="915122" cy="6858002"/>
          </a:xfrm>
          <a:prstGeom prst="rect">
            <a:avLst/>
          </a:prstGeom>
          <a:noFill/>
        </p:spPr>
        <p:txBody>
          <a:bodyPr vert="wordArtVert"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w="0"/>
                <a:solidFill>
                  <a:srgbClr val="FFFFFF"/>
                </a:solidFill>
                <a:effectLst>
                  <a:outerShdw blurRad="38100" dist="38100" dir="2700000" algn="tl">
                    <a:srgbClr val="000000">
                      <a:alpha val="43137"/>
                    </a:srgbClr>
                  </a:outerShdw>
                </a:effectLst>
                <a:uLnTx/>
                <a:uFillTx/>
                <a:latin typeface="Corbel" panose="020B0503020204020204"/>
                <a:ea typeface="+mn-ea"/>
                <a:cs typeface="+mn-cs"/>
              </a:rPr>
              <a:t>AUDITS</a:t>
            </a:r>
          </a:p>
        </p:txBody>
      </p:sp>
      <p:graphicFrame>
        <p:nvGraphicFramePr>
          <p:cNvPr id="31" name="Table 30">
            <a:extLst>
              <a:ext uri="{FF2B5EF4-FFF2-40B4-BE49-F238E27FC236}">
                <a16:creationId xmlns:a16="http://schemas.microsoft.com/office/drawing/2014/main" id="{7A27BF68-8D31-1A2B-C15C-25F82D3B32CF}"/>
              </a:ext>
            </a:extLst>
          </p:cNvPr>
          <p:cNvGraphicFramePr>
            <a:graphicFrameLocks noGrp="1"/>
          </p:cNvGraphicFramePr>
          <p:nvPr>
            <p:extLst>
              <p:ext uri="{D42A27DB-BD31-4B8C-83A1-F6EECF244321}">
                <p14:modId xmlns:p14="http://schemas.microsoft.com/office/powerpoint/2010/main" val="2401039323"/>
              </p:ext>
            </p:extLst>
          </p:nvPr>
        </p:nvGraphicFramePr>
        <p:xfrm>
          <a:off x="719330" y="0"/>
          <a:ext cx="5376670" cy="6858000"/>
        </p:xfrm>
        <a:graphic>
          <a:graphicData uri="http://schemas.openxmlformats.org/drawingml/2006/table">
            <a:tbl>
              <a:tblPr firstRow="1" bandRow="1">
                <a:tableStyleId>{21E4AEA4-8DFA-4A89-87EB-49C32662AFE0}</a:tableStyleId>
              </a:tblPr>
              <a:tblGrid>
                <a:gridCol w="5376670">
                  <a:extLst>
                    <a:ext uri="{9D8B030D-6E8A-4147-A177-3AD203B41FA5}">
                      <a16:colId xmlns:a16="http://schemas.microsoft.com/office/drawing/2014/main" val="3582380697"/>
                    </a:ext>
                  </a:extLst>
                </a:gridCol>
              </a:tblGrid>
              <a:tr h="641041">
                <a:tc>
                  <a:txBody>
                    <a:bodyPr/>
                    <a:lstStyle/>
                    <a:p>
                      <a:r>
                        <a:rPr lang="en-GB" sz="3600" u="sng" dirty="0"/>
                        <a:t>Raw Materials Audit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300104444"/>
                  </a:ext>
                </a:extLst>
              </a:tr>
              <a:tr h="6216959">
                <a:tc>
                  <a:txBody>
                    <a:bodyPr/>
                    <a:lstStyle/>
                    <a:p>
                      <a:r>
                        <a:rPr lang="en-GB" sz="2400" b="1" dirty="0">
                          <a:solidFill>
                            <a:schemeClr val="tx1"/>
                          </a:solidFill>
                        </a:rPr>
                        <a:t>Inspection Findings: </a:t>
                      </a:r>
                    </a:p>
                    <a:p>
                      <a:pPr algn="l"/>
                      <a:endParaRPr lang="en-GB" sz="2400" b="1" dirty="0">
                        <a:solidFill>
                          <a:schemeClr val="tx1"/>
                        </a:solidFill>
                      </a:endParaRPr>
                    </a:p>
                    <a:p>
                      <a:pPr marL="285750" indent="-285750" algn="l">
                        <a:buFont typeface="Arial" panose="020B0604020202020204" pitchFamily="34" charset="0"/>
                        <a:buChar char="•"/>
                      </a:pPr>
                      <a:r>
                        <a:rPr lang="en-GB" sz="1800" dirty="0">
                          <a:solidFill>
                            <a:schemeClr val="tx1"/>
                          </a:solidFill>
                        </a:rPr>
                        <a:t>Raw materials are given a fixed 2-year shelf life from receipt (unless shorter is stated by the manufacturer), without documented scientific justification, stability data, or formal risk assessment covering storage, repackaging, or handling conditions.</a:t>
                      </a:r>
                    </a:p>
                    <a:p>
                      <a:pPr marL="0" indent="0" algn="l">
                        <a:buFont typeface="Arial" panose="020B0604020202020204" pitchFamily="34" charset="0"/>
                        <a:buNone/>
                      </a:pPr>
                      <a:endParaRPr lang="en-GB" sz="1800" dirty="0">
                        <a:solidFill>
                          <a:schemeClr val="tx1"/>
                        </a:solidFill>
                      </a:endParaRPr>
                    </a:p>
                    <a:p>
                      <a:pPr marL="285750" indent="-285750" algn="l">
                        <a:buFont typeface="Arial" panose="020B0604020202020204" pitchFamily="34" charset="0"/>
                        <a:buChar char="•"/>
                      </a:pPr>
                      <a:r>
                        <a:rPr lang="en-GB" sz="1800" dirty="0">
                          <a:solidFill>
                            <a:schemeClr val="tx1"/>
                          </a:solidFill>
                        </a:rPr>
                        <a:t>Higher-risk manufacturers may not receive enhanced assurance activities (e.g. audits or additional testing), reducing confidence in GMP compliance and supply chain risk control.</a:t>
                      </a:r>
                    </a:p>
                    <a:p>
                      <a:pPr marL="0" indent="0" algn="l">
                        <a:buFont typeface="Arial" panose="020B0604020202020204" pitchFamily="34" charset="0"/>
                        <a:buNone/>
                      </a:pPr>
                      <a:endParaRPr lang="en-GB" sz="1800" dirty="0">
                        <a:solidFill>
                          <a:schemeClr val="tx1"/>
                        </a:solidFill>
                      </a:endParaRPr>
                    </a:p>
                    <a:p>
                      <a:pPr marL="285750" indent="-285750" algn="l">
                        <a:buFont typeface="Arial" panose="020B0604020202020204" pitchFamily="34" charset="0"/>
                        <a:buChar char="•"/>
                      </a:pPr>
                      <a:r>
                        <a:rPr lang="en-GB" sz="1800" dirty="0">
                          <a:solidFill>
                            <a:schemeClr val="tx1"/>
                          </a:solidFill>
                        </a:rPr>
                        <a:t>Certain higher-risk excipients linked to historical DEG/EG contamination (e.g. glycerol, propylene glycol, low molecular weight PEGs) are used on site, with no documented risk assessment or enhanced supplier/incoming verification strategy in place.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2">
                        <a:lumMod val="60000"/>
                        <a:lumOff val="40000"/>
                      </a:schemeClr>
                    </a:solidFill>
                  </a:tcPr>
                </a:tc>
                <a:extLst>
                  <a:ext uri="{0D108BD9-81ED-4DB2-BD59-A6C34878D82A}">
                    <a16:rowId xmlns:a16="http://schemas.microsoft.com/office/drawing/2014/main" val="2888796486"/>
                  </a:ext>
                </a:extLst>
              </a:tr>
            </a:tbl>
          </a:graphicData>
        </a:graphic>
      </p:graphicFrame>
      <p:graphicFrame>
        <p:nvGraphicFramePr>
          <p:cNvPr id="3" name="Table 2">
            <a:extLst>
              <a:ext uri="{FF2B5EF4-FFF2-40B4-BE49-F238E27FC236}">
                <a16:creationId xmlns:a16="http://schemas.microsoft.com/office/drawing/2014/main" id="{C5594EA6-8FA0-28F0-7418-F8A9A7258104}"/>
              </a:ext>
            </a:extLst>
          </p:cNvPr>
          <p:cNvGraphicFramePr>
            <a:graphicFrameLocks noGrp="1"/>
          </p:cNvGraphicFramePr>
          <p:nvPr>
            <p:extLst>
              <p:ext uri="{D42A27DB-BD31-4B8C-83A1-F6EECF244321}">
                <p14:modId xmlns:p14="http://schemas.microsoft.com/office/powerpoint/2010/main" val="1177210280"/>
              </p:ext>
            </p:extLst>
          </p:nvPr>
        </p:nvGraphicFramePr>
        <p:xfrm>
          <a:off x="6096000" y="0"/>
          <a:ext cx="6095988" cy="6858000"/>
        </p:xfrm>
        <a:graphic>
          <a:graphicData uri="http://schemas.openxmlformats.org/drawingml/2006/table">
            <a:tbl>
              <a:tblPr firstRow="1" bandRow="1">
                <a:tableStyleId>{21E4AEA4-8DFA-4A89-87EB-49C32662AFE0}</a:tableStyleId>
              </a:tblPr>
              <a:tblGrid>
                <a:gridCol w="6095988">
                  <a:extLst>
                    <a:ext uri="{9D8B030D-6E8A-4147-A177-3AD203B41FA5}">
                      <a16:colId xmlns:a16="http://schemas.microsoft.com/office/drawing/2014/main" val="3582380697"/>
                    </a:ext>
                  </a:extLst>
                </a:gridCol>
              </a:tblGrid>
              <a:tr h="644984">
                <a:tc>
                  <a:txBody>
                    <a:bodyPr/>
                    <a:lstStyle/>
                    <a:p>
                      <a:r>
                        <a:rPr lang="en-GB" sz="3600" u="sng" dirty="0"/>
                        <a:t>Supplier Qualification Audit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300104444"/>
                  </a:ext>
                </a:extLst>
              </a:tr>
              <a:tr h="62130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dirty="0">
                          <a:solidFill>
                            <a:schemeClr val="tx1"/>
                          </a:solidFill>
                        </a:rPr>
                        <a:t>Inspection Findings: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400" b="1" dirty="0">
                        <a:solidFill>
                          <a:schemeClr val="tx1"/>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800" kern="1200" dirty="0">
                          <a:solidFill>
                            <a:schemeClr val="tx1"/>
                          </a:solidFill>
                          <a:effectLst/>
                          <a:latin typeface="+mn-lt"/>
                          <a:ea typeface="+mn-ea"/>
                          <a:cs typeface="+mn-cs"/>
                        </a:rPr>
                        <a:t>Manufacturer qualification and supply chain assurance require strengthening. Qualification activities focus on distributors/wholesalers rather than the actual manufacturing sites.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800" kern="1200" dirty="0">
                        <a:solidFill>
                          <a:schemeClr val="tx1"/>
                        </a:solidFill>
                        <a:effectLst/>
                        <a:latin typeface="+mn-l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800" kern="1200" dirty="0">
                          <a:solidFill>
                            <a:schemeClr val="tx1"/>
                          </a:solidFill>
                          <a:effectLst/>
                          <a:latin typeface="+mn-lt"/>
                          <a:ea typeface="+mn-ea"/>
                          <a:cs typeface="+mn-cs"/>
                        </a:rPr>
                        <a:t>Suppliers operating outside the UK/EEA are identified as higher risk; however, additional qualification activities, equivalence assessments and enhanced controls are not clearly defined or consistently applied.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800" kern="1200" dirty="0">
                        <a:solidFill>
                          <a:schemeClr val="tx1"/>
                        </a:solidFill>
                        <a:effectLst/>
                        <a:latin typeface="+mn-l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800" kern="1200" dirty="0">
                          <a:solidFill>
                            <a:schemeClr val="tx1"/>
                          </a:solidFill>
                          <a:effectLst/>
                          <a:latin typeface="+mn-lt"/>
                          <a:ea typeface="+mn-ea"/>
                          <a:cs typeface="+mn-cs"/>
                        </a:rPr>
                        <a:t>Supplier requalification frequency does not align with the current SOP. SOP 011 requires annual reassessment; however, suppliers are currently reassessed every two years.</a:t>
                      </a:r>
                      <a:endParaRPr lang="en-GB" sz="1800"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2">
                        <a:lumMod val="60000"/>
                        <a:lumOff val="40000"/>
                      </a:schemeClr>
                    </a:solidFill>
                  </a:tcPr>
                </a:tc>
                <a:extLst>
                  <a:ext uri="{0D108BD9-81ED-4DB2-BD59-A6C34878D82A}">
                    <a16:rowId xmlns:a16="http://schemas.microsoft.com/office/drawing/2014/main" val="2888796486"/>
                  </a:ext>
                </a:extLst>
              </a:tr>
            </a:tbl>
          </a:graphicData>
        </a:graphic>
      </p:graphicFrame>
    </p:spTree>
    <p:extLst>
      <p:ext uri="{BB962C8B-B14F-4D97-AF65-F5344CB8AC3E}">
        <p14:creationId xmlns:p14="http://schemas.microsoft.com/office/powerpoint/2010/main" val="1102264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9201968-A024-5CD4-C58B-EE902B597BB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43577BB-4F74-3678-0CD2-AB06B6186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1" name="Rectangle 10">
            <a:extLst>
              <a:ext uri="{FF2B5EF4-FFF2-40B4-BE49-F238E27FC236}">
                <a16:creationId xmlns:a16="http://schemas.microsoft.com/office/drawing/2014/main" id="{7D09B9AD-FC01-1EE5-7B42-B1B4CC45B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3" name="Rectangle 12">
            <a:extLst>
              <a:ext uri="{FF2B5EF4-FFF2-40B4-BE49-F238E27FC236}">
                <a16:creationId xmlns:a16="http://schemas.microsoft.com/office/drawing/2014/main" id="{2A9F7672-7EE4-279D-7B48-C72AC23F29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329"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A5D028"/>
              </a:solidFill>
              <a:effectLst/>
              <a:uLnTx/>
              <a:uFillTx/>
              <a:latin typeface="Corbel" panose="020B0503020204020204"/>
              <a:ea typeface="+mn-ea"/>
              <a:cs typeface="+mn-cs"/>
            </a:endParaRPr>
          </a:p>
        </p:txBody>
      </p:sp>
      <p:sp>
        <p:nvSpPr>
          <p:cNvPr id="14" name="Rectangle 13">
            <a:extLst>
              <a:ext uri="{FF2B5EF4-FFF2-40B4-BE49-F238E27FC236}">
                <a16:creationId xmlns:a16="http://schemas.microsoft.com/office/drawing/2014/main" id="{B8E0D87A-9502-4E96-A747-AE9645A93E2A}"/>
              </a:ext>
            </a:extLst>
          </p:cNvPr>
          <p:cNvSpPr/>
          <p:nvPr/>
        </p:nvSpPr>
        <p:spPr>
          <a:xfrm>
            <a:off x="79743" y="0"/>
            <a:ext cx="549894" cy="6858002"/>
          </a:xfrm>
          <a:prstGeom prst="rect">
            <a:avLst/>
          </a:prstGeom>
          <a:noFill/>
        </p:spPr>
        <p:txBody>
          <a:bodyPr vert="wordArtVert"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w="0"/>
                <a:solidFill>
                  <a:srgbClr val="FFFFFF"/>
                </a:solidFill>
                <a:effectLst>
                  <a:outerShdw blurRad="38100" dist="38100" dir="2700000" algn="tl">
                    <a:srgbClr val="000000">
                      <a:alpha val="43137"/>
                    </a:srgbClr>
                  </a:outerShdw>
                </a:effectLst>
                <a:uLnTx/>
                <a:uFillTx/>
                <a:latin typeface="Corbel" panose="020B0503020204020204"/>
                <a:ea typeface="+mn-ea"/>
                <a:cs typeface="+mn-cs"/>
              </a:rPr>
              <a:t>REGULATORY CHANGES</a:t>
            </a:r>
          </a:p>
        </p:txBody>
      </p:sp>
      <p:graphicFrame>
        <p:nvGraphicFramePr>
          <p:cNvPr id="31" name="Table 30">
            <a:extLst>
              <a:ext uri="{FF2B5EF4-FFF2-40B4-BE49-F238E27FC236}">
                <a16:creationId xmlns:a16="http://schemas.microsoft.com/office/drawing/2014/main" id="{F95D46FC-3E0F-BE17-0762-47B3413D7AA5}"/>
              </a:ext>
            </a:extLst>
          </p:cNvPr>
          <p:cNvGraphicFramePr>
            <a:graphicFrameLocks noGrp="1"/>
          </p:cNvGraphicFramePr>
          <p:nvPr>
            <p:extLst>
              <p:ext uri="{D42A27DB-BD31-4B8C-83A1-F6EECF244321}">
                <p14:modId xmlns:p14="http://schemas.microsoft.com/office/powerpoint/2010/main" val="1472688841"/>
              </p:ext>
            </p:extLst>
          </p:nvPr>
        </p:nvGraphicFramePr>
        <p:xfrm>
          <a:off x="719330" y="0"/>
          <a:ext cx="5376670" cy="6858000"/>
        </p:xfrm>
        <a:graphic>
          <a:graphicData uri="http://schemas.openxmlformats.org/drawingml/2006/table">
            <a:tbl>
              <a:tblPr firstRow="1" bandRow="1">
                <a:tableStyleId>{21E4AEA4-8DFA-4A89-87EB-49C32662AFE0}</a:tableStyleId>
              </a:tblPr>
              <a:tblGrid>
                <a:gridCol w="5376670">
                  <a:extLst>
                    <a:ext uri="{9D8B030D-6E8A-4147-A177-3AD203B41FA5}">
                      <a16:colId xmlns:a16="http://schemas.microsoft.com/office/drawing/2014/main" val="3582380697"/>
                    </a:ext>
                  </a:extLst>
                </a:gridCol>
              </a:tblGrid>
              <a:tr h="641041">
                <a:tc>
                  <a:txBody>
                    <a:bodyPr/>
                    <a:lstStyle/>
                    <a:p>
                      <a:r>
                        <a:rPr lang="en-GB" sz="3600" u="sng" dirty="0"/>
                        <a:t>Recall Guidance Update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300104444"/>
                  </a:ext>
                </a:extLst>
              </a:tr>
              <a:tr h="6216959">
                <a:tc>
                  <a:txBody>
                    <a:bodyPr/>
                    <a:lstStyle/>
                    <a:p>
                      <a:r>
                        <a:rPr lang="en-GB" sz="1800" b="1" dirty="0">
                          <a:solidFill>
                            <a:schemeClr val="tx1"/>
                          </a:solidFill>
                        </a:rPr>
                        <a:t>The updated guide to defective medicinal products was published by MHRA on the 16</a:t>
                      </a:r>
                      <a:r>
                        <a:rPr lang="en-GB" sz="1800" b="1" baseline="30000" dirty="0">
                          <a:solidFill>
                            <a:schemeClr val="tx1"/>
                          </a:solidFill>
                        </a:rPr>
                        <a:t>th</a:t>
                      </a:r>
                      <a:r>
                        <a:rPr lang="en-GB" sz="1800" b="1" dirty="0">
                          <a:solidFill>
                            <a:schemeClr val="tx1"/>
                          </a:solidFill>
                        </a:rPr>
                        <a:t> February 2026.</a:t>
                      </a:r>
                    </a:p>
                    <a:p>
                      <a:endParaRPr lang="en-GB" sz="1800" b="1" dirty="0">
                        <a:solidFill>
                          <a:schemeClr val="tx1"/>
                        </a:solidFill>
                      </a:endParaRPr>
                    </a:p>
                    <a:p>
                      <a:r>
                        <a:rPr lang="en-GB" sz="1800" b="1" dirty="0">
                          <a:solidFill>
                            <a:schemeClr val="tx1"/>
                          </a:solidFill>
                        </a:rPr>
                        <a:t>The following are the relevant updates that will be integrated into our procedures: </a:t>
                      </a:r>
                    </a:p>
                    <a:p>
                      <a:pPr algn="l"/>
                      <a:endParaRPr lang="en-GB" sz="2400" b="1" dirty="0">
                        <a:solidFill>
                          <a:schemeClr val="tx1"/>
                        </a:solidFill>
                      </a:endParaRPr>
                    </a:p>
                    <a:p>
                      <a:pPr marL="285750" indent="-285750" algn="l">
                        <a:buFont typeface="Arial" panose="020B0604020202020204" pitchFamily="34" charset="0"/>
                        <a:buChar char="•"/>
                      </a:pPr>
                      <a:r>
                        <a:rPr lang="en-GB" sz="1800" kern="1200" dirty="0">
                          <a:solidFill>
                            <a:schemeClr val="tx1"/>
                          </a:solidFill>
                          <a:effectLst/>
                          <a:latin typeface="+mn-lt"/>
                          <a:ea typeface="+mn-ea"/>
                          <a:cs typeface="+mn-cs"/>
                        </a:rPr>
                        <a:t>Contact details specified between normal working hours and out of hours. </a:t>
                      </a:r>
                    </a:p>
                    <a:p>
                      <a:pPr marL="285750" indent="-285750" algn="l">
                        <a:buFont typeface="Arial" panose="020B0604020202020204" pitchFamily="34" charset="0"/>
                        <a:buChar char="•"/>
                      </a:pPr>
                      <a:r>
                        <a:rPr lang="en-GB" sz="1800" kern="1200" dirty="0">
                          <a:solidFill>
                            <a:schemeClr val="tx1"/>
                          </a:solidFill>
                          <a:effectLst/>
                          <a:latin typeface="+mn-lt"/>
                          <a:ea typeface="+mn-ea"/>
                          <a:cs typeface="+mn-cs"/>
                        </a:rPr>
                        <a:t>Initial impact assessments now expected to include proposed market action/containment (</a:t>
                      </a:r>
                      <a:r>
                        <a:rPr lang="en-GB" dirty="0">
                          <a:solidFill>
                            <a:schemeClr val="tx1"/>
                          </a:solidFill>
                        </a:rPr>
                        <a:t>recall, quarantine or other mitigating containment actions)</a:t>
                      </a:r>
                      <a:endParaRPr lang="en-GB" sz="1800" kern="1200" dirty="0">
                        <a:solidFill>
                          <a:schemeClr val="tx1"/>
                        </a:solidFill>
                        <a:effectLst/>
                        <a:latin typeface="+mn-l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800" kern="1200" dirty="0">
                          <a:solidFill>
                            <a:schemeClr val="tx1"/>
                          </a:solidFill>
                          <a:effectLst/>
                          <a:latin typeface="+mn-lt"/>
                          <a:ea typeface="+mn-ea"/>
                          <a:cs typeface="+mn-cs"/>
                        </a:rPr>
                        <a:t>Guidance now stipulates that all </a:t>
                      </a:r>
                      <a:r>
                        <a:rPr lang="en-GB" dirty="0">
                          <a:solidFill>
                            <a:schemeClr val="tx1"/>
                          </a:solidFill>
                        </a:rPr>
                        <a:t>Class 1 Medicines Recalls, will be issued as National Patient Safety Alerts. </a:t>
                      </a:r>
                      <a:endParaRPr lang="en-GB" sz="1800" kern="1200" dirty="0">
                        <a:solidFill>
                          <a:schemeClr val="tx1"/>
                        </a:solidFill>
                        <a:effectLst/>
                        <a:latin typeface="+mn-lt"/>
                        <a:ea typeface="+mn-ea"/>
                        <a:cs typeface="+mn-cs"/>
                      </a:endParaRPr>
                    </a:p>
                    <a:p>
                      <a:pPr marL="285750" indent="-285750" algn="l">
                        <a:buFont typeface="Arial" panose="020B0604020202020204" pitchFamily="34" charset="0"/>
                        <a:buChar char="•"/>
                      </a:pPr>
                      <a:endParaRPr lang="en-GB" sz="1800" kern="1200" dirty="0">
                        <a:solidFill>
                          <a:schemeClr val="tx1"/>
                        </a:solidFill>
                        <a:effectLst/>
                        <a:latin typeface="+mn-lt"/>
                        <a:ea typeface="+mn-ea"/>
                        <a:cs typeface="+mn-c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2">
                        <a:lumMod val="60000"/>
                        <a:lumOff val="40000"/>
                      </a:schemeClr>
                    </a:solidFill>
                  </a:tcPr>
                </a:tc>
                <a:extLst>
                  <a:ext uri="{0D108BD9-81ED-4DB2-BD59-A6C34878D82A}">
                    <a16:rowId xmlns:a16="http://schemas.microsoft.com/office/drawing/2014/main" val="2888796486"/>
                  </a:ext>
                </a:extLst>
              </a:tr>
            </a:tbl>
          </a:graphicData>
        </a:graphic>
      </p:graphicFrame>
      <p:graphicFrame>
        <p:nvGraphicFramePr>
          <p:cNvPr id="3" name="Table 2">
            <a:extLst>
              <a:ext uri="{FF2B5EF4-FFF2-40B4-BE49-F238E27FC236}">
                <a16:creationId xmlns:a16="http://schemas.microsoft.com/office/drawing/2014/main" id="{00973091-002E-B3CD-406C-9ED48F38FEFB}"/>
              </a:ext>
            </a:extLst>
          </p:cNvPr>
          <p:cNvGraphicFramePr>
            <a:graphicFrameLocks noGrp="1"/>
          </p:cNvGraphicFramePr>
          <p:nvPr>
            <p:extLst>
              <p:ext uri="{D42A27DB-BD31-4B8C-83A1-F6EECF244321}">
                <p14:modId xmlns:p14="http://schemas.microsoft.com/office/powerpoint/2010/main" val="147626593"/>
              </p:ext>
            </p:extLst>
          </p:nvPr>
        </p:nvGraphicFramePr>
        <p:xfrm>
          <a:off x="6096000" y="0"/>
          <a:ext cx="6095988" cy="6858000"/>
        </p:xfrm>
        <a:graphic>
          <a:graphicData uri="http://schemas.openxmlformats.org/drawingml/2006/table">
            <a:tbl>
              <a:tblPr firstRow="1" bandRow="1">
                <a:tableStyleId>{21E4AEA4-8DFA-4A89-87EB-49C32662AFE0}</a:tableStyleId>
              </a:tblPr>
              <a:tblGrid>
                <a:gridCol w="6095988">
                  <a:extLst>
                    <a:ext uri="{9D8B030D-6E8A-4147-A177-3AD203B41FA5}">
                      <a16:colId xmlns:a16="http://schemas.microsoft.com/office/drawing/2014/main" val="3582380697"/>
                    </a:ext>
                  </a:extLst>
                </a:gridCol>
              </a:tblGrid>
              <a:tr h="644984">
                <a:tc>
                  <a:txBody>
                    <a:bodyPr/>
                    <a:lstStyle/>
                    <a:p>
                      <a:r>
                        <a:rPr lang="en-GB" sz="3600" u="sng" dirty="0"/>
                        <a:t>APSM Q1</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300104444"/>
                  </a:ext>
                </a:extLst>
              </a:tr>
              <a:tr h="6213016">
                <a:tc>
                  <a:txBody>
                    <a:bodyPr/>
                    <a:lstStyle/>
                    <a:p>
                      <a:r>
                        <a:rPr lang="en-GB" sz="2400" b="1" dirty="0">
                          <a:solidFill>
                            <a:schemeClr val="tx1"/>
                          </a:solidFill>
                        </a:rPr>
                        <a:t>APSM – Key Points (25</a:t>
                      </a:r>
                      <a:r>
                        <a:rPr lang="en-GB" sz="2400" b="1" baseline="30000" dirty="0">
                          <a:solidFill>
                            <a:schemeClr val="tx1"/>
                          </a:solidFill>
                        </a:rPr>
                        <a:t>th</a:t>
                      </a:r>
                      <a:r>
                        <a:rPr lang="en-GB" sz="2400" b="1" dirty="0">
                          <a:solidFill>
                            <a:schemeClr val="tx1"/>
                          </a:solidFill>
                        </a:rPr>
                        <a:t> February 2026)</a:t>
                      </a:r>
                    </a:p>
                    <a:p>
                      <a:endParaRPr lang="en-GB" sz="2400" b="1" dirty="0">
                        <a:solidFill>
                          <a:schemeClr val="tx1"/>
                        </a:solidFill>
                      </a:endParaRPr>
                    </a:p>
                    <a:p>
                      <a:pPr marL="285750" indent="-285750">
                        <a:buFont typeface="Arial" panose="020B0604020202020204" pitchFamily="34" charset="0"/>
                        <a:buChar char="•"/>
                      </a:pPr>
                      <a:r>
                        <a:rPr lang="en-GB" sz="1800" b="1" dirty="0">
                          <a:solidFill>
                            <a:schemeClr val="tx1"/>
                          </a:solidFill>
                        </a:rPr>
                        <a:t>Home Office CD licensing: </a:t>
                      </a:r>
                      <a:r>
                        <a:rPr lang="en-GB" sz="1800" dirty="0">
                          <a:solidFill>
                            <a:schemeClr val="tx1"/>
                          </a:solidFill>
                        </a:rPr>
                        <a:t>The Home Office has recruited more licensing staff and is considering improved applicant updates. The Home Office identified maintaining valid DBS clearance throughout the application process as a major cause of licensing delays.</a:t>
                      </a:r>
                    </a:p>
                    <a:p>
                      <a:pPr marL="0" indent="0">
                        <a:buFont typeface="Arial" panose="020B0604020202020204" pitchFamily="34" charset="0"/>
                        <a:buNone/>
                      </a:pPr>
                      <a:endParaRPr lang="en-GB" sz="1800" dirty="0">
                        <a:solidFill>
                          <a:schemeClr val="tx1"/>
                        </a:solidFill>
                      </a:endParaRPr>
                    </a:p>
                    <a:p>
                      <a:pPr marL="285750" indent="-285750">
                        <a:buFont typeface="Arial" panose="020B0604020202020204" pitchFamily="34" charset="0"/>
                        <a:buChar char="•"/>
                      </a:pPr>
                      <a:r>
                        <a:rPr lang="en-GB" sz="1800" b="1" dirty="0">
                          <a:solidFill>
                            <a:schemeClr val="tx1"/>
                          </a:solidFill>
                        </a:rPr>
                        <a:t>CBPM policy: </a:t>
                      </a:r>
                      <a:r>
                        <a:rPr lang="en-GB" sz="1800" dirty="0">
                          <a:solidFill>
                            <a:schemeClr val="tx1"/>
                          </a:solidFill>
                        </a:rPr>
                        <a:t>APSM raised the need for clearer MHRA policy and guidance for cannabis-based medicinal products.</a:t>
                      </a:r>
                    </a:p>
                    <a:p>
                      <a:pPr marL="0" indent="0">
                        <a:buFont typeface="Arial" panose="020B0604020202020204" pitchFamily="34" charset="0"/>
                        <a:buNone/>
                      </a:pPr>
                      <a:r>
                        <a:rPr lang="en-GB" sz="1800" dirty="0">
                          <a:solidFill>
                            <a:schemeClr val="tx1"/>
                          </a:solidFill>
                        </a:rPr>
                        <a:t> </a:t>
                      </a:r>
                    </a:p>
                    <a:p>
                      <a:pPr marL="285750" indent="-285750">
                        <a:buFont typeface="Arial" panose="020B0604020202020204" pitchFamily="34" charset="0"/>
                        <a:buChar char="•"/>
                      </a:pPr>
                      <a:r>
                        <a:rPr lang="en-GB" sz="1800" b="1" dirty="0">
                          <a:solidFill>
                            <a:schemeClr val="tx1"/>
                          </a:solidFill>
                        </a:rPr>
                        <a:t>MHRA engagement:</a:t>
                      </a:r>
                      <a:r>
                        <a:rPr lang="en-GB" sz="1800" dirty="0">
                          <a:solidFill>
                            <a:schemeClr val="tx1"/>
                          </a:solidFill>
                        </a:rPr>
                        <a:t> APSM can submit agenda items to raise practical issues affecting CBPMs, Schedule 1 imports, specials manufacturing or regulatory guidance for the June 2026 MHRA Partnership Group meeting.</a:t>
                      </a:r>
                      <a:endParaRPr lang="en-GB" sz="1800" b="1"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2">
                        <a:lumMod val="60000"/>
                        <a:lumOff val="40000"/>
                      </a:schemeClr>
                    </a:solidFill>
                  </a:tcPr>
                </a:tc>
                <a:extLst>
                  <a:ext uri="{0D108BD9-81ED-4DB2-BD59-A6C34878D82A}">
                    <a16:rowId xmlns:a16="http://schemas.microsoft.com/office/drawing/2014/main" val="2888796486"/>
                  </a:ext>
                </a:extLst>
              </a:tr>
            </a:tbl>
          </a:graphicData>
        </a:graphic>
      </p:graphicFrame>
    </p:spTree>
    <p:extLst>
      <p:ext uri="{BB962C8B-B14F-4D97-AF65-F5344CB8AC3E}">
        <p14:creationId xmlns:p14="http://schemas.microsoft.com/office/powerpoint/2010/main" val="36698918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B5C51-5CA2-E9E6-B2F3-51DB7FA893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458E3-5106-53D1-0E9A-DC55C9D30424}"/>
              </a:ext>
            </a:extLst>
          </p:cNvPr>
          <p:cNvSpPr>
            <a:spLocks noGrp="1"/>
          </p:cNvSpPr>
          <p:nvPr>
            <p:ph type="title"/>
          </p:nvPr>
        </p:nvSpPr>
        <p:spPr/>
        <p:txBody>
          <a:bodyPr/>
          <a:lstStyle/>
          <a:p>
            <a:r>
              <a:rPr lang="en-US" dirty="0"/>
              <a:t>CBPM updates JAN – MAR 26</a:t>
            </a:r>
            <a:endParaRPr lang="en-GB" dirty="0"/>
          </a:p>
        </p:txBody>
      </p:sp>
      <p:sp>
        <p:nvSpPr>
          <p:cNvPr id="3" name="Content Placeholder 2">
            <a:extLst>
              <a:ext uri="{FF2B5EF4-FFF2-40B4-BE49-F238E27FC236}">
                <a16:creationId xmlns:a16="http://schemas.microsoft.com/office/drawing/2014/main" id="{57DAEDAE-382A-4430-B62F-C4C66AC423F8}"/>
              </a:ext>
            </a:extLst>
          </p:cNvPr>
          <p:cNvSpPr>
            <a:spLocks noGrp="1"/>
          </p:cNvSpPr>
          <p:nvPr>
            <p:ph idx="1"/>
          </p:nvPr>
        </p:nvSpPr>
        <p:spPr>
          <a:xfrm>
            <a:off x="546755" y="1880423"/>
            <a:ext cx="11381541" cy="4977577"/>
          </a:xfrm>
        </p:spPr>
        <p:txBody>
          <a:bodyPr>
            <a:normAutofit/>
          </a:bodyPr>
          <a:lstStyle/>
          <a:p>
            <a:pPr marL="0" indent="0">
              <a:buNone/>
            </a:pPr>
            <a:r>
              <a:rPr lang="en-GB" sz="3600" b="1" dirty="0"/>
              <a:t>10 February 2026:</a:t>
            </a:r>
            <a:r>
              <a:rPr lang="en-GB" sz="3600" dirty="0"/>
              <a:t> Home Office Schedule 1 licence variation application submitted. </a:t>
            </a:r>
          </a:p>
          <a:p>
            <a:pPr marL="0" indent="0">
              <a:buNone/>
            </a:pPr>
            <a:r>
              <a:rPr lang="en-GB" sz="3600" b="1" dirty="0"/>
              <a:t>17 March 2026:</a:t>
            </a:r>
            <a:r>
              <a:rPr lang="en-GB" sz="3600" dirty="0"/>
              <a:t> Home Office compliance visit completed successfully. The application is progressing positively, with licence approval expected. Focus is now moving towards MHRA inspection readiness. </a:t>
            </a:r>
          </a:p>
          <a:p>
            <a:pPr marL="0" indent="0">
              <a:buNone/>
            </a:pPr>
            <a:r>
              <a:rPr lang="en-GB" sz="3600" dirty="0"/>
              <a:t>Attendance booked for the </a:t>
            </a:r>
            <a:r>
              <a:rPr lang="en-GB" sz="3600" b="1" dirty="0"/>
              <a:t>Cannabis Europa Conference on 26–27 May 2026</a:t>
            </a:r>
            <a:r>
              <a:rPr lang="en-GB" sz="3600" dirty="0"/>
              <a:t>.</a:t>
            </a:r>
            <a:endParaRPr lang="en-GB" sz="3600" b="1" dirty="0"/>
          </a:p>
          <a:p>
            <a:endParaRPr lang="en-GB" sz="3600" dirty="0"/>
          </a:p>
          <a:p>
            <a:endParaRPr lang="en-GB" sz="3600" dirty="0"/>
          </a:p>
        </p:txBody>
      </p:sp>
    </p:spTree>
    <p:extLst>
      <p:ext uri="{BB962C8B-B14F-4D97-AF65-F5344CB8AC3E}">
        <p14:creationId xmlns:p14="http://schemas.microsoft.com/office/powerpoint/2010/main" val="1228042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4" name="Title 12">
            <a:extLst>
              <a:ext uri="{FF2B5EF4-FFF2-40B4-BE49-F238E27FC236}">
                <a16:creationId xmlns:a16="http://schemas.microsoft.com/office/drawing/2014/main" id="{575BD64C-CC67-E582-283A-ABE07069C203}"/>
              </a:ext>
            </a:extLst>
          </p:cNvPr>
          <p:cNvSpPr>
            <a:spLocks noGrp="1"/>
          </p:cNvSpPr>
          <p:nvPr>
            <p:ph type="title"/>
          </p:nvPr>
        </p:nvSpPr>
        <p:spPr>
          <a:xfrm>
            <a:off x="1783797" y="9824"/>
            <a:ext cx="8624405" cy="621547"/>
          </a:xfrm>
        </p:spPr>
        <p:txBody>
          <a:bodyPr>
            <a:normAutofit fontScale="90000"/>
          </a:bodyPr>
          <a:lstStyle/>
          <a:p>
            <a:pPr algn="ctr"/>
            <a:r>
              <a:rPr lang="en-GB" b="1" dirty="0"/>
              <a:t>Production Capacity Utilisation</a:t>
            </a:r>
            <a:endParaRPr lang="en-GB" b="1" dirty="0">
              <a:solidFill>
                <a:schemeClr val="bg1"/>
              </a:solidFill>
            </a:endParaRPr>
          </a:p>
        </p:txBody>
      </p:sp>
      <p:graphicFrame>
        <p:nvGraphicFramePr>
          <p:cNvPr id="2" name="Table 1">
            <a:extLst>
              <a:ext uri="{FF2B5EF4-FFF2-40B4-BE49-F238E27FC236}">
                <a16:creationId xmlns:a16="http://schemas.microsoft.com/office/drawing/2014/main" id="{B453E15E-60DA-FA20-8D3E-8CBC5176C336}"/>
              </a:ext>
            </a:extLst>
          </p:cNvPr>
          <p:cNvGraphicFramePr>
            <a:graphicFrameLocks noGrp="1"/>
          </p:cNvGraphicFramePr>
          <p:nvPr>
            <p:extLst>
              <p:ext uri="{D42A27DB-BD31-4B8C-83A1-F6EECF244321}">
                <p14:modId xmlns:p14="http://schemas.microsoft.com/office/powerpoint/2010/main" val="3396303596"/>
              </p:ext>
            </p:extLst>
          </p:nvPr>
        </p:nvGraphicFramePr>
        <p:xfrm>
          <a:off x="0" y="631371"/>
          <a:ext cx="7152312" cy="6216806"/>
        </p:xfrm>
        <a:graphic>
          <a:graphicData uri="http://schemas.openxmlformats.org/drawingml/2006/table">
            <a:tbl>
              <a:tblPr/>
              <a:tblGrid>
                <a:gridCol w="646597">
                  <a:extLst>
                    <a:ext uri="{9D8B030D-6E8A-4147-A177-3AD203B41FA5}">
                      <a16:colId xmlns:a16="http://schemas.microsoft.com/office/drawing/2014/main" val="1589704651"/>
                    </a:ext>
                  </a:extLst>
                </a:gridCol>
                <a:gridCol w="802836">
                  <a:extLst>
                    <a:ext uri="{9D8B030D-6E8A-4147-A177-3AD203B41FA5}">
                      <a16:colId xmlns:a16="http://schemas.microsoft.com/office/drawing/2014/main" val="341005101"/>
                    </a:ext>
                  </a:extLst>
                </a:gridCol>
                <a:gridCol w="988967">
                  <a:extLst>
                    <a:ext uri="{9D8B030D-6E8A-4147-A177-3AD203B41FA5}">
                      <a16:colId xmlns:a16="http://schemas.microsoft.com/office/drawing/2014/main" val="3064704838"/>
                    </a:ext>
                  </a:extLst>
                </a:gridCol>
                <a:gridCol w="668187">
                  <a:extLst>
                    <a:ext uri="{9D8B030D-6E8A-4147-A177-3AD203B41FA5}">
                      <a16:colId xmlns:a16="http://schemas.microsoft.com/office/drawing/2014/main" val="1618546568"/>
                    </a:ext>
                  </a:extLst>
                </a:gridCol>
                <a:gridCol w="747083">
                  <a:extLst>
                    <a:ext uri="{9D8B030D-6E8A-4147-A177-3AD203B41FA5}">
                      <a16:colId xmlns:a16="http://schemas.microsoft.com/office/drawing/2014/main" val="3573258112"/>
                    </a:ext>
                  </a:extLst>
                </a:gridCol>
                <a:gridCol w="892041">
                  <a:extLst>
                    <a:ext uri="{9D8B030D-6E8A-4147-A177-3AD203B41FA5}">
                      <a16:colId xmlns:a16="http://schemas.microsoft.com/office/drawing/2014/main" val="3349625530"/>
                    </a:ext>
                  </a:extLst>
                </a:gridCol>
                <a:gridCol w="700572">
                  <a:extLst>
                    <a:ext uri="{9D8B030D-6E8A-4147-A177-3AD203B41FA5}">
                      <a16:colId xmlns:a16="http://schemas.microsoft.com/office/drawing/2014/main" val="989022044"/>
                    </a:ext>
                  </a:extLst>
                </a:gridCol>
                <a:gridCol w="802836">
                  <a:extLst>
                    <a:ext uri="{9D8B030D-6E8A-4147-A177-3AD203B41FA5}">
                      <a16:colId xmlns:a16="http://schemas.microsoft.com/office/drawing/2014/main" val="1485070168"/>
                    </a:ext>
                  </a:extLst>
                </a:gridCol>
                <a:gridCol w="903193">
                  <a:extLst>
                    <a:ext uri="{9D8B030D-6E8A-4147-A177-3AD203B41FA5}">
                      <a16:colId xmlns:a16="http://schemas.microsoft.com/office/drawing/2014/main" val="1030261216"/>
                    </a:ext>
                  </a:extLst>
                </a:gridCol>
              </a:tblGrid>
              <a:tr h="207735">
                <a:tc gridSpan="3">
                  <a:txBody>
                    <a:bodyPr/>
                    <a:lstStyle/>
                    <a:p>
                      <a:pPr algn="ctr" fontAlgn="b">
                        <a:buNone/>
                      </a:pPr>
                      <a:r>
                        <a:rPr lang="en-GB" sz="1200" b="1" i="0" u="none" strike="noStrike" dirty="0">
                          <a:solidFill>
                            <a:srgbClr val="000000"/>
                          </a:solidFill>
                          <a:effectLst/>
                          <a:latin typeface="Calibri" panose="020F0502020204030204" pitchFamily="34" charset="0"/>
                        </a:rPr>
                        <a:t>January</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5911"/>
                    </a:solidFill>
                  </a:tcPr>
                </a:tc>
                <a:tc hMerge="1">
                  <a:txBody>
                    <a:bodyPr/>
                    <a:lstStyle/>
                    <a:p>
                      <a:endParaRPr lang="en-GB"/>
                    </a:p>
                  </a:txBody>
                  <a:tcPr/>
                </a:tc>
                <a:tc hMerge="1">
                  <a:txBody>
                    <a:bodyPr/>
                    <a:lstStyle/>
                    <a:p>
                      <a:endParaRPr lang="en-GB"/>
                    </a:p>
                  </a:txBody>
                  <a:tcPr/>
                </a:tc>
                <a:tc gridSpan="3">
                  <a:txBody>
                    <a:bodyPr/>
                    <a:lstStyle/>
                    <a:p>
                      <a:pPr algn="ctr" fontAlgn="b">
                        <a:buNone/>
                      </a:pPr>
                      <a:r>
                        <a:rPr lang="en-GB" sz="1200" b="1" i="0" u="none" strike="noStrike" dirty="0">
                          <a:solidFill>
                            <a:srgbClr val="000000"/>
                          </a:solidFill>
                          <a:effectLst/>
                          <a:latin typeface="Calibri" panose="020F0502020204030204" pitchFamily="34" charset="0"/>
                        </a:rPr>
                        <a:t>February</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hMerge="1">
                  <a:txBody>
                    <a:bodyPr/>
                    <a:lstStyle/>
                    <a:p>
                      <a:endParaRPr lang="en-GB"/>
                    </a:p>
                  </a:txBody>
                  <a:tcPr/>
                </a:tc>
                <a:tc hMerge="1">
                  <a:txBody>
                    <a:bodyPr/>
                    <a:lstStyle/>
                    <a:p>
                      <a:endParaRPr lang="en-GB"/>
                    </a:p>
                  </a:txBody>
                  <a:tcPr/>
                </a:tc>
                <a:tc gridSpan="3">
                  <a:txBody>
                    <a:bodyPr/>
                    <a:lstStyle/>
                    <a:p>
                      <a:pPr algn="ctr" fontAlgn="b">
                        <a:buNone/>
                      </a:pPr>
                      <a:r>
                        <a:rPr lang="en-GB" sz="1200" b="1" i="0" u="none" strike="noStrike">
                          <a:solidFill>
                            <a:srgbClr val="000000"/>
                          </a:solidFill>
                          <a:effectLst/>
                          <a:latin typeface="Calibri" panose="020F0502020204030204" pitchFamily="34" charset="0"/>
                        </a:rPr>
                        <a:t>March</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B7B7B"/>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438522092"/>
                  </a:ext>
                </a:extLst>
              </a:tr>
              <a:tr h="615583">
                <a:tc>
                  <a:txBody>
                    <a:bodyPr/>
                    <a:lstStyle/>
                    <a:p>
                      <a:pPr algn="ctr" fontAlgn="ctr">
                        <a:buNone/>
                      </a:pPr>
                      <a:r>
                        <a:rPr lang="en-GB" sz="1200" b="0" i="0" u="none" strike="noStrike" dirty="0">
                          <a:solidFill>
                            <a:srgbClr val="000000"/>
                          </a:solidFill>
                          <a:effectLst/>
                          <a:latin typeface="Calibri" panose="020F0502020204030204" pitchFamily="34" charset="0"/>
                        </a:rPr>
                        <a:t>Date</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Planned Batches</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Batches Released</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Date</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Planned Batches</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Batches Released</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ctr">
                        <a:buNone/>
                      </a:pPr>
                      <a:r>
                        <a:rPr lang="en-GB" sz="1200" b="0" i="0" u="none" strike="noStrike">
                          <a:solidFill>
                            <a:srgbClr val="000000"/>
                          </a:solidFill>
                          <a:effectLst/>
                          <a:latin typeface="Calibri" panose="020F0502020204030204" pitchFamily="34" charset="0"/>
                        </a:rPr>
                        <a:t>Date</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C9C9"/>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Planned Batches</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C9C9"/>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Batches Released</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C9C9"/>
                    </a:solidFill>
                  </a:tcPr>
                </a:tc>
                <a:extLst>
                  <a:ext uri="{0D108BD9-81ED-4DB2-BD59-A6C34878D82A}">
                    <a16:rowId xmlns:a16="http://schemas.microsoft.com/office/drawing/2014/main" val="950232435"/>
                  </a:ext>
                </a:extLst>
              </a:tr>
              <a:tr h="207735">
                <a:tc>
                  <a:txBody>
                    <a:bodyPr/>
                    <a:lstStyle/>
                    <a:p>
                      <a:pPr algn="l" fontAlgn="ctr">
                        <a:buNone/>
                      </a:pPr>
                      <a:r>
                        <a:rPr lang="en-GB" sz="1200" b="0" i="0" u="none" strike="noStrike">
                          <a:solidFill>
                            <a:srgbClr val="000000"/>
                          </a:solidFill>
                          <a:effectLst/>
                          <a:latin typeface="Calibri" panose="020F0502020204030204" pitchFamily="34" charset="0"/>
                        </a:rPr>
                        <a:t>02-Jan-26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72</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41</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02-Feb-26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58</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50</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02-Mar-26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a:solidFill>
                            <a:srgbClr val="000000"/>
                          </a:solidFill>
                          <a:effectLst/>
                          <a:latin typeface="Calibri" panose="020F0502020204030204" pitchFamily="34" charset="0"/>
                        </a:rPr>
                        <a:t>67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60</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571313966"/>
                  </a:ext>
                </a:extLst>
              </a:tr>
              <a:tr h="207735">
                <a:tc>
                  <a:txBody>
                    <a:bodyPr/>
                    <a:lstStyle/>
                    <a:p>
                      <a:pPr algn="l" fontAlgn="ctr">
                        <a:buNone/>
                      </a:pPr>
                      <a:r>
                        <a:rPr lang="en-GB" sz="1200" b="0" i="0" u="none" strike="noStrike">
                          <a:solidFill>
                            <a:srgbClr val="000000"/>
                          </a:solidFill>
                          <a:effectLst/>
                          <a:latin typeface="Calibri" panose="020F0502020204030204" pitchFamily="34" charset="0"/>
                        </a:rPr>
                        <a:t>05-Jan-26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72</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marL="0" algn="ctr" defTabSz="914400" rtl="0" eaLnBrk="1" fontAlgn="ctr" latinLnBrk="0" hangingPunct="1">
                        <a:buNone/>
                      </a:pPr>
                      <a:r>
                        <a:rPr lang="en-GB" sz="1200" b="0" i="0" u="none" strike="noStrike" kern="1200" dirty="0">
                          <a:solidFill>
                            <a:srgbClr val="006100"/>
                          </a:solidFill>
                          <a:effectLst/>
                          <a:latin typeface="Calibri" panose="020F0502020204030204" pitchFamily="34" charset="0"/>
                          <a:ea typeface="+mn-ea"/>
                          <a:cs typeface="+mn-cs"/>
                        </a:rPr>
                        <a:t>72</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03-Feb-26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rgbClr val="0061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03-Mar-26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a:solidFill>
                            <a:srgbClr val="000000"/>
                          </a:solidFill>
                          <a:effectLst/>
                          <a:latin typeface="Calibri" panose="020F0502020204030204" pitchFamily="34" charset="0"/>
                        </a:rPr>
                        <a:t>62</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GB" sz="1200" b="0" i="0" u="none" strike="noStrike">
                          <a:solidFill>
                            <a:schemeClr val="accent1">
                              <a:lumMod val="50000"/>
                            </a:schemeClr>
                          </a:solidFill>
                          <a:effectLst/>
                          <a:latin typeface="Calibri" panose="020F0502020204030204" pitchFamily="34" charset="0"/>
                        </a:rPr>
                        <a:t>53</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250836958"/>
                  </a:ext>
                </a:extLst>
              </a:tr>
              <a:tr h="207735">
                <a:tc>
                  <a:txBody>
                    <a:bodyPr/>
                    <a:lstStyle/>
                    <a:p>
                      <a:pPr algn="l" fontAlgn="ctr">
                        <a:buNone/>
                      </a:pPr>
                      <a:r>
                        <a:rPr lang="en-GB" sz="1200" b="0" i="0" u="none" strike="noStrike">
                          <a:solidFill>
                            <a:srgbClr val="000000"/>
                          </a:solidFill>
                          <a:effectLst/>
                          <a:latin typeface="Calibri" panose="020F0502020204030204" pitchFamily="34" charset="0"/>
                        </a:rPr>
                        <a:t>06-Jan-26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62</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59</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tc>
                  <a:txBody>
                    <a:bodyPr/>
                    <a:lstStyle/>
                    <a:p>
                      <a:pPr algn="r" fontAlgn="b">
                        <a:buNone/>
                      </a:pPr>
                      <a:r>
                        <a:rPr lang="en-GB" sz="1200" b="0" i="0" u="none" strike="noStrike">
                          <a:solidFill>
                            <a:srgbClr val="000000"/>
                          </a:solidFill>
                          <a:effectLst/>
                          <a:latin typeface="Calibri" panose="020F0502020204030204" pitchFamily="34" charset="0"/>
                        </a:rPr>
                        <a:t>04-Feb-26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48</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42</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04-Mar-26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a:solidFill>
                            <a:srgbClr val="000000"/>
                          </a:solidFill>
                          <a:effectLst/>
                          <a:latin typeface="Calibri" panose="020F0502020204030204" pitchFamily="34" charset="0"/>
                        </a:rPr>
                        <a:t>62</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60</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744923950"/>
                  </a:ext>
                </a:extLst>
              </a:tr>
              <a:tr h="207735">
                <a:tc>
                  <a:txBody>
                    <a:bodyPr/>
                    <a:lstStyle/>
                    <a:p>
                      <a:pPr algn="l" fontAlgn="ctr">
                        <a:buNone/>
                      </a:pPr>
                      <a:r>
                        <a:rPr lang="en-GB" sz="1200" b="0" i="0" u="none" strike="noStrike">
                          <a:solidFill>
                            <a:srgbClr val="000000"/>
                          </a:solidFill>
                          <a:effectLst/>
                          <a:latin typeface="Calibri" panose="020F0502020204030204" pitchFamily="34" charset="0"/>
                        </a:rPr>
                        <a:t>07-Jan-26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67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66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tc>
                  <a:txBody>
                    <a:bodyPr/>
                    <a:lstStyle/>
                    <a:p>
                      <a:pPr algn="r" fontAlgn="b">
                        <a:buNone/>
                      </a:pPr>
                      <a:r>
                        <a:rPr lang="en-GB" sz="1200" b="0" i="0" u="none" strike="noStrike">
                          <a:solidFill>
                            <a:srgbClr val="000000"/>
                          </a:solidFill>
                          <a:effectLst/>
                          <a:latin typeface="Calibri" panose="020F0502020204030204" pitchFamily="34" charset="0"/>
                        </a:rPr>
                        <a:t>05-Feb-26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57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tc>
                  <a:txBody>
                    <a:bodyPr/>
                    <a:lstStyle/>
                    <a:p>
                      <a:pPr algn="r" fontAlgn="b">
                        <a:buNone/>
                      </a:pPr>
                      <a:r>
                        <a:rPr lang="en-GB" sz="1200" b="0" i="0" u="none" strike="noStrike">
                          <a:solidFill>
                            <a:srgbClr val="000000"/>
                          </a:solidFill>
                          <a:effectLst/>
                          <a:latin typeface="Calibri" panose="020F0502020204030204" pitchFamily="34" charset="0"/>
                        </a:rPr>
                        <a:t>05-Mar-26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a:solidFill>
                            <a:srgbClr val="000000"/>
                          </a:solidFill>
                          <a:effectLst/>
                          <a:latin typeface="Calibri" panose="020F0502020204030204" pitchFamily="34" charset="0"/>
                        </a:rPr>
                        <a:t>51</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50</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197392225"/>
                  </a:ext>
                </a:extLst>
              </a:tr>
              <a:tr h="207735">
                <a:tc>
                  <a:txBody>
                    <a:bodyPr/>
                    <a:lstStyle/>
                    <a:p>
                      <a:pPr algn="l" fontAlgn="ctr">
                        <a:buNone/>
                      </a:pPr>
                      <a:r>
                        <a:rPr lang="en-GB" sz="1200" b="0" i="0" u="none" strike="noStrike">
                          <a:solidFill>
                            <a:srgbClr val="000000"/>
                          </a:solidFill>
                          <a:effectLst/>
                          <a:latin typeface="Calibri" panose="020F0502020204030204" pitchFamily="34" charset="0"/>
                        </a:rPr>
                        <a:t>08-Jan-26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62</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06-Feb-26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53</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36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06-Mar-26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a:solidFill>
                            <a:srgbClr val="000000"/>
                          </a:solidFill>
                          <a:effectLst/>
                          <a:latin typeface="Calibri" panose="020F0502020204030204" pitchFamily="34" charset="0"/>
                        </a:rPr>
                        <a:t>58</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45</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208632547"/>
                  </a:ext>
                </a:extLst>
              </a:tr>
              <a:tr h="207735">
                <a:tc>
                  <a:txBody>
                    <a:bodyPr/>
                    <a:lstStyle/>
                    <a:p>
                      <a:pPr algn="l" fontAlgn="ctr">
                        <a:buNone/>
                      </a:pPr>
                      <a:r>
                        <a:rPr lang="en-GB" sz="1200" b="0" i="0" u="none" strike="noStrike">
                          <a:solidFill>
                            <a:srgbClr val="000000"/>
                          </a:solidFill>
                          <a:effectLst/>
                          <a:latin typeface="Calibri" panose="020F0502020204030204" pitchFamily="34" charset="0"/>
                        </a:rPr>
                        <a:t>09-Jan-26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58</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44</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09-Feb-26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rgbClr val="0061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r" fontAlgn="b">
                        <a:buNone/>
                      </a:pPr>
                      <a:r>
                        <a:rPr lang="en-GB" sz="1200" b="0" i="0" u="none" strike="noStrike" dirty="0">
                          <a:solidFill>
                            <a:srgbClr val="000000"/>
                          </a:solidFill>
                          <a:effectLst/>
                          <a:latin typeface="Calibri" panose="020F0502020204030204" pitchFamily="34" charset="0"/>
                        </a:rPr>
                        <a:t>09-Mar-26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a:solidFill>
                            <a:srgbClr val="000000"/>
                          </a:solidFill>
                          <a:effectLst/>
                          <a:latin typeface="Calibri" panose="020F0502020204030204" pitchFamily="34" charset="0"/>
                        </a:rPr>
                        <a:t>68</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972279034"/>
                  </a:ext>
                </a:extLst>
              </a:tr>
              <a:tr h="207735">
                <a:tc>
                  <a:txBody>
                    <a:bodyPr/>
                    <a:lstStyle/>
                    <a:p>
                      <a:pPr algn="l" fontAlgn="ctr">
                        <a:buNone/>
                      </a:pPr>
                      <a:r>
                        <a:rPr lang="en-GB" sz="1200" b="0" i="0" u="none" strike="noStrike">
                          <a:solidFill>
                            <a:srgbClr val="000000"/>
                          </a:solidFill>
                          <a:effectLst/>
                          <a:latin typeface="Calibri" panose="020F0502020204030204" pitchFamily="34" charset="0"/>
                        </a:rPr>
                        <a:t>12-Jan-26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67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10-Feb-26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58</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54</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tc>
                  <a:txBody>
                    <a:bodyPr/>
                    <a:lstStyle/>
                    <a:p>
                      <a:pPr algn="r" fontAlgn="b">
                        <a:buNone/>
                      </a:pPr>
                      <a:r>
                        <a:rPr lang="en-GB" sz="1200" b="0" i="0" u="none" strike="noStrike">
                          <a:solidFill>
                            <a:srgbClr val="000000"/>
                          </a:solidFill>
                          <a:effectLst/>
                          <a:latin typeface="Calibri" panose="020F0502020204030204" pitchFamily="34" charset="0"/>
                        </a:rPr>
                        <a:t>10-Mar-26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55</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056817110"/>
                  </a:ext>
                </a:extLst>
              </a:tr>
              <a:tr h="207735">
                <a:tc>
                  <a:txBody>
                    <a:bodyPr/>
                    <a:lstStyle/>
                    <a:p>
                      <a:pPr algn="l" fontAlgn="ctr">
                        <a:buNone/>
                      </a:pPr>
                      <a:r>
                        <a:rPr lang="en-GB" sz="1200" b="0" i="0" u="none" strike="noStrike">
                          <a:solidFill>
                            <a:srgbClr val="000000"/>
                          </a:solidFill>
                          <a:effectLst/>
                          <a:latin typeface="Calibri" panose="020F0502020204030204" pitchFamily="34" charset="0"/>
                        </a:rPr>
                        <a:t>13-Jan-26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67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11-Feb-26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57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49</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11-Mar-26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55</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275733381"/>
                  </a:ext>
                </a:extLst>
              </a:tr>
              <a:tr h="207735">
                <a:tc>
                  <a:txBody>
                    <a:bodyPr/>
                    <a:lstStyle/>
                    <a:p>
                      <a:pPr algn="l" fontAlgn="ctr">
                        <a:buNone/>
                      </a:pPr>
                      <a:r>
                        <a:rPr lang="en-GB" sz="1200" b="0" i="0" u="none" strike="noStrike">
                          <a:solidFill>
                            <a:srgbClr val="000000"/>
                          </a:solidFill>
                          <a:effectLst/>
                          <a:latin typeface="Calibri" panose="020F0502020204030204" pitchFamily="34" charset="0"/>
                        </a:rPr>
                        <a:t>14-Jan-26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62</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45</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12-Feb-26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57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tc>
                  <a:txBody>
                    <a:bodyPr/>
                    <a:lstStyle/>
                    <a:p>
                      <a:pPr algn="r" fontAlgn="b">
                        <a:buNone/>
                      </a:pPr>
                      <a:r>
                        <a:rPr lang="en-GB" sz="1200" b="0" i="0" u="none" strike="noStrike">
                          <a:solidFill>
                            <a:srgbClr val="000000"/>
                          </a:solidFill>
                          <a:effectLst/>
                          <a:latin typeface="Calibri" panose="020F0502020204030204" pitchFamily="34" charset="0"/>
                        </a:rPr>
                        <a:t>12-Mar-26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57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51</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322518318"/>
                  </a:ext>
                </a:extLst>
              </a:tr>
              <a:tr h="207735">
                <a:tc>
                  <a:txBody>
                    <a:bodyPr/>
                    <a:lstStyle/>
                    <a:p>
                      <a:pPr algn="l" fontAlgn="ctr">
                        <a:buNone/>
                      </a:pPr>
                      <a:r>
                        <a:rPr lang="en-GB" sz="1200" b="0" i="0" u="none" strike="noStrike">
                          <a:solidFill>
                            <a:srgbClr val="000000"/>
                          </a:solidFill>
                          <a:effectLst/>
                          <a:latin typeface="Calibri" panose="020F0502020204030204" pitchFamily="34" charset="0"/>
                        </a:rPr>
                        <a:t>15-Jan-26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57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44</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13-Feb-26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48</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41</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13-Mar-26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a:solidFill>
                            <a:srgbClr val="000000"/>
                          </a:solidFill>
                          <a:effectLst/>
                          <a:latin typeface="Calibri" panose="020F0502020204030204" pitchFamily="34" charset="0"/>
                        </a:rPr>
                        <a:t>57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46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228560258"/>
                  </a:ext>
                </a:extLst>
              </a:tr>
              <a:tr h="207735">
                <a:tc>
                  <a:txBody>
                    <a:bodyPr/>
                    <a:lstStyle/>
                    <a:p>
                      <a:pPr algn="l" fontAlgn="ctr">
                        <a:buNone/>
                      </a:pPr>
                      <a:r>
                        <a:rPr lang="en-GB" sz="1200" b="0" i="0" u="none" strike="noStrike">
                          <a:solidFill>
                            <a:srgbClr val="000000"/>
                          </a:solidFill>
                          <a:effectLst/>
                          <a:latin typeface="Calibri" panose="020F0502020204030204" pitchFamily="34" charset="0"/>
                        </a:rPr>
                        <a:t>16-Jan-26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58</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44</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16-Feb-26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67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53</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16-Mar-26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68</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54</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776904326"/>
                  </a:ext>
                </a:extLst>
              </a:tr>
              <a:tr h="207735">
                <a:tc>
                  <a:txBody>
                    <a:bodyPr/>
                    <a:lstStyle/>
                    <a:p>
                      <a:pPr algn="l" fontAlgn="ctr">
                        <a:buNone/>
                      </a:pPr>
                      <a:r>
                        <a:rPr lang="en-GB" sz="1200" b="0" i="0" u="none" strike="noStrike">
                          <a:solidFill>
                            <a:srgbClr val="000000"/>
                          </a:solidFill>
                          <a:effectLst/>
                          <a:latin typeface="Calibri" panose="020F0502020204030204" pitchFamily="34" charset="0"/>
                        </a:rPr>
                        <a:t>19-Jan-26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57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tc>
                  <a:txBody>
                    <a:bodyPr/>
                    <a:lstStyle/>
                    <a:p>
                      <a:pPr algn="r" fontAlgn="b">
                        <a:buNone/>
                      </a:pPr>
                      <a:r>
                        <a:rPr lang="en-GB" sz="1200" b="0" i="0" u="none" strike="noStrike">
                          <a:solidFill>
                            <a:srgbClr val="000000"/>
                          </a:solidFill>
                          <a:effectLst/>
                          <a:latin typeface="Calibri" panose="020F0502020204030204" pitchFamily="34" charset="0"/>
                        </a:rPr>
                        <a:t>17-Feb-26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57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43</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17-Mar-26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58</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54</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extLst>
                  <a:ext uri="{0D108BD9-81ED-4DB2-BD59-A6C34878D82A}">
                    <a16:rowId xmlns:a16="http://schemas.microsoft.com/office/drawing/2014/main" val="1780868228"/>
                  </a:ext>
                </a:extLst>
              </a:tr>
              <a:tr h="207735">
                <a:tc>
                  <a:txBody>
                    <a:bodyPr/>
                    <a:lstStyle/>
                    <a:p>
                      <a:pPr algn="l" fontAlgn="ctr">
                        <a:buNone/>
                      </a:pPr>
                      <a:r>
                        <a:rPr lang="en-GB" sz="1200" b="0" i="0" u="none" strike="noStrike">
                          <a:solidFill>
                            <a:srgbClr val="000000"/>
                          </a:solidFill>
                          <a:effectLst/>
                          <a:latin typeface="Calibri" panose="020F0502020204030204" pitchFamily="34" charset="0"/>
                        </a:rPr>
                        <a:t>20-Jan-26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54</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52</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tc>
                  <a:txBody>
                    <a:bodyPr/>
                    <a:lstStyle/>
                    <a:p>
                      <a:pPr algn="r" fontAlgn="b">
                        <a:buNone/>
                      </a:pPr>
                      <a:r>
                        <a:rPr lang="en-GB" sz="1200" b="0" i="0" u="none" strike="noStrike">
                          <a:solidFill>
                            <a:srgbClr val="000000"/>
                          </a:solidFill>
                          <a:effectLst/>
                          <a:latin typeface="Calibri" panose="020F0502020204030204" pitchFamily="34" charset="0"/>
                        </a:rPr>
                        <a:t>18-Feb-26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53</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44</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18-Mar-26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GB" sz="1200" b="0" i="0" u="none" strike="noStrike" dirty="0">
                          <a:solidFill>
                            <a:srgbClr val="0061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541086378"/>
                  </a:ext>
                </a:extLst>
              </a:tr>
              <a:tr h="207735">
                <a:tc>
                  <a:txBody>
                    <a:bodyPr/>
                    <a:lstStyle/>
                    <a:p>
                      <a:pPr algn="l" fontAlgn="ctr">
                        <a:buNone/>
                      </a:pPr>
                      <a:r>
                        <a:rPr lang="en-GB" sz="1200" b="0" i="0" u="none" strike="noStrike">
                          <a:solidFill>
                            <a:srgbClr val="000000"/>
                          </a:solidFill>
                          <a:effectLst/>
                          <a:latin typeface="Calibri" panose="020F0502020204030204" pitchFamily="34" charset="0"/>
                        </a:rPr>
                        <a:t>21-Jan-26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57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35</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19-Feb-26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58</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35</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19-Mar-26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55</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extLst>
                  <a:ext uri="{0D108BD9-81ED-4DB2-BD59-A6C34878D82A}">
                    <a16:rowId xmlns:a16="http://schemas.microsoft.com/office/drawing/2014/main" val="54261156"/>
                  </a:ext>
                </a:extLst>
              </a:tr>
              <a:tr h="207735">
                <a:tc>
                  <a:txBody>
                    <a:bodyPr/>
                    <a:lstStyle/>
                    <a:p>
                      <a:pPr algn="l" fontAlgn="ctr">
                        <a:buNone/>
                      </a:pPr>
                      <a:r>
                        <a:rPr lang="en-GB" sz="1200" b="0" i="0" u="none" strike="noStrike">
                          <a:solidFill>
                            <a:srgbClr val="000000"/>
                          </a:solidFill>
                          <a:effectLst/>
                          <a:latin typeface="Calibri" panose="020F0502020204030204" pitchFamily="34" charset="0"/>
                        </a:rPr>
                        <a:t>22-Jan-26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57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40</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20-Feb-26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48</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45</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tc>
                  <a:txBody>
                    <a:bodyPr/>
                    <a:lstStyle/>
                    <a:p>
                      <a:pPr algn="r" fontAlgn="b">
                        <a:buNone/>
                      </a:pPr>
                      <a:r>
                        <a:rPr lang="en-GB" sz="1200" b="0" i="0" u="none" strike="noStrike">
                          <a:solidFill>
                            <a:srgbClr val="000000"/>
                          </a:solidFill>
                          <a:effectLst/>
                          <a:latin typeface="Calibri" panose="020F0502020204030204" pitchFamily="34" charset="0"/>
                        </a:rPr>
                        <a:t>20-Mar-26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53</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44</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967521401"/>
                  </a:ext>
                </a:extLst>
              </a:tr>
              <a:tr h="207735">
                <a:tc>
                  <a:txBody>
                    <a:bodyPr/>
                    <a:lstStyle/>
                    <a:p>
                      <a:pPr algn="l" fontAlgn="ctr">
                        <a:buNone/>
                      </a:pPr>
                      <a:r>
                        <a:rPr lang="en-GB" sz="1200" b="0" i="0" u="none" strike="noStrike">
                          <a:solidFill>
                            <a:srgbClr val="000000"/>
                          </a:solidFill>
                          <a:effectLst/>
                          <a:latin typeface="Calibri" panose="020F0502020204030204" pitchFamily="34" charset="0"/>
                        </a:rPr>
                        <a:t>23-Jan-26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47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23-Feb-26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68</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65</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tc>
                  <a:txBody>
                    <a:bodyPr/>
                    <a:lstStyle/>
                    <a:p>
                      <a:pPr algn="r" fontAlgn="b">
                        <a:buNone/>
                      </a:pPr>
                      <a:r>
                        <a:rPr lang="en-GB" sz="1200" b="0" i="0" u="none" strike="noStrike">
                          <a:solidFill>
                            <a:srgbClr val="000000"/>
                          </a:solidFill>
                          <a:effectLst/>
                          <a:latin typeface="Calibri" panose="020F0502020204030204" pitchFamily="34" charset="0"/>
                        </a:rPr>
                        <a:t>23-Mar-26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a:solidFill>
                            <a:srgbClr val="000000"/>
                          </a:solidFill>
                          <a:effectLst/>
                          <a:latin typeface="Calibri" panose="020F0502020204030204" pitchFamily="34" charset="0"/>
                        </a:rPr>
                        <a:t>67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58</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128956138"/>
                  </a:ext>
                </a:extLst>
              </a:tr>
              <a:tr h="207735">
                <a:tc>
                  <a:txBody>
                    <a:bodyPr/>
                    <a:lstStyle/>
                    <a:p>
                      <a:pPr algn="l" fontAlgn="b">
                        <a:buNone/>
                      </a:pPr>
                      <a:r>
                        <a:rPr lang="en-GB" sz="1200" b="0" i="0" u="none" strike="noStrike">
                          <a:solidFill>
                            <a:srgbClr val="000000"/>
                          </a:solidFill>
                          <a:effectLst/>
                          <a:latin typeface="Calibri" panose="020F0502020204030204" pitchFamily="34" charset="0"/>
                        </a:rPr>
                        <a:t>26-Jan-26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67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61</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24-Feb-26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64</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63</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tc>
                  <a:txBody>
                    <a:bodyPr/>
                    <a:lstStyle/>
                    <a:p>
                      <a:pPr algn="r" fontAlgn="b">
                        <a:buNone/>
                      </a:pPr>
                      <a:r>
                        <a:rPr lang="en-GB" sz="1200" b="0" i="0" u="none" strike="noStrike">
                          <a:solidFill>
                            <a:srgbClr val="000000"/>
                          </a:solidFill>
                          <a:effectLst/>
                          <a:latin typeface="Calibri" panose="020F0502020204030204" pitchFamily="34" charset="0"/>
                        </a:rPr>
                        <a:t>24-Mar-26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a:solidFill>
                            <a:srgbClr val="0000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dirty="0">
                          <a:solidFill>
                            <a:srgbClr val="0061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822122043"/>
                  </a:ext>
                </a:extLst>
              </a:tr>
              <a:tr h="207735">
                <a:tc>
                  <a:txBody>
                    <a:bodyPr/>
                    <a:lstStyle/>
                    <a:p>
                      <a:pPr algn="l" fontAlgn="b">
                        <a:buNone/>
                      </a:pPr>
                      <a:r>
                        <a:rPr lang="en-GB" sz="1200" b="0" i="0" u="none" strike="noStrike">
                          <a:solidFill>
                            <a:srgbClr val="000000"/>
                          </a:solidFill>
                          <a:effectLst/>
                          <a:latin typeface="Calibri" panose="020F0502020204030204" pitchFamily="34" charset="0"/>
                        </a:rPr>
                        <a:t>27-Jan-26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57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50</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25-Feb-26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rgbClr val="0061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25-Mar-26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a:solidFill>
                            <a:srgbClr val="0000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dirty="0">
                          <a:solidFill>
                            <a:srgbClr val="0061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882490233"/>
                  </a:ext>
                </a:extLst>
              </a:tr>
              <a:tr h="207735">
                <a:tc>
                  <a:txBody>
                    <a:bodyPr/>
                    <a:lstStyle/>
                    <a:p>
                      <a:pPr algn="l" fontAlgn="b">
                        <a:buNone/>
                      </a:pPr>
                      <a:r>
                        <a:rPr lang="en-GB" sz="1200" b="0" i="0" u="none" strike="noStrike">
                          <a:solidFill>
                            <a:srgbClr val="000000"/>
                          </a:solidFill>
                          <a:effectLst/>
                          <a:latin typeface="Calibri" panose="020F0502020204030204" pitchFamily="34" charset="0"/>
                        </a:rPr>
                        <a:t>28-Jan-26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50</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26-Feb-26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rgbClr val="0061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26-Mar-26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a:solidFill>
                            <a:srgbClr val="000000"/>
                          </a:solidFill>
                          <a:effectLst/>
                          <a:latin typeface="Calibri" panose="020F0502020204030204" pitchFamily="34" charset="0"/>
                        </a:rPr>
                        <a:t>57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998335332"/>
                  </a:ext>
                </a:extLst>
              </a:tr>
              <a:tr h="207735">
                <a:tc>
                  <a:txBody>
                    <a:bodyPr/>
                    <a:lstStyle/>
                    <a:p>
                      <a:pPr algn="l" fontAlgn="b">
                        <a:buNone/>
                      </a:pPr>
                      <a:r>
                        <a:rPr lang="en-GB" sz="1200" b="0" i="0" u="none" strike="noStrike">
                          <a:solidFill>
                            <a:srgbClr val="000000"/>
                          </a:solidFill>
                          <a:effectLst/>
                          <a:latin typeface="Calibri" panose="020F0502020204030204" pitchFamily="34" charset="0"/>
                        </a:rPr>
                        <a:t>29-Jan-26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55</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37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fontAlgn="b">
                        <a:buNone/>
                      </a:pPr>
                      <a:r>
                        <a:rPr lang="en-GB" sz="1200" b="0" i="0" u="none" strike="noStrike">
                          <a:solidFill>
                            <a:srgbClr val="000000"/>
                          </a:solidFill>
                          <a:effectLst/>
                          <a:latin typeface="Calibri" panose="020F0502020204030204" pitchFamily="34" charset="0"/>
                        </a:rPr>
                        <a:t>27-Feb-26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57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53</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9C"/>
                    </a:solidFill>
                  </a:tcPr>
                </a:tc>
                <a:tc>
                  <a:txBody>
                    <a:bodyPr/>
                    <a:lstStyle/>
                    <a:p>
                      <a:pPr algn="r" fontAlgn="b">
                        <a:buNone/>
                      </a:pPr>
                      <a:r>
                        <a:rPr lang="en-GB" sz="1200" b="0" i="0" u="none" strike="noStrike">
                          <a:solidFill>
                            <a:srgbClr val="000000"/>
                          </a:solidFill>
                          <a:effectLst/>
                          <a:latin typeface="Calibri" panose="020F0502020204030204" pitchFamily="34" charset="0"/>
                        </a:rPr>
                        <a:t>27-Mar-26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a:solidFill>
                            <a:srgbClr val="000000"/>
                          </a:solidFill>
                          <a:effectLst/>
                          <a:latin typeface="Calibri" panose="020F0502020204030204" pitchFamily="34" charset="0"/>
                        </a:rPr>
                        <a:t>58</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50</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12750396"/>
                  </a:ext>
                </a:extLst>
              </a:tr>
              <a:tr h="207735">
                <a:tc>
                  <a:txBody>
                    <a:bodyPr/>
                    <a:lstStyle/>
                    <a:p>
                      <a:pPr algn="l" fontAlgn="b">
                        <a:buNone/>
                      </a:pPr>
                      <a:r>
                        <a:rPr lang="en-GB" sz="1200" b="0" i="0" u="none" strike="noStrike">
                          <a:solidFill>
                            <a:srgbClr val="000000"/>
                          </a:solidFill>
                          <a:effectLst/>
                          <a:latin typeface="Calibri" panose="020F0502020204030204" pitchFamily="34" charset="0"/>
                        </a:rPr>
                        <a:t>30-Jan-25</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53</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47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l" fontAlgn="b">
                        <a:buNone/>
                      </a:pPr>
                      <a:r>
                        <a:rPr lang="en-GB" sz="1200" b="0" i="0" u="none" strike="noStrike">
                          <a:solidFill>
                            <a:srgbClr val="000000"/>
                          </a:solidFill>
                          <a:effectLst/>
                          <a:latin typeface="Calibri" panose="020F0502020204030204" pitchFamily="34" charset="0"/>
                        </a:rPr>
                        <a:t> </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 </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 </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r" fontAlgn="b">
                        <a:buNone/>
                      </a:pPr>
                      <a:r>
                        <a:rPr lang="en-GB" sz="1200" b="0" i="0" u="none" strike="noStrike">
                          <a:solidFill>
                            <a:srgbClr val="000000"/>
                          </a:solidFill>
                          <a:effectLst/>
                          <a:latin typeface="Calibri" panose="020F0502020204030204" pitchFamily="34" charset="0"/>
                        </a:rPr>
                        <a:t>30-Mar-26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a:solidFill>
                            <a:srgbClr val="000000"/>
                          </a:solidFill>
                          <a:effectLst/>
                          <a:latin typeface="Calibri" panose="020F0502020204030204" pitchFamily="34" charset="0"/>
                        </a:rPr>
                        <a:t>67</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dirty="0">
                          <a:solidFill>
                            <a:schemeClr val="accent1">
                              <a:lumMod val="50000"/>
                            </a:schemeClr>
                          </a:solidFill>
                          <a:effectLst/>
                          <a:latin typeface="Calibri" panose="020F0502020204030204" pitchFamily="34" charset="0"/>
                        </a:rPr>
                        <a:t>51</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429567296"/>
                  </a:ext>
                </a:extLst>
              </a:tr>
              <a:tr h="207735">
                <a:tc>
                  <a:txBody>
                    <a:bodyPr/>
                    <a:lstStyle/>
                    <a:p>
                      <a:pPr algn="l" fontAlgn="b">
                        <a:buNone/>
                      </a:pPr>
                      <a:r>
                        <a:rPr lang="en-GB" sz="1200" b="0" i="0" u="none" strike="noStrike">
                          <a:solidFill>
                            <a:srgbClr val="000000"/>
                          </a:solidFill>
                          <a:effectLst/>
                          <a:latin typeface="Calibri" panose="020F0502020204030204" pitchFamily="34" charset="0"/>
                        </a:rPr>
                        <a:t> </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 </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buNone/>
                      </a:pPr>
                      <a:r>
                        <a:rPr lang="en-GB" sz="1200" b="0" i="0" u="none" strike="noStrike">
                          <a:solidFill>
                            <a:srgbClr val="000000"/>
                          </a:solidFill>
                          <a:effectLst/>
                          <a:latin typeface="Calibri" panose="020F0502020204030204" pitchFamily="34" charset="0"/>
                        </a:rPr>
                        <a:t> </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l" fontAlgn="b">
                        <a:buNone/>
                      </a:pPr>
                      <a:r>
                        <a:rPr lang="en-GB" sz="1200" b="0" i="0" u="none" strike="noStrike">
                          <a:solidFill>
                            <a:srgbClr val="000000"/>
                          </a:solidFill>
                          <a:effectLst/>
                          <a:latin typeface="Calibri" panose="020F0502020204030204" pitchFamily="34" charset="0"/>
                        </a:rPr>
                        <a:t> </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 </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GB" sz="1200" b="0" i="0" u="none" strike="noStrike">
                          <a:solidFill>
                            <a:srgbClr val="000000"/>
                          </a:solidFill>
                          <a:effectLst/>
                          <a:latin typeface="Calibri" panose="020F0502020204030204" pitchFamily="34" charset="0"/>
                        </a:rPr>
                        <a:t> </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r" fontAlgn="b">
                        <a:buNone/>
                      </a:pPr>
                      <a:r>
                        <a:rPr lang="en-GB" sz="1200" b="0" i="0" u="none" strike="noStrike">
                          <a:solidFill>
                            <a:srgbClr val="000000"/>
                          </a:solidFill>
                          <a:effectLst/>
                          <a:latin typeface="Calibri" panose="020F0502020204030204" pitchFamily="34" charset="0"/>
                        </a:rPr>
                        <a:t>31-Mar-26</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buNone/>
                      </a:pPr>
                      <a:r>
                        <a:rPr lang="en-GB" sz="1200" b="0" i="0" u="none" strike="noStrike" dirty="0">
                          <a:solidFill>
                            <a:srgbClr val="006100"/>
                          </a:solidFill>
                          <a:effectLst/>
                          <a:latin typeface="Calibri" panose="020F0502020204030204" pitchFamily="34" charset="0"/>
                        </a:rPr>
                        <a:t>56</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959784019"/>
                  </a:ext>
                </a:extLst>
              </a:tr>
              <a:tr h="615583">
                <a:tc>
                  <a:txBody>
                    <a:bodyPr/>
                    <a:lstStyle/>
                    <a:p>
                      <a:pPr algn="ctr" fontAlgn="ctr">
                        <a:buNone/>
                      </a:pPr>
                      <a:r>
                        <a:rPr lang="en-GB" sz="1200" b="0" i="0" u="none" strike="noStrike" dirty="0">
                          <a:solidFill>
                            <a:srgbClr val="000000"/>
                          </a:solidFill>
                          <a:effectLst/>
                          <a:latin typeface="Calibri" panose="020F0502020204030204" pitchFamily="34" charset="0"/>
                        </a:rPr>
                        <a:t> </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Average Planned</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Average Released</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buNone/>
                      </a:pPr>
                      <a:r>
                        <a:rPr lang="en-GB" sz="1200" b="0" i="0" u="none" strike="noStrike">
                          <a:solidFill>
                            <a:srgbClr val="000000"/>
                          </a:solidFill>
                          <a:effectLst/>
                          <a:latin typeface="Calibri" panose="020F0502020204030204" pitchFamily="34" charset="0"/>
                        </a:rPr>
                        <a:t> </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Average Planned</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Average Released</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buNone/>
                      </a:pPr>
                      <a:r>
                        <a:rPr lang="en-GB" sz="1200" b="0" i="0" u="none" strike="noStrike">
                          <a:solidFill>
                            <a:srgbClr val="000000"/>
                          </a:solidFill>
                          <a:effectLst/>
                          <a:latin typeface="Calibri" panose="020F0502020204030204" pitchFamily="34" charset="0"/>
                        </a:rPr>
                        <a:t> </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Average Planned</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tc>
                  <a:txBody>
                    <a:bodyPr/>
                    <a:lstStyle/>
                    <a:p>
                      <a:pPr algn="ctr" fontAlgn="ctr">
                        <a:buNone/>
                      </a:pPr>
                      <a:r>
                        <a:rPr lang="en-GB" sz="1200" b="0" i="0" u="none" strike="noStrike" dirty="0">
                          <a:solidFill>
                            <a:srgbClr val="000000"/>
                          </a:solidFill>
                          <a:effectLst/>
                          <a:latin typeface="Calibri" panose="020F0502020204030204" pitchFamily="34" charset="0"/>
                        </a:rPr>
                        <a:t>Average Released</a:t>
                      </a:r>
                    </a:p>
                  </a:txBody>
                  <a:tcPr marL="3417" marR="3417" marT="3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extLst>
                  <a:ext uri="{0D108BD9-81ED-4DB2-BD59-A6C34878D82A}">
                    <a16:rowId xmlns:a16="http://schemas.microsoft.com/office/drawing/2014/main" val="1633726863"/>
                  </a:ext>
                </a:extLst>
              </a:tr>
              <a:tr h="207735">
                <a:tc>
                  <a:txBody>
                    <a:bodyPr/>
                    <a:lstStyle/>
                    <a:p>
                      <a:pPr algn="l" fontAlgn="b">
                        <a:buNone/>
                      </a:pPr>
                      <a:r>
                        <a:rPr lang="en-GB" sz="1200" b="0" i="0" u="none" strike="noStrike" dirty="0">
                          <a:solidFill>
                            <a:srgbClr val="000000"/>
                          </a:solidFill>
                          <a:effectLst/>
                          <a:latin typeface="Calibri" panose="020F0502020204030204" pitchFamily="34" charset="0"/>
                        </a:rPr>
                        <a:t> </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b">
                        <a:buNone/>
                      </a:pPr>
                      <a:r>
                        <a:rPr lang="en-GB" sz="1200" b="1" i="0" u="none" strike="noStrike" dirty="0">
                          <a:solidFill>
                            <a:srgbClr val="000000"/>
                          </a:solidFill>
                          <a:effectLst/>
                          <a:latin typeface="Calibri" panose="020F0502020204030204" pitchFamily="34" charset="0"/>
                        </a:rPr>
                        <a:t>60.62</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b">
                        <a:buNone/>
                      </a:pPr>
                      <a:r>
                        <a:rPr lang="en-GB" sz="1200" b="1" i="0" u="none" strike="noStrike" dirty="0">
                          <a:solidFill>
                            <a:srgbClr val="000000"/>
                          </a:solidFill>
                          <a:effectLst/>
                          <a:latin typeface="Calibri" panose="020F0502020204030204" pitchFamily="34" charset="0"/>
                        </a:rPr>
                        <a:t>50.67</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GB" sz="1200" b="0" i="0" u="none" strike="noStrike" dirty="0">
                          <a:solidFill>
                            <a:srgbClr val="000000"/>
                          </a:solidFill>
                          <a:effectLst/>
                          <a:latin typeface="Calibri" panose="020F0502020204030204" pitchFamily="34" charset="0"/>
                        </a:rPr>
                        <a:t> </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b">
                        <a:buNone/>
                      </a:pPr>
                      <a:r>
                        <a:rPr lang="en-GB" sz="1200" b="1" i="0" u="none" strike="noStrike" dirty="0">
                          <a:solidFill>
                            <a:srgbClr val="000000"/>
                          </a:solidFill>
                          <a:effectLst/>
                          <a:latin typeface="Calibri" panose="020F0502020204030204" pitchFamily="34" charset="0"/>
                        </a:rPr>
                        <a:t>56.60</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b">
                        <a:buNone/>
                      </a:pPr>
                      <a:r>
                        <a:rPr lang="en-GB" sz="1200" b="1" i="0" u="none" strike="noStrike" dirty="0">
                          <a:solidFill>
                            <a:srgbClr val="000000"/>
                          </a:solidFill>
                          <a:effectLst/>
                          <a:latin typeface="Calibri" panose="020F0502020204030204" pitchFamily="34" charset="0"/>
                        </a:rPr>
                        <a:t>50.47</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GB" sz="1200" b="0" i="0" u="none" strike="noStrike" dirty="0">
                          <a:solidFill>
                            <a:srgbClr val="000000"/>
                          </a:solidFill>
                          <a:effectLst/>
                          <a:latin typeface="Calibri" panose="020F0502020204030204" pitchFamily="34" charset="0"/>
                        </a:rPr>
                        <a:t> </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b">
                        <a:buNone/>
                      </a:pPr>
                      <a:r>
                        <a:rPr lang="en-GB" sz="1200" b="1" i="0" u="none" strike="noStrike" dirty="0">
                          <a:solidFill>
                            <a:srgbClr val="000000"/>
                          </a:solidFill>
                          <a:effectLst/>
                          <a:latin typeface="Calibri" panose="020F0502020204030204" pitchFamily="34" charset="0"/>
                        </a:rPr>
                        <a:t>59.18</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b">
                        <a:buNone/>
                      </a:pPr>
                      <a:r>
                        <a:rPr lang="en-GB" sz="1200" b="1" i="0" u="none" strike="noStrike" dirty="0">
                          <a:solidFill>
                            <a:srgbClr val="000000"/>
                          </a:solidFill>
                          <a:effectLst/>
                          <a:latin typeface="Calibri" panose="020F0502020204030204" pitchFamily="34" charset="0"/>
                        </a:rPr>
                        <a:t>53.50</a:t>
                      </a:r>
                    </a:p>
                  </a:txBody>
                  <a:tcPr marL="3417" marR="3417" marT="341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76706201"/>
                  </a:ext>
                </a:extLst>
              </a:tr>
            </a:tbl>
          </a:graphicData>
        </a:graphic>
      </p:graphicFrame>
      <p:sp>
        <p:nvSpPr>
          <p:cNvPr id="5" name="Rectangle 15">
            <a:extLst>
              <a:ext uri="{FF2B5EF4-FFF2-40B4-BE49-F238E27FC236}">
                <a16:creationId xmlns:a16="http://schemas.microsoft.com/office/drawing/2014/main" id="{7B0950F4-026F-B688-75C4-3163554451B1}"/>
              </a:ext>
            </a:extLst>
          </p:cNvPr>
          <p:cNvSpPr>
            <a:spLocks noChangeArrowheads="1"/>
          </p:cNvSpPr>
          <p:nvPr/>
        </p:nvSpPr>
        <p:spPr bwMode="auto">
          <a:xfrm>
            <a:off x="7152311" y="791450"/>
            <a:ext cx="5039687"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1" i="0" u="sng" strike="noStrike" kern="1200" cap="none" spc="0" normalizeH="0" baseline="0" noProof="0" dirty="0">
                <a:ln>
                  <a:noFill/>
                </a:ln>
                <a:solidFill>
                  <a:schemeClr val="bg1"/>
                </a:solidFill>
                <a:effectLst/>
                <a:uLnTx/>
                <a:uFillTx/>
                <a:latin typeface="Arial" panose="020B0604020202020204" pitchFamily="34" charset="0"/>
                <a:ea typeface="+mn-ea"/>
                <a:cs typeface="+mn-cs"/>
              </a:rPr>
              <a:t>Key take aways from Q1:</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b="1" i="0" u="sng" strike="noStrike" kern="1200" cap="none" spc="0" normalizeH="0" baseline="0" noProof="0" dirty="0">
              <a:ln>
                <a:noFill/>
              </a:ln>
              <a:solidFill>
                <a:schemeClr val="bg1"/>
              </a:solidFill>
              <a:effectLst/>
              <a:uLnTx/>
              <a:uFillTx/>
              <a:latin typeface="Arial" panose="020B0604020202020204" pitchFamily="34" charset="0"/>
            </a:endParaRPr>
          </a:p>
          <a:p>
            <a:pPr marL="171450" lvl="0" indent="-171450" defTabSz="914400" eaLnBrk="0" fontAlgn="base" hangingPunct="0">
              <a:spcBef>
                <a:spcPct val="0"/>
              </a:spcBef>
              <a:spcAft>
                <a:spcPct val="0"/>
              </a:spcAft>
              <a:buFont typeface="Arial" panose="020B0604020202020204" pitchFamily="34" charset="0"/>
              <a:buChar char="•"/>
              <a:defRPr/>
            </a:pPr>
            <a:r>
              <a:rPr lang="en-GB" dirty="0">
                <a:solidFill>
                  <a:schemeClr val="bg1"/>
                </a:solidFill>
              </a:rPr>
              <a:t>Numbers do not reflect stock batches on a given day (not released same day).</a:t>
            </a:r>
          </a:p>
          <a:p>
            <a:pPr marL="171450" lvl="0" indent="-171450" defTabSz="914400" eaLnBrk="0" fontAlgn="base" hangingPunct="0">
              <a:spcBef>
                <a:spcPct val="0"/>
              </a:spcBef>
              <a:spcAft>
                <a:spcPct val="0"/>
              </a:spcAft>
              <a:buFont typeface="Arial" panose="020B0604020202020204" pitchFamily="34" charset="0"/>
              <a:buChar char="•"/>
              <a:defRPr/>
            </a:pPr>
            <a:endParaRPr lang="en-GB" dirty="0">
              <a:solidFill>
                <a:schemeClr val="bg1"/>
              </a:solidFill>
            </a:endParaRPr>
          </a:p>
          <a:p>
            <a:pPr marL="171450" lvl="0" indent="-171450" defTabSz="914400" eaLnBrk="0" fontAlgn="base" hangingPunct="0">
              <a:spcBef>
                <a:spcPct val="0"/>
              </a:spcBef>
              <a:spcAft>
                <a:spcPct val="0"/>
              </a:spcAft>
              <a:buFont typeface="Arial" panose="020B0604020202020204" pitchFamily="34" charset="0"/>
              <a:buChar char="•"/>
              <a:defRPr/>
            </a:pPr>
            <a:r>
              <a:rPr lang="en-GB" dirty="0">
                <a:solidFill>
                  <a:schemeClr val="bg1"/>
                </a:solidFill>
              </a:rPr>
              <a:t>Production continues to operate at authorised manufacturing capacity.</a:t>
            </a:r>
          </a:p>
          <a:p>
            <a:pPr lvl="0" defTabSz="914400" eaLnBrk="0" fontAlgn="base" hangingPunct="0">
              <a:spcBef>
                <a:spcPct val="0"/>
              </a:spcBef>
              <a:spcAft>
                <a:spcPct val="0"/>
              </a:spcAft>
              <a:defRPr/>
            </a:pPr>
            <a:endParaRPr lang="en-GB" dirty="0">
              <a:solidFill>
                <a:schemeClr val="bg1"/>
              </a:solidFill>
            </a:endParaRPr>
          </a:p>
          <a:p>
            <a:pPr marL="171450" lvl="0" indent="-171450" defTabSz="914400" eaLnBrk="0" fontAlgn="base" hangingPunct="0">
              <a:spcBef>
                <a:spcPct val="0"/>
              </a:spcBef>
              <a:spcAft>
                <a:spcPct val="0"/>
              </a:spcAft>
              <a:buFont typeface="Arial" panose="020B0604020202020204" pitchFamily="34" charset="0"/>
              <a:buChar char="•"/>
              <a:defRPr/>
            </a:pPr>
            <a:r>
              <a:rPr lang="en-GB" dirty="0">
                <a:solidFill>
                  <a:schemeClr val="bg1"/>
                </a:solidFill>
              </a:rPr>
              <a:t>Reduces the likelihood of manufacturing deviations as there is less pressure on GMP systems</a:t>
            </a:r>
          </a:p>
          <a:p>
            <a:pPr lvl="0" defTabSz="914400" eaLnBrk="0" fontAlgn="base" hangingPunct="0">
              <a:spcBef>
                <a:spcPct val="0"/>
              </a:spcBef>
              <a:spcAft>
                <a:spcPct val="0"/>
              </a:spcAft>
              <a:defRPr/>
            </a:pPr>
            <a:endParaRPr lang="en-GB" dirty="0">
              <a:solidFill>
                <a:schemeClr val="bg1"/>
              </a:solidFill>
            </a:endParaRPr>
          </a:p>
          <a:p>
            <a:pPr marL="171450" lvl="0" indent="-171450" defTabSz="914400" eaLnBrk="0" fontAlgn="base" hangingPunct="0">
              <a:spcBef>
                <a:spcPct val="0"/>
              </a:spcBef>
              <a:spcAft>
                <a:spcPct val="0"/>
              </a:spcAft>
              <a:buFont typeface="Arial" panose="020B0604020202020204" pitchFamily="34" charset="0"/>
              <a:buChar char="•"/>
              <a:defRPr/>
            </a:pPr>
            <a:r>
              <a:rPr lang="en-GB" dirty="0">
                <a:solidFill>
                  <a:schemeClr val="bg1"/>
                </a:solidFill>
              </a:rPr>
              <a:t>Reflects mixed production scheduling i.e. between stock batch manufacturing and bespoke product manufacturing</a:t>
            </a:r>
          </a:p>
          <a:p>
            <a:pPr lvl="0" defTabSz="914400" eaLnBrk="0" fontAlgn="base" hangingPunct="0">
              <a:spcBef>
                <a:spcPct val="0"/>
              </a:spcBef>
              <a:spcAft>
                <a:spcPct val="0"/>
              </a:spcAft>
              <a:defRPr/>
            </a:pPr>
            <a:endParaRPr lang="en-GB" dirty="0">
              <a:solidFill>
                <a:schemeClr val="bg1"/>
              </a:solidFill>
            </a:endParaRPr>
          </a:p>
          <a:p>
            <a:pPr marL="171450" lvl="0" indent="-171450" defTabSz="914400" eaLnBrk="0" fontAlgn="base" hangingPunct="0">
              <a:spcBef>
                <a:spcPct val="0"/>
              </a:spcBef>
              <a:spcAft>
                <a:spcPct val="0"/>
              </a:spcAft>
              <a:buFont typeface="Arial" panose="020B0604020202020204" pitchFamily="34" charset="0"/>
              <a:buChar char="•"/>
              <a:defRPr/>
            </a:pPr>
            <a:r>
              <a:rPr lang="en-GB" u="sng" dirty="0">
                <a:solidFill>
                  <a:schemeClr val="bg1"/>
                </a:solidFill>
              </a:rPr>
              <a:t>Improvement for Q2: </a:t>
            </a:r>
            <a:r>
              <a:rPr lang="en-GB" dirty="0">
                <a:solidFill>
                  <a:schemeClr val="bg1"/>
                </a:solidFill>
              </a:rPr>
              <a:t>To include all Stock batches generated for the given day. This will provide a more accurate reflection of production capacity. </a:t>
            </a:r>
          </a:p>
        </p:txBody>
      </p:sp>
    </p:spTree>
    <p:extLst>
      <p:ext uri="{BB962C8B-B14F-4D97-AF65-F5344CB8AC3E}">
        <p14:creationId xmlns:p14="http://schemas.microsoft.com/office/powerpoint/2010/main" val="35468382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26F115-A031-316E-4BD6-3B7BB897ACA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F9F5EB8-AB42-47FD-8F4A-176C0A4B1B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2059012"/>
            <a:ext cx="12188952"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
        <p:nvSpPr>
          <p:cNvPr id="12" name="Rectangle 11">
            <a:extLst>
              <a:ext uri="{FF2B5EF4-FFF2-40B4-BE49-F238E27FC236}">
                <a16:creationId xmlns:a16="http://schemas.microsoft.com/office/drawing/2014/main" id="{8B3AE79A-6B95-44C3-B0A5-80E2F3E60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0358" y="0"/>
            <a:ext cx="465164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
        <p:nvSpPr>
          <p:cNvPr id="14" name="Rectangle 13">
            <a:extLst>
              <a:ext uri="{FF2B5EF4-FFF2-40B4-BE49-F238E27FC236}">
                <a16:creationId xmlns:a16="http://schemas.microsoft.com/office/drawing/2014/main" id="{4A49FE10-080D-48D7-80FF-9A64D270AD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551" y="2054942"/>
            <a:ext cx="4657449" cy="1828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
        <p:nvSpPr>
          <p:cNvPr id="4" name="Title 12">
            <a:extLst>
              <a:ext uri="{FF2B5EF4-FFF2-40B4-BE49-F238E27FC236}">
                <a16:creationId xmlns:a16="http://schemas.microsoft.com/office/drawing/2014/main" id="{DA1567DB-1D32-F2BC-75FD-D5729E07190D}"/>
              </a:ext>
            </a:extLst>
          </p:cNvPr>
          <p:cNvSpPr>
            <a:spLocks noGrp="1"/>
          </p:cNvSpPr>
          <p:nvPr>
            <p:ph type="title"/>
          </p:nvPr>
        </p:nvSpPr>
        <p:spPr>
          <a:xfrm>
            <a:off x="7865806" y="2194560"/>
            <a:ext cx="4001729" cy="1739347"/>
          </a:xfrm>
        </p:spPr>
        <p:txBody>
          <a:bodyPr vert="horz" lIns="91440" tIns="45720" rIns="91440" bIns="45720" rtlCol="0" anchor="ctr">
            <a:noAutofit/>
          </a:bodyPr>
          <a:lstStyle/>
          <a:p>
            <a:pPr algn="ctr">
              <a:lnSpc>
                <a:spcPct val="80000"/>
              </a:lnSpc>
            </a:pPr>
            <a:r>
              <a:rPr lang="en-US" spc="150" dirty="0">
                <a:solidFill>
                  <a:schemeClr val="tx2"/>
                </a:solidFill>
              </a:rPr>
              <a:t>Event logging </a:t>
            </a:r>
            <a:br>
              <a:rPr lang="en-US" spc="150" dirty="0">
                <a:solidFill>
                  <a:schemeClr val="tx2"/>
                </a:solidFill>
              </a:rPr>
            </a:br>
            <a:r>
              <a:rPr lang="en-US" spc="150" dirty="0">
                <a:solidFill>
                  <a:schemeClr val="tx2"/>
                </a:solidFill>
              </a:rPr>
              <a:t>Jan – mar 26</a:t>
            </a:r>
          </a:p>
        </p:txBody>
      </p:sp>
      <p:sp>
        <p:nvSpPr>
          <p:cNvPr id="16" name="Rectangle 15">
            <a:extLst>
              <a:ext uri="{FF2B5EF4-FFF2-40B4-BE49-F238E27FC236}">
                <a16:creationId xmlns:a16="http://schemas.microsoft.com/office/drawing/2014/main" id="{60A9E987-6859-4A62-922F-51B47D50D7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40358" cy="6858000"/>
          </a:xfrm>
          <a:prstGeom prst="rect">
            <a:avLst/>
          </a:prstGeom>
          <a:solidFill>
            <a:schemeClr val="bg1"/>
          </a:solidFill>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pic>
        <p:nvPicPr>
          <p:cNvPr id="5" name="Graphic 4">
            <a:extLst>
              <a:ext uri="{FF2B5EF4-FFF2-40B4-BE49-F238E27FC236}">
                <a16:creationId xmlns:a16="http://schemas.microsoft.com/office/drawing/2014/main" id="{32B15799-2E71-399A-9F5B-FE6CCBE0DA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6094" y="1325339"/>
            <a:ext cx="6453222" cy="4207321"/>
          </a:xfrm>
          <a:prstGeom prst="rect">
            <a:avLst/>
          </a:prstGeom>
        </p:spPr>
      </p:pic>
      <p:sp>
        <p:nvSpPr>
          <p:cNvPr id="6" name="TextBox 5">
            <a:extLst>
              <a:ext uri="{FF2B5EF4-FFF2-40B4-BE49-F238E27FC236}">
                <a16:creationId xmlns:a16="http://schemas.microsoft.com/office/drawing/2014/main" id="{0021E0F5-54F0-18ED-7A01-27C97D9519FE}"/>
              </a:ext>
            </a:extLst>
          </p:cNvPr>
          <p:cNvSpPr txBox="1"/>
          <p:nvPr/>
        </p:nvSpPr>
        <p:spPr>
          <a:xfrm>
            <a:off x="2871503" y="5532660"/>
            <a:ext cx="1797352" cy="738664"/>
          </a:xfrm>
          <a:prstGeom prst="rect">
            <a:avLst/>
          </a:prstGeom>
          <a:noFill/>
        </p:spPr>
        <p:txBody>
          <a:bodyPr wrap="none" rtlCol="0">
            <a:spAutoFit/>
          </a:bodyPr>
          <a:lstStyle/>
          <a:p>
            <a:r>
              <a:rPr lang="en-GB" dirty="0"/>
              <a:t>Total Events = </a:t>
            </a:r>
            <a:r>
              <a:rPr lang="en-GB" b="1" dirty="0"/>
              <a:t>50</a:t>
            </a:r>
          </a:p>
          <a:p>
            <a:pPr algn="ctr"/>
            <a:endParaRPr lang="en-GB" sz="1200" dirty="0"/>
          </a:p>
          <a:p>
            <a:pPr algn="ctr"/>
            <a:r>
              <a:rPr lang="en-GB" sz="1200" dirty="0"/>
              <a:t>Avg. p/month = ~16</a:t>
            </a:r>
          </a:p>
        </p:txBody>
      </p:sp>
    </p:spTree>
    <p:extLst>
      <p:ext uri="{BB962C8B-B14F-4D97-AF65-F5344CB8AC3E}">
        <p14:creationId xmlns:p14="http://schemas.microsoft.com/office/powerpoint/2010/main" val="21739313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29E51FB-A1B6-4E77-9260-DDE094004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99B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7F54F66-6915-49F6-935A-7E08AA1D36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6198"/>
            <a:ext cx="12192000" cy="60056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68DF3BBC-B043-DF43-DFE8-9FDB36992A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660" y="3416602"/>
            <a:ext cx="3666601" cy="2481738"/>
          </a:xfrm>
          <a:prstGeom prst="rect">
            <a:avLst/>
          </a:prstGeom>
        </p:spPr>
      </p:pic>
      <p:pic>
        <p:nvPicPr>
          <p:cNvPr id="5" name="Graphic 4">
            <a:extLst>
              <a:ext uri="{FF2B5EF4-FFF2-40B4-BE49-F238E27FC236}">
                <a16:creationId xmlns:a16="http://schemas.microsoft.com/office/drawing/2014/main" id="{0F3A0152-2CC9-81DD-CE4B-3DE9E6D3ED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660" y="561176"/>
            <a:ext cx="4305137" cy="2321964"/>
          </a:xfrm>
          <a:prstGeom prst="rect">
            <a:avLst/>
          </a:prstGeom>
        </p:spPr>
      </p:pic>
      <p:pic>
        <p:nvPicPr>
          <p:cNvPr id="3" name="Graphic 2">
            <a:extLst>
              <a:ext uri="{FF2B5EF4-FFF2-40B4-BE49-F238E27FC236}">
                <a16:creationId xmlns:a16="http://schemas.microsoft.com/office/drawing/2014/main" id="{8C73879D-28D8-F1D4-DC8D-AF62DAAB70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49928" y="3416600"/>
            <a:ext cx="3553583" cy="2481737"/>
          </a:xfrm>
          <a:prstGeom prst="rect">
            <a:avLst/>
          </a:prstGeom>
        </p:spPr>
      </p:pic>
      <p:pic>
        <p:nvPicPr>
          <p:cNvPr id="6" name="Graphic 5">
            <a:extLst>
              <a:ext uri="{FF2B5EF4-FFF2-40B4-BE49-F238E27FC236}">
                <a16:creationId xmlns:a16="http://schemas.microsoft.com/office/drawing/2014/main" id="{35AA09C7-0EAF-7DA8-DCB1-E0CA315C545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33005" y="3638034"/>
            <a:ext cx="4298062" cy="1913562"/>
          </a:xfrm>
          <a:prstGeom prst="rect">
            <a:avLst/>
          </a:prstGeom>
        </p:spPr>
      </p:pic>
      <p:graphicFrame>
        <p:nvGraphicFramePr>
          <p:cNvPr id="9" name="Chart">
            <a:extLst>
              <a:ext uri="{FF2B5EF4-FFF2-40B4-BE49-F238E27FC236}">
                <a16:creationId xmlns:a16="http://schemas.microsoft.com/office/drawing/2014/main" id="{2AC41F28-63F2-B32A-EA42-87BC09F61A08}"/>
              </a:ext>
            </a:extLst>
          </p:cNvPr>
          <p:cNvGraphicFramePr>
            <a:graphicFrameLocks/>
          </p:cNvGraphicFramePr>
          <p:nvPr>
            <p:extLst>
              <p:ext uri="{D42A27DB-BD31-4B8C-83A1-F6EECF244321}">
                <p14:modId xmlns:p14="http://schemas.microsoft.com/office/powerpoint/2010/main" val="1856429789"/>
              </p:ext>
            </p:extLst>
          </p:nvPr>
        </p:nvGraphicFramePr>
        <p:xfrm>
          <a:off x="4703572" y="561176"/>
          <a:ext cx="2989694" cy="248173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1" name="Chart">
            <a:extLst>
              <a:ext uri="{FF2B5EF4-FFF2-40B4-BE49-F238E27FC236}">
                <a16:creationId xmlns:a16="http://schemas.microsoft.com/office/drawing/2014/main" id="{EAB7C71C-84A3-76A2-84E4-44CE23786E4C}"/>
              </a:ext>
            </a:extLst>
          </p:cNvPr>
          <p:cNvGraphicFramePr>
            <a:graphicFrameLocks/>
          </p:cNvGraphicFramePr>
          <p:nvPr>
            <p:extLst>
              <p:ext uri="{D42A27DB-BD31-4B8C-83A1-F6EECF244321}">
                <p14:modId xmlns:p14="http://schemas.microsoft.com/office/powerpoint/2010/main" val="675169850"/>
              </p:ext>
            </p:extLst>
          </p:nvPr>
        </p:nvGraphicFramePr>
        <p:xfrm>
          <a:off x="7926041" y="802746"/>
          <a:ext cx="4005026" cy="2240167"/>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1689647599"/>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846CD-91E3-3356-7EDE-9119E5DEEA5B}"/>
              </a:ext>
            </a:extLst>
          </p:cNvPr>
          <p:cNvSpPr>
            <a:spLocks noGrp="1"/>
          </p:cNvSpPr>
          <p:nvPr>
            <p:ph type="title"/>
          </p:nvPr>
        </p:nvSpPr>
        <p:spPr>
          <a:xfrm>
            <a:off x="0" y="3587"/>
            <a:ext cx="12192000" cy="747182"/>
          </a:xfrm>
        </p:spPr>
        <p:txBody>
          <a:bodyPr>
            <a:normAutofit/>
          </a:bodyPr>
          <a:lstStyle/>
          <a:p>
            <a:pPr algn="ctr"/>
            <a:r>
              <a:rPr lang="en-GB" b="1" dirty="0">
                <a:solidFill>
                  <a:schemeClr val="tx1"/>
                </a:solidFill>
              </a:rPr>
              <a:t>Executive Summary (QMS Health Overview)</a:t>
            </a:r>
          </a:p>
        </p:txBody>
      </p:sp>
      <p:sp>
        <p:nvSpPr>
          <p:cNvPr id="5" name="TextBox 4">
            <a:extLst>
              <a:ext uri="{FF2B5EF4-FFF2-40B4-BE49-F238E27FC236}">
                <a16:creationId xmlns:a16="http://schemas.microsoft.com/office/drawing/2014/main" id="{253BAC20-DFE6-03F5-EFEF-005835D382A3}"/>
              </a:ext>
            </a:extLst>
          </p:cNvPr>
          <p:cNvSpPr txBox="1"/>
          <p:nvPr/>
        </p:nvSpPr>
        <p:spPr>
          <a:xfrm>
            <a:off x="0" y="646799"/>
            <a:ext cx="6802734" cy="523220"/>
          </a:xfrm>
          <a:prstGeom prst="rect">
            <a:avLst/>
          </a:prstGeom>
          <a:noFill/>
        </p:spPr>
        <p:txBody>
          <a:bodyPr wrap="square">
            <a:spAutoFit/>
          </a:bodyPr>
          <a:lstStyle/>
          <a:p>
            <a:r>
              <a:rPr lang="en-GB" sz="2800" b="1" dirty="0"/>
              <a:t>Overall QMS Status: </a:t>
            </a:r>
            <a:r>
              <a:rPr lang="en-GB" sz="2800" dirty="0"/>
              <a:t>🟢 – In control</a:t>
            </a:r>
          </a:p>
        </p:txBody>
      </p:sp>
      <p:sp>
        <p:nvSpPr>
          <p:cNvPr id="20" name="Rectangle 11">
            <a:extLst>
              <a:ext uri="{FF2B5EF4-FFF2-40B4-BE49-F238E27FC236}">
                <a16:creationId xmlns:a16="http://schemas.microsoft.com/office/drawing/2014/main" id="{963D8FDE-1201-55AC-E36C-6D1CD1AFB478}"/>
              </a:ext>
            </a:extLst>
          </p:cNvPr>
          <p:cNvSpPr>
            <a:spLocks noChangeArrowheads="1"/>
          </p:cNvSpPr>
          <p:nvPr/>
        </p:nvSpPr>
        <p:spPr bwMode="auto">
          <a:xfrm>
            <a:off x="99237" y="1098364"/>
            <a:ext cx="1199352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b="1" u="sng" dirty="0">
                <a:latin typeface="Arial" panose="020B0604020202020204" pitchFamily="34" charset="0"/>
              </a:rPr>
              <a:t>Quarter Summary</a:t>
            </a:r>
            <a:endParaRPr lang="en-US" altLang="en-US" sz="14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latin typeface="Arial" panose="020B0604020202020204" pitchFamily="34" charset="0"/>
              </a:rPr>
              <a:t>The Pharmaceutical Quality System remained stable and effective throughout the review period. Review of quality metrics indicates no adverse trends requiring escalation or additional management intervention.</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latin typeface="Arial" panose="020B0604020202020204" pitchFamily="34" charset="0"/>
              </a:rPr>
              <a:t>Key observations include:</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latin typeface="Arial" panose="020B0604020202020204" pitchFamily="34" charset="0"/>
              </a:rPr>
              <a:t>No emerging trends identified within deviations, complaints, OOS/OOT investigations or returned products.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latin typeface="Arial" panose="020B0604020202020204" pitchFamily="34" charset="0"/>
              </a:rPr>
              <a:t>CAPAs continue to be completed within established timeframes, with no significant backlog observed.</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latin typeface="Arial" panose="020B0604020202020204" pitchFamily="34" charset="0"/>
              </a:rPr>
              <a:t>Extensions for Change Controls and Risk Assessments remain low.</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latin typeface="Arial" panose="020B0604020202020204" pitchFamily="34" charset="0"/>
              </a:rPr>
              <a:t>Overall document closure performance remains satisfactory, </a:t>
            </a:r>
            <a:r>
              <a:rPr lang="en-US" altLang="en-US" sz="1400" b="1" dirty="0">
                <a:latin typeface="Arial" panose="020B0604020202020204" pitchFamily="34" charset="0"/>
              </a:rPr>
              <a:t>all documents completed within their assigned due dates</a:t>
            </a:r>
            <a:r>
              <a:rPr lang="en-US" altLang="en-US" sz="1400" dirty="0">
                <a:latin typeface="Arial" panose="020B0604020202020204" pitchFamily="34" charset="0"/>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b="1" dirty="0">
                <a:latin typeface="Arial" panose="020B0604020202020204" pitchFamily="34" charset="0"/>
              </a:rPr>
              <a:t>No overdue quality records </a:t>
            </a:r>
            <a:r>
              <a:rPr lang="en-US" altLang="en-US" sz="1400" dirty="0">
                <a:latin typeface="Arial" panose="020B0604020202020204" pitchFamily="34" charset="0"/>
              </a:rPr>
              <a:t>of significant regulatory or business concern were identified during the review period.</a:t>
            </a:r>
          </a:p>
        </p:txBody>
      </p:sp>
      <p:sp>
        <p:nvSpPr>
          <p:cNvPr id="22" name="Rectangle 13">
            <a:extLst>
              <a:ext uri="{FF2B5EF4-FFF2-40B4-BE49-F238E27FC236}">
                <a16:creationId xmlns:a16="http://schemas.microsoft.com/office/drawing/2014/main" id="{CC6D6DBD-7A27-3CC1-99A6-28CA503D5248}"/>
              </a:ext>
            </a:extLst>
          </p:cNvPr>
          <p:cNvSpPr>
            <a:spLocks noChangeArrowheads="1"/>
          </p:cNvSpPr>
          <p:nvPr/>
        </p:nvSpPr>
        <p:spPr bwMode="auto">
          <a:xfrm>
            <a:off x="99237" y="3451313"/>
            <a:ext cx="8130363"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sng" strike="noStrike" cap="none" normalizeH="0" baseline="0" dirty="0">
                <a:ln>
                  <a:noFill/>
                </a:ln>
                <a:solidFill>
                  <a:schemeClr val="tx1"/>
                </a:solidFill>
                <a:effectLst/>
                <a:latin typeface="Arial" panose="020B0604020202020204" pitchFamily="34" charset="0"/>
              </a:rPr>
              <a:t>Key Risks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Business Central (BC) Recall Traceability &amp; Reconciliation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Current Risk Level:</a:t>
            </a:r>
            <a:r>
              <a:rPr kumimoji="0" lang="en-US" altLang="en-US" sz="1200" b="0" i="0" u="none" strike="noStrike" cap="none" normalizeH="0" baseline="0" dirty="0">
                <a:ln>
                  <a:noFill/>
                </a:ln>
                <a:solidFill>
                  <a:schemeClr val="tx1"/>
                </a:solidFill>
                <a:effectLst/>
                <a:latin typeface="Arial" panose="020B0604020202020204" pitchFamily="34" charset="0"/>
              </a:rPr>
              <a:t> Medium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Proposed Actions: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Targeted QA training focused on product traceability and recall functionality within BC</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Review whether required information for recall management can be obtained through a single reporting process.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Assess opportunities to improve reporting functionality and reduce reliance on manual data extraction.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Verify effectiveness during a future mock recall and traceability activities.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Controlled Document Backlog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Current Risk Level:</a:t>
            </a:r>
            <a:r>
              <a:rPr kumimoji="0" lang="en-US" altLang="en-US" sz="1200" b="0" i="0" u="none" strike="noStrike" cap="none" normalizeH="0" baseline="0" dirty="0">
                <a:ln>
                  <a:noFill/>
                </a:ln>
                <a:solidFill>
                  <a:schemeClr val="tx1"/>
                </a:solidFill>
                <a:effectLst/>
                <a:latin typeface="Arial" panose="020B0604020202020204" pitchFamily="34" charset="0"/>
              </a:rPr>
              <a:t> Low-Medium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Proposed Actions: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Continue prioritisation of overdue document review activities.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Monitor backlog reduction through routine Quality Management review.</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Escalate resource requirements if progress stalls.</a:t>
            </a:r>
          </a:p>
        </p:txBody>
      </p:sp>
      <p:sp>
        <p:nvSpPr>
          <p:cNvPr id="24" name="Rectangle 15">
            <a:extLst>
              <a:ext uri="{FF2B5EF4-FFF2-40B4-BE49-F238E27FC236}">
                <a16:creationId xmlns:a16="http://schemas.microsoft.com/office/drawing/2014/main" id="{3096E348-B6FC-6265-3398-C6E2DFBACA68}"/>
              </a:ext>
            </a:extLst>
          </p:cNvPr>
          <p:cNvSpPr>
            <a:spLocks noChangeArrowheads="1"/>
          </p:cNvSpPr>
          <p:nvPr/>
        </p:nvSpPr>
        <p:spPr bwMode="auto">
          <a:xfrm>
            <a:off x="7935776" y="3485660"/>
            <a:ext cx="4156987" cy="236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sng" strike="noStrike" cap="none" normalizeH="0" baseline="0" dirty="0">
                <a:ln>
                  <a:noFill/>
                </a:ln>
                <a:solidFill>
                  <a:schemeClr val="tx1"/>
                </a:solidFill>
                <a:effectLst/>
                <a:latin typeface="Arial" panose="020B0604020202020204" pitchFamily="34" charset="0"/>
              </a:rPr>
              <a:t>Key Improvements Achieved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sng"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Successful management and closure of Quetiapine recall, with full product accountability and reconciliation achieved.</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200" dirty="0">
                <a:latin typeface="Arial" panose="020B0604020202020204" pitchFamily="34" charset="0"/>
              </a:rPr>
              <a:t>Significant enhancement of the Scientific Rationale process, strengthening GMP decision-making and regulatory compliance.</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200" dirty="0">
                <a:latin typeface="Arial" panose="020B0604020202020204" pitchFamily="34" charset="0"/>
              </a:rPr>
              <a:t>Continued reduction in overdue controlled documentation.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200" dirty="0">
                <a:latin typeface="Arial" panose="020B0604020202020204" pitchFamily="34" charset="0"/>
              </a:rPr>
              <a:t>No Manufacturing rejected batches recorded during the review period.</a:t>
            </a:r>
          </a:p>
        </p:txBody>
      </p:sp>
    </p:spTree>
    <p:extLst>
      <p:ext uri="{BB962C8B-B14F-4D97-AF65-F5344CB8AC3E}">
        <p14:creationId xmlns:p14="http://schemas.microsoft.com/office/powerpoint/2010/main" val="7756928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descr="Many question marks on black background">
            <a:extLst>
              <a:ext uri="{FF2B5EF4-FFF2-40B4-BE49-F238E27FC236}">
                <a16:creationId xmlns:a16="http://schemas.microsoft.com/office/drawing/2014/main" id="{BD8950A7-45E6-41FA-ADF9-B03D90FD132F}"/>
              </a:ext>
            </a:extLst>
          </p:cNvPr>
          <p:cNvPicPr>
            <a:picLocks noChangeAspect="1"/>
          </p:cNvPicPr>
          <p:nvPr/>
        </p:nvPicPr>
        <p:blipFill rotWithShape="1">
          <a:blip r:embed="rId2"/>
          <a:srcRect t="7787"/>
          <a:stretch/>
        </p:blipFill>
        <p:spPr>
          <a:xfrm>
            <a:off x="21" y="10"/>
            <a:ext cx="12191980" cy="6857991"/>
          </a:xfrm>
          <a:prstGeom prst="rect">
            <a:avLst/>
          </a:prstGeom>
        </p:spPr>
      </p:pic>
      <p:sp>
        <p:nvSpPr>
          <p:cNvPr id="2" name="Title 1">
            <a:extLst>
              <a:ext uri="{FF2B5EF4-FFF2-40B4-BE49-F238E27FC236}">
                <a16:creationId xmlns:a16="http://schemas.microsoft.com/office/drawing/2014/main" id="{240789DB-C818-4479-8C62-FC3110E65EBD}"/>
              </a:ext>
            </a:extLst>
          </p:cNvPr>
          <p:cNvSpPr>
            <a:spLocks noGrp="1"/>
          </p:cNvSpPr>
          <p:nvPr>
            <p:ph type="title"/>
          </p:nvPr>
        </p:nvSpPr>
        <p:spPr>
          <a:xfrm>
            <a:off x="365760" y="2166365"/>
            <a:ext cx="11471565" cy="1739347"/>
          </a:xfrm>
        </p:spPr>
        <p:txBody>
          <a:bodyPr vert="horz" lIns="91440" tIns="45720" rIns="91440" bIns="45720" rtlCol="0" anchor="ctr">
            <a:normAutofit/>
          </a:bodyPr>
          <a:lstStyle/>
          <a:p>
            <a:pPr algn="ctr">
              <a:lnSpc>
                <a:spcPct val="80000"/>
              </a:lnSpc>
            </a:pPr>
            <a:r>
              <a:rPr lang="en-US" sz="6000" spc="151" dirty="0">
                <a:solidFill>
                  <a:schemeClr val="tx1"/>
                </a:solidFill>
              </a:rPr>
              <a:t>Any Questions? </a:t>
            </a:r>
          </a:p>
        </p:txBody>
      </p:sp>
    </p:spTree>
    <p:extLst>
      <p:ext uri="{BB962C8B-B14F-4D97-AF65-F5344CB8AC3E}">
        <p14:creationId xmlns:p14="http://schemas.microsoft.com/office/powerpoint/2010/main" val="183727913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Custom 2">
      <a:dk1>
        <a:srgbClr val="2C2C2C"/>
      </a:dk1>
      <a:lt1>
        <a:srgbClr val="FFFFFF"/>
      </a:lt1>
      <a:dk2>
        <a:srgbClr val="099BDD"/>
      </a:dk2>
      <a:lt2>
        <a:srgbClr val="F2F2F2"/>
      </a:lt2>
      <a:accent1>
        <a:srgbClr val="FFC000"/>
      </a:accent1>
      <a:accent2>
        <a:srgbClr val="5DC8F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1_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ChatGPT">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TM03090430[[fn=Banded]]</Template>
  <TotalTime>34425</TotalTime>
  <Words>4690</Words>
  <Application>Microsoft Office PowerPoint</Application>
  <PresentationFormat>Widescreen</PresentationFormat>
  <Paragraphs>1468</Paragraphs>
  <Slides>32</Slides>
  <Notes>26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32</vt:i4>
      </vt:variant>
    </vt:vector>
  </HeadingPairs>
  <TitlesOfParts>
    <vt:vector size="38" baseType="lpstr">
      <vt:lpstr>Arial</vt:lpstr>
      <vt:lpstr>Calibri</vt:lpstr>
      <vt:lpstr>Corbel</vt:lpstr>
      <vt:lpstr>Wingdings</vt:lpstr>
      <vt:lpstr>Banded</vt:lpstr>
      <vt:lpstr>1_Banded</vt:lpstr>
      <vt:lpstr>Quality Metrics review (QMR)</vt:lpstr>
      <vt:lpstr>QMR KEY</vt:lpstr>
      <vt:lpstr>TREND GRAPHS</vt:lpstr>
      <vt:lpstr>PowerPoint Presentation</vt:lpstr>
      <vt:lpstr>PowerPoint Presentation</vt:lpstr>
      <vt:lpstr>PowerPoint Presentation</vt:lpstr>
      <vt:lpstr>TREND GRAPHS</vt:lpstr>
      <vt:lpstr>PowerPoint Presentation</vt:lpstr>
      <vt:lpstr>PowerPoint Presentation</vt:lpstr>
      <vt:lpstr>PowerPoint Presentation</vt:lpstr>
      <vt:lpstr>TREND GRAPHS</vt:lpstr>
      <vt:lpstr>TREND GRAPHS</vt:lpstr>
      <vt:lpstr>PowerPoint Presentation</vt:lpstr>
      <vt:lpstr>TREND GRAPHS</vt:lpstr>
      <vt:lpstr>PowerPoint Presentation</vt:lpstr>
      <vt:lpstr>TREND GRAPHS</vt:lpstr>
      <vt:lpstr>PowerPoint Presentation</vt:lpstr>
      <vt:lpstr>TREND GRAPHS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CBPM updates JAN – MAR 26</vt:lpstr>
      <vt:lpstr>Production Capacity Utilisation</vt:lpstr>
      <vt:lpstr>Event logging  Jan – mar 26</vt:lpstr>
      <vt:lpstr>PowerPoint Presentation</vt:lpstr>
      <vt:lpstr>Executive Summary (QMS Health Overview)</vt:lpstr>
      <vt:lpstr>Any 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metrics review</dc:title>
  <dc:creator>Minhaz Raja</dc:creator>
  <cp:lastModifiedBy>Minhaz Raja</cp:lastModifiedBy>
  <cp:revision>4457</cp:revision>
  <cp:lastPrinted>2022-05-16T15:58:12Z</cp:lastPrinted>
  <dcterms:created xsi:type="dcterms:W3CDTF">2021-07-06T12:56:01Z</dcterms:created>
  <dcterms:modified xsi:type="dcterms:W3CDTF">2026-09-08T14:17:10Z</dcterms:modified>
</cp:coreProperties>
</file>