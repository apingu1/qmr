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Deviations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0</c:v>
                </c:pt>
                <c:pt idx="2">
                  <c:v>3</c:v>
                </c:pt>
                <c:pt idx="3">
                  <c:v>9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GMP Complaints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Supplier Complaints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OOS-OOT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CAPA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1</c:v>
                </c:pt>
                <c:pt idx="2">
                  <c:v>2</c:v>
                </c:pt>
                <c:pt idx="3">
                  <c:v>7</c:v>
                </c:pt>
                <c:pt idx="4">
                  <c:v>8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4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Change Controls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14</c:v>
                </c:pt>
                <c:pt idx="2">
                  <c:v>10</c:v>
                </c:pt>
                <c:pt idx="3">
                  <c:v>13</c:v>
                </c:pt>
                <c:pt idx="4">
                  <c:v>11</c:v>
                </c:pt>
                <c:pt idx="5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7</c:v>
                </c:pt>
                <c:pt idx="2">
                  <c:v>4</c:v>
                </c:pt>
                <c:pt idx="3">
                  <c:v>9</c:v>
                </c:pt>
                <c:pt idx="4">
                  <c:v>1</c:v>
                </c:pt>
                <c:pt idx="5">
                  <c:v>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FMEA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Incidents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Document Change Requests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7</c:v>
                </c:pt>
                <c:pt idx="3">
                  <c:v>2</c:v>
                </c:pt>
                <c:pt idx="4">
                  <c:v>1</c:v>
                </c:pt>
                <c:pt idx="5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Effectiveness Checks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MDR - 2026 Monthly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QMR for Period April 26 - Jun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Quality Metrics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10469880" cy="45720"/>
          </a:xfrm>
          <a:prstGeom prst="rect">
            <a:avLst/>
          </a:prstGeom>
          <a:solidFill>
            <a:srgbClr val="226F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212848"/>
            <a:ext cx="291693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52940"/>
                </a:solidFill>
              </a:rPr>
              <a:t>Review basis</a:t>
            </a:r>
          </a:p>
          <a:p>
            <a:r>
              <a:rPr sz="2300" b="1">
                <a:solidFill>
                  <a:srgbClr val="1E1E1E"/>
                </a:solidFill>
              </a:rPr>
              <a:t>QMS source spreadsheets from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0312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8031" y="2212848"/>
            <a:ext cx="291693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Period</a:t>
            </a:r>
          </a:p>
          <a:p>
            <a:r>
              <a:rPr sz="2300" b="1">
                <a:solidFill>
                  <a:srgbClr val="1E1E1E"/>
                </a:solidFill>
              </a:rPr>
              <a:t>April 2026 - June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10312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2212848"/>
            <a:ext cx="291693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Prepared as</a:t>
            </a:r>
          </a:p>
          <a:p>
            <a:r>
              <a:rPr sz="2300" b="1">
                <a:solidFill>
                  <a:srgbClr val="1E1E1E"/>
                </a:solidFill>
              </a:rPr>
              <a:t>Management review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QMR Key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" y="114300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</a:rPr>
                        <a:t>Green / Improving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</a:rPr>
                        <a:t>Metric movement is favourable or quality signal has reduced.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</a:rPr>
                        <a:t>Amber / Stable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</a:rPr>
                        <a:t>Metric is broadly stable or requires routine monitoring.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</a:rPr>
                        <a:t>Red / Deteriorating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</a:rPr>
                        <a:t>Metric has increased materially or significant items have increased.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</a:rPr>
                        <a:t>Significant items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</a:rPr>
                        <a:t>Major and Critical records from the source QMS logs.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</a:rPr>
                        <a:t>Record counting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1E1E"/>
                          </a:solidFill>
                        </a:rPr>
                        <a:t>Parent QMS records are counted; action rows such as /A, /B are not double counted.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Executive Summary (QMS Health Overview)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Raised Q2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Closed Q2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Open at 30-Jun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Assessment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Deviations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Deteriorating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GMP Complaints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Improving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Supplier Complaints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Deteriorating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OOS-OOT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Stable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CAPA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Deteriorating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Change Controls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35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35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Stable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FMEA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Improving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Incidents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Improving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Document Change Requests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Improving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Effectiveness Checks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Stable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MDR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Stable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349240"/>
            <a:ext cx="108813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458968"/>
            <a:ext cx="1055217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Overall management conclusion</a:t>
            </a:r>
          </a:p>
          <a:p>
            <a:r>
              <a:rPr sz="2300" b="1">
                <a:solidFill>
                  <a:srgbClr val="1E1E1E"/>
                </a:solidFill>
              </a:rPr>
              <a:t>QMS activity remains reviewable through the supplied logs. Key open/significant records remain tracked within the relevant QMS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DEVIATIONS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Deviations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53232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Deteriorating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53232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3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48.5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45.6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DEVIATIONS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Deviations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DEV.2026.015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24-Apr-26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Closed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Excessive foaming of Doxycycline Suspension product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DEV.2026.020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19-Jun-26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Overdue calibration on tinytag used to monitor humidty for tableting bay batches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DEV.2026.021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25-Jun-26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Critical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Midazolam Hydrochloride raw material used is past its expiry date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3 | Overdue open: 0 | Closed during Q2: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DEVIATIONS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Deviations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Procedure is deficient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Equipment Fault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Human Error - Lapse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Other - Marfleet qa admin error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Human Error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Formulation Issue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GMP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GMP Complaints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Improving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21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56.3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GMP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GMP Complaints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9202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No Major or Critical items identified for Q2.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1 | Overdue open: 0 | Closed during Q2: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GMP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GMP Complaints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Other Most probable root cause of this complaint …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Human Error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IT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System Isssues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No root cause analysis conducted as complaint was…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Procedure is deficient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SUPPLIER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Supplier Complaints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53232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Deteriorating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SUPPLIER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Supplier Complaints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9202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No Major or Critical items identified for Q2.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1 | Overdue open: 0 | Closed during Q2: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SUPPLIER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Supplier Complaints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98881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888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No recurring trend identified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Continue routine monitoring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OOS-OOT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OOS-OOT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Stable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17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12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OOS-OOT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OOS-OOT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9202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No Major or Critical items identified for Q2.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1 | Overdue open: 0 | Closed during Q2: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OOS-OOT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OOS-OOT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32587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32587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Inadequate or inconsistent manual hand shaking du…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132588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Moisture uptake by excipients MCC and SSG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CAPA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53232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Deteriorating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53232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5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34.2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30.5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CAPA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CAPA.2026.004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22-Jan-26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Mock Inspection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CAPA.2026.011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01-Apr-26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OOS.2026.001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CAPA.2026.017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27-Apr-26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OOS.2026.003 - Levomet 6mg high assay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CAPA.2026.020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13-May-26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Raw material management audit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CAPA.2026.021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13-May-26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Raw material management audit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CAPA.2026.026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26-Jun-26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DEV.2026.020 - Tinytag actions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15 | Overdue open: 1 | Closed during Q2: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CAPA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Raw material management audit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Mock Inspection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DEV.2025.034 - Stability Fridge fault after maint…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GMP.CPL.2026.002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DEV.2026.001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REC.2026.001, REC.2026.002 &amp; MHRA Defective Medic…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CHANGE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Change Controls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Stable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53232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10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6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52.7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CHANGE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Change Controls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CC.2026.004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08-Jan-26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Closed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Update Trihexyphenidyl hydrochloride Suspensions BMR by replacing Trihexyphenidyl 5mg tablets …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CC.2026.006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13-Jan-26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Purchase, installation, qualification and use of a new pharmaceutical Ribbon Blender for blend…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CC.2026.007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13-Jan-26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Purchase, installation, qualification, and routine GMP use of a pharmaceutical Oscillating Gra…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CC.2026.009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19-Jan-26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CBPM PROJECT - SECURITY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CC.2026.011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30-Jan-26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Purchase, installation, qualification, and use of a lab-scale pharmaceutical metal detector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CC.2026.014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05-Feb-26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Logbook Procedure Change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CC.2026.015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05-Feb-26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Coproxamol tablets introduction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CC.2026.016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06-Feb-26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Open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Material Toxicity Assesment Matrix update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+13 additional significant item(s) listed in source data.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35 | Overdue open: 1 | Closed during Q2: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CHANGE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Change Controls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32587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32587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Permanent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51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132588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Temporary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Monitored through routine QMS trending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FMEA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FMEA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Improving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FMEA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FMEA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9202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No Major or Critical items identified for Q2.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1 | Overdue open: 0 | Closed during Q2: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FMEA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FMEA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98881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888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No recurring trend identified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Continue routine monitoring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Incidents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Improving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2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Incidents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9202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No Major or Critical items identified for Q2.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0 | Overdue open: 0 | Closed during Q2: 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Incidents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98881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888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No recurring trend identified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Continue routine monitoring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DOCUMENT CHANGE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Document Change Requests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Improving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DOCUMENT CHANGE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Document Change Requests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9202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No Major or Critical items identified for Q2.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1 | Overdue open: 0 | Closed during Q2: 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DOCUMENT CHANGE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Document Change Requests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98881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888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No recurring trend identified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Continue routine monitoring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EFFECTIVENESS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Effectiveness Checks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Stable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EFFECTIVENESS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Effectiveness Checks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9202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No Major or Critical items identified for Q2.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0 | Overdue open: 0 | Closed during Q2: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EFFECTIVENESS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Effectiveness Checks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98881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888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No recurring trend identified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Continue routine monitoring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MDR -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F65"/>
                </a:solidFill>
              </a:rPr>
              <a:t>Q1 2026 vs Q2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069848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Assessment</a:t>
            </a:r>
          </a:p>
          <a:p>
            <a:r>
              <a:rPr sz="2300" b="1">
                <a:solidFill>
                  <a:srgbClr val="1E1E1E"/>
                </a:solidFill>
              </a:rPr>
              <a:t>Stable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Raised Q2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Closed Q2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Open at 30 Jun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960120"/>
            <a:ext cx="19202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06984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8246"/>
                </a:solidFill>
              </a:rPr>
              <a:t>Major/Critical</a:t>
            </a:r>
          </a:p>
          <a:p>
            <a:r>
              <a:rPr sz="2300" b="1">
                <a:solidFill>
                  <a:srgbClr val="1E1E1E"/>
                </a:solidFill>
              </a:rPr>
              <a:t>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2148840"/>
          <a:ext cx="3840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Q1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Q2 2026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raised this quarter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Total closed this quarter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raised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Major/Critical closed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Average closure time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Overdue open at quarter end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74920" y="2121408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MDR - Significant Items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058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9202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 / Description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</a:rPr>
                        <a:t>No Major or Critical items identified for Q2.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166360"/>
            <a:ext cx="108813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76088"/>
            <a:ext cx="105521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Quarter position</a:t>
            </a:r>
          </a:p>
          <a:p>
            <a:r>
              <a:rPr sz="2300" b="1">
                <a:solidFill>
                  <a:srgbClr val="1E1E1E"/>
                </a:solidFill>
              </a:rPr>
              <a:t>Open at 30 Jun: 0 | Overdue open: 0 | Closed during Q2: 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226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" y="5440680"/>
            <a:ext cx="594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MDR - Trend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5156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98881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Comment</a:t>
                      </a:r>
                    </a:p>
                  </a:txBody>
                  <a:tcPr marL="36576" marR="36576" marT="18288" marB="18288">
                    <a:solidFill>
                      <a:srgbClr val="152940"/>
                    </a:solidFill>
                  </a:tcPr>
                </a:tc>
              </a:tr>
              <a:tr h="19888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No recurring trend identified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Continue routine monitoring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88136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367528"/>
            <a:ext cx="105521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28920"/>
                </a:solidFill>
              </a:rPr>
              <a:t>Management review note</a:t>
            </a:r>
          </a:p>
          <a:p>
            <a:r>
              <a:rPr sz="2300" b="1">
                <a:solidFill>
                  <a:srgbClr val="1E1E1E"/>
                </a:solidFill>
              </a:rPr>
              <a:t>No automatic escalation is proposed from trend count alone; significant records remain subject to normal QMS ownership and due-date management.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01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52940"/>
                </a:solidFill>
              </a:rPr>
              <a:t>Any 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10698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212848"/>
            <a:ext cx="1036929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6F79"/>
                </a:solidFill>
              </a:rPr>
              <a:t>QMR for Period April 26 - Jun 26</a:t>
            </a:r>
          </a:p>
          <a:p>
            <a:r>
              <a:rPr sz="2300" b="1">
                <a:solidFill>
                  <a:srgbClr val="1E1E1E"/>
                </a:solidFill>
              </a:rPr>
              <a:t>Prepared from the repository QMS source spreadsheets.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